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4"/>
  </p:sldMasterIdLst>
  <p:notesMasterIdLst>
    <p:notesMasterId r:id="rId20"/>
  </p:notesMasterIdLst>
  <p:sldIdLst>
    <p:sldId id="256" r:id="rId5"/>
    <p:sldId id="276" r:id="rId6"/>
    <p:sldId id="293" r:id="rId7"/>
    <p:sldId id="258" r:id="rId8"/>
    <p:sldId id="259" r:id="rId9"/>
    <p:sldId id="260" r:id="rId10"/>
    <p:sldId id="263" r:id="rId11"/>
    <p:sldId id="286" r:id="rId12"/>
    <p:sldId id="264" r:id="rId13"/>
    <p:sldId id="279" r:id="rId14"/>
    <p:sldId id="294" r:id="rId15"/>
    <p:sldId id="289" r:id="rId16"/>
    <p:sldId id="295" r:id="rId17"/>
    <p:sldId id="291" r:id="rId18"/>
    <p:sldId id="29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BB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159" autoAdjust="0"/>
  </p:normalViewPr>
  <p:slideViewPr>
    <p:cSldViewPr snapToGrid="0">
      <p:cViewPr varScale="1">
        <p:scale>
          <a:sx n="69" d="100"/>
          <a:sy n="69" d="100"/>
        </p:scale>
        <p:origin x="882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Miguel Bigotte" userId="1c2fa038-55e3-49e4-a55b-c7cc1e1b0255" providerId="ADAL" clId="{D3C00B32-7E8A-4B11-AA99-B79ADF811187}"/>
    <pc:docChg chg="undo redo custSel delSld modSld sldOrd">
      <pc:chgData name="João Miguel Bigotte" userId="1c2fa038-55e3-49e4-a55b-c7cc1e1b0255" providerId="ADAL" clId="{D3C00B32-7E8A-4B11-AA99-B79ADF811187}" dt="2026-07-24T09:45:14.599" v="179" actId="207"/>
      <pc:docMkLst>
        <pc:docMk/>
      </pc:docMkLst>
      <pc:sldChg chg="modSp">
        <pc:chgData name="João Miguel Bigotte" userId="1c2fa038-55e3-49e4-a55b-c7cc1e1b0255" providerId="ADAL" clId="{D3C00B32-7E8A-4B11-AA99-B79ADF811187}" dt="2026-07-24T09:18:15.747" v="25" actId="20577"/>
        <pc:sldMkLst>
          <pc:docMk/>
          <pc:sldMk cId="405086201" sldId="256"/>
        </pc:sldMkLst>
        <pc:spChg chg="mod">
          <ac:chgData name="João Miguel Bigotte" userId="1c2fa038-55e3-49e4-a55b-c7cc1e1b0255" providerId="ADAL" clId="{D3C00B32-7E8A-4B11-AA99-B79ADF811187}" dt="2026-07-24T09:17:50.169" v="21" actId="404"/>
          <ac:spMkLst>
            <pc:docMk/>
            <pc:sldMk cId="405086201" sldId="256"/>
            <ac:spMk id="6" creationId="{8711C52B-DF8C-F8CD-4FA0-06D0B039A681}"/>
          </ac:spMkLst>
        </pc:spChg>
        <pc:spChg chg="mod">
          <ac:chgData name="João Miguel Bigotte" userId="1c2fa038-55e3-49e4-a55b-c7cc1e1b0255" providerId="ADAL" clId="{D3C00B32-7E8A-4B11-AA99-B79ADF811187}" dt="2026-07-24T09:18:15.747" v="25" actId="20577"/>
          <ac:spMkLst>
            <pc:docMk/>
            <pc:sldMk cId="405086201" sldId="256"/>
            <ac:spMk id="9" creationId="{E2E0F28D-DDA5-7A95-0BCD-35401A878A6D}"/>
          </ac:spMkLst>
        </pc:spChg>
      </pc:sldChg>
      <pc:sldChg chg="modSp">
        <pc:chgData name="João Miguel Bigotte" userId="1c2fa038-55e3-49e4-a55b-c7cc1e1b0255" providerId="ADAL" clId="{D3C00B32-7E8A-4B11-AA99-B79ADF811187}" dt="2026-07-24T09:29:50.161" v="115" actId="14100"/>
        <pc:sldMkLst>
          <pc:docMk/>
          <pc:sldMk cId="3122804850" sldId="258"/>
        </pc:sldMkLst>
        <pc:spChg chg="mod">
          <ac:chgData name="João Miguel Bigotte" userId="1c2fa038-55e3-49e4-a55b-c7cc1e1b0255" providerId="ADAL" clId="{D3C00B32-7E8A-4B11-AA99-B79ADF811187}" dt="2026-07-24T09:19:38.464" v="32" actId="20577"/>
          <ac:spMkLst>
            <pc:docMk/>
            <pc:sldMk cId="3122804850" sldId="258"/>
            <ac:spMk id="18" creationId="{43E8D8B0-ABCC-7595-2A77-33442F3C0356}"/>
          </ac:spMkLst>
        </pc:spChg>
        <pc:spChg chg="mod">
          <ac:chgData name="João Miguel Bigotte" userId="1c2fa038-55e3-49e4-a55b-c7cc1e1b0255" providerId="ADAL" clId="{D3C00B32-7E8A-4B11-AA99-B79ADF811187}" dt="2026-07-24T09:29:37.249" v="113" actId="179"/>
          <ac:spMkLst>
            <pc:docMk/>
            <pc:sldMk cId="3122804850" sldId="258"/>
            <ac:spMk id="22" creationId="{52C3D181-87A0-7C1A-20E1-1603FEECA69F}"/>
          </ac:spMkLst>
        </pc:spChg>
        <pc:spChg chg="mod">
          <ac:chgData name="João Miguel Bigotte" userId="1c2fa038-55e3-49e4-a55b-c7cc1e1b0255" providerId="ADAL" clId="{D3C00B32-7E8A-4B11-AA99-B79ADF811187}" dt="2026-07-24T09:29:29.594" v="112" actId="27636"/>
          <ac:spMkLst>
            <pc:docMk/>
            <pc:sldMk cId="3122804850" sldId="258"/>
            <ac:spMk id="23" creationId="{0CC557A0-6F71-10F8-DF51-B90656DF5B8C}"/>
          </ac:spMkLst>
        </pc:spChg>
        <pc:spChg chg="mod">
          <ac:chgData name="João Miguel Bigotte" userId="1c2fa038-55e3-49e4-a55b-c7cc1e1b0255" providerId="ADAL" clId="{D3C00B32-7E8A-4B11-AA99-B79ADF811187}" dt="2026-07-24T09:29:50.161" v="115" actId="14100"/>
          <ac:spMkLst>
            <pc:docMk/>
            <pc:sldMk cId="3122804850" sldId="258"/>
            <ac:spMk id="24" creationId="{607E375A-FCE2-5C8C-EF8A-9ED2882BA7B3}"/>
          </ac:spMkLst>
        </pc:spChg>
        <pc:spChg chg="mod">
          <ac:chgData name="João Miguel Bigotte" userId="1c2fa038-55e3-49e4-a55b-c7cc1e1b0255" providerId="ADAL" clId="{D3C00B32-7E8A-4B11-AA99-B79ADF811187}" dt="2026-07-24T09:29:46.617" v="114" actId="14100"/>
          <ac:spMkLst>
            <pc:docMk/>
            <pc:sldMk cId="3122804850" sldId="258"/>
            <ac:spMk id="25" creationId="{6646AC96-BA31-04AD-8BA0-3A1596AA83C1}"/>
          </ac:spMkLst>
        </pc:spChg>
      </pc:sldChg>
      <pc:sldChg chg="delSp modSp">
        <pc:chgData name="João Miguel Bigotte" userId="1c2fa038-55e3-49e4-a55b-c7cc1e1b0255" providerId="ADAL" clId="{D3C00B32-7E8A-4B11-AA99-B79ADF811187}" dt="2026-07-24T09:31:31.606" v="124" actId="2711"/>
        <pc:sldMkLst>
          <pc:docMk/>
          <pc:sldMk cId="3099447407" sldId="259"/>
        </pc:sldMkLst>
        <pc:spChg chg="mod">
          <ac:chgData name="João Miguel Bigotte" userId="1c2fa038-55e3-49e4-a55b-c7cc1e1b0255" providerId="ADAL" clId="{D3C00B32-7E8A-4B11-AA99-B79ADF811187}" dt="2026-07-24T09:20:07.507" v="38" actId="403"/>
          <ac:spMkLst>
            <pc:docMk/>
            <pc:sldMk cId="3099447407" sldId="259"/>
            <ac:spMk id="5" creationId="{151E4ADA-BBDB-4EDA-D377-18766B9F5EBC}"/>
          </ac:spMkLst>
        </pc:spChg>
        <pc:spChg chg="mod">
          <ac:chgData name="João Miguel Bigotte" userId="1c2fa038-55e3-49e4-a55b-c7cc1e1b0255" providerId="ADAL" clId="{D3C00B32-7E8A-4B11-AA99-B79ADF811187}" dt="2026-07-24T09:30:19.120" v="117" actId="1076"/>
          <ac:spMkLst>
            <pc:docMk/>
            <pc:sldMk cId="3099447407" sldId="259"/>
            <ac:spMk id="14" creationId="{4F1DA1C0-D4A7-DEB2-1AA9-68D5D93A332F}"/>
          </ac:spMkLst>
        </pc:spChg>
        <pc:spChg chg="del">
          <ac:chgData name="João Miguel Bigotte" userId="1c2fa038-55e3-49e4-a55b-c7cc1e1b0255" providerId="ADAL" clId="{D3C00B32-7E8A-4B11-AA99-B79ADF811187}" dt="2026-07-24T09:30:37.057" v="119" actId="478"/>
          <ac:spMkLst>
            <pc:docMk/>
            <pc:sldMk cId="3099447407" sldId="259"/>
            <ac:spMk id="25" creationId="{A6EB16FB-9F13-0992-DB8D-7F295E160BCE}"/>
          </ac:spMkLst>
        </pc:spChg>
        <pc:spChg chg="mod">
          <ac:chgData name="João Miguel Bigotte" userId="1c2fa038-55e3-49e4-a55b-c7cc1e1b0255" providerId="ADAL" clId="{D3C00B32-7E8A-4B11-AA99-B79ADF811187}" dt="2026-07-24T09:30:54.844" v="121" actId="6549"/>
          <ac:spMkLst>
            <pc:docMk/>
            <pc:sldMk cId="3099447407" sldId="259"/>
            <ac:spMk id="31" creationId="{018C9FC3-0CF6-1BD0-4CA9-5BB06B3F81FB}"/>
          </ac:spMkLst>
        </pc:spChg>
        <pc:spChg chg="mod">
          <ac:chgData name="João Miguel Bigotte" userId="1c2fa038-55e3-49e4-a55b-c7cc1e1b0255" providerId="ADAL" clId="{D3C00B32-7E8A-4B11-AA99-B79ADF811187}" dt="2026-07-24T09:31:31.606" v="124" actId="2711"/>
          <ac:spMkLst>
            <pc:docMk/>
            <pc:sldMk cId="3099447407" sldId="259"/>
            <ac:spMk id="57" creationId="{C7BBA725-9464-ED2C-3132-D68D7248C6B7}"/>
          </ac:spMkLst>
        </pc:spChg>
      </pc:sldChg>
      <pc:sldChg chg="modSp">
        <pc:chgData name="João Miguel Bigotte" userId="1c2fa038-55e3-49e4-a55b-c7cc1e1b0255" providerId="ADAL" clId="{D3C00B32-7E8A-4B11-AA99-B79ADF811187}" dt="2026-07-24T09:20:50.571" v="49" actId="20577"/>
        <pc:sldMkLst>
          <pc:docMk/>
          <pc:sldMk cId="3499317754" sldId="260"/>
        </pc:sldMkLst>
        <pc:spChg chg="mod">
          <ac:chgData name="João Miguel Bigotte" userId="1c2fa038-55e3-49e4-a55b-c7cc1e1b0255" providerId="ADAL" clId="{D3C00B32-7E8A-4B11-AA99-B79ADF811187}" dt="2026-07-24T09:20:50.571" v="49" actId="20577"/>
          <ac:spMkLst>
            <pc:docMk/>
            <pc:sldMk cId="3499317754" sldId="260"/>
            <ac:spMk id="10" creationId="{24F37329-12DC-3E9D-574F-3010B0B7BC22}"/>
          </ac:spMkLst>
        </pc:spChg>
      </pc:sldChg>
      <pc:sldChg chg="modSp">
        <pc:chgData name="João Miguel Bigotte" userId="1c2fa038-55e3-49e4-a55b-c7cc1e1b0255" providerId="ADAL" clId="{D3C00B32-7E8A-4B11-AA99-B79ADF811187}" dt="2026-07-24T09:21:04.887" v="54" actId="1076"/>
        <pc:sldMkLst>
          <pc:docMk/>
          <pc:sldMk cId="3350953100" sldId="261"/>
        </pc:sldMkLst>
        <pc:spChg chg="mod">
          <ac:chgData name="João Miguel Bigotte" userId="1c2fa038-55e3-49e4-a55b-c7cc1e1b0255" providerId="ADAL" clId="{D3C00B32-7E8A-4B11-AA99-B79ADF811187}" dt="2026-07-24T09:21:04.887" v="54" actId="1076"/>
          <ac:spMkLst>
            <pc:docMk/>
            <pc:sldMk cId="3350953100" sldId="261"/>
            <ac:spMk id="5" creationId="{F83AD43D-41D3-DD67-0429-1053492D266A}"/>
          </ac:spMkLst>
        </pc:spChg>
        <pc:picChg chg="mod">
          <ac:chgData name="João Miguel Bigotte" userId="1c2fa038-55e3-49e4-a55b-c7cc1e1b0255" providerId="ADAL" clId="{D3C00B32-7E8A-4B11-AA99-B79ADF811187}" dt="2026-07-24T09:20:45.879" v="47" actId="1076"/>
          <ac:picMkLst>
            <pc:docMk/>
            <pc:sldMk cId="3350953100" sldId="261"/>
            <ac:picMk id="4" creationId="{1E4AFA8B-8AE1-195E-1D9A-2D5EB2945029}"/>
          </ac:picMkLst>
        </pc:picChg>
      </pc:sldChg>
      <pc:sldChg chg="modSp ord">
        <pc:chgData name="João Miguel Bigotte" userId="1c2fa038-55e3-49e4-a55b-c7cc1e1b0255" providerId="ADAL" clId="{D3C00B32-7E8A-4B11-AA99-B79ADF811187}" dt="2026-07-24T09:22:29.530" v="59" actId="20577"/>
        <pc:sldMkLst>
          <pc:docMk/>
          <pc:sldMk cId="0" sldId="263"/>
        </pc:sldMkLst>
        <pc:spChg chg="mod">
          <ac:chgData name="João Miguel Bigotte" userId="1c2fa038-55e3-49e4-a55b-c7cc1e1b0255" providerId="ADAL" clId="{D3C00B32-7E8A-4B11-AA99-B79ADF811187}" dt="2026-07-24T09:22:29.530" v="59" actId="20577"/>
          <ac:spMkLst>
            <pc:docMk/>
            <pc:sldMk cId="0" sldId="263"/>
            <ac:spMk id="2" creationId="{00000000-0000-0000-0000-000000000000}"/>
          </ac:spMkLst>
        </pc:spChg>
      </pc:sldChg>
      <pc:sldChg chg="modSp">
        <pc:chgData name="João Miguel Bigotte" userId="1c2fa038-55e3-49e4-a55b-c7cc1e1b0255" providerId="ADAL" clId="{D3C00B32-7E8A-4B11-AA99-B79ADF811187}" dt="2026-07-24T09:44:30.473" v="153" actId="400"/>
        <pc:sldMkLst>
          <pc:docMk/>
          <pc:sldMk cId="3363417127" sldId="265"/>
        </pc:sldMkLst>
        <pc:spChg chg="mod">
          <ac:chgData name="João Miguel Bigotte" userId="1c2fa038-55e3-49e4-a55b-c7cc1e1b0255" providerId="ADAL" clId="{D3C00B32-7E8A-4B11-AA99-B79ADF811187}" dt="2026-07-24T09:44:30.473" v="153" actId="400"/>
          <ac:spMkLst>
            <pc:docMk/>
            <pc:sldMk cId="3363417127" sldId="265"/>
            <ac:spMk id="16" creationId="{D6B9E7EA-BC52-438A-D675-26B6F6399044}"/>
          </ac:spMkLst>
        </pc:spChg>
      </pc:sldChg>
      <pc:sldChg chg="modSp">
        <pc:chgData name="João Miguel Bigotte" userId="1c2fa038-55e3-49e4-a55b-c7cc1e1b0255" providerId="ADAL" clId="{D3C00B32-7E8A-4B11-AA99-B79ADF811187}" dt="2026-07-24T09:24:09.967" v="64" actId="403"/>
        <pc:sldMkLst>
          <pc:docMk/>
          <pc:sldMk cId="2854595403" sldId="267"/>
        </pc:sldMkLst>
        <pc:spChg chg="mod">
          <ac:chgData name="João Miguel Bigotte" userId="1c2fa038-55e3-49e4-a55b-c7cc1e1b0255" providerId="ADAL" clId="{D3C00B32-7E8A-4B11-AA99-B79ADF811187}" dt="2026-07-24T09:24:09.967" v="64" actId="403"/>
          <ac:spMkLst>
            <pc:docMk/>
            <pc:sldMk cId="2854595403" sldId="267"/>
            <ac:spMk id="27" creationId="{429D1E3A-7CAC-2E01-A5E3-0A27AA525023}"/>
          </ac:spMkLst>
        </pc:spChg>
      </pc:sldChg>
      <pc:sldChg chg="modSp">
        <pc:chgData name="João Miguel Bigotte" userId="1c2fa038-55e3-49e4-a55b-c7cc1e1b0255" providerId="ADAL" clId="{D3C00B32-7E8A-4B11-AA99-B79ADF811187}" dt="2026-07-24T09:24:57.282" v="68" actId="1076"/>
        <pc:sldMkLst>
          <pc:docMk/>
          <pc:sldMk cId="3691523423" sldId="269"/>
        </pc:sldMkLst>
        <pc:spChg chg="mod">
          <ac:chgData name="João Miguel Bigotte" userId="1c2fa038-55e3-49e4-a55b-c7cc1e1b0255" providerId="ADAL" clId="{D3C00B32-7E8A-4B11-AA99-B79ADF811187}" dt="2026-07-24T09:24:57.282" v="68" actId="1076"/>
          <ac:spMkLst>
            <pc:docMk/>
            <pc:sldMk cId="3691523423" sldId="269"/>
            <ac:spMk id="5" creationId="{0DFF6BFF-4241-2D98-46F2-3EFEA2D18AD3}"/>
          </ac:spMkLst>
        </pc:spChg>
      </pc:sldChg>
      <pc:sldChg chg="modSp">
        <pc:chgData name="João Miguel Bigotte" userId="1c2fa038-55e3-49e4-a55b-c7cc1e1b0255" providerId="ADAL" clId="{D3C00B32-7E8A-4B11-AA99-B79ADF811187}" dt="2026-07-24T09:45:14.599" v="179" actId="207"/>
        <pc:sldMkLst>
          <pc:docMk/>
          <pc:sldMk cId="2188944824" sldId="271"/>
        </pc:sldMkLst>
        <pc:spChg chg="mod">
          <ac:chgData name="João Miguel Bigotte" userId="1c2fa038-55e3-49e4-a55b-c7cc1e1b0255" providerId="ADAL" clId="{D3C00B32-7E8A-4B11-AA99-B79ADF811187}" dt="2026-07-24T09:45:14.599" v="179" actId="207"/>
          <ac:spMkLst>
            <pc:docMk/>
            <pc:sldMk cId="2188944824" sldId="271"/>
            <ac:spMk id="14" creationId="{7FF437AB-0C38-4B2B-3AB7-B61C315D2107}"/>
          </ac:spMkLst>
        </pc:spChg>
      </pc:sldChg>
      <pc:sldChg chg="del">
        <pc:chgData name="João Miguel Bigotte" userId="1c2fa038-55e3-49e4-a55b-c7cc1e1b0255" providerId="ADAL" clId="{D3C00B32-7E8A-4B11-AA99-B79ADF811187}" dt="2026-07-24T09:24:01.463" v="61" actId="2696"/>
        <pc:sldMkLst>
          <pc:docMk/>
          <pc:sldMk cId="2280430882" sldId="273"/>
        </pc:sldMkLst>
      </pc:sldChg>
      <pc:sldChg chg="modSp">
        <pc:chgData name="João Miguel Bigotte" userId="1c2fa038-55e3-49e4-a55b-c7cc1e1b0255" providerId="ADAL" clId="{D3C00B32-7E8A-4B11-AA99-B79ADF811187}" dt="2026-07-24T09:25:41.693" v="85" actId="207"/>
        <pc:sldMkLst>
          <pc:docMk/>
          <pc:sldMk cId="0" sldId="276"/>
        </pc:sldMkLst>
        <pc:spChg chg="mod">
          <ac:chgData name="João Miguel Bigotte" userId="1c2fa038-55e3-49e4-a55b-c7cc1e1b0255" providerId="ADAL" clId="{D3C00B32-7E8A-4B11-AA99-B79ADF811187}" dt="2026-07-24T09:25:41.693" v="85" actId="207"/>
          <ac:spMkLst>
            <pc:docMk/>
            <pc:sldMk cId="0" sldId="276"/>
            <ac:spMk id="22" creationId="{00000000-0000-0000-0000-000000000000}"/>
          </ac:spMkLst>
        </pc:spChg>
        <pc:spChg chg="mod">
          <ac:chgData name="João Miguel Bigotte" userId="1c2fa038-55e3-49e4-a55b-c7cc1e1b0255" providerId="ADAL" clId="{D3C00B32-7E8A-4B11-AA99-B79ADF811187}" dt="2026-07-24T09:21:46.452" v="55" actId="13926"/>
          <ac:spMkLst>
            <pc:docMk/>
            <pc:sldMk cId="0" sldId="276"/>
            <ac:spMk id="23" creationId="{00000000-0000-0000-0000-000000000000}"/>
          </ac:spMkLst>
        </pc:spChg>
        <pc:spChg chg="mod">
          <ac:chgData name="João Miguel Bigotte" userId="1c2fa038-55e3-49e4-a55b-c7cc1e1b0255" providerId="ADAL" clId="{D3C00B32-7E8A-4B11-AA99-B79ADF811187}" dt="2026-07-24T09:25:31.926" v="84" actId="20577"/>
          <ac:spMkLst>
            <pc:docMk/>
            <pc:sldMk cId="0" sldId="276"/>
            <ac:spMk id="42" creationId="{00000000-0000-0000-0000-000000000000}"/>
          </ac:spMkLst>
        </pc:spChg>
      </pc:sldChg>
      <pc:sldChg chg="modSp">
        <pc:chgData name="João Miguel Bigotte" userId="1c2fa038-55e3-49e4-a55b-c7cc1e1b0255" providerId="ADAL" clId="{D3C00B32-7E8A-4B11-AA99-B79ADF811187}" dt="2026-07-24T09:25:11.219" v="77" actId="20577"/>
        <pc:sldMkLst>
          <pc:docMk/>
          <pc:sldMk cId="0" sldId="277"/>
        </pc:sldMkLst>
        <pc:spChg chg="mod">
          <ac:chgData name="João Miguel Bigotte" userId="1c2fa038-55e3-49e4-a55b-c7cc1e1b0255" providerId="ADAL" clId="{D3C00B32-7E8A-4B11-AA99-B79ADF811187}" dt="2026-07-24T09:25:11.219" v="77" actId="20577"/>
          <ac:spMkLst>
            <pc:docMk/>
            <pc:sldMk cId="0" sldId="277"/>
            <ac:spMk id="2" creationId="{00000000-0000-0000-0000-000000000000}"/>
          </ac:spMkLst>
        </pc:spChg>
        <pc:spChg chg="mod">
          <ac:chgData name="João Miguel Bigotte" userId="1c2fa038-55e3-49e4-a55b-c7cc1e1b0255" providerId="ADAL" clId="{D3C00B32-7E8A-4B11-AA99-B79ADF811187}" dt="2026-07-24T09:25:06.972" v="72" actId="20577"/>
          <ac:spMkLst>
            <pc:docMk/>
            <pc:sldMk cId="0" sldId="277"/>
            <ac:spMk id="3" creationId="{00000000-0000-0000-0000-000000000000}"/>
          </ac:spMkLst>
        </pc:spChg>
      </pc:sldChg>
      <pc:sldChg chg="modSp">
        <pc:chgData name="João Miguel Bigotte" userId="1c2fa038-55e3-49e4-a55b-c7cc1e1b0255" providerId="ADAL" clId="{D3C00B32-7E8A-4B11-AA99-B79ADF811187}" dt="2026-07-24T09:43:51.250" v="126" actId="13926"/>
        <pc:sldMkLst>
          <pc:docMk/>
          <pc:sldMk cId="3926964355" sldId="279"/>
        </pc:sldMkLst>
        <pc:spChg chg="mod">
          <ac:chgData name="João Miguel Bigotte" userId="1c2fa038-55e3-49e4-a55b-c7cc1e1b0255" providerId="ADAL" clId="{D3C00B32-7E8A-4B11-AA99-B79ADF811187}" dt="2026-07-24T09:22:41.338" v="60" actId="207"/>
          <ac:spMkLst>
            <pc:docMk/>
            <pc:sldMk cId="3926964355" sldId="279"/>
            <ac:spMk id="5" creationId="{BBEE978F-005C-D3CA-9AF4-8E2131864D0D}"/>
          </ac:spMkLst>
        </pc:spChg>
        <pc:spChg chg="mod">
          <ac:chgData name="João Miguel Bigotte" userId="1c2fa038-55e3-49e4-a55b-c7cc1e1b0255" providerId="ADAL" clId="{D3C00B32-7E8A-4B11-AA99-B79ADF811187}" dt="2026-07-24T09:43:45.113" v="125" actId="13926"/>
          <ac:spMkLst>
            <pc:docMk/>
            <pc:sldMk cId="3926964355" sldId="279"/>
            <ac:spMk id="40" creationId="{8177AF1A-100E-CE66-A470-7B54C97A535A}"/>
          </ac:spMkLst>
        </pc:spChg>
        <pc:spChg chg="mod">
          <ac:chgData name="João Miguel Bigotte" userId="1c2fa038-55e3-49e4-a55b-c7cc1e1b0255" providerId="ADAL" clId="{D3C00B32-7E8A-4B11-AA99-B79ADF811187}" dt="2026-07-24T09:43:51.250" v="126" actId="13926"/>
          <ac:spMkLst>
            <pc:docMk/>
            <pc:sldMk cId="3926964355" sldId="279"/>
            <ac:spMk id="46" creationId="{003E25D8-8693-A9D1-E8E2-F645BDA737D5}"/>
          </ac:spMkLst>
        </pc:spChg>
      </pc:sldChg>
      <pc:sldChg chg="modSp">
        <pc:chgData name="João Miguel Bigotte" userId="1c2fa038-55e3-49e4-a55b-c7cc1e1b0255" providerId="ADAL" clId="{D3C00B32-7E8A-4B11-AA99-B79ADF811187}" dt="2026-07-24T09:20:28.101" v="42" actId="27636"/>
        <pc:sldMkLst>
          <pc:docMk/>
          <pc:sldMk cId="216978584" sldId="284"/>
        </pc:sldMkLst>
        <pc:spChg chg="mod">
          <ac:chgData name="João Miguel Bigotte" userId="1c2fa038-55e3-49e4-a55b-c7cc1e1b0255" providerId="ADAL" clId="{D3C00B32-7E8A-4B11-AA99-B79ADF811187}" dt="2026-07-24T09:20:28.101" v="42" actId="27636"/>
          <ac:spMkLst>
            <pc:docMk/>
            <pc:sldMk cId="216978584" sldId="284"/>
            <ac:spMk id="18" creationId="{A8E51056-B2D9-B989-4A1D-1EA81FA99C4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29AE5-A0C5-4850-ACCF-47801D41C786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ECA53-FC88-4A04-A551-B8EFC19361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77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ECA53-FC88-4A04-A551-B8EFC19361F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6215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ECA53-FC88-4A04-A551-B8EFC19361F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0061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ECA53-FC88-4A04-A551-B8EFC19361F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984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ECA53-FC88-4A04-A551-B8EFC19361F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095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ECA53-FC88-4A04-A551-B8EFC19361F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042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3721F-4D0E-47A1-8F13-03496FA35AE2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CC84-8262-4766-AF6E-0CFEDFBE6A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723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3721F-4D0E-47A1-8F13-03496FA35AE2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CC84-8262-4766-AF6E-0CFEDFBE6A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013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3721F-4D0E-47A1-8F13-03496FA35AE2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CC84-8262-4766-AF6E-0CFEDFBE6A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408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3721F-4D0E-47A1-8F13-03496FA35AE2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CC84-8262-4766-AF6E-0CFEDFBE6A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677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3721F-4D0E-47A1-8F13-03496FA35AE2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CC84-8262-4766-AF6E-0CFEDFBE6A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595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3721F-4D0E-47A1-8F13-03496FA35AE2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CC84-8262-4766-AF6E-0CFEDFBE6A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252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3721F-4D0E-47A1-8F13-03496FA35AE2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CC84-8262-4766-AF6E-0CFEDFBE6A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98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3721F-4D0E-47A1-8F13-03496FA35AE2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CC84-8262-4766-AF6E-0CFEDFBE6A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132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3721F-4D0E-47A1-8F13-03496FA35AE2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CC84-8262-4766-AF6E-0CFEDFBE6A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3267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3721F-4D0E-47A1-8F13-03496FA35AE2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CC84-8262-4766-AF6E-0CFEDFBE6A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346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3721F-4D0E-47A1-8F13-03496FA35AE2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CC84-8262-4766-AF6E-0CFEDFBE6A6F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0761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3721F-4D0E-47A1-8F13-03496FA35AE2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CC84-8262-4766-AF6E-0CFEDFBE6A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9765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3721F-4D0E-47A1-8F13-03496FA35AE2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CC84-8262-4766-AF6E-0CFEDFBE6A6F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69086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3721F-4D0E-47A1-8F13-03496FA35AE2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CC84-8262-4766-AF6E-0CFEDFBE6A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0415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3721F-4D0E-47A1-8F13-03496FA35AE2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CC84-8262-4766-AF6E-0CFEDFBE6A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942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3721F-4D0E-47A1-8F13-03496FA35AE2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CC84-8262-4766-AF6E-0CFEDFBE6A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8134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4257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383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3721F-4D0E-47A1-8F13-03496FA35AE2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83ECC84-8262-4766-AF6E-0CFEDFBE6A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872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10C02A4-C683-B621-DBE0-96A4E2D75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6E525B4-B66E-5B40-B897-CF0EB50F40E8}"/>
              </a:ext>
            </a:extLst>
          </p:cNvPr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PHD THESIS PROJECT  ·  PHD PROGRAM IN TRANSPORTATION SYSTEMS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711C52B-DF8C-F8CD-4FA0-06D0B039A681}"/>
              </a:ext>
            </a:extLst>
          </p:cNvPr>
          <p:cNvSpPr/>
          <p:nvPr/>
        </p:nvSpPr>
        <p:spPr>
          <a:xfrm>
            <a:off x="722392" y="2176313"/>
            <a:ext cx="1139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Sensor-based Recyclables Collection Planning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 Planning</a:t>
            </a:r>
            <a:endParaRPr lang="en-US" sz="4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B0C5958-D7B7-51AA-8E74-7F31DE62426F}"/>
              </a:ext>
            </a:extLst>
          </p:cNvPr>
          <p:cNvSpPr/>
          <p:nvPr/>
        </p:nvSpPr>
        <p:spPr>
          <a:xfrm>
            <a:off x="822960" y="361188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Planeamento de Recolha de Resíduos Recicláveis com Informação de Sensores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A08827C-A53E-B6A3-B387-1207CB2706CD}"/>
              </a:ext>
            </a:extLst>
          </p:cNvPr>
          <p:cNvSpPr/>
          <p:nvPr/>
        </p:nvSpPr>
        <p:spPr>
          <a:xfrm>
            <a:off x="822960" y="4343400"/>
            <a:ext cx="2743200" cy="0"/>
          </a:xfrm>
          <a:prstGeom prst="line">
            <a:avLst/>
          </a:prstGeom>
          <a:noFill/>
          <a:ln w="25400">
            <a:solidFill>
              <a:srgbClr val="3FBF9F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2E0F28D-DDA5-7A95-0BCD-35401A878A6D}"/>
              </a:ext>
            </a:extLst>
          </p:cNvPr>
          <p:cNvSpPr/>
          <p:nvPr/>
        </p:nvSpPr>
        <p:spPr>
          <a:xfrm>
            <a:off x="822960" y="45720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Esmaeil Keyvanloo
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Professor João Fonseca Bigotte
University of Coimbra  ·  Coimbra, July 28, 2026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86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DE0AE1BF-FF70-C7AF-9E0E-C768289D5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49808" y="9646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kern="0" spc="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PRESENTATION OUTLINE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9808" y="10195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63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We Will Cover Today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3794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>
              <a:spcBef>
                <a:spcPts val="900"/>
              </a:spcBef>
              <a:spcAft>
                <a:spcPts val="900"/>
              </a:spcAft>
            </a:pPr>
            <a:r>
              <a:rPr lang="en-GB" sz="2000" b="1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WSmartRoute</a:t>
            </a:r>
            <a:r>
              <a:rPr lang="en-GB" sz="2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+ Project</a:t>
            </a:r>
            <a:endParaRPr lang="en-GB" sz="2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349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67919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17320" y="253288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Background &amp; Rationale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5349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5204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17320" y="337413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 Gap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5349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36168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17320" y="421538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Question &amp; Objectives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5349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520293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17320" y="505663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>
              <a:spcBef>
                <a:spcPts val="900"/>
              </a:spcBef>
              <a:spcAft>
                <a:spcPts val="9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Case Study: Rio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Maior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Portugal</a:t>
            </a:r>
            <a:endParaRPr lang="en-GB" sz="2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72200" y="1691640"/>
            <a:ext cx="5349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3368" y="1837944"/>
            <a:ext cx="457200" cy="457200"/>
          </a:xfrm>
          <a:prstGeom prst="ellipse">
            <a:avLst/>
          </a:prstGeom>
          <a:solidFill>
            <a:srgbClr val="223B5E"/>
          </a:solidFill>
          <a:ln/>
        </p:spPr>
      </p:sp>
      <p:sp>
        <p:nvSpPr>
          <p:cNvPr id="26" name="Text 24"/>
          <p:cNvSpPr/>
          <p:nvPr/>
        </p:nvSpPr>
        <p:spPr>
          <a:xfrm>
            <a:off x="6373368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40880" y="16916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Database &amp; Waste Generation  Modelling</a:t>
            </a:r>
          </a:p>
        </p:txBody>
      </p:sp>
      <p:sp>
        <p:nvSpPr>
          <p:cNvPr id="28" name="Shape 26"/>
          <p:cNvSpPr/>
          <p:nvPr/>
        </p:nvSpPr>
        <p:spPr>
          <a:xfrm>
            <a:off x="6172200" y="2532888"/>
            <a:ext cx="5349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73368" y="2679192"/>
            <a:ext cx="457200" cy="457200"/>
          </a:xfrm>
          <a:prstGeom prst="ellipse">
            <a:avLst/>
          </a:prstGeom>
          <a:solidFill>
            <a:srgbClr val="223B5E"/>
          </a:solidFill>
          <a:ln/>
        </p:spPr>
      </p:sp>
      <p:sp>
        <p:nvSpPr>
          <p:cNvPr id="30" name="Text 28"/>
          <p:cNvSpPr/>
          <p:nvPr/>
        </p:nvSpPr>
        <p:spPr>
          <a:xfrm>
            <a:off x="6373368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90333" y="2523744"/>
            <a:ext cx="4690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generation Modelling &amp; Regression Analysis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72200" y="3374136"/>
            <a:ext cx="5349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73368" y="3520440"/>
            <a:ext cx="457200" cy="457200"/>
          </a:xfrm>
          <a:prstGeom prst="ellipse">
            <a:avLst/>
          </a:prstGeom>
          <a:solidFill>
            <a:srgbClr val="223B5E"/>
          </a:solidFill>
          <a:ln/>
        </p:spPr>
      </p:sp>
      <p:sp>
        <p:nvSpPr>
          <p:cNvPr id="34" name="Text 32"/>
          <p:cNvSpPr/>
          <p:nvPr/>
        </p:nvSpPr>
        <p:spPr>
          <a:xfrm>
            <a:off x="6373368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040880" y="3374136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>
              <a:lnSpc>
                <a:spcPct val="103000"/>
              </a:lnSpc>
            </a:pPr>
            <a:r>
              <a:rPr lang="en-GB" sz="20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Deterministic</a:t>
            </a:r>
            <a:r>
              <a:rPr lang="en-US" sz="20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 Facility Location Model</a:t>
            </a:r>
            <a:endParaRPr lang="en-GB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172200" y="4215384"/>
            <a:ext cx="5349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73368" y="4361688"/>
            <a:ext cx="457200" cy="457200"/>
          </a:xfrm>
          <a:prstGeom prst="ellipse">
            <a:avLst/>
          </a:prstGeom>
          <a:solidFill>
            <a:srgbClr val="223B5E"/>
          </a:solidFill>
          <a:ln/>
        </p:spPr>
      </p:sp>
      <p:sp>
        <p:nvSpPr>
          <p:cNvPr id="38" name="Text 36"/>
          <p:cNvSpPr/>
          <p:nvPr/>
        </p:nvSpPr>
        <p:spPr>
          <a:xfrm>
            <a:off x="6373368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629400" y="4197096"/>
            <a:ext cx="502360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STOCHASTIC OPTIMISATION?</a:t>
            </a:r>
            <a:r>
              <a:rPr lang="fa-I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Fixed Demand to Robust Strategic Planning</a:t>
            </a:r>
          </a:p>
        </p:txBody>
      </p:sp>
      <p:sp>
        <p:nvSpPr>
          <p:cNvPr id="40" name="Shape 38"/>
          <p:cNvSpPr/>
          <p:nvPr/>
        </p:nvSpPr>
        <p:spPr>
          <a:xfrm>
            <a:off x="6172200" y="5056632"/>
            <a:ext cx="5349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73368" y="5202936"/>
            <a:ext cx="457200" cy="457200"/>
          </a:xfrm>
          <a:prstGeom prst="ellipse">
            <a:avLst/>
          </a:prstGeom>
          <a:solidFill>
            <a:srgbClr val="223B5E"/>
          </a:solidFill>
          <a:ln/>
        </p:spPr>
      </p:sp>
      <p:sp>
        <p:nvSpPr>
          <p:cNvPr id="42" name="Text 40"/>
          <p:cNvSpPr/>
          <p:nvPr/>
        </p:nvSpPr>
        <p:spPr>
          <a:xfrm>
            <a:off x="6373368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040880" y="505663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>
              <a:spcBef>
                <a:spcPts val="900"/>
              </a:spcBef>
              <a:spcAft>
                <a:spcPts val="900"/>
              </a:spcAft>
            </a:pPr>
            <a:r>
              <a:rPr lang="en-GB" sz="2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CONCLUSION</a:t>
            </a:r>
            <a:endParaRPr lang="en-GB" sz="2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EF393DE2-F960-14E7-F490-3C5FC759FBFC}"/>
              </a:ext>
            </a:extLst>
          </p:cNvPr>
          <p:cNvSpPr/>
          <p:nvPr/>
        </p:nvSpPr>
        <p:spPr>
          <a:xfrm>
            <a:off x="548640" y="5895296"/>
            <a:ext cx="5349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9" name="Text 4">
            <a:extLst>
              <a:ext uri="{FF2B5EF4-FFF2-40B4-BE49-F238E27FC236}">
                <a16:creationId xmlns:a16="http://schemas.microsoft.com/office/drawing/2014/main" id="{D8A739F4-6A90-C6D5-3F1C-CCA2E4F3F644}"/>
              </a:ext>
            </a:extLst>
          </p:cNvPr>
          <p:cNvSpPr/>
          <p:nvPr/>
        </p:nvSpPr>
        <p:spPr>
          <a:xfrm>
            <a:off x="2272284" y="5961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">
            <a:extLst>
              <a:ext uri="{FF2B5EF4-FFF2-40B4-BE49-F238E27FC236}">
                <a16:creationId xmlns:a16="http://schemas.microsoft.com/office/drawing/2014/main" id="{462A9826-C4FF-54B9-8F1E-1B91EC9902C1}"/>
              </a:ext>
            </a:extLst>
          </p:cNvPr>
          <p:cNvSpPr/>
          <p:nvPr/>
        </p:nvSpPr>
        <p:spPr>
          <a:xfrm>
            <a:off x="1417320" y="589529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>
              <a:spcBef>
                <a:spcPts val="900"/>
              </a:spcBef>
              <a:spcAft>
                <a:spcPts val="900"/>
              </a:spcAft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61" name="Shape 3">
            <a:extLst>
              <a:ext uri="{FF2B5EF4-FFF2-40B4-BE49-F238E27FC236}">
                <a16:creationId xmlns:a16="http://schemas.microsoft.com/office/drawing/2014/main" id="{A7054A5C-D562-3FED-CDB0-1A5599E6B880}"/>
              </a:ext>
            </a:extLst>
          </p:cNvPr>
          <p:cNvSpPr/>
          <p:nvPr/>
        </p:nvSpPr>
        <p:spPr>
          <a:xfrm>
            <a:off x="791453" y="596188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3" name="Text 5">
            <a:extLst>
              <a:ext uri="{FF2B5EF4-FFF2-40B4-BE49-F238E27FC236}">
                <a16:creationId xmlns:a16="http://schemas.microsoft.com/office/drawing/2014/main" id="{FBF5BB0A-5684-C99A-555E-82AECB479499}"/>
              </a:ext>
            </a:extLst>
          </p:cNvPr>
          <p:cNvSpPr/>
          <p:nvPr/>
        </p:nvSpPr>
        <p:spPr>
          <a:xfrm>
            <a:off x="7064069" y="588071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75AB34E-DE7B-E415-8A83-9FD6E5CA1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49C2494-282E-9626-131E-E92881D03205}"/>
              </a:ext>
            </a:extLst>
          </p:cNvPr>
          <p:cNvSpPr/>
          <p:nvPr/>
        </p:nvSpPr>
        <p:spPr>
          <a:xfrm>
            <a:off x="6478" y="927743"/>
            <a:ext cx="1219169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700DE41D-18F1-F593-5F1B-04B7B8F300EF}"/>
              </a:ext>
            </a:extLst>
          </p:cNvPr>
          <p:cNvSpPr/>
          <p:nvPr/>
        </p:nvSpPr>
        <p:spPr>
          <a:xfrm>
            <a:off x="469201" y="1776123"/>
            <a:ext cx="11247120" cy="502920"/>
          </a:xfrm>
          <a:prstGeom prst="roundRect">
            <a:avLst/>
          </a:prstGeom>
          <a:solidFill>
            <a:srgbClr val="EBF3FF"/>
          </a:solidFill>
          <a:ln>
            <a:solidFill>
              <a:srgbClr val="3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  Develop intelligent and sustainable 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municipal 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collection systems.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08D9C21E-639E-0E4E-7D14-DD18BD7C94C1}"/>
              </a:ext>
            </a:extLst>
          </p:cNvPr>
          <p:cNvSpPr/>
          <p:nvPr/>
        </p:nvSpPr>
        <p:spPr>
          <a:xfrm>
            <a:off x="640385" y="2632859"/>
            <a:ext cx="1463040" cy="1463040"/>
          </a:xfrm>
          <a:prstGeom prst="roundRect">
            <a:avLst/>
          </a:prstGeom>
          <a:solidFill>
            <a:srgbClr val="FAFAFA"/>
          </a:solidFill>
          <a:ln>
            <a:solidFill>
              <a:srgbClr val="215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03E01B-D572-EB71-FBE9-9579CC71980D}"/>
              </a:ext>
            </a:extLst>
          </p:cNvPr>
          <p:cNvSpPr txBox="1"/>
          <p:nvPr/>
        </p:nvSpPr>
        <p:spPr>
          <a:xfrm>
            <a:off x="2147159" y="3135779"/>
            <a:ext cx="5437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DACE2A38-AD7C-5DE4-68D8-99CD548BBB7A}"/>
              </a:ext>
            </a:extLst>
          </p:cNvPr>
          <p:cNvSpPr/>
          <p:nvPr/>
        </p:nvSpPr>
        <p:spPr>
          <a:xfrm>
            <a:off x="2652065" y="2632859"/>
            <a:ext cx="1463040" cy="1463040"/>
          </a:xfrm>
          <a:prstGeom prst="roundRect">
            <a:avLst/>
          </a:prstGeom>
          <a:solidFill>
            <a:srgbClr val="FAFAFA"/>
          </a:solidFill>
          <a:ln>
            <a:solidFill>
              <a:srgbClr val="008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E45468-AF7B-4CE8-779C-C4524E9454D6}"/>
              </a:ext>
            </a:extLst>
          </p:cNvPr>
          <p:cNvSpPr txBox="1"/>
          <p:nvPr/>
        </p:nvSpPr>
        <p:spPr>
          <a:xfrm>
            <a:off x="4158839" y="3135779"/>
            <a:ext cx="5437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BAF00BF8-D9B8-35F5-DB50-13E2374B40B3}"/>
              </a:ext>
            </a:extLst>
          </p:cNvPr>
          <p:cNvSpPr/>
          <p:nvPr/>
        </p:nvSpPr>
        <p:spPr>
          <a:xfrm>
            <a:off x="4663745" y="2632859"/>
            <a:ext cx="1463040" cy="1463040"/>
          </a:xfrm>
          <a:prstGeom prst="roundRect">
            <a:avLst/>
          </a:prstGeom>
          <a:solidFill>
            <a:srgbClr val="FAFAFA"/>
          </a:solidFill>
          <a:ln>
            <a:solidFill>
              <a:srgbClr val="DC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Facility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DB4062-D3A7-D345-08B2-5C8C88CB2681}"/>
              </a:ext>
            </a:extLst>
          </p:cNvPr>
          <p:cNvSpPr txBox="1"/>
          <p:nvPr/>
        </p:nvSpPr>
        <p:spPr>
          <a:xfrm>
            <a:off x="6170519" y="3135779"/>
            <a:ext cx="5437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667CE0B6-FE43-10B8-D1E0-655C5B05239A}"/>
              </a:ext>
            </a:extLst>
          </p:cNvPr>
          <p:cNvSpPr/>
          <p:nvPr/>
        </p:nvSpPr>
        <p:spPr>
          <a:xfrm>
            <a:off x="6675425" y="2632859"/>
            <a:ext cx="1463040" cy="1463040"/>
          </a:xfrm>
          <a:prstGeom prst="roundRect">
            <a:avLst/>
          </a:prstGeom>
          <a:solidFill>
            <a:srgbClr val="FAFAFA"/>
          </a:solidFill>
          <a:ln>
            <a:solidFill>
              <a:srgbClr val="6E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3D0E4D-40B7-5B3C-9BE7-FE9F4A28DE10}"/>
              </a:ext>
            </a:extLst>
          </p:cNvPr>
          <p:cNvSpPr txBox="1"/>
          <p:nvPr/>
        </p:nvSpPr>
        <p:spPr>
          <a:xfrm>
            <a:off x="8182199" y="3135779"/>
            <a:ext cx="5437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3FA2DAC4-37D0-1EA4-2295-FD7311EBD696}"/>
              </a:ext>
            </a:extLst>
          </p:cNvPr>
          <p:cNvSpPr/>
          <p:nvPr/>
        </p:nvSpPr>
        <p:spPr>
          <a:xfrm>
            <a:off x="8687105" y="2632859"/>
            <a:ext cx="1463040" cy="1463040"/>
          </a:xfrm>
          <a:prstGeom prst="roundRect">
            <a:avLst/>
          </a:prstGeom>
          <a:solidFill>
            <a:srgbClr val="FAFAFA"/>
          </a:solidFill>
          <a:ln>
            <a:solidFill>
              <a:srgbClr val="007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</a:p>
          <a:p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9CA7E156-F65D-AF28-8B6B-B76D628F2ABE}"/>
              </a:ext>
            </a:extLst>
          </p:cNvPr>
          <p:cNvSpPr/>
          <p:nvPr/>
        </p:nvSpPr>
        <p:spPr>
          <a:xfrm>
            <a:off x="640385" y="4405023"/>
            <a:ext cx="10789920" cy="1371600"/>
          </a:xfrm>
          <a:prstGeom prst="roundRect">
            <a:avLst/>
          </a:prstGeom>
          <a:solidFill>
            <a:srgbClr val="EBF8EF"/>
          </a:solidFill>
          <a:ln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PhD FOCUS</a:t>
            </a:r>
          </a:p>
          <a:p>
            <a:pPr algn="ctr">
              <a:defRPr sz="2000"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Infrastructure Planning</a:t>
            </a:r>
          </a:p>
          <a:p>
            <a:pPr algn="ctr">
              <a:defRPr sz="2000"/>
            </a:pP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Modelling   |   Deterministic Facility Location   |   Stochastic Facility Location</a:t>
            </a:r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FC279647-AFA0-2A52-EF7E-297BD3B0D741}"/>
              </a:ext>
            </a:extLst>
          </p:cNvPr>
          <p:cNvSpPr/>
          <p:nvPr/>
        </p:nvSpPr>
        <p:spPr>
          <a:xfrm>
            <a:off x="640385" y="6009198"/>
            <a:ext cx="10789920" cy="640080"/>
          </a:xfrm>
          <a:prstGeom prst="roundRect">
            <a:avLst/>
          </a:prstGeom>
          <a:solidFill>
            <a:srgbClr val="F5F8FC"/>
          </a:solidFill>
          <a:ln>
            <a:solidFill>
              <a:srgbClr val="64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research contributes 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limited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strategic planning 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WSmartRoute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C54901-9FAE-EBD3-A650-B0F9B17E137F}"/>
              </a:ext>
            </a:extLst>
          </p:cNvPr>
          <p:cNvSpPr txBox="1"/>
          <p:nvPr/>
        </p:nvSpPr>
        <p:spPr>
          <a:xfrm>
            <a:off x="297554" y="913465"/>
            <a:ext cx="619009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1.WSmartRoute+ Project</a:t>
            </a:r>
          </a:p>
          <a:p>
            <a:pPr>
              <a:defRPr sz="1600" i="1">
                <a:solidFill>
                  <a:srgbClr val="DCDCDC"/>
                </a:solidFill>
              </a:defRPr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FCT Research Project</a:t>
            </a:r>
          </a:p>
        </p:txBody>
      </p:sp>
    </p:spTree>
    <p:extLst>
      <p:ext uri="{BB962C8B-B14F-4D97-AF65-F5344CB8AC3E}">
        <p14:creationId xmlns:p14="http://schemas.microsoft.com/office/powerpoint/2010/main" val="310906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CA0C29-5EE3-B274-D6ED-4ED20E9287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AC441E-A40D-15F5-42A0-1BF43D7E2D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63" t="21697" r="33859" b="44649"/>
          <a:stretch/>
        </p:blipFill>
        <p:spPr>
          <a:xfrm>
            <a:off x="3938955" y="1832499"/>
            <a:ext cx="2527833" cy="147422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58F37C-3923-5932-C7C0-9019DC3AB6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022" y="1107419"/>
            <a:ext cx="5264977" cy="5750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EA9592-DB80-5E84-E29C-14A46D8B55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64" t="23418" r="5009" b="46962"/>
          <a:stretch/>
        </p:blipFill>
        <p:spPr>
          <a:xfrm>
            <a:off x="3984827" y="3306728"/>
            <a:ext cx="2666935" cy="13876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BF823C-FD8D-1EC8-FA19-79CE2369AE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0" t="13720" r="10965" b="5324"/>
          <a:stretch/>
        </p:blipFill>
        <p:spPr>
          <a:xfrm>
            <a:off x="323596" y="2023876"/>
            <a:ext cx="3415747" cy="263031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1095876-CF01-64BA-2346-DB9342E0331C}"/>
              </a:ext>
            </a:extLst>
          </p:cNvPr>
          <p:cNvSpPr/>
          <p:nvPr/>
        </p:nvSpPr>
        <p:spPr>
          <a:xfrm>
            <a:off x="7030278" y="4227443"/>
            <a:ext cx="397565" cy="1325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40DFC6-0075-B3FD-AB45-44436E33D1C2}"/>
              </a:ext>
            </a:extLst>
          </p:cNvPr>
          <p:cNvSpPr/>
          <p:nvPr/>
        </p:nvSpPr>
        <p:spPr>
          <a:xfrm>
            <a:off x="7043532" y="2657062"/>
            <a:ext cx="397565" cy="1325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6D4FA4C7-9DA5-B7DB-113F-F8E00A8A3488}"/>
              </a:ext>
            </a:extLst>
          </p:cNvPr>
          <p:cNvSpPr/>
          <p:nvPr/>
        </p:nvSpPr>
        <p:spPr>
          <a:xfrm>
            <a:off x="6748119" y="2657062"/>
            <a:ext cx="178904" cy="1676593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95FBFD3B-633B-4173-71CA-BABCBAE5AAF9}"/>
              </a:ext>
            </a:extLst>
          </p:cNvPr>
          <p:cNvSpPr/>
          <p:nvPr/>
        </p:nvSpPr>
        <p:spPr>
          <a:xfrm>
            <a:off x="354893" y="118832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43E8D8B0-ABCC-7595-2A77-33442F3C0356}"/>
              </a:ext>
            </a:extLst>
          </p:cNvPr>
          <p:cNvSpPr/>
          <p:nvPr/>
        </p:nvSpPr>
        <p:spPr>
          <a:xfrm>
            <a:off x="122979" y="136349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Background &amp; Rationale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B29C1963-E517-EA7E-5A31-1F4FD897D545}"/>
              </a:ext>
            </a:extLst>
          </p:cNvPr>
          <p:cNvSpPr/>
          <p:nvPr/>
        </p:nvSpPr>
        <p:spPr>
          <a:xfrm>
            <a:off x="216673" y="4773304"/>
            <a:ext cx="3315031" cy="1144827"/>
          </a:xfrm>
          <a:prstGeom prst="roundRect">
            <a:avLst>
              <a:gd name="adj" fmla="val 7143"/>
            </a:avLst>
          </a:prstGeom>
          <a:solidFill>
            <a:srgbClr val="FFF6E6"/>
          </a:solidFill>
          <a:ln w="15240">
            <a:solidFill>
              <a:srgbClr val="D99A28"/>
            </a:solidFill>
            <a:prstDash val="solid"/>
          </a:ln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C33E3402-0626-FCB6-DEF8-997F8D5A079A}"/>
              </a:ext>
            </a:extLst>
          </p:cNvPr>
          <p:cNvSpPr/>
          <p:nvPr/>
        </p:nvSpPr>
        <p:spPr>
          <a:xfrm>
            <a:off x="3601013" y="4773695"/>
            <a:ext cx="3415747" cy="1144435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 w="15240">
            <a:solidFill>
              <a:srgbClr val="1B5E8C"/>
            </a:solidFill>
            <a:prstDash val="solid"/>
          </a:ln>
        </p:spPr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52C3D181-87A0-7C1A-20E1-1603FEECA69F}"/>
              </a:ext>
            </a:extLst>
          </p:cNvPr>
          <p:cNvSpPr/>
          <p:nvPr/>
        </p:nvSpPr>
        <p:spPr>
          <a:xfrm>
            <a:off x="304800" y="4773303"/>
            <a:ext cx="3134139" cy="114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</a:t>
            </a:r>
            <a:r>
              <a:rPr lang="en-GB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(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blind collection) </a:t>
            </a:r>
            <a:endParaRPr lang="fa-IR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collection schedules</a:t>
            </a:r>
            <a:endParaRPr lang="fa-IR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demand estimation</a:t>
            </a:r>
            <a:endParaRPr lang="fa-IR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ignores fill levels, </a:t>
            </a:r>
            <a:endParaRPr lang="fa-IR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Fails to capture spatial and temporal demand variability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607E375A-FCE2-5C8C-EF8A-9ED2882BA7B3}"/>
              </a:ext>
            </a:extLst>
          </p:cNvPr>
          <p:cNvSpPr/>
          <p:nvPr/>
        </p:nvSpPr>
        <p:spPr>
          <a:xfrm>
            <a:off x="257355" y="6013215"/>
            <a:ext cx="7094077" cy="749699"/>
          </a:xfrm>
          <a:prstGeom prst="roundRect">
            <a:avLst>
              <a:gd name="adj" fmla="val 9679"/>
            </a:avLst>
          </a:prstGeom>
          <a:solidFill>
            <a:srgbClr val="E0D7F4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0CC557A0-6F71-10F8-DF51-B90656DF5B8C}"/>
              </a:ext>
            </a:extLst>
          </p:cNvPr>
          <p:cNvSpPr/>
          <p:nvPr/>
        </p:nvSpPr>
        <p:spPr>
          <a:xfrm>
            <a:off x="3619831" y="4773303"/>
            <a:ext cx="3396929" cy="11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Reality of waste generation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and uncertain 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Spatially and temporally variable</a:t>
            </a:r>
            <a:endParaRPr lang="fa-IR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data-driven demand estimation</a:t>
            </a:r>
            <a:endParaRPr lang="fa-IR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6646AC96-BA31-04AD-8BA0-3A1596AA83C1}"/>
              </a:ext>
            </a:extLst>
          </p:cNvPr>
          <p:cNvSpPr/>
          <p:nvPr/>
        </p:nvSpPr>
        <p:spPr>
          <a:xfrm>
            <a:off x="333765" y="6013215"/>
            <a:ext cx="7094077" cy="749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Key Takeaway:</a:t>
            </a:r>
          </a:p>
          <a:p>
            <a:pPr marL="0" indent="0" algn="l">
              <a:lnSpc>
                <a:spcPct val="109000"/>
              </a:lnSpc>
              <a:buNone/>
            </a:pPr>
            <a:r>
              <a:rPr lang="en-GB" sz="1300" dirty="0"/>
              <a:t>.</a:t>
            </a:r>
            <a:endParaRPr lang="en-US" sz="13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C21F331-F7A2-4D93-2714-18950949D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6193210"/>
            <a:ext cx="6914984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 planning is insufficient. Data-driven demand estimation enables robust infrastructure planning.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804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6ED6EBC-0D8E-685C-ED55-448091A67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584A355-175D-35C2-4BDD-A4699F22499A}"/>
              </a:ext>
            </a:extLst>
          </p:cNvPr>
          <p:cNvSpPr txBox="1"/>
          <p:nvPr/>
        </p:nvSpPr>
        <p:spPr>
          <a:xfrm>
            <a:off x="2867892" y="1253719"/>
            <a:ext cx="8160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Reactive Waste Collection to Predictive Infrastructure Planning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F6B935-8E5C-B4A9-8ACB-F61296E56FC3}"/>
              </a:ext>
            </a:extLst>
          </p:cNvPr>
          <p:cNvSpPr txBox="1"/>
          <p:nvPr/>
        </p:nvSpPr>
        <p:spPr>
          <a:xfrm>
            <a:off x="3397962" y="2722049"/>
            <a:ext cx="6529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Streams Commonly Studied Separately</a:t>
            </a:r>
            <a:endParaRPr lang="en-US" sz="180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8035694E-7E84-B707-7386-4B7FC042FB59}"/>
              </a:ext>
            </a:extLst>
          </p:cNvPr>
          <p:cNvSpPr/>
          <p:nvPr/>
        </p:nvSpPr>
        <p:spPr>
          <a:xfrm>
            <a:off x="1991264" y="3090409"/>
            <a:ext cx="2433281" cy="730982"/>
          </a:xfrm>
          <a:prstGeom prst="roundRect">
            <a:avLst>
              <a:gd name="adj" fmla="val 6000"/>
            </a:avLst>
          </a:prstGeom>
          <a:solidFill>
            <a:srgbClr val="15BBCD"/>
          </a:solidFill>
          <a:ln/>
        </p:spPr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53374FF3-83ED-D41C-2641-7E4088D23740}"/>
              </a:ext>
            </a:extLst>
          </p:cNvPr>
          <p:cNvSpPr/>
          <p:nvPr/>
        </p:nvSpPr>
        <p:spPr>
          <a:xfrm>
            <a:off x="7070265" y="2741135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850AE0CD-8788-761C-B836-C975CE1BF296}"/>
              </a:ext>
            </a:extLst>
          </p:cNvPr>
          <p:cNvSpPr/>
          <p:nvPr/>
        </p:nvSpPr>
        <p:spPr>
          <a:xfrm>
            <a:off x="7431780" y="3090409"/>
            <a:ext cx="2109743" cy="730982"/>
          </a:xfrm>
          <a:prstGeom prst="roundRect">
            <a:avLst>
              <a:gd name="adj" fmla="val 6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678CB5EC-9717-93A1-1512-5F398ADF57B3}"/>
              </a:ext>
            </a:extLst>
          </p:cNvPr>
          <p:cNvSpPr/>
          <p:nvPr/>
        </p:nvSpPr>
        <p:spPr>
          <a:xfrm>
            <a:off x="1922890" y="4407877"/>
            <a:ext cx="7702074" cy="1509643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018C9FC3-0CF6-1BD0-4CA9-5BB06B3F81FB}"/>
              </a:ext>
            </a:extLst>
          </p:cNvPr>
          <p:cNvSpPr/>
          <p:nvPr/>
        </p:nvSpPr>
        <p:spPr>
          <a:xfrm>
            <a:off x="1949481" y="4429648"/>
            <a:ext cx="7825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 integrated framework</a:t>
            </a:r>
            <a:endParaRPr lang="en-US" sz="145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4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research integrates three sequential components into a unified decision-support framework:</a:t>
            </a:r>
            <a:endParaRPr lang="en-US" sz="145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D1D57DD6-E266-21DB-080F-21E8A0832EDC}"/>
              </a:ext>
            </a:extLst>
          </p:cNvPr>
          <p:cNvSpPr/>
          <p:nvPr/>
        </p:nvSpPr>
        <p:spPr>
          <a:xfrm>
            <a:off x="4041593" y="4969808"/>
            <a:ext cx="685800" cy="834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C"/>
                </a:solidFill>
              </a:rPr>
              <a:t>→</a:t>
            </a:r>
            <a:endParaRPr lang="en-US" sz="2000" dirty="0"/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2AE9F49D-400B-33E7-1AB2-7ACC173DCCCF}"/>
              </a:ext>
            </a:extLst>
          </p:cNvPr>
          <p:cNvSpPr/>
          <p:nvPr/>
        </p:nvSpPr>
        <p:spPr>
          <a:xfrm>
            <a:off x="7431778" y="4969809"/>
            <a:ext cx="2109743" cy="783279"/>
          </a:xfrm>
          <a:prstGeom prst="roundRect">
            <a:avLst>
              <a:gd name="adj" fmla="val 6957"/>
            </a:avLst>
          </a:prstGeom>
          <a:solidFill>
            <a:srgbClr val="3FBF9F"/>
          </a:solidFill>
          <a:ln/>
        </p:spPr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5B021182-FD28-89D1-75E1-08EF51252C39}"/>
              </a:ext>
            </a:extLst>
          </p:cNvPr>
          <p:cNvSpPr/>
          <p:nvPr/>
        </p:nvSpPr>
        <p:spPr>
          <a:xfrm>
            <a:off x="7549190" y="4969809"/>
            <a:ext cx="1867804" cy="783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Facility Location</a:t>
            </a:r>
            <a:endParaRPr lang="en-US" sz="1600" b="1" dirty="0">
              <a:solidFill>
                <a:srgbClr val="17263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30557F13-E4E1-F688-6171-F71EFB2118B5}"/>
              </a:ext>
            </a:extLst>
          </p:cNvPr>
          <p:cNvSpPr/>
          <p:nvPr/>
        </p:nvSpPr>
        <p:spPr>
          <a:xfrm>
            <a:off x="4828252" y="3090409"/>
            <a:ext cx="2319021" cy="730982"/>
          </a:xfrm>
          <a:prstGeom prst="roundRect">
            <a:avLst>
              <a:gd name="adj" fmla="val 6000"/>
            </a:avLst>
          </a:prstGeom>
          <a:solidFill>
            <a:srgbClr val="223B5E"/>
          </a:solidFill>
          <a:ln/>
        </p:spPr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4F1DA1C0-D4A7-DEB2-1AA9-68D5D93A332F}"/>
              </a:ext>
            </a:extLst>
          </p:cNvPr>
          <p:cNvSpPr/>
          <p:nvPr/>
        </p:nvSpPr>
        <p:spPr>
          <a:xfrm>
            <a:off x="1983313" y="3266489"/>
            <a:ext cx="2459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</a:t>
            </a:r>
            <a:r>
              <a:rPr lang="en-GB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Modeling</a:t>
            </a: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B0CE8E0E-9DAA-E1FE-EDEC-3554A2250B1B}"/>
              </a:ext>
            </a:extLst>
          </p:cNvPr>
          <p:cNvSpPr/>
          <p:nvPr/>
        </p:nvSpPr>
        <p:spPr>
          <a:xfrm>
            <a:off x="4760565" y="3248627"/>
            <a:ext cx="2459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Facility-location planning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0C3B7C59-5063-611A-9495-558FA493E571}"/>
              </a:ext>
            </a:extLst>
          </p:cNvPr>
          <p:cNvSpPr/>
          <p:nvPr/>
        </p:nvSpPr>
        <p:spPr>
          <a:xfrm>
            <a:off x="7260056" y="3241443"/>
            <a:ext cx="2459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uncertainty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966B3488-144F-1D77-AE4C-D022FBED1FAE}"/>
              </a:ext>
            </a:extLst>
          </p:cNvPr>
          <p:cNvSpPr/>
          <p:nvPr/>
        </p:nvSpPr>
        <p:spPr>
          <a:xfrm>
            <a:off x="4357086" y="2809325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9CE8443B-1DD3-9CA8-11FD-51B61B2B1F2E}"/>
              </a:ext>
            </a:extLst>
          </p:cNvPr>
          <p:cNvSpPr/>
          <p:nvPr/>
        </p:nvSpPr>
        <p:spPr>
          <a:xfrm>
            <a:off x="2064201" y="4996391"/>
            <a:ext cx="2109744" cy="767530"/>
          </a:xfrm>
          <a:prstGeom prst="roundRect">
            <a:avLst>
              <a:gd name="adj" fmla="val 6957"/>
            </a:avLst>
          </a:prstGeom>
          <a:solidFill>
            <a:srgbClr val="3FBF9F"/>
          </a:solidFill>
          <a:ln/>
        </p:spPr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F94ED842-6F01-BC46-97C3-C0F2C48C7722}"/>
              </a:ext>
            </a:extLst>
          </p:cNvPr>
          <p:cNvSpPr/>
          <p:nvPr/>
        </p:nvSpPr>
        <p:spPr>
          <a:xfrm>
            <a:off x="4694880" y="4969808"/>
            <a:ext cx="2128117" cy="783279"/>
          </a:xfrm>
          <a:prstGeom prst="roundRect">
            <a:avLst>
              <a:gd name="adj" fmla="val 6957"/>
            </a:avLst>
          </a:prstGeom>
          <a:solidFill>
            <a:srgbClr val="3FBF9F"/>
          </a:solidFill>
          <a:ln/>
        </p:spPr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6C4C4C46-E8EB-33CA-0DC7-B0542C6A159B}"/>
              </a:ext>
            </a:extLst>
          </p:cNvPr>
          <p:cNvSpPr/>
          <p:nvPr/>
        </p:nvSpPr>
        <p:spPr>
          <a:xfrm>
            <a:off x="6768562" y="4969808"/>
            <a:ext cx="685800" cy="794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C"/>
                </a:solidFill>
              </a:rPr>
              <a:t>→</a:t>
            </a:r>
            <a:endParaRPr lang="en-US" sz="2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F80AD0-9235-2B3D-73D1-5DB973623619}"/>
              </a:ext>
            </a:extLst>
          </p:cNvPr>
          <p:cNvSpPr txBox="1"/>
          <p:nvPr/>
        </p:nvSpPr>
        <p:spPr>
          <a:xfrm>
            <a:off x="4736580" y="5114649"/>
            <a:ext cx="20864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Facility Location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653662-CB8A-EAFC-3821-FA7EE47E3F01}"/>
              </a:ext>
            </a:extLst>
          </p:cNvPr>
          <p:cNvSpPr txBox="1"/>
          <p:nvPr/>
        </p:nvSpPr>
        <p:spPr>
          <a:xfrm>
            <a:off x="2076554" y="5219855"/>
            <a:ext cx="20973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6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Demand</a:t>
            </a:r>
            <a:r>
              <a:rPr lang="fa-IR" sz="1600" b="1" dirty="0">
                <a:solidFill>
                  <a:srgbClr val="1726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1726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Estimation</a:t>
            </a:r>
          </a:p>
        </p:txBody>
      </p:sp>
      <p:sp>
        <p:nvSpPr>
          <p:cNvPr id="55" name="Text 0">
            <a:extLst>
              <a:ext uri="{FF2B5EF4-FFF2-40B4-BE49-F238E27FC236}">
                <a16:creationId xmlns:a16="http://schemas.microsoft.com/office/drawing/2014/main" id="{60EFA5A2-BF80-B2E0-6452-7ED52FCC66C0}"/>
              </a:ext>
            </a:extLst>
          </p:cNvPr>
          <p:cNvSpPr/>
          <p:nvPr/>
        </p:nvSpPr>
        <p:spPr>
          <a:xfrm>
            <a:off x="346269" y="1058447"/>
            <a:ext cx="2905813" cy="217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3.RESEARCH GAP</a:t>
            </a: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162208E7-A686-CDA8-1FA6-EF5E222ECBEE}"/>
              </a:ext>
            </a:extLst>
          </p:cNvPr>
          <p:cNvSpPr/>
          <p:nvPr/>
        </p:nvSpPr>
        <p:spPr>
          <a:xfrm>
            <a:off x="7484741" y="1626246"/>
            <a:ext cx="3989412" cy="339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The Core Research Gap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C7BBA725-9464-ED2C-3132-D68D7248C6B7}"/>
              </a:ext>
            </a:extLst>
          </p:cNvPr>
          <p:cNvSpPr/>
          <p:nvPr/>
        </p:nvSpPr>
        <p:spPr>
          <a:xfrm>
            <a:off x="5657870" y="1926083"/>
            <a:ext cx="6094340" cy="69854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0C16941E-919B-DDD4-CBB0-95D868522FBF}"/>
              </a:ext>
            </a:extLst>
          </p:cNvPr>
          <p:cNvSpPr/>
          <p:nvPr/>
        </p:nvSpPr>
        <p:spPr>
          <a:xfrm>
            <a:off x="439790" y="1933648"/>
            <a:ext cx="3631278" cy="67465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collection schedules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demand assumption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("blind") collection</a:t>
            </a:r>
            <a:endParaRPr lang="fa-I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0B3D492E-0175-1F75-8777-0BB996BC4CDE}"/>
              </a:ext>
            </a:extLst>
          </p:cNvPr>
          <p:cNvSpPr/>
          <p:nvPr/>
        </p:nvSpPr>
        <p:spPr>
          <a:xfrm>
            <a:off x="884830" y="1643897"/>
            <a:ext cx="3989412" cy="27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GB" sz="16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Current Planning Limitations</a:t>
            </a:r>
            <a:endParaRPr lang="en-US" sz="1600" b="1" dirty="0">
              <a:solidFill>
                <a:srgbClr val="F95F88"/>
              </a:solidFill>
              <a:latin typeface="Times New Roman" panose="02020603050405020304" pitchFamily="18" charset="0"/>
              <a:ea typeface="Petrona Bold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96493B6-BC92-C353-1868-FC84FC6BD9C7}"/>
              </a:ext>
            </a:extLst>
          </p:cNvPr>
          <p:cNvSpPr/>
          <p:nvPr/>
        </p:nvSpPr>
        <p:spPr>
          <a:xfrm>
            <a:off x="4499113" y="2092514"/>
            <a:ext cx="668632" cy="4369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0213F9F7-BBEA-92D9-55EA-D38311FF960A}"/>
              </a:ext>
            </a:extLst>
          </p:cNvPr>
          <p:cNvSpPr/>
          <p:nvPr/>
        </p:nvSpPr>
        <p:spPr>
          <a:xfrm>
            <a:off x="304800" y="6016898"/>
            <a:ext cx="9320164" cy="770006"/>
          </a:xfrm>
          <a:prstGeom prst="roundRect">
            <a:avLst>
              <a:gd name="adj" fmla="val 9679"/>
            </a:avLst>
          </a:prstGeom>
          <a:solidFill>
            <a:srgbClr val="E0D7F4"/>
          </a:solidFill>
          <a:ln/>
        </p:spPr>
        <p:txBody>
          <a:bodyPr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Key Takeaway: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C5EC6713-D96B-8354-4B96-BFCCF5778168}"/>
              </a:ext>
            </a:extLst>
          </p:cNvPr>
          <p:cNvSpPr/>
          <p:nvPr/>
        </p:nvSpPr>
        <p:spPr>
          <a:xfrm>
            <a:off x="5683237" y="3912043"/>
            <a:ext cx="412763" cy="417942"/>
          </a:xfrm>
          <a:prstGeom prst="down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5764D8-4F29-827B-8381-DB86BD122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210" y="1935068"/>
            <a:ext cx="60960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typically investigate waste demand modelling, facility location, and demand uncertainty as separate research problems. Few study integrate these components into a unified decision-support framework.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58DDAF-A2FE-9DD5-CDFA-4AB9A1B97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6" y="6310150"/>
            <a:ext cx="93822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proposes a sequential decision-support framework that integrates demand estimation with deterministic and stochastic facility-location models to support robust strategic municipal waste infrastructure planning under demand uncertainty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447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4CCC91-8F80-34B0-C1E3-C434994FC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949"/>
            <a:ext cx="12185522" cy="6858000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24F37329-12DC-3E9D-574F-3010B0B7BC22}"/>
              </a:ext>
            </a:extLst>
          </p:cNvPr>
          <p:cNvSpPr/>
          <p:nvPr/>
        </p:nvSpPr>
        <p:spPr>
          <a:xfrm>
            <a:off x="328658" y="108005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MAIN RESEARCH QUESTION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BAAF2046-A4FC-5D53-0EAE-36C7141EF29B}"/>
              </a:ext>
            </a:extLst>
          </p:cNvPr>
          <p:cNvSpPr/>
          <p:nvPr/>
        </p:nvSpPr>
        <p:spPr>
          <a:xfrm>
            <a:off x="328658" y="1491534"/>
            <a:ext cx="10881360" cy="896809"/>
          </a:xfrm>
          <a:prstGeom prst="roundRect">
            <a:avLst>
              <a:gd name="adj" fmla="val 5806"/>
            </a:avLst>
          </a:prstGeom>
          <a:solidFill>
            <a:srgbClr val="223B5E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FC8CF24D-AEAC-8F74-4A12-3965E6FEC6DF}"/>
              </a:ext>
            </a:extLst>
          </p:cNvPr>
          <p:cNvSpPr/>
          <p:nvPr/>
        </p:nvSpPr>
        <p:spPr>
          <a:xfrm>
            <a:off x="328658" y="253316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1FB6EE69-9B55-8AD2-B73F-44A1A38203DB}"/>
              </a:ext>
            </a:extLst>
          </p:cNvPr>
          <p:cNvSpPr/>
          <p:nvPr/>
        </p:nvSpPr>
        <p:spPr>
          <a:xfrm>
            <a:off x="328658" y="2998306"/>
            <a:ext cx="2651760" cy="3200400"/>
          </a:xfrm>
          <a:prstGeom prst="roundRect">
            <a:avLst>
              <a:gd name="adj" fmla="val 3103"/>
            </a:avLst>
          </a:prstGeom>
          <a:noFill/>
          <a:ln>
            <a:solidFill>
              <a:schemeClr val="tx1"/>
            </a:solidFill>
          </a:ln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923CED1F-4F8F-8180-EA65-AC85EBBCD34C}"/>
              </a:ext>
            </a:extLst>
          </p:cNvPr>
          <p:cNvSpPr/>
          <p:nvPr/>
        </p:nvSpPr>
        <p:spPr>
          <a:xfrm>
            <a:off x="3071858" y="2990361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>
            <a:solidFill>
              <a:schemeClr val="tx1"/>
            </a:solidFill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3B2F525-4E0A-1DCB-2308-E9699FDF1474}"/>
              </a:ext>
            </a:extLst>
          </p:cNvPr>
          <p:cNvSpPr/>
          <p:nvPr/>
        </p:nvSpPr>
        <p:spPr>
          <a:xfrm>
            <a:off x="5815058" y="2990361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>
            <a:solidFill>
              <a:schemeClr val="tx1"/>
            </a:solidFill>
          </a:ln>
        </p:spPr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EAF6140A-F74B-3685-E863-7AD8018D0E2B}"/>
              </a:ext>
            </a:extLst>
          </p:cNvPr>
          <p:cNvSpPr/>
          <p:nvPr/>
        </p:nvSpPr>
        <p:spPr>
          <a:xfrm>
            <a:off x="8558258" y="2990361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>
            <a:solidFill>
              <a:schemeClr val="tx1"/>
            </a:solidFill>
          </a:ln>
        </p:spPr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9395E87F-142E-8EC0-D7CF-E0E09E845B2A}"/>
              </a:ext>
            </a:extLst>
          </p:cNvPr>
          <p:cNvSpPr/>
          <p:nvPr/>
        </p:nvSpPr>
        <p:spPr>
          <a:xfrm>
            <a:off x="445277" y="30820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FFFB9AF6-CD8E-6F80-CC5F-7BF4C87ED0EE}"/>
              </a:ext>
            </a:extLst>
          </p:cNvPr>
          <p:cNvSpPr/>
          <p:nvPr/>
        </p:nvSpPr>
        <p:spPr>
          <a:xfrm>
            <a:off x="3188477" y="30820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3EEBC39E-6EA6-6117-95F2-C6C180F3C8FB}"/>
              </a:ext>
            </a:extLst>
          </p:cNvPr>
          <p:cNvSpPr/>
          <p:nvPr/>
        </p:nvSpPr>
        <p:spPr>
          <a:xfrm>
            <a:off x="5931677" y="30820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9594B30-F600-9C5E-94AE-6E037550FD6E}"/>
              </a:ext>
            </a:extLst>
          </p:cNvPr>
          <p:cNvSpPr/>
          <p:nvPr/>
        </p:nvSpPr>
        <p:spPr>
          <a:xfrm>
            <a:off x="8674877" y="30820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29B258C5-A8A7-5C23-265A-3CED46865A03}"/>
              </a:ext>
            </a:extLst>
          </p:cNvPr>
          <p:cNvSpPr/>
          <p:nvPr/>
        </p:nvSpPr>
        <p:spPr>
          <a:xfrm>
            <a:off x="489669" y="1457084"/>
            <a:ext cx="10586497" cy="86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i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“How can waste generation modelling be integrated with deterministic and stochastic p-median facility location models to improve strategic municipal solid waste container planning under demand uncertainty?”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8D8A1E0D-0D50-91CD-4AC1-550E058C64AF}"/>
              </a:ext>
            </a:extLst>
          </p:cNvPr>
          <p:cNvSpPr/>
          <p:nvPr/>
        </p:nvSpPr>
        <p:spPr>
          <a:xfrm>
            <a:off x="425394" y="3456169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Characterisation</a:t>
            </a:r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19811305-4358-A50F-913A-077F45FC721F}"/>
              </a:ext>
            </a:extLst>
          </p:cNvPr>
          <p:cNvSpPr/>
          <p:nvPr/>
        </p:nvSpPr>
        <p:spPr>
          <a:xfrm>
            <a:off x="425394" y="4279129"/>
            <a:ext cx="24741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Low">
              <a:lnSpc>
                <a:spcPct val="115000"/>
              </a:lnSpc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Characterise the existing municipal solid waste collection system in Rio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Maior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develop the spatial and operational database.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CAE5738F-7F2E-6DA9-9941-389C96E45B10}"/>
              </a:ext>
            </a:extLst>
          </p:cNvPr>
          <p:cNvSpPr/>
          <p:nvPr/>
        </p:nvSpPr>
        <p:spPr>
          <a:xfrm>
            <a:off x="3168594" y="3456169"/>
            <a:ext cx="264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Waste Generation Modelling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35625A61-19A3-7D73-7265-8AE17EFE36C5}"/>
              </a:ext>
            </a:extLst>
          </p:cNvPr>
          <p:cNvSpPr/>
          <p:nvPr/>
        </p:nvSpPr>
        <p:spPr>
          <a:xfrm>
            <a:off x="3168594" y="415444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Low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 validate statistical models for estimating municipal solid waste generation.</a:t>
            </a: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760BBB72-D4FA-609A-987C-670E5976CE7B}"/>
              </a:ext>
            </a:extLst>
          </p:cNvPr>
          <p:cNvSpPr/>
          <p:nvPr/>
        </p:nvSpPr>
        <p:spPr>
          <a:xfrm>
            <a:off x="5832290" y="3617476"/>
            <a:ext cx="320039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Deterministic </a:t>
            </a:r>
            <a:r>
              <a:rPr lang="en-GB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Facility Location </a:t>
            </a:r>
            <a:br>
              <a:rPr lang="en-GB" sz="1600" dirty="0"/>
            </a:br>
            <a:endParaRPr lang="en-US" sz="16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30823E3F-6F66-45B0-5FA8-71C1F58E5CCD}"/>
              </a:ext>
            </a:extLst>
          </p:cNvPr>
          <p:cNvSpPr/>
          <p:nvPr/>
        </p:nvSpPr>
        <p:spPr>
          <a:xfrm>
            <a:off x="5911794" y="42306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justLow">
              <a:lnSpc>
                <a:spcPct val="115000"/>
              </a:lnSpc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deterministic p-median model to identify baseline strategic container locations.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EBD4BE7C-6693-2FE0-6386-709CD4362663}"/>
              </a:ext>
            </a:extLst>
          </p:cNvPr>
          <p:cNvSpPr/>
          <p:nvPr/>
        </p:nvSpPr>
        <p:spPr>
          <a:xfrm>
            <a:off x="8686805" y="3582072"/>
            <a:ext cx="2484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Stochastic </a:t>
            </a:r>
            <a:r>
              <a:rPr lang="en-GB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Facility Location </a:t>
            </a:r>
            <a:br>
              <a:rPr lang="en-GB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endParaRPr lang="en-US" sz="16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FCA157A6-3940-7D38-95C8-F0B639D04247}"/>
              </a:ext>
            </a:extLst>
          </p:cNvPr>
          <p:cNvSpPr/>
          <p:nvPr/>
        </p:nvSpPr>
        <p:spPr>
          <a:xfrm>
            <a:off x="8654994" y="4105953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Low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deterministic model to explicitly incorporate demand uncertainty.</a:t>
            </a:r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28DE0391-F316-8CDC-A837-496E0381D267}"/>
              </a:ext>
            </a:extLst>
          </p:cNvPr>
          <p:cNvSpPr/>
          <p:nvPr/>
        </p:nvSpPr>
        <p:spPr>
          <a:xfrm>
            <a:off x="523577" y="6279537"/>
            <a:ext cx="10608249" cy="432690"/>
          </a:xfrm>
          <a:prstGeom prst="roundRect">
            <a:avLst>
              <a:gd name="adj" fmla="val 4821"/>
            </a:avLst>
          </a:prstGeom>
          <a:solidFill>
            <a:srgbClr val="190080"/>
          </a:solidFill>
          <a:ln/>
        </p:spPr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3A1E75A5-9381-E08D-9419-E7326AB07C57}"/>
              </a:ext>
            </a:extLst>
          </p:cNvPr>
          <p:cNvSpPr/>
          <p:nvPr/>
        </p:nvSpPr>
        <p:spPr>
          <a:xfrm>
            <a:off x="850106" y="6372108"/>
            <a:ext cx="10281720" cy="340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mo Bold" pitchFamily="34" charset="-122"/>
                <a:cs typeface="Times New Roman" panose="02020603050405020304" pitchFamily="18" charset="0"/>
              </a:rPr>
              <a:t>Overall Goal: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 Develop a robust and transferable framework for strategic municipal waste planning </a:t>
            </a:r>
            <a:r>
              <a:rPr lang="en-GB" sz="1600" dirty="0">
                <a:solidFill>
                  <a:srgbClr val="FFFF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under demand uncertainty</a:t>
            </a:r>
            <a:endParaRPr lang="en-US" sz="1600" dirty="0">
              <a:solidFill>
                <a:srgbClr val="FFFFFF"/>
              </a:solidFill>
              <a:latin typeface="Times New Roman" panose="02020603050405020304" pitchFamily="18" charset="0"/>
              <a:ea typeface="Arimo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8FCE0513-165A-C289-4FB0-CC6478ACF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78" y="6414351"/>
            <a:ext cx="294142" cy="23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317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C5300AE-23D2-61E3-8BA3-E79FE9328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19490" y="1169939"/>
            <a:ext cx="671889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b="1" dirty="0"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5. Case Study: Rio </a:t>
            </a:r>
            <a:r>
              <a:rPr lang="en-US" sz="2000" b="1" dirty="0" err="1"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Maior</a:t>
            </a:r>
            <a:r>
              <a:rPr lang="en-US" sz="2000" b="1" dirty="0"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, Portugal</a:t>
            </a:r>
          </a:p>
        </p:txBody>
      </p:sp>
      <p:sp>
        <p:nvSpPr>
          <p:cNvPr id="4" name="Text 1"/>
          <p:cNvSpPr/>
          <p:nvPr/>
        </p:nvSpPr>
        <p:spPr>
          <a:xfrm>
            <a:off x="8090795" y="1119139"/>
            <a:ext cx="2566193" cy="24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b="1" dirty="0"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Municipal Profile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26237" y="1369774"/>
            <a:ext cx="3986551" cy="1968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lnSpc>
                <a:spcPct val="122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Area:</a:t>
            </a:r>
            <a:r>
              <a:rPr lang="en-US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 272 km², </a:t>
            </a:r>
            <a:r>
              <a:rPr lang="en-GB" sz="1400" dirty="0" err="1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Santarém</a:t>
            </a:r>
            <a:r>
              <a:rPr lang="en-GB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 District, Central Portugal</a:t>
            </a:r>
            <a:endParaRPr lang="en-US" sz="1400" dirty="0">
              <a:latin typeface="Times New Roman" panose="02020603050405020304" pitchFamily="18" charset="0"/>
              <a:ea typeface="Manrope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2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Population:</a:t>
            </a:r>
            <a:r>
              <a:rPr lang="en-US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 21,004  </a:t>
            </a:r>
            <a:r>
              <a:rPr lang="en-GB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inhabitants </a:t>
            </a:r>
            <a:r>
              <a:rPr lang="en-US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(2021</a:t>
            </a:r>
            <a:r>
              <a:rPr lang="en-GB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Census </a:t>
            </a:r>
            <a:r>
              <a:rPr lang="fa-IR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(</a:t>
            </a:r>
            <a:endParaRPr lang="en-US" sz="1400" dirty="0">
              <a:latin typeface="Times New Roman" panose="02020603050405020304" pitchFamily="18" charset="0"/>
              <a:ea typeface="Manrope" pitchFamily="34" charset="-122"/>
              <a:cs typeface="Times New Roman" panose="02020603050405020304" pitchFamily="18" charset="0"/>
            </a:endParaRPr>
          </a:p>
          <a:p>
            <a:pPr marL="285750" marR="0" lvl="0" indent="-285750" algn="justLow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  <a:tab pos="5188585" algn="l"/>
              </a:tabLst>
            </a:pPr>
            <a:r>
              <a:rPr lang="en-GB" sz="1400" b="1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Recycling </a:t>
            </a:r>
            <a:r>
              <a:rPr lang="en-US" sz="1400" b="1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Infrastructure:</a:t>
            </a:r>
            <a:r>
              <a:rPr lang="en-US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 </a:t>
            </a:r>
            <a:r>
              <a:rPr lang="en-GB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different  </a:t>
            </a:r>
            <a:r>
              <a:rPr lang="en-GB" sz="1400" dirty="0" err="1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ecoponto</a:t>
            </a:r>
            <a:r>
              <a:rPr lang="en-GB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 container typologies </a:t>
            </a:r>
          </a:p>
          <a:p>
            <a:pPr marL="285750" marR="0" lvl="0" indent="-285750" algn="justLow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  <a:tab pos="5188585" algn="l"/>
              </a:tabLst>
            </a:pPr>
            <a:r>
              <a:rPr lang="en-GB" sz="1400" b="1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Company</a:t>
            </a:r>
            <a:r>
              <a:rPr lang="en-GB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Valorsul</a:t>
            </a:r>
            <a:r>
              <a:rPr lang="en-GB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 responsible all management system</a:t>
            </a:r>
            <a:endParaRPr lang="en-US" sz="1400" dirty="0">
              <a:latin typeface="Times New Roman" panose="02020603050405020304" pitchFamily="18" charset="0"/>
              <a:ea typeface="Manrope" pitchFamily="34" charset="-122"/>
              <a:cs typeface="Times New Roman" panose="02020603050405020304" pitchFamily="18" charset="0"/>
            </a:endParaRPr>
          </a:p>
          <a:p>
            <a:pPr marL="285750" marR="0" lvl="0" indent="-285750" algn="justLow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  <a:tab pos="5188585" algn="l"/>
              </a:tabLst>
            </a:pPr>
            <a:r>
              <a:rPr lang="en-GB" sz="1400" b="1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Operational database (2020–2024)</a:t>
            </a:r>
            <a:r>
              <a:rPr lang="en-GB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: GIS layers, sensor records, driver observations and collection data</a:t>
            </a:r>
            <a:endParaRPr lang="en-US" sz="1400" dirty="0">
              <a:latin typeface="Times New Roman" panose="02020603050405020304" pitchFamily="18" charset="0"/>
              <a:ea typeface="Manrope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042682" y="3874135"/>
            <a:ext cx="2908300" cy="24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b="1" dirty="0"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Operational Challenges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706683" y="4173964"/>
            <a:ext cx="3986551" cy="2196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57189" indent="-457189" algn="justLow">
              <a:lnSpc>
                <a:spcPct val="122000"/>
              </a:lnSpc>
              <a:buSzPct val="100000"/>
              <a:buChar char="•"/>
            </a:pPr>
            <a:r>
              <a:rPr lang="en-GB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Fixed collection schedules independent of actual fill levels ("blind collection")</a:t>
            </a:r>
          </a:p>
          <a:p>
            <a:pPr marL="457189" indent="-457189" algn="justLow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Partial sensor coverage</a:t>
            </a:r>
            <a:r>
              <a:rPr lang="fa-IR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 </a:t>
            </a:r>
            <a:r>
              <a:rPr lang="en-GB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with</a:t>
            </a:r>
            <a:r>
              <a:rPr lang="fa-IR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hybrid monitoring (IoT + driver observations)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 algn="justLow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Seasonal </a:t>
            </a:r>
            <a:r>
              <a:rPr lang="en-GB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variation </a:t>
            </a:r>
            <a:r>
              <a:rPr lang="en-US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 from and summer activity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 algn="justLow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Limited </a:t>
            </a:r>
            <a:r>
              <a:rPr lang="en-GB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financial </a:t>
            </a:r>
            <a:r>
              <a:rPr lang="en-US" sz="1400" dirty="0"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 and technical resources - representative of medium-sized EU municipalities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241086-AAD4-2F6B-4005-A320C2F82D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887" y="1574796"/>
            <a:ext cx="3726253" cy="27781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715D37-3290-C717-ED8D-90854CE4D8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91" y="2350406"/>
            <a:ext cx="4797784" cy="3577014"/>
          </a:xfrm>
          <a:prstGeom prst="rect">
            <a:avLst/>
          </a:prstGeom>
        </p:spPr>
      </p:pic>
      <p:sp>
        <p:nvSpPr>
          <p:cNvPr id="10" name="Shape 15">
            <a:extLst>
              <a:ext uri="{FF2B5EF4-FFF2-40B4-BE49-F238E27FC236}">
                <a16:creationId xmlns:a16="http://schemas.microsoft.com/office/drawing/2014/main" id="{18714FA7-B2F2-3EB1-4A7D-8CBA72A0EAA3}"/>
              </a:ext>
            </a:extLst>
          </p:cNvPr>
          <p:cNvSpPr/>
          <p:nvPr/>
        </p:nvSpPr>
        <p:spPr>
          <a:xfrm>
            <a:off x="304800" y="6016898"/>
            <a:ext cx="7353394" cy="770006"/>
          </a:xfrm>
          <a:prstGeom prst="roundRect">
            <a:avLst>
              <a:gd name="adj" fmla="val 9679"/>
            </a:avLst>
          </a:prstGeom>
          <a:solidFill>
            <a:srgbClr val="E0D7F4"/>
          </a:solidFill>
          <a:ln/>
        </p:spPr>
        <p:txBody>
          <a:bodyPr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Key Takeaway: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38EE050F-E7B9-5BC4-D5C2-3923DD12A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235" y="6289302"/>
            <a:ext cx="7353395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characteristic make Rio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Maior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representative real-world case study for developing and validating data-driven methods for strategic municipal waste infrastructure planning.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2580E-1A29-FD22-E42A-B4CE9BD1E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CC6B3-C4EE-9652-A55B-1126445F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7B87F0-61B2-C615-02EC-A3A39D47F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07AD88-93C7-288D-5A57-5ECC529835D8}"/>
              </a:ext>
            </a:extLst>
          </p:cNvPr>
          <p:cNvSpPr txBox="1"/>
          <p:nvPr/>
        </p:nvSpPr>
        <p:spPr>
          <a:xfrm>
            <a:off x="365760" y="928315"/>
            <a:ext cx="42386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346E"/>
                </a:solidFill>
              </a:defRPr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PROPOSED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C371F-CEB0-86A3-1269-5AFD180CE71A}"/>
              </a:ext>
            </a:extLst>
          </p:cNvPr>
          <p:cNvSpPr txBox="1"/>
          <p:nvPr/>
        </p:nvSpPr>
        <p:spPr>
          <a:xfrm>
            <a:off x="365760" y="1282145"/>
            <a:ext cx="550067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Sequential, </a:t>
            </a:r>
            <a:r>
              <a:rPr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</a:t>
            </a:r>
            <a:r>
              <a:rPr lang="en-GB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E97514E7-FC1D-00B5-505C-15E3672E2284}"/>
              </a:ext>
            </a:extLst>
          </p:cNvPr>
          <p:cNvSpPr/>
          <p:nvPr/>
        </p:nvSpPr>
        <p:spPr>
          <a:xfrm>
            <a:off x="192819" y="1979876"/>
            <a:ext cx="23774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18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D16496-8674-2F4A-8C2E-B8C6CCC9C8B3}"/>
              </a:ext>
            </a:extLst>
          </p:cNvPr>
          <p:cNvSpPr/>
          <p:nvPr/>
        </p:nvSpPr>
        <p:spPr>
          <a:xfrm>
            <a:off x="192819" y="1979876"/>
            <a:ext cx="2377440" cy="640080"/>
          </a:xfrm>
          <a:prstGeom prst="rect">
            <a:avLst/>
          </a:prstGeom>
          <a:solidFill>
            <a:srgbClr val="183A78"/>
          </a:solidFill>
          <a:ln>
            <a:solidFill>
              <a:srgbClr val="18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System </a:t>
            </a:r>
            <a:r>
              <a:rPr sz="14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Characterisation</a:t>
            </a:r>
            <a:b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GB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Development</a:t>
            </a:r>
            <a:endParaRPr sz="1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A6197E-8CD0-4FF4-51CE-18DDE769B8C9}"/>
              </a:ext>
            </a:extLst>
          </p:cNvPr>
          <p:cNvSpPr txBox="1"/>
          <p:nvPr/>
        </p:nvSpPr>
        <p:spPr>
          <a:xfrm>
            <a:off x="162331" y="2665676"/>
            <a:ext cx="263374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Historical</a:t>
            </a:r>
            <a:r>
              <a:rPr lang="en-GB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collection</a:t>
            </a: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records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GIS</a:t>
            </a:r>
            <a:r>
              <a:rPr lang="en-GB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layers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</a:t>
            </a:r>
            <a:r>
              <a:rPr lang="en-GB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b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Land use</a:t>
            </a:r>
            <a:r>
              <a:rPr lang="en-GB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b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Container-level database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81942402-4577-C1E3-2D81-A9DBA98751DF}"/>
              </a:ext>
            </a:extLst>
          </p:cNvPr>
          <p:cNvSpPr/>
          <p:nvPr/>
        </p:nvSpPr>
        <p:spPr>
          <a:xfrm>
            <a:off x="3218288" y="1979876"/>
            <a:ext cx="23774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19D073-1E3B-3099-D486-1C77EE3F83AC}"/>
              </a:ext>
            </a:extLst>
          </p:cNvPr>
          <p:cNvSpPr/>
          <p:nvPr/>
        </p:nvSpPr>
        <p:spPr>
          <a:xfrm>
            <a:off x="3218288" y="1979876"/>
            <a:ext cx="2377440" cy="640080"/>
          </a:xfrm>
          <a:prstGeom prst="rect">
            <a:avLst/>
          </a:prstGeom>
          <a:solidFill>
            <a:srgbClr val="008C8C"/>
          </a:solidFill>
          <a:ln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Waste Generation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39ECEB-D782-3839-B3DF-FC52D19C33FF}"/>
              </a:ext>
            </a:extLst>
          </p:cNvPr>
          <p:cNvSpPr txBox="1"/>
          <p:nvPr/>
        </p:nvSpPr>
        <p:spPr>
          <a:xfrm>
            <a:off x="3240056" y="2665676"/>
            <a:ext cx="2448106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Stepwise regression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00" b="0">
                <a:solidFill>
                  <a:srgbClr val="000000"/>
                </a:solidFill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00" b="0">
                <a:solidFill>
                  <a:srgbClr val="000000"/>
                </a:solidFill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00" b="0">
                <a:solidFill>
                  <a:srgbClr val="000000"/>
                </a:solidFill>
              </a:defRPr>
            </a:pP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</a:t>
            </a: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</a:t>
            </a:r>
            <a:r>
              <a:rPr lang="en-GB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endParaRPr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673C892F-1D0B-2156-A4EE-2CEA566E4799}"/>
              </a:ext>
            </a:extLst>
          </p:cNvPr>
          <p:cNvSpPr/>
          <p:nvPr/>
        </p:nvSpPr>
        <p:spPr>
          <a:xfrm>
            <a:off x="6331229" y="1979876"/>
            <a:ext cx="23774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6E3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B4BF4C-7613-F94B-5A56-07CE2C494536}"/>
              </a:ext>
            </a:extLst>
          </p:cNvPr>
          <p:cNvSpPr/>
          <p:nvPr/>
        </p:nvSpPr>
        <p:spPr>
          <a:xfrm>
            <a:off x="6331229" y="1979876"/>
            <a:ext cx="2377440" cy="640080"/>
          </a:xfrm>
          <a:prstGeom prst="rect">
            <a:avLst/>
          </a:prstGeom>
          <a:solidFill>
            <a:srgbClr val="6E3CAA"/>
          </a:solidFill>
          <a:ln>
            <a:solidFill>
              <a:srgbClr val="6E3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Deterministic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Facility Location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680F33-2BA0-C476-5BBF-46C63CC4CCCF}"/>
              </a:ext>
            </a:extLst>
          </p:cNvPr>
          <p:cNvSpPr txBox="1"/>
          <p:nvPr/>
        </p:nvSpPr>
        <p:spPr>
          <a:xfrm>
            <a:off x="6410736" y="2665676"/>
            <a:ext cx="229793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Deterministic p-median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 optimal facility locations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00" b="0">
                <a:solidFill>
                  <a:srgbClr val="000000"/>
                </a:solidFill>
              </a:defRPr>
            </a:pP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facility location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40A4595-33DF-120D-B878-FADB6F7A0D06}"/>
              </a:ext>
            </a:extLst>
          </p:cNvPr>
          <p:cNvSpPr/>
          <p:nvPr/>
        </p:nvSpPr>
        <p:spPr>
          <a:xfrm>
            <a:off x="9523676" y="1979876"/>
            <a:ext cx="23774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B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52AD0D-5701-847F-95EF-78CD8F47E0A5}"/>
              </a:ext>
            </a:extLst>
          </p:cNvPr>
          <p:cNvSpPr/>
          <p:nvPr/>
        </p:nvSpPr>
        <p:spPr>
          <a:xfrm>
            <a:off x="9523676" y="1979876"/>
            <a:ext cx="2377440" cy="640080"/>
          </a:xfrm>
          <a:prstGeom prst="rect">
            <a:avLst/>
          </a:prstGeom>
          <a:solidFill>
            <a:srgbClr val="EB7814"/>
          </a:solidFill>
          <a:ln>
            <a:solidFill>
              <a:srgbClr val="EB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Stochastic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Facility Location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C8FB10-A3AE-F128-A101-7BBFBEBD4DE6}"/>
              </a:ext>
            </a:extLst>
          </p:cNvPr>
          <p:cNvSpPr txBox="1"/>
          <p:nvPr/>
        </p:nvSpPr>
        <p:spPr>
          <a:xfrm>
            <a:off x="9615117" y="2665676"/>
            <a:ext cx="222437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</a:t>
            </a:r>
            <a:r>
              <a:rPr lang="en-GB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uncertainty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Stochastic p-median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00" b="0">
                <a:solidFill>
                  <a:srgbClr val="000000"/>
                </a:solidFill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00" b="0">
                <a:solidFill>
                  <a:srgbClr val="000000"/>
                </a:solidFill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00" b="0">
                <a:solidFill>
                  <a:srgbClr val="000000"/>
                </a:solidFill>
              </a:defRPr>
            </a:pP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 strategic </a:t>
            </a:r>
            <a:r>
              <a:rPr lang="en-GB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facility-location decisions</a:t>
            </a:r>
            <a:endParaRPr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73E8D40-C98A-C7F2-4771-076FBE41D996}"/>
              </a:ext>
            </a:extLst>
          </p:cNvPr>
          <p:cNvSpPr/>
          <p:nvPr/>
        </p:nvSpPr>
        <p:spPr>
          <a:xfrm>
            <a:off x="457199" y="5931674"/>
            <a:ext cx="11270674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143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MESSAGE: From data to robust strategic infrastructure planning under demand uncertainty.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864A9E-D972-8765-0673-49FC463DC393}"/>
              </a:ext>
            </a:extLst>
          </p:cNvPr>
          <p:cNvSpPr txBox="1"/>
          <p:nvPr/>
        </p:nvSpPr>
        <p:spPr>
          <a:xfrm>
            <a:off x="297877" y="5918722"/>
            <a:ext cx="115477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4346E"/>
                </a:solidFill>
              </a:defRPr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stage provides the input for the next, creating an integrated decision-support framework for strategic municipal waste infrastructure planning.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3B1F9421-72B3-F8CA-6173-42E1BD0BD47C}"/>
              </a:ext>
            </a:extLst>
          </p:cNvPr>
          <p:cNvSpPr/>
          <p:nvPr/>
        </p:nvSpPr>
        <p:spPr>
          <a:xfrm>
            <a:off x="2652156" y="3429000"/>
            <a:ext cx="409361" cy="307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B4EEC47-361E-4E73-30E5-186CD72841F5}"/>
              </a:ext>
            </a:extLst>
          </p:cNvPr>
          <p:cNvSpPr/>
          <p:nvPr/>
        </p:nvSpPr>
        <p:spPr>
          <a:xfrm>
            <a:off x="8815740" y="3565498"/>
            <a:ext cx="409361" cy="307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AD7F1044-C0F9-EDBA-FCF4-6ED28ED9B24F}"/>
              </a:ext>
            </a:extLst>
          </p:cNvPr>
          <p:cNvSpPr/>
          <p:nvPr/>
        </p:nvSpPr>
        <p:spPr>
          <a:xfrm>
            <a:off x="5700156" y="3447553"/>
            <a:ext cx="409361" cy="307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5812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29D18746-2714-DF5E-FB0C-6AEEFF9787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8E009-954D-F5EF-CCC2-014F179EE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B4A5237-962C-AC23-7774-D34768C261D8}"/>
              </a:ext>
            </a:extLst>
          </p:cNvPr>
          <p:cNvSpPr/>
          <p:nvPr/>
        </p:nvSpPr>
        <p:spPr>
          <a:xfrm>
            <a:off x="566928" y="955521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7.Operational Database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9EAA2DB-4153-2ABB-624D-F5EA176CB833}"/>
              </a:ext>
            </a:extLst>
          </p:cNvPr>
          <p:cNvSpPr/>
          <p:nvPr/>
        </p:nvSpPr>
        <p:spPr>
          <a:xfrm>
            <a:off x="731520" y="1796769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EEF8F3"/>
          </a:solidFill>
          <a:ln w="15240">
            <a:solidFill>
              <a:srgbClr val="6FAE75"/>
            </a:solidFill>
            <a:prstDash val="solid"/>
          </a:ln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EC9171C-5FDB-8715-D223-05F8CE3F1848}"/>
              </a:ext>
            </a:extLst>
          </p:cNvPr>
          <p:cNvSpPr/>
          <p:nvPr/>
        </p:nvSpPr>
        <p:spPr>
          <a:xfrm>
            <a:off x="757572" y="1961361"/>
            <a:ext cx="1975104" cy="32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Collection</a:t>
            </a:r>
          </a:p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916A619A-175E-2413-F5B7-6ED0F3A175F3}"/>
              </a:ext>
            </a:extLst>
          </p:cNvPr>
          <p:cNvSpPr/>
          <p:nvPr/>
        </p:nvSpPr>
        <p:spPr>
          <a:xfrm>
            <a:off x="2761488" y="2125953"/>
            <a:ext cx="621792" cy="0"/>
          </a:xfrm>
          <a:prstGeom prst="line">
            <a:avLst/>
          </a:prstGeom>
          <a:noFill/>
          <a:ln w="20320">
            <a:solidFill>
              <a:srgbClr val="5B6770"/>
            </a:solidFill>
            <a:prstDash val="solid"/>
            <a:headEnd type="none"/>
            <a:tailEnd type="triangle"/>
          </a:ln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DBECEE6F-05D1-A6E3-F43B-A19B9B8D6BE3}"/>
              </a:ext>
            </a:extLst>
          </p:cNvPr>
          <p:cNvSpPr/>
          <p:nvPr/>
        </p:nvSpPr>
        <p:spPr>
          <a:xfrm>
            <a:off x="3474720" y="1796769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EAF3F8"/>
          </a:solidFill>
          <a:ln w="15240">
            <a:solidFill>
              <a:srgbClr val="1B5E8C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41882EA-7942-6AEB-3B8D-D34FCD177654}"/>
              </a:ext>
            </a:extLst>
          </p:cNvPr>
          <p:cNvSpPr/>
          <p:nvPr/>
        </p:nvSpPr>
        <p:spPr>
          <a:xfrm>
            <a:off x="3376122" y="1927123"/>
            <a:ext cx="20574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GIS spatial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D3D9ECD-F776-C55C-B066-742E8E8F1E6A}"/>
              </a:ext>
            </a:extLst>
          </p:cNvPr>
          <p:cNvSpPr/>
          <p:nvPr/>
        </p:nvSpPr>
        <p:spPr>
          <a:xfrm>
            <a:off x="5504688" y="2125953"/>
            <a:ext cx="621792" cy="0"/>
          </a:xfrm>
          <a:prstGeom prst="line">
            <a:avLst/>
          </a:prstGeom>
          <a:noFill/>
          <a:ln w="20320">
            <a:solidFill>
              <a:srgbClr val="5B6770"/>
            </a:solidFill>
            <a:prstDash val="solid"/>
            <a:headEnd type="none"/>
            <a:tailEnd type="triangle"/>
          </a:ln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2BE96ABE-74EC-088D-4065-8FF279F142D2}"/>
              </a:ext>
            </a:extLst>
          </p:cNvPr>
          <p:cNvSpPr/>
          <p:nvPr/>
        </p:nvSpPr>
        <p:spPr>
          <a:xfrm>
            <a:off x="6217920" y="1796769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EEF8F3"/>
          </a:solidFill>
          <a:ln w="15240">
            <a:solidFill>
              <a:srgbClr val="6FAE75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C760C64-D858-1D32-7F10-69946E59E161}"/>
              </a:ext>
            </a:extLst>
          </p:cNvPr>
          <p:cNvSpPr/>
          <p:nvPr/>
        </p:nvSpPr>
        <p:spPr>
          <a:xfrm>
            <a:off x="6199633" y="1899017"/>
            <a:ext cx="2055466" cy="4526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 information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7820DF8D-E729-6E71-32B6-7F68318C4CDD}"/>
              </a:ext>
            </a:extLst>
          </p:cNvPr>
          <p:cNvSpPr/>
          <p:nvPr/>
        </p:nvSpPr>
        <p:spPr>
          <a:xfrm>
            <a:off x="8247888" y="2125953"/>
            <a:ext cx="621792" cy="0"/>
          </a:xfrm>
          <a:prstGeom prst="line">
            <a:avLst/>
          </a:prstGeom>
          <a:noFill/>
          <a:ln w="20320">
            <a:solidFill>
              <a:srgbClr val="5B6770"/>
            </a:solidFill>
            <a:prstDash val="solid"/>
            <a:headEnd type="none"/>
            <a:tailEnd type="triangle"/>
          </a:ln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68AE9A47-CCAD-D239-7209-8E6B49B8A6C7}"/>
              </a:ext>
            </a:extLst>
          </p:cNvPr>
          <p:cNvSpPr/>
          <p:nvPr/>
        </p:nvSpPr>
        <p:spPr>
          <a:xfrm>
            <a:off x="8961120" y="1796769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EAF3F8"/>
          </a:solidFill>
          <a:ln w="15240">
            <a:solidFill>
              <a:srgbClr val="1B5E8C"/>
            </a:solidFill>
            <a:prstDash val="solid"/>
          </a:ln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720EF28-DCD6-B026-6FC0-EA3E13B583E2}"/>
              </a:ext>
            </a:extLst>
          </p:cNvPr>
          <p:cNvSpPr/>
          <p:nvPr/>
        </p:nvSpPr>
        <p:spPr>
          <a:xfrm>
            <a:off x="9125712" y="1961361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Land-use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4E632B1A-4C59-0977-864F-8B9DDDA26B1F}"/>
              </a:ext>
            </a:extLst>
          </p:cNvPr>
          <p:cNvSpPr/>
          <p:nvPr/>
        </p:nvSpPr>
        <p:spPr>
          <a:xfrm>
            <a:off x="2761488" y="3008688"/>
            <a:ext cx="6583680" cy="63636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5240">
            <a:solidFill>
              <a:srgbClr val="D99A28"/>
            </a:solidFill>
            <a:prstDash val="solid"/>
          </a:ln>
        </p:spPr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158E0841-432A-916A-2442-0E482E7E7A8D}"/>
              </a:ext>
            </a:extLst>
          </p:cNvPr>
          <p:cNvSpPr/>
          <p:nvPr/>
        </p:nvSpPr>
        <p:spPr>
          <a:xfrm>
            <a:off x="2871216" y="3023038"/>
            <a:ext cx="6254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analytical database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2020–2024 · Bin-event → Bin-day → Bin-level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0FE6BEE7-A843-0FE7-A0A2-8F13EE2AF067}"/>
              </a:ext>
            </a:extLst>
          </p:cNvPr>
          <p:cNvSpPr/>
          <p:nvPr/>
        </p:nvSpPr>
        <p:spPr>
          <a:xfrm>
            <a:off x="2953512" y="6336935"/>
            <a:ext cx="658368" cy="0"/>
          </a:xfrm>
          <a:prstGeom prst="line">
            <a:avLst/>
          </a:prstGeom>
          <a:noFill/>
          <a:ln w="20320">
            <a:solidFill>
              <a:srgbClr val="2C8C8C"/>
            </a:solidFill>
            <a:prstDash val="solid"/>
            <a:headEnd type="none"/>
            <a:tailEnd type="triangle"/>
          </a:ln>
        </p:spPr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F39088B5-0341-4A01-5698-13A77F95545D}"/>
              </a:ext>
            </a:extLst>
          </p:cNvPr>
          <p:cNvSpPr/>
          <p:nvPr/>
        </p:nvSpPr>
        <p:spPr>
          <a:xfrm>
            <a:off x="5696712" y="6336935"/>
            <a:ext cx="658368" cy="0"/>
          </a:xfrm>
          <a:prstGeom prst="line">
            <a:avLst/>
          </a:prstGeom>
          <a:noFill/>
          <a:ln w="20320">
            <a:solidFill>
              <a:srgbClr val="2C8C8C"/>
            </a:solidFill>
            <a:prstDash val="solid"/>
            <a:headEnd type="none"/>
            <a:tailEnd type="triangle"/>
          </a:ln>
        </p:spPr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F39EC4A6-FAB7-D553-68F3-0E78AA71B6CF}"/>
              </a:ext>
            </a:extLst>
          </p:cNvPr>
          <p:cNvSpPr/>
          <p:nvPr/>
        </p:nvSpPr>
        <p:spPr>
          <a:xfrm>
            <a:off x="941832" y="5962031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EAF3F8"/>
          </a:solidFill>
          <a:ln w="15240">
            <a:solidFill>
              <a:srgbClr val="1B5E8C"/>
            </a:solidFill>
            <a:prstDash val="solid"/>
          </a:ln>
        </p:spPr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B7B8305B-9275-DB9A-A8CB-FCB0D57B15D6}"/>
              </a:ext>
            </a:extLst>
          </p:cNvPr>
          <p:cNvSpPr/>
          <p:nvPr/>
        </p:nvSpPr>
        <p:spPr>
          <a:xfrm>
            <a:off x="3685032" y="5962031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CEFEF"/>
          </a:solidFill>
          <a:ln w="15240">
            <a:solidFill>
              <a:srgbClr val="B94A48"/>
            </a:solidFill>
            <a:prstDash val="solid"/>
          </a:ln>
        </p:spPr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FABFC0A5-C374-3898-2458-5840B6163CC8}"/>
              </a:ext>
            </a:extLst>
          </p:cNvPr>
          <p:cNvSpPr/>
          <p:nvPr/>
        </p:nvSpPr>
        <p:spPr>
          <a:xfrm>
            <a:off x="6428232" y="5962031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EAF3F8"/>
          </a:solidFill>
          <a:ln w="15240">
            <a:solidFill>
              <a:srgbClr val="1B5E8C"/>
            </a:solidFill>
            <a:prstDash val="solid"/>
          </a:ln>
        </p:spPr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B123A6B5-9C6B-5E8A-5935-A8373D8DB2B7}"/>
              </a:ext>
            </a:extLst>
          </p:cNvPr>
          <p:cNvSpPr/>
          <p:nvPr/>
        </p:nvSpPr>
        <p:spPr>
          <a:xfrm>
            <a:off x="6428231" y="6118839"/>
            <a:ext cx="21615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Stepwise Multiple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Stepwise variable selection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58E13AD8-AB53-B05E-7957-950497A493EC}"/>
              </a:ext>
            </a:extLst>
          </p:cNvPr>
          <p:cNvSpPr/>
          <p:nvPr/>
        </p:nvSpPr>
        <p:spPr>
          <a:xfrm>
            <a:off x="9171432" y="5962031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EAF3F8"/>
          </a:solidFill>
          <a:ln w="15240">
            <a:solidFill>
              <a:srgbClr val="1B5E8C"/>
            </a:solidFill>
            <a:prstDash val="solid"/>
          </a:ln>
        </p:spPr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74DF9E07-9AC0-FC2E-E5C0-252C95C1AFBC}"/>
              </a:ext>
            </a:extLst>
          </p:cNvPr>
          <p:cNvSpPr/>
          <p:nvPr/>
        </p:nvSpPr>
        <p:spPr>
          <a:xfrm>
            <a:off x="9171433" y="6098915"/>
            <a:ext cx="21098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16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 Models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 / Borderline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Best-AIC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candidate models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31A337E4-3290-8F63-3A07-C5DCB70741BD}"/>
              </a:ext>
            </a:extLst>
          </p:cNvPr>
          <p:cNvSpPr/>
          <p:nvPr/>
        </p:nvSpPr>
        <p:spPr>
          <a:xfrm>
            <a:off x="619690" y="381742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Generation Modelling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79587DEF-2E16-94A9-8007-507758772D8E}"/>
              </a:ext>
            </a:extLst>
          </p:cNvPr>
          <p:cNvSpPr/>
          <p:nvPr/>
        </p:nvSpPr>
        <p:spPr>
          <a:xfrm>
            <a:off x="890962" y="4612952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 w="15240">
            <a:solidFill>
              <a:srgbClr val="1B5E8C"/>
            </a:solidFill>
            <a:prstDash val="solid"/>
          </a:ln>
        </p:spPr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21A5CE4E-C99C-D207-AAEB-BBE9F35903A5}"/>
              </a:ext>
            </a:extLst>
          </p:cNvPr>
          <p:cNvSpPr/>
          <p:nvPr/>
        </p:nvSpPr>
        <p:spPr>
          <a:xfrm>
            <a:off x="1055554" y="4777544"/>
            <a:ext cx="28712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 variable: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daily waste per container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41A17BB3-B19F-9E75-2011-A3CB6440073A}"/>
              </a:ext>
            </a:extLst>
          </p:cNvPr>
          <p:cNvSpPr/>
          <p:nvPr/>
        </p:nvSpPr>
        <p:spPr>
          <a:xfrm>
            <a:off x="4548562" y="4612952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6E6"/>
          </a:solidFill>
          <a:ln w="15240">
            <a:solidFill>
              <a:srgbClr val="D99A28"/>
            </a:solidFill>
            <a:prstDash val="solid"/>
          </a:ln>
        </p:spPr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3B02F853-78FF-3FE1-BDC9-B90B917BAC31}"/>
              </a:ext>
            </a:extLst>
          </p:cNvPr>
          <p:cNvSpPr/>
          <p:nvPr/>
        </p:nvSpPr>
        <p:spPr>
          <a:xfrm>
            <a:off x="4713154" y="4777544"/>
            <a:ext cx="28712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 predictors: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Population · Distance to CBD · Land-use proportions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BF9B560A-32F3-13F2-A9EB-BF925D5369DB}"/>
              </a:ext>
            </a:extLst>
          </p:cNvPr>
          <p:cNvSpPr/>
          <p:nvPr/>
        </p:nvSpPr>
        <p:spPr>
          <a:xfrm>
            <a:off x="8190922" y="4612952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EEF8F3"/>
          </a:solidFill>
          <a:ln w="15240">
            <a:solidFill>
              <a:srgbClr val="6FAE75"/>
            </a:solidFill>
            <a:prstDash val="solid"/>
          </a:ln>
        </p:spPr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A8A59808-63B5-920F-20CA-68DF3152101C}"/>
              </a:ext>
            </a:extLst>
          </p:cNvPr>
          <p:cNvSpPr/>
          <p:nvPr/>
        </p:nvSpPr>
        <p:spPr>
          <a:xfrm>
            <a:off x="8190921" y="4625149"/>
            <a:ext cx="3653664" cy="9271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criteria: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 ,Adjusted R2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AIC-BIC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VIF(multicollinearity)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diagnostics ( normality , </a:t>
            </a:r>
            <a:r>
              <a:rPr lang="en-GB" sz="11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Homoscedasticity</a:t>
            </a:r>
            <a:r>
              <a:rPr lang="en-US" sz="11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E9B4B1A7-4F44-7B59-07AE-C4FE0B13CC5A}"/>
              </a:ext>
            </a:extLst>
          </p:cNvPr>
          <p:cNvSpPr/>
          <p:nvPr/>
        </p:nvSpPr>
        <p:spPr>
          <a:xfrm>
            <a:off x="764498" y="6117449"/>
            <a:ext cx="2441448" cy="45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Full OLS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R² = 0.013</a:t>
            </a:r>
            <a:endParaRPr lang="fa-IR" sz="1600" b="1" dirty="0">
              <a:solidFill>
                <a:srgbClr val="103A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GB" sz="1400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explanatory power</a:t>
            </a:r>
            <a:endParaRPr lang="en-US" sz="1400" dirty="0">
              <a:solidFill>
                <a:srgbClr val="103A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9FE0DFD4-F58D-7896-EDBE-AE4221A92D99}"/>
              </a:ext>
            </a:extLst>
          </p:cNvPr>
          <p:cNvSpPr/>
          <p:nvPr/>
        </p:nvSpPr>
        <p:spPr>
          <a:xfrm>
            <a:off x="3629615" y="6118839"/>
            <a:ext cx="22672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16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refinement required</a:t>
            </a:r>
          </a:p>
          <a:p>
            <a:pPr algn="ctr"/>
            <a:r>
              <a:rPr lang="en-GB" sz="1200" b="1" dirty="0">
                <a:solidFill>
                  <a:srgbClr val="10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specification not adequate</a:t>
            </a: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8017CD8D-89B6-7AB0-626A-B2BDC3EFD243}"/>
              </a:ext>
            </a:extLst>
          </p:cNvPr>
          <p:cNvSpPr/>
          <p:nvPr/>
        </p:nvSpPr>
        <p:spPr>
          <a:xfrm>
            <a:off x="8414899" y="6332383"/>
            <a:ext cx="658368" cy="0"/>
          </a:xfrm>
          <a:prstGeom prst="line">
            <a:avLst/>
          </a:prstGeom>
          <a:noFill/>
          <a:ln w="20320">
            <a:solidFill>
              <a:srgbClr val="2C8C8C"/>
            </a:solidFill>
            <a:prstDash val="solid"/>
            <a:headEnd type="none"/>
            <a:tailEnd type="triangle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B5C920-022D-4A2F-25E2-F63CEA0C08F3}"/>
              </a:ext>
            </a:extLst>
          </p:cNvPr>
          <p:cNvSpPr/>
          <p:nvPr/>
        </p:nvSpPr>
        <p:spPr>
          <a:xfrm>
            <a:off x="426997" y="1664985"/>
            <a:ext cx="10982613" cy="91005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A1912F-93D5-123B-FA3C-2F4A2F6E532C}"/>
              </a:ext>
            </a:extLst>
          </p:cNvPr>
          <p:cNvSpPr txBox="1"/>
          <p:nvPr/>
        </p:nvSpPr>
        <p:spPr>
          <a:xfrm>
            <a:off x="4969764" y="1374357"/>
            <a:ext cx="1691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E5F986CF-8F16-E0E8-F0E4-8F553628CD5F}"/>
              </a:ext>
            </a:extLst>
          </p:cNvPr>
          <p:cNvSpPr/>
          <p:nvPr/>
        </p:nvSpPr>
        <p:spPr>
          <a:xfrm>
            <a:off x="5863105" y="2615319"/>
            <a:ext cx="325582" cy="3100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D600455-FAC1-9CEC-3928-B4C4447ED700}"/>
              </a:ext>
            </a:extLst>
          </p:cNvPr>
          <p:cNvSpPr/>
          <p:nvPr/>
        </p:nvSpPr>
        <p:spPr>
          <a:xfrm>
            <a:off x="697380" y="4468525"/>
            <a:ext cx="10982613" cy="229942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6BA08C-A99D-579A-BC4B-F6D1F7384480}"/>
              </a:ext>
            </a:extLst>
          </p:cNvPr>
          <p:cNvSpPr txBox="1"/>
          <p:nvPr/>
        </p:nvSpPr>
        <p:spPr>
          <a:xfrm>
            <a:off x="4561447" y="4123388"/>
            <a:ext cx="3324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Modeling Workflow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61CEA122-2578-FC03-E0B8-90545A76BEE2}"/>
              </a:ext>
            </a:extLst>
          </p:cNvPr>
          <p:cNvSpPr/>
          <p:nvPr/>
        </p:nvSpPr>
        <p:spPr>
          <a:xfrm>
            <a:off x="5828467" y="3779102"/>
            <a:ext cx="325582" cy="3100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D3D3450-F64F-7F7F-6EEF-FDE209CB3EF6}"/>
              </a:ext>
            </a:extLst>
          </p:cNvPr>
          <p:cNvCxnSpPr/>
          <p:nvPr/>
        </p:nvCxnSpPr>
        <p:spPr>
          <a:xfrm>
            <a:off x="9980023" y="5607707"/>
            <a:ext cx="0" cy="3052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FB6230F-30EA-0352-CE81-00BE2EAD45FF}"/>
              </a:ext>
            </a:extLst>
          </p:cNvPr>
          <p:cNvCxnSpPr/>
          <p:nvPr/>
        </p:nvCxnSpPr>
        <p:spPr>
          <a:xfrm>
            <a:off x="2033428" y="5638185"/>
            <a:ext cx="0" cy="3052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FA0B477-9CCE-0419-74D6-8BAFDBFF8F6C}"/>
              </a:ext>
            </a:extLst>
          </p:cNvPr>
          <p:cNvCxnSpPr/>
          <p:nvPr/>
        </p:nvCxnSpPr>
        <p:spPr>
          <a:xfrm>
            <a:off x="5952301" y="5612063"/>
            <a:ext cx="0" cy="3052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5892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CF137DB9-4C53-1CE7-FD95-D230F95E9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BBEE978F-005C-D3CA-9AF4-8E2131864D0D}"/>
              </a:ext>
            </a:extLst>
          </p:cNvPr>
          <p:cNvSpPr/>
          <p:nvPr/>
        </p:nvSpPr>
        <p:spPr>
          <a:xfrm>
            <a:off x="398512" y="10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8.WASTE GENERATION MODELLING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1F90462-B9A5-E23C-E978-184A52567280}"/>
              </a:ext>
            </a:extLst>
          </p:cNvPr>
          <p:cNvSpPr/>
          <p:nvPr/>
        </p:nvSpPr>
        <p:spPr>
          <a:xfrm>
            <a:off x="364392" y="1099461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63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    From Full OLS to a Parsimonious Model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0B4CF2A4-2B62-7F93-361F-A5952B11B4DE}"/>
              </a:ext>
            </a:extLst>
          </p:cNvPr>
          <p:cNvSpPr/>
          <p:nvPr/>
        </p:nvSpPr>
        <p:spPr>
          <a:xfrm>
            <a:off x="489952" y="1783078"/>
            <a:ext cx="2606040" cy="1246783"/>
          </a:xfrm>
          <a:prstGeom prst="roundRect">
            <a:avLst>
              <a:gd name="adj" fmla="val 4737"/>
            </a:avLst>
          </a:prstGeom>
          <a:solidFill>
            <a:srgbClr val="223B5E"/>
          </a:solidFill>
          <a:ln/>
        </p:spPr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EE705B43-0A04-2055-1E39-6A5D6953AC90}"/>
              </a:ext>
            </a:extLst>
          </p:cNvPr>
          <p:cNvSpPr/>
          <p:nvPr/>
        </p:nvSpPr>
        <p:spPr>
          <a:xfrm>
            <a:off x="564493" y="173736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Full OLS Model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C5AA3B0-8D75-BED9-3740-4723E9DCB456}"/>
              </a:ext>
            </a:extLst>
          </p:cNvPr>
          <p:cNvSpPr/>
          <p:nvPr/>
        </p:nvSpPr>
        <p:spPr>
          <a:xfrm>
            <a:off x="517258" y="2047342"/>
            <a:ext cx="25901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2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 candidate </a:t>
            </a:r>
            <a:r>
              <a:rPr lang="en-GB" sz="1400" dirty="0">
                <a:solidFill>
                  <a:srgbClr val="EAF2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explanatory </a:t>
            </a:r>
            <a:r>
              <a:rPr lang="en-US" sz="1400" dirty="0">
                <a:solidFill>
                  <a:srgbClr val="EAF2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variables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2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R² = 0.013</a:t>
            </a:r>
            <a:endParaRPr lang="fa-IR" sz="1400" dirty="0">
              <a:solidFill>
                <a:srgbClr val="EAF2F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AB1397A5-600A-B933-CE92-959ED10C318A}"/>
              </a:ext>
            </a:extLst>
          </p:cNvPr>
          <p:cNvSpPr/>
          <p:nvPr/>
        </p:nvSpPr>
        <p:spPr>
          <a:xfrm>
            <a:off x="3095992" y="1528632"/>
            <a:ext cx="320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B81C8DF-938E-8FBD-BD11-5D584E415B9D}"/>
              </a:ext>
            </a:extLst>
          </p:cNvPr>
          <p:cNvSpPr/>
          <p:nvPr/>
        </p:nvSpPr>
        <p:spPr>
          <a:xfrm>
            <a:off x="3416032" y="1783078"/>
            <a:ext cx="2606040" cy="1225900"/>
          </a:xfrm>
          <a:prstGeom prst="roundRect">
            <a:avLst>
              <a:gd name="adj" fmla="val 4737"/>
            </a:avLst>
          </a:prstGeom>
          <a:solidFill>
            <a:srgbClr val="0E7C86"/>
          </a:solidFill>
          <a:ln/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CE0CA067-5124-3107-D364-5F3B2C98AD1C}"/>
              </a:ext>
            </a:extLst>
          </p:cNvPr>
          <p:cNvSpPr/>
          <p:nvPr/>
        </p:nvSpPr>
        <p:spPr>
          <a:xfrm>
            <a:off x="3455933" y="1723503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Stepwise Regression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3192DECD-223A-9083-D905-A33E9FFE2747}"/>
              </a:ext>
            </a:extLst>
          </p:cNvPr>
          <p:cNvSpPr/>
          <p:nvPr/>
        </p:nvSpPr>
        <p:spPr>
          <a:xfrm>
            <a:off x="3475776" y="2002672"/>
            <a:ext cx="25042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2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Systematic variable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2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selection procedure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994E5AA-A28F-B2DD-1B73-AFC03DFB3EE6}"/>
              </a:ext>
            </a:extLst>
          </p:cNvPr>
          <p:cNvSpPr/>
          <p:nvPr/>
        </p:nvSpPr>
        <p:spPr>
          <a:xfrm>
            <a:off x="6022072" y="1528632"/>
            <a:ext cx="320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BE273EB0-C5E5-3A3C-7E2C-11D68B3D37FF}"/>
              </a:ext>
            </a:extLst>
          </p:cNvPr>
          <p:cNvSpPr/>
          <p:nvPr/>
        </p:nvSpPr>
        <p:spPr>
          <a:xfrm>
            <a:off x="6364902" y="1817198"/>
            <a:ext cx="2606040" cy="1209621"/>
          </a:xfrm>
          <a:prstGeom prst="roundRect">
            <a:avLst>
              <a:gd name="adj" fmla="val 4737"/>
            </a:avLst>
          </a:prstGeom>
          <a:solidFill>
            <a:srgbClr val="0E7C86"/>
          </a:solidFill>
          <a:ln/>
        </p:spPr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DFBD3B07-480C-61D1-4AC5-6EF0711F33B3}"/>
              </a:ext>
            </a:extLst>
          </p:cNvPr>
          <p:cNvSpPr/>
          <p:nvPr/>
        </p:nvSpPr>
        <p:spPr>
          <a:xfrm>
            <a:off x="6411381" y="1647307"/>
            <a:ext cx="25367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Alternative Candidate Models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5A9B561E-C8B7-9164-5BDB-27D76993C740}"/>
              </a:ext>
            </a:extLst>
          </p:cNvPr>
          <p:cNvSpPr/>
          <p:nvPr/>
        </p:nvSpPr>
        <p:spPr>
          <a:xfrm>
            <a:off x="6415390" y="1907639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C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Strict · </a:t>
            </a:r>
            <a:endParaRPr lang="fa-IR" sz="1400" dirty="0">
              <a:solidFill>
                <a:srgbClr val="FFC000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C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Borderline</a:t>
            </a:r>
            <a:endParaRPr lang="en-US" sz="1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C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Best-AIC</a:t>
            </a:r>
            <a:endParaRPr lang="en-US" sz="1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8643CB7A-73B3-0ECE-8164-CF9DF4566F50}"/>
              </a:ext>
            </a:extLst>
          </p:cNvPr>
          <p:cNvSpPr/>
          <p:nvPr/>
        </p:nvSpPr>
        <p:spPr>
          <a:xfrm>
            <a:off x="8948152" y="1528632"/>
            <a:ext cx="320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B892FEF0-48D0-9889-7FF2-13FE0FDCD082}"/>
              </a:ext>
            </a:extLst>
          </p:cNvPr>
          <p:cNvSpPr/>
          <p:nvPr/>
        </p:nvSpPr>
        <p:spPr>
          <a:xfrm>
            <a:off x="9268192" y="1817198"/>
            <a:ext cx="2606040" cy="1243166"/>
          </a:xfrm>
          <a:prstGeom prst="roundRect">
            <a:avLst>
              <a:gd name="adj" fmla="val 4737"/>
            </a:avLst>
          </a:prstGeom>
          <a:solidFill>
            <a:srgbClr val="3FBF9F"/>
          </a:solidFill>
          <a:ln/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4D3D1DE8-5F43-63B5-A4B8-AE3DA67BD79E}"/>
              </a:ext>
            </a:extLst>
          </p:cNvPr>
          <p:cNvSpPr/>
          <p:nvPr/>
        </p:nvSpPr>
        <p:spPr>
          <a:xfrm>
            <a:off x="9328276" y="1800493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 Selected Model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0469CEBA-B818-4A2A-3A3D-73360B30666F}"/>
              </a:ext>
            </a:extLst>
          </p:cNvPr>
          <p:cNvSpPr/>
          <p:nvPr/>
        </p:nvSpPr>
        <p:spPr>
          <a:xfrm>
            <a:off x="9337461" y="2089071"/>
            <a:ext cx="247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2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Strict Stepwise Model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2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(most parsimonious)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FAB1318F-C634-C8CF-D198-A1A7C4BC37EE}"/>
              </a:ext>
            </a:extLst>
          </p:cNvPr>
          <p:cNvSpPr/>
          <p:nvPr/>
        </p:nvSpPr>
        <p:spPr>
          <a:xfrm>
            <a:off x="492679" y="3085679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7263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Stepwise Multiple Regression Model</a:t>
            </a:r>
          </a:p>
          <a:p>
            <a:pPr marL="0" indent="0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B3B06803-0F47-24FD-B568-4E30895DBF4F}"/>
              </a:ext>
            </a:extLst>
          </p:cNvPr>
          <p:cNvSpPr/>
          <p:nvPr/>
        </p:nvSpPr>
        <p:spPr>
          <a:xfrm>
            <a:off x="504356" y="3519719"/>
            <a:ext cx="11311281" cy="1130568"/>
          </a:xfrm>
          <a:prstGeom prst="roundRect">
            <a:avLst>
              <a:gd name="adj" fmla="val 6667"/>
            </a:avLst>
          </a:prstGeom>
          <a:noFill/>
          <a:ln/>
        </p:spPr>
        <p:txBody>
          <a:bodyPr/>
          <a:lstStyle/>
          <a:p>
            <a:endParaRPr lang="en-GB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B78625CA-3BCA-5BFE-6AE0-4C1EB08DF10C}"/>
              </a:ext>
            </a:extLst>
          </p:cNvPr>
          <p:cNvSpPr/>
          <p:nvPr/>
        </p:nvSpPr>
        <p:spPr>
          <a:xfrm>
            <a:off x="-434549" y="3692484"/>
            <a:ext cx="12662121" cy="527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en-US" sz="1900" b="1" dirty="0">
                <a:solidFill>
                  <a:srgbClr val="0070C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Regression Equation:</a:t>
            </a:r>
            <a:r>
              <a:rPr lang="fa-IR" altLang="en-US" sz="1900" b="1" dirty="0">
                <a:solidFill>
                  <a:srgbClr val="0070C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 </a:t>
            </a:r>
            <a:r>
              <a:rPr lang="en-US" sz="1900" b="1" dirty="0">
                <a:solidFill>
                  <a:srgbClr val="0070C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log(1+Y) = 5.186 + 0.000477 × </a:t>
            </a:r>
            <a:r>
              <a:rPr lang="en-US" sz="1900" b="1" dirty="0" err="1">
                <a:solidFill>
                  <a:srgbClr val="0070C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Population_Buffer</a:t>
            </a:r>
            <a:r>
              <a:rPr lang="en-US" sz="1900" b="1" dirty="0">
                <a:solidFill>
                  <a:srgbClr val="0070C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+ 0.000212 × </a:t>
            </a:r>
            <a:r>
              <a:rPr lang="en-US" sz="1900" b="1" dirty="0" err="1">
                <a:solidFill>
                  <a:srgbClr val="0070C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Distance_to_CBD</a:t>
            </a:r>
            <a:endParaRPr lang="en-US" sz="19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1900" b="1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69BFD4F0-84A2-FF90-387D-AB16C7DFA8E3}"/>
              </a:ext>
            </a:extLst>
          </p:cNvPr>
          <p:cNvSpPr/>
          <p:nvPr/>
        </p:nvSpPr>
        <p:spPr>
          <a:xfrm>
            <a:off x="548640" y="4728947"/>
            <a:ext cx="2713175" cy="84023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737BEAE4-C6F1-7897-FCCF-F9F00AA100DA}"/>
              </a:ext>
            </a:extLst>
          </p:cNvPr>
          <p:cNvSpPr/>
          <p:nvPr/>
        </p:nvSpPr>
        <p:spPr>
          <a:xfrm>
            <a:off x="714102" y="466795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R²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32ADFFDD-89A3-0813-98F6-3D797B35C2EF}"/>
              </a:ext>
            </a:extLst>
          </p:cNvPr>
          <p:cNvSpPr/>
          <p:nvPr/>
        </p:nvSpPr>
        <p:spPr>
          <a:xfrm>
            <a:off x="667823" y="48096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263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0.074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792E42DD-51B7-DE2D-A6FD-5A8DDBEE1ECF}"/>
              </a:ext>
            </a:extLst>
          </p:cNvPr>
          <p:cNvSpPr/>
          <p:nvPr/>
        </p:nvSpPr>
        <p:spPr>
          <a:xfrm>
            <a:off x="3424948" y="4711657"/>
            <a:ext cx="2939954" cy="85752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44255E30-E634-6FFD-B254-175791749FC9}"/>
              </a:ext>
            </a:extLst>
          </p:cNvPr>
          <p:cNvSpPr/>
          <p:nvPr/>
        </p:nvSpPr>
        <p:spPr>
          <a:xfrm>
            <a:off x="3502560" y="473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Maximum VIF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CAEF0981-8931-D63B-D946-95479B3ABFB9}"/>
              </a:ext>
            </a:extLst>
          </p:cNvPr>
          <p:cNvSpPr/>
          <p:nvPr/>
        </p:nvSpPr>
        <p:spPr>
          <a:xfrm>
            <a:off x="3495633" y="50032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263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1.081 (no multicollinearity)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89D3035C-03BD-6D67-CBCA-0EE9D3B70B6D}"/>
              </a:ext>
            </a:extLst>
          </p:cNvPr>
          <p:cNvSpPr/>
          <p:nvPr/>
        </p:nvSpPr>
        <p:spPr>
          <a:xfrm>
            <a:off x="6529033" y="4692623"/>
            <a:ext cx="2583483" cy="85752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04270140-216B-11C2-9937-D4CFFAE1710A}"/>
              </a:ext>
            </a:extLst>
          </p:cNvPr>
          <p:cNvSpPr/>
          <p:nvPr/>
        </p:nvSpPr>
        <p:spPr>
          <a:xfrm>
            <a:off x="6630000" y="4707345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Breusch-Pagan 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5C00D7B4-DD87-FFFD-FC40-8350C6D623E5}"/>
              </a:ext>
            </a:extLst>
          </p:cNvPr>
          <p:cNvSpPr/>
          <p:nvPr/>
        </p:nvSpPr>
        <p:spPr>
          <a:xfrm>
            <a:off x="6656497" y="4980803"/>
            <a:ext cx="24006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263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0.323 (</a:t>
            </a:r>
            <a:r>
              <a:rPr lang="en-GB" sz="1650" b="1" dirty="0">
                <a:solidFill>
                  <a:srgbClr val="17263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No evidence of heteroskedasticity</a:t>
            </a:r>
            <a:r>
              <a:rPr lang="fa-IR" sz="1650" b="1" dirty="0">
                <a:solidFill>
                  <a:srgbClr val="17263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US" sz="1650" b="1" dirty="0">
                <a:solidFill>
                  <a:srgbClr val="17263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144CDDC0-3311-A3EA-3299-067E81199EA1}"/>
              </a:ext>
            </a:extLst>
          </p:cNvPr>
          <p:cNvSpPr/>
          <p:nvPr/>
        </p:nvSpPr>
        <p:spPr>
          <a:xfrm>
            <a:off x="548640" y="5647844"/>
            <a:ext cx="9087195" cy="1071459"/>
          </a:xfrm>
          <a:prstGeom prst="roundRect">
            <a:avLst>
              <a:gd name="adj" fmla="val 6429"/>
            </a:avLst>
          </a:prstGeom>
          <a:solidFill>
            <a:srgbClr val="3FBF9F"/>
          </a:solidFill>
          <a:ln/>
        </p:spPr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B18C68FE-3D15-A078-ACAE-A864E9C2AC8A}"/>
              </a:ext>
            </a:extLst>
          </p:cNvPr>
          <p:cNvSpPr/>
          <p:nvPr/>
        </p:nvSpPr>
        <p:spPr>
          <a:xfrm>
            <a:off x="543712" y="6016679"/>
            <a:ext cx="4867414" cy="6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Key Findings: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within the 100 m buffer was significant.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to the CBD was significant. </a:t>
            </a:r>
          </a:p>
          <a:p>
            <a:pPr marL="0" indent="0" algn="justLow">
              <a:lnSpc>
                <a:spcPct val="129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6C753C78-AE8D-5FFF-BD27-AC957AA8C357}"/>
              </a:ext>
            </a:extLst>
          </p:cNvPr>
          <p:cNvSpPr/>
          <p:nvPr/>
        </p:nvSpPr>
        <p:spPr>
          <a:xfrm>
            <a:off x="856422" y="4053944"/>
            <a:ext cx="10561320" cy="527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1">
            <a:extLst>
              <a:ext uri="{FF2B5EF4-FFF2-40B4-BE49-F238E27FC236}">
                <a16:creationId xmlns:a16="http://schemas.microsoft.com/office/drawing/2014/main" id="{A5AF5206-853B-508E-1326-2834C332C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84" y="4156196"/>
            <a:ext cx="11607838" cy="2923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 dirty="0">
                <a:solidFill>
                  <a:srgbClr val="0070C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Demand Equation: </a:t>
            </a:r>
            <a:r>
              <a:rPr lang="fa-IR" altLang="en-US" sz="1900" b="1" dirty="0">
                <a:solidFill>
                  <a:srgbClr val="0070C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Y = exp(5.186 + 0.000477 × </a:t>
            </a:r>
            <a:r>
              <a:rPr lang="en-US" altLang="en-US" sz="1900" b="1" dirty="0" err="1">
                <a:solidFill>
                  <a:srgbClr val="0070C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Population_Buffer</a:t>
            </a:r>
            <a:r>
              <a:rPr lang="en-US" altLang="en-US" sz="1900" b="1" dirty="0">
                <a:solidFill>
                  <a:srgbClr val="0070C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+ 0.000212 × </a:t>
            </a:r>
            <a:r>
              <a:rPr lang="en-US" altLang="en-US" sz="1900" b="1" dirty="0" err="1">
                <a:solidFill>
                  <a:srgbClr val="0070C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Distance_to_CBD_m</a:t>
            </a:r>
            <a:r>
              <a:rPr lang="en-US" altLang="en-US" sz="1900" b="1" dirty="0">
                <a:solidFill>
                  <a:srgbClr val="0070C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) - 1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E0DAB1-697A-8BBD-73B8-88046F3F8F61}"/>
              </a:ext>
            </a:extLst>
          </p:cNvPr>
          <p:cNvSpPr txBox="1"/>
          <p:nvPr/>
        </p:nvSpPr>
        <p:spPr>
          <a:xfrm>
            <a:off x="474622" y="5159416"/>
            <a:ext cx="29399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this model is demand estimation rather than behavioural prediction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EEAD07-BD1B-599D-E9CB-FB0F1E19D86A}"/>
              </a:ext>
            </a:extLst>
          </p:cNvPr>
          <p:cNvSpPr txBox="1"/>
          <p:nvPr/>
        </p:nvSpPr>
        <p:spPr>
          <a:xfrm>
            <a:off x="5388030" y="6024070"/>
            <a:ext cx="6331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demand for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452 containers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estimated demand =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341.24 kg/day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CE5991-F37B-CADB-F4DE-90D80B4AA36B}"/>
              </a:ext>
            </a:extLst>
          </p:cNvPr>
          <p:cNvSpPr txBox="1"/>
          <p:nvPr/>
        </p:nvSpPr>
        <p:spPr>
          <a:xfrm>
            <a:off x="6297013" y="2566170"/>
            <a:ext cx="26739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EAF2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Compared using statistical and diagnostic criteria</a:t>
            </a:r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947BED95-741E-772B-8E6A-4407235FECCE}"/>
              </a:ext>
            </a:extLst>
          </p:cNvPr>
          <p:cNvSpPr/>
          <p:nvPr/>
        </p:nvSpPr>
        <p:spPr>
          <a:xfrm>
            <a:off x="10466704" y="3138055"/>
            <a:ext cx="215151" cy="3128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93D59F-3DD1-0ED4-C96A-265CA8DBAA90}"/>
              </a:ext>
            </a:extLst>
          </p:cNvPr>
          <p:cNvSpPr/>
          <p:nvPr/>
        </p:nvSpPr>
        <p:spPr>
          <a:xfrm>
            <a:off x="398512" y="3519719"/>
            <a:ext cx="11321044" cy="10695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964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527BE-3B9C-187A-6046-358B31F6A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0A48C0-D77B-3665-1B21-F28B957F54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103" y="2160588"/>
            <a:ext cx="5525831" cy="3881437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B3EF21-4565-BFEB-B1E8-E09BC3A962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0A73F1-2135-4AA2-B3AF-BCC0D64DC3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65"/>
          <a:stretch/>
        </p:blipFill>
        <p:spPr>
          <a:xfrm>
            <a:off x="201873" y="1079083"/>
            <a:ext cx="5394525" cy="42386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3906F2-85FF-5715-F4C3-C13CAF3BB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4" t="4301" r="9214"/>
          <a:stretch/>
        </p:blipFill>
        <p:spPr>
          <a:xfrm>
            <a:off x="6359657" y="987394"/>
            <a:ext cx="5394524" cy="42386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F3B186-91CA-DEC9-05F5-105984EE8A3A}"/>
              </a:ext>
            </a:extLst>
          </p:cNvPr>
          <p:cNvSpPr txBox="1"/>
          <p:nvPr/>
        </p:nvSpPr>
        <p:spPr>
          <a:xfrm>
            <a:off x="6628016" y="5080403"/>
            <a:ext cx="536211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Residuals are approximately normally distributed in the central region.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Moderate deviations appear in the tails.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Normality assumption is reasonably satisfied.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Overall, the residual diagnostics support 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adequacy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regression model for estimate 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</a:t>
            </a:r>
            <a:r>
              <a:rPr lang="en-GB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genaration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7D5B4D-13EB-3D29-4155-09BE6EF09A13}"/>
              </a:ext>
            </a:extLst>
          </p:cNvPr>
          <p:cNvSpPr txBox="1"/>
          <p:nvPr/>
        </p:nvSpPr>
        <p:spPr>
          <a:xfrm>
            <a:off x="512860" y="5303361"/>
            <a:ext cx="61900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Residuals randomly scattered around zero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No systematic pattern detected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Approximately constant variance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Breusch–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Pagantest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 = 0.323</a:t>
            </a:r>
            <a:r>
              <a:rPr lang="fa-I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 0.05)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Homoscedasticity assumption is satisfied.</a:t>
            </a:r>
          </a:p>
        </p:txBody>
      </p:sp>
    </p:spTree>
    <p:extLst>
      <p:ext uri="{BB962C8B-B14F-4D97-AF65-F5344CB8AC3E}">
        <p14:creationId xmlns:p14="http://schemas.microsoft.com/office/powerpoint/2010/main" val="1360884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328E2A32-4543-7B25-5DA3-460CC9D41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C8085240-B075-4EF5-FEAE-74B9BA9FDE7C}"/>
              </a:ext>
            </a:extLst>
          </p:cNvPr>
          <p:cNvSpPr/>
          <p:nvPr/>
        </p:nvSpPr>
        <p:spPr>
          <a:xfrm>
            <a:off x="570533" y="1437638"/>
            <a:ext cx="1957462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2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A1D60AA-2C18-282C-7787-0E7C82AC6A33}"/>
              </a:ext>
            </a:extLst>
          </p:cNvPr>
          <p:cNvSpPr/>
          <p:nvPr/>
        </p:nvSpPr>
        <p:spPr>
          <a:xfrm>
            <a:off x="344835" y="1234283"/>
            <a:ext cx="8151763" cy="426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9.</a:t>
            </a:r>
            <a:r>
              <a:rPr lang="en-GB" sz="24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Deterministic Facility Location Model</a:t>
            </a:r>
            <a:endParaRPr lang="en-US" sz="2400" b="1" dirty="0">
              <a:latin typeface="Times New Roman" panose="02020603050405020304" pitchFamily="18" charset="0"/>
              <a:ea typeface="Petrona Bold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0625A21C-B70C-5213-BD1C-016920B75925}"/>
              </a:ext>
            </a:extLst>
          </p:cNvPr>
          <p:cNvSpPr/>
          <p:nvPr/>
        </p:nvSpPr>
        <p:spPr>
          <a:xfrm>
            <a:off x="390145" y="1750123"/>
            <a:ext cx="3924598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Mathematical Formulation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B7F74499-3BEA-8057-A118-5FF99726A217}"/>
              </a:ext>
            </a:extLst>
          </p:cNvPr>
          <p:cNvSpPr/>
          <p:nvPr/>
        </p:nvSpPr>
        <p:spPr>
          <a:xfrm>
            <a:off x="368773" y="2055308"/>
            <a:ext cx="4240641" cy="806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Objective: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Minimize total weighted distance</a:t>
            </a:r>
            <a:endParaRPr kumimoji="0" lang="fa-IR" sz="1600" b="0" i="0" u="none" strike="noStrike" kern="1200" cap="none" spc="0" normalizeH="0" baseline="0" noProof="0" dirty="0">
              <a:ln>
                <a:noFill/>
              </a:ln>
              <a:solidFill>
                <a:srgbClr val="16222E"/>
              </a:solidFill>
              <a:effectLst/>
              <a:uLnTx/>
              <a:uFillTx/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between demand</a:t>
            </a:r>
            <a:r>
              <a:rPr lang="fa-IR" sz="1600" dirty="0">
                <a:solidFill>
                  <a:srgbClr val="1622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points and selected </a:t>
            </a:r>
            <a:r>
              <a:rPr lang="en-US" sz="1600" dirty="0">
                <a:solidFill>
                  <a:srgbClr val="1622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sites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solidFill>
                  <a:srgbClr val="1622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(facility location)</a:t>
            </a:r>
            <a:endParaRPr lang="en-US" sz="1600" dirty="0">
              <a:solidFill>
                <a:srgbClr val="16222E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25000"/>
              </a:lnSpc>
              <a:buNone/>
            </a:pPr>
            <a:endParaRPr lang="en-US" sz="9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46038B3-753A-5777-2374-28955943C756}"/>
              </a:ext>
            </a:extLst>
          </p:cNvPr>
          <p:cNvSpPr/>
          <p:nvPr/>
        </p:nvSpPr>
        <p:spPr>
          <a:xfrm>
            <a:off x="496119" y="2975107"/>
            <a:ext cx="3924598" cy="415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endParaRPr lang="en-US" sz="10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BC8B1058-EB23-A1BF-5B41-38A7852D9DF5}"/>
              </a:ext>
            </a:extLst>
          </p:cNvPr>
          <p:cNvSpPr/>
          <p:nvPr/>
        </p:nvSpPr>
        <p:spPr>
          <a:xfrm>
            <a:off x="377487" y="3040933"/>
            <a:ext cx="4231927" cy="463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Constraints: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Exactly </a:t>
            </a:r>
            <a:r>
              <a:rPr lang="en-US" sz="1600" i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facilities open; each demand point assigned once; binary decision variables.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C8CDD199-926D-E1F0-BAC0-E6C9872F23AB}"/>
              </a:ext>
            </a:extLst>
          </p:cNvPr>
          <p:cNvSpPr/>
          <p:nvPr/>
        </p:nvSpPr>
        <p:spPr>
          <a:xfrm>
            <a:off x="390145" y="4979859"/>
            <a:ext cx="3924598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Implementation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49DB4EA-5A6E-AA6C-1D72-20047194D437}"/>
              </a:ext>
            </a:extLst>
          </p:cNvPr>
          <p:cNvSpPr/>
          <p:nvPr/>
        </p:nvSpPr>
        <p:spPr>
          <a:xfrm>
            <a:off x="287705" y="5299423"/>
            <a:ext cx="4230535" cy="63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40" indent="-193040" algn="l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Software: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FICO Xpress Optimizer, Mosel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3040" indent="-193040" algn="l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Method: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Dual simplex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F7FE3B54-B5EB-B3FE-63D5-6E4CD6FCEF76}"/>
              </a:ext>
            </a:extLst>
          </p:cNvPr>
          <p:cNvSpPr/>
          <p:nvPr/>
        </p:nvSpPr>
        <p:spPr>
          <a:xfrm>
            <a:off x="5099714" y="1686273"/>
            <a:ext cx="3924598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Test Scenario Results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6FFC9859-B7B6-E8FF-0001-4582D6395404}"/>
              </a:ext>
            </a:extLst>
          </p:cNvPr>
          <p:cNvSpPr/>
          <p:nvPr/>
        </p:nvSpPr>
        <p:spPr>
          <a:xfrm>
            <a:off x="4782294" y="2152283"/>
            <a:ext cx="1908051" cy="951235"/>
          </a:xfrm>
          <a:prstGeom prst="roundRect">
            <a:avLst>
              <a:gd name="adj" fmla="val 5477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A1C0B5D2-F418-B3FE-3AEF-CB25F43AB7A9}"/>
              </a:ext>
            </a:extLst>
          </p:cNvPr>
          <p:cNvSpPr/>
          <p:nvPr/>
        </p:nvSpPr>
        <p:spPr>
          <a:xfrm>
            <a:off x="4836848" y="2214846"/>
            <a:ext cx="1650578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3 </a:t>
            </a:r>
            <a:r>
              <a:rPr lang="en-GB" sz="16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Facilities Selected</a:t>
            </a:r>
            <a:endParaRPr lang="en-US" sz="1600" b="1" dirty="0">
              <a:solidFill>
                <a:srgbClr val="272525"/>
              </a:solidFill>
              <a:latin typeface="Times New Roman" panose="02020603050405020304" pitchFamily="18" charset="0"/>
              <a:ea typeface="Petrona Bold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347AE09-8DF3-81E3-F8D0-F09D8B060D51}"/>
              </a:ext>
            </a:extLst>
          </p:cNvPr>
          <p:cNvSpPr/>
          <p:nvPr/>
        </p:nvSpPr>
        <p:spPr>
          <a:xfrm>
            <a:off x="4836847" y="2448246"/>
            <a:ext cx="1853497" cy="564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Sites 1, 6, and 7 from </a:t>
            </a:r>
            <a:r>
              <a:rPr lang="en-GB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8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candidates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367D87A9-C5D0-5D55-EE47-3C835E8BE540}"/>
              </a:ext>
            </a:extLst>
          </p:cNvPr>
          <p:cNvSpPr/>
          <p:nvPr/>
        </p:nvSpPr>
        <p:spPr>
          <a:xfrm>
            <a:off x="6795987" y="2172580"/>
            <a:ext cx="1908051" cy="951235"/>
          </a:xfrm>
          <a:prstGeom prst="roundRect">
            <a:avLst>
              <a:gd name="adj" fmla="val 5477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F349A9F3-B922-18CB-5E4D-3E11C6A33643}"/>
              </a:ext>
            </a:extLst>
          </p:cNvPr>
          <p:cNvSpPr/>
          <p:nvPr/>
        </p:nvSpPr>
        <p:spPr>
          <a:xfrm>
            <a:off x="6911837" y="2261264"/>
            <a:ext cx="1650578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fa-IR" sz="16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10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246216E6-6475-4026-D88A-9843B386C0F6}"/>
              </a:ext>
            </a:extLst>
          </p:cNvPr>
          <p:cNvSpPr/>
          <p:nvPr/>
        </p:nvSpPr>
        <p:spPr>
          <a:xfrm>
            <a:off x="6846019" y="2534882"/>
            <a:ext cx="1771507" cy="56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population centers</a:t>
            </a:r>
          </a:p>
          <a:p>
            <a:pPr marL="0" indent="0">
              <a:buNone/>
            </a:pPr>
            <a:r>
              <a:rPr lang="en-GB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(Demand Points)</a:t>
            </a:r>
            <a:endParaRPr lang="en-US" sz="16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89F4A884-E4A5-F37F-7296-A38F2FA5959C}"/>
              </a:ext>
            </a:extLst>
          </p:cNvPr>
          <p:cNvSpPr/>
          <p:nvPr/>
        </p:nvSpPr>
        <p:spPr>
          <a:xfrm>
            <a:off x="4745934" y="3265416"/>
            <a:ext cx="1908051" cy="765200"/>
          </a:xfrm>
          <a:prstGeom prst="roundRect">
            <a:avLst>
              <a:gd name="adj" fmla="val 6809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76B758A1-A838-1D4F-6652-A966799A386E}"/>
              </a:ext>
            </a:extLst>
          </p:cNvPr>
          <p:cNvSpPr/>
          <p:nvPr/>
        </p:nvSpPr>
        <p:spPr>
          <a:xfrm>
            <a:off x="4896603" y="3357672"/>
            <a:ext cx="1650578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2,770 Residents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FD1CDED2-AAD5-3A84-EEF9-71DA356272C3}"/>
              </a:ext>
            </a:extLst>
          </p:cNvPr>
          <p:cNvSpPr/>
          <p:nvPr/>
        </p:nvSpPr>
        <p:spPr>
          <a:xfrm>
            <a:off x="4745934" y="3721319"/>
            <a:ext cx="165057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GB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Population covered</a:t>
            </a:r>
            <a:endParaRPr lang="en-US" sz="1600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59B0EB40-F03F-C496-D931-81386F7FD079}"/>
              </a:ext>
            </a:extLst>
          </p:cNvPr>
          <p:cNvSpPr/>
          <p:nvPr/>
        </p:nvSpPr>
        <p:spPr>
          <a:xfrm>
            <a:off x="6783100" y="3270757"/>
            <a:ext cx="1908051" cy="765200"/>
          </a:xfrm>
          <a:prstGeom prst="roundRect">
            <a:avLst>
              <a:gd name="adj" fmla="val 6809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C7A93673-9DC8-82FD-F6A0-E0DBF9AEF71D}"/>
              </a:ext>
            </a:extLst>
          </p:cNvPr>
          <p:cNvSpPr/>
          <p:nvPr/>
        </p:nvSpPr>
        <p:spPr>
          <a:xfrm>
            <a:off x="6873329" y="3322402"/>
            <a:ext cx="1650578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106.6 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D81431B8-9EEF-FFEB-050B-3F88862D9667}"/>
              </a:ext>
            </a:extLst>
          </p:cNvPr>
          <p:cNvSpPr/>
          <p:nvPr/>
        </p:nvSpPr>
        <p:spPr>
          <a:xfrm>
            <a:off x="6790620" y="3696362"/>
            <a:ext cx="2029761" cy="352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Average service distance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7362A1F7-DDF3-5F35-D9AC-3A75B56D352A}"/>
              </a:ext>
            </a:extLst>
          </p:cNvPr>
          <p:cNvSpPr/>
          <p:nvPr/>
        </p:nvSpPr>
        <p:spPr>
          <a:xfrm>
            <a:off x="4721738" y="4191873"/>
            <a:ext cx="3976817" cy="2109283"/>
          </a:xfrm>
          <a:prstGeom prst="roundRect">
            <a:avLst>
              <a:gd name="adj" fmla="val 5203"/>
            </a:avLst>
          </a:prstGeom>
          <a:solidFill>
            <a:srgbClr val="E0D7F4"/>
          </a:solidFill>
          <a:ln/>
        </p:spPr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FD2424B9-1C9D-2AEE-08FB-77D51F28EDC3}"/>
              </a:ext>
            </a:extLst>
          </p:cNvPr>
          <p:cNvSpPr/>
          <p:nvPr/>
        </p:nvSpPr>
        <p:spPr>
          <a:xfrm>
            <a:off x="390145" y="3931217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</a:t>
            </a:r>
            <a:r>
              <a:rPr lang="en-US" sz="1600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ASSUMPTION</a:t>
            </a:r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183A75C1-1C73-4AA9-9039-2904225BAABA}"/>
              </a:ext>
            </a:extLst>
          </p:cNvPr>
          <p:cNvSpPr/>
          <p:nvPr/>
        </p:nvSpPr>
        <p:spPr>
          <a:xfrm>
            <a:off x="389014" y="4278361"/>
            <a:ext cx="4230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Waste demand is fixed and known throughout the planning horizon</a:t>
            </a:r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1A13FA91-2F7E-C0AC-9209-786856A9FF20}"/>
              </a:ext>
            </a:extLst>
          </p:cNvPr>
          <p:cNvSpPr/>
          <p:nvPr/>
        </p:nvSpPr>
        <p:spPr>
          <a:xfrm>
            <a:off x="401711" y="5938077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E6732D13-3C09-72EA-15BD-10F693CF2DAB}"/>
              </a:ext>
            </a:extLst>
          </p:cNvPr>
          <p:cNvSpPr/>
          <p:nvPr/>
        </p:nvSpPr>
        <p:spPr>
          <a:xfrm>
            <a:off x="344834" y="6037363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GB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Baseline facility-location solution</a:t>
            </a:r>
            <a:endParaRPr lang="en-US" sz="1600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2B3DE3-4075-D0BA-95D7-B0DBDA1C1AD0}"/>
              </a:ext>
            </a:extLst>
          </p:cNvPr>
          <p:cNvSpPr txBox="1"/>
          <p:nvPr/>
        </p:nvSpPr>
        <p:spPr>
          <a:xfrm>
            <a:off x="1117949" y="2761630"/>
            <a:ext cx="29176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 </a:t>
            </a:r>
            <a:r>
              <a:rPr lang="el-G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ᵢ </a:t>
            </a:r>
            <a:r>
              <a:rPr lang="el-G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ⱼ wᵢ dᵢⱼ Xᵢⱼ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4D79D-3928-5C9F-2CD1-676583E13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861" y="4170185"/>
            <a:ext cx="403369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deterministic model generated a feasible baseline facility-location solution under fixed demand assumptions. </a:t>
            </a:r>
          </a:p>
          <a:p>
            <a:pPr marL="285750" marR="0" lvl="0" indent="-28575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This solution is integrated into the subsequent stochastic optimization model, where demand uncertainty is explicitly incorporated to support more robust strategic facility-location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600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295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1D15-BFE9-238A-094A-94C7AA80E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D6940-40DB-E10D-B651-4C83A2E98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8E3B1E-6EEE-6400-190A-A0A428C79B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5D05CA-47A2-EAFC-AEC7-E6844658BA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70" y="1623067"/>
            <a:ext cx="6459080" cy="495581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7F0026-0214-F113-B966-50B13AA841EB}"/>
              </a:ext>
            </a:extLst>
          </p:cNvPr>
          <p:cNvSpPr txBox="1"/>
          <p:nvPr/>
        </p:nvSpPr>
        <p:spPr>
          <a:xfrm>
            <a:off x="6746468" y="1608481"/>
            <a:ext cx="53123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optimal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ecoponto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(Sites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6, and 7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were selected. </a:t>
            </a:r>
          </a:p>
          <a:p>
            <a:pPr algn="justLow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population centres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assigned to the nearest selected facility. </a:t>
            </a:r>
          </a:p>
          <a:p>
            <a:pPr algn="justLow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the total demand-weighted travel distance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ensuring full service coverage.</a:t>
            </a:r>
          </a:p>
          <a:p>
            <a:pPr algn="justLow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deterministic solution provides the baseline facility-location configuration for the subsequent stochastic optimisation model.</a:t>
            </a:r>
          </a:p>
          <a:p>
            <a:pPr algn="justLow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Assumption: fixed and known waste demand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C63BCA-E7DC-C06D-D7CA-640C91A88534}"/>
              </a:ext>
            </a:extLst>
          </p:cNvPr>
          <p:cNvSpPr txBox="1"/>
          <p:nvPr/>
        </p:nvSpPr>
        <p:spPr>
          <a:xfrm>
            <a:off x="133170" y="1076011"/>
            <a:ext cx="7807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Facility Location Results (FICO Xpress)</a:t>
            </a:r>
            <a:endParaRPr lang="en-GB" sz="2400" b="1" dirty="0">
              <a:latin typeface="Times New Roman" panose="02020603050405020304" pitchFamily="18" charset="0"/>
              <a:ea typeface="Petrona Bold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BF60666-A5D4-9117-8D7B-B30891A1C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minimises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total demand-weighted travel distance while ensuring full service coverage.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580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616C618-3125-B555-FDEC-BB795CCDE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17887"/>
            <a:ext cx="1218552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44E914-D864-A622-8CDD-A1ED655201E3}"/>
              </a:ext>
            </a:extLst>
          </p:cNvPr>
          <p:cNvSpPr/>
          <p:nvPr/>
        </p:nvSpPr>
        <p:spPr>
          <a:xfrm>
            <a:off x="-2855692" y="924338"/>
            <a:ext cx="12191695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Stochastic Facility Location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4C3A1E-D131-B1F1-594C-0BA098D297A3}"/>
              </a:ext>
            </a:extLst>
          </p:cNvPr>
          <p:cNvSpPr txBox="1"/>
          <p:nvPr/>
        </p:nvSpPr>
        <p:spPr>
          <a:xfrm>
            <a:off x="131196" y="1404398"/>
            <a:ext cx="567674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Fixed Demand to Robust Strategic Planning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C120501C-62B4-D585-AB0F-C74F4B44AC3D}"/>
              </a:ext>
            </a:extLst>
          </p:cNvPr>
          <p:cNvSpPr/>
          <p:nvPr/>
        </p:nvSpPr>
        <p:spPr>
          <a:xfrm>
            <a:off x="170800" y="2758920"/>
            <a:ext cx="2743200" cy="3174741"/>
          </a:xfrm>
          <a:prstGeom prst="roundRect">
            <a:avLst/>
          </a:prstGeom>
          <a:solidFill>
            <a:srgbClr val="17498F"/>
          </a:solidFill>
          <a:ln>
            <a:solidFill>
              <a:srgbClr val="174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</a:t>
            </a:r>
            <a:r>
              <a:rPr lang="fa-I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p-MEDIAN</a:t>
            </a:r>
            <a:endParaRPr lang="fa-I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563" lvl="1">
              <a:defRPr sz="16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demand</a:t>
            </a:r>
          </a:p>
          <a:p>
            <a:pPr marL="55563" lvl="1">
              <a:defRPr sz="1600">
                <a:solidFill>
                  <a:srgbClr val="FFFFFF"/>
                </a:solidFill>
              </a:defRPr>
            </a:pP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estimate</a:t>
            </a:r>
          </a:p>
          <a:p>
            <a:pPr marL="55563" lvl="1">
              <a:defRPr sz="1600">
                <a:solidFill>
                  <a:srgbClr val="FFFFFF"/>
                </a:solidFill>
              </a:defRPr>
            </a:pP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assumptions</a:t>
            </a:r>
            <a:endParaRPr sz="1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FFFFFF"/>
                </a:solidFill>
              </a:defRPr>
            </a:pPr>
            <a:endParaRPr lang="en-GB" sz="1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rPr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solution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3596241A-48D3-AC4A-C118-9EADC28EE5F8}"/>
              </a:ext>
            </a:extLst>
          </p:cNvPr>
          <p:cNvSpPr/>
          <p:nvPr/>
        </p:nvSpPr>
        <p:spPr>
          <a:xfrm>
            <a:off x="4457713" y="2758921"/>
            <a:ext cx="2743200" cy="3174741"/>
          </a:xfrm>
          <a:prstGeom prst="roundRect">
            <a:avLst/>
          </a:prstGeom>
          <a:solidFill>
            <a:srgbClr val="DD7A14"/>
          </a:solidFill>
          <a:ln>
            <a:solidFill>
              <a:srgbClr val="DD7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CONDITIONS</a:t>
            </a:r>
            <a:endParaRPr lang="fa-I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>
              <a:defRPr sz="16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 variation</a:t>
            </a:r>
            <a:endParaRPr sz="1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>
              <a:defRPr sz="16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Population dynamics</a:t>
            </a:r>
          </a:p>
          <a:p>
            <a:pPr marL="0" lvl="1">
              <a:defRPr sz="16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Tourism</a:t>
            </a:r>
          </a:p>
          <a:p>
            <a:pPr marL="0" lvl="1">
              <a:defRPr sz="16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variability</a:t>
            </a:r>
          </a:p>
          <a:p>
            <a:pPr>
              <a:tabLst>
                <a:tab pos="2230438" algn="l"/>
              </a:tabLst>
            </a:pP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&amp; uncertain</a:t>
            </a:r>
            <a:r>
              <a:rPr lang="en-GB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0B8325BC-A471-CCA6-82DA-FBC32917D131}"/>
              </a:ext>
            </a:extLst>
          </p:cNvPr>
          <p:cNvSpPr/>
          <p:nvPr/>
        </p:nvSpPr>
        <p:spPr>
          <a:xfrm>
            <a:off x="8138258" y="2758921"/>
            <a:ext cx="2743200" cy="3174742"/>
          </a:xfrm>
          <a:prstGeom prst="roundRect">
            <a:avLst/>
          </a:prstGeom>
          <a:solidFill>
            <a:srgbClr val="228B54"/>
          </a:solidFill>
          <a:ln>
            <a:solidFill>
              <a:srgbClr val="228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APPROACH</a:t>
            </a:r>
            <a:endParaRPr lang="fa-I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>
              <a:defRPr sz="1600">
                <a:solidFill>
                  <a:srgbClr val="FFFFFF"/>
                </a:solidFill>
              </a:defRPr>
            </a:pP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Explicit uncertainty</a:t>
            </a:r>
          </a:p>
          <a:p>
            <a:pPr marL="0" lvl="1">
              <a:defRPr sz="16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Robust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optimisation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>
              <a:defRPr sz="1600">
                <a:solidFill>
                  <a:srgbClr val="FFFFFF"/>
                </a:solidFill>
              </a:defRPr>
            </a:pP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robust facility-location decisions</a:t>
            </a:r>
            <a:endParaRPr sz="1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>
              <a:defRPr sz="1600">
                <a:solidFill>
                  <a:srgbClr val="FFFFFF"/>
                </a:solidFill>
              </a:defRPr>
            </a:pP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resilient infrastructure planning</a:t>
            </a:r>
            <a:endParaRPr sz="1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robust strategic planning</a:t>
            </a:r>
            <a:endParaRPr sz="1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B685BD-CBE8-DDE3-2898-66EA36C3C290}"/>
              </a:ext>
            </a:extLst>
          </p:cNvPr>
          <p:cNvSpPr txBox="1"/>
          <p:nvPr/>
        </p:nvSpPr>
        <p:spPr>
          <a:xfrm>
            <a:off x="2743627" y="4653021"/>
            <a:ext cx="18844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2828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Demand 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 b="1">
                <a:solidFill>
                  <a:srgbClr val="B4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≠ 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 b="1">
                <a:solidFill>
                  <a:srgbClr val="B42828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Municipal waste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b="1" dirty="0">
                <a:solidFill>
                  <a:srgbClr val="B4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endParaRPr sz="1600" b="1" dirty="0">
              <a:solidFill>
                <a:srgbClr val="B428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20C6C1-BFCE-579B-2BF2-C5FFC694979C}"/>
              </a:ext>
            </a:extLst>
          </p:cNvPr>
          <p:cNvSpPr/>
          <p:nvPr/>
        </p:nvSpPr>
        <p:spPr>
          <a:xfrm>
            <a:off x="0" y="6178522"/>
            <a:ext cx="12191695" cy="640080"/>
          </a:xfrm>
          <a:prstGeom prst="rect">
            <a:avLst/>
          </a:prstGeom>
          <a:solidFill>
            <a:srgbClr val="0B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MESSAGE: Municipal waste demand is inherently uncertain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therefore, strategic facility-location decisions should explicitly account for uncertainty rather </a:t>
            </a:r>
            <a:r>
              <a:rPr sz="15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lang="en-GB" sz="15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relying solely on deterministic demand assumptions</a:t>
            </a:r>
            <a:endParaRPr sz="15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BB610D18-BC05-DE2C-7D81-B57F707B0EF6}"/>
              </a:ext>
            </a:extLst>
          </p:cNvPr>
          <p:cNvSpPr/>
          <p:nvPr/>
        </p:nvSpPr>
        <p:spPr>
          <a:xfrm>
            <a:off x="3323269" y="4064803"/>
            <a:ext cx="644237" cy="3948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697ECCD-FC28-C786-9B9E-A4DFC875B1AE}"/>
              </a:ext>
            </a:extLst>
          </p:cNvPr>
          <p:cNvSpPr/>
          <p:nvPr/>
        </p:nvSpPr>
        <p:spPr>
          <a:xfrm>
            <a:off x="7347467" y="4051698"/>
            <a:ext cx="644237" cy="3948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86774E-1654-6808-6CE2-FD7E1FC55DE9}"/>
              </a:ext>
            </a:extLst>
          </p:cNvPr>
          <p:cNvSpPr txBox="1"/>
          <p:nvPr/>
        </p:nvSpPr>
        <p:spPr>
          <a:xfrm>
            <a:off x="573243" y="2196651"/>
            <a:ext cx="193831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Approach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CDD576-6A92-72AB-2F11-713FC5554611}"/>
              </a:ext>
            </a:extLst>
          </p:cNvPr>
          <p:cNvSpPr txBox="1"/>
          <p:nvPr/>
        </p:nvSpPr>
        <p:spPr>
          <a:xfrm>
            <a:off x="4584773" y="2199821"/>
            <a:ext cx="234942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Challenge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98E45F-FE59-3063-0AF1-D6D3665AB3C2}"/>
              </a:ext>
            </a:extLst>
          </p:cNvPr>
          <p:cNvSpPr txBox="1"/>
          <p:nvPr/>
        </p:nvSpPr>
        <p:spPr>
          <a:xfrm>
            <a:off x="8628614" y="2196651"/>
            <a:ext cx="193831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</p:spTree>
    <p:extLst>
      <p:ext uri="{BB962C8B-B14F-4D97-AF65-F5344CB8AC3E}">
        <p14:creationId xmlns:p14="http://schemas.microsoft.com/office/powerpoint/2010/main" val="2308168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D40A603-1DD7-099C-7025-38C4CECC1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D6833B-66ED-A226-8256-0687387231D4}"/>
              </a:ext>
            </a:extLst>
          </p:cNvPr>
          <p:cNvSpPr txBox="1"/>
          <p:nvPr/>
        </p:nvSpPr>
        <p:spPr>
          <a:xfrm>
            <a:off x="210667" y="940241"/>
            <a:ext cx="7773988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52"/>
                </a:solidFill>
              </a:defRPr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>
              <a:defRPr sz="1800" i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Towards a Unified Framework for Municipal Solid Waste Infrastructure Planning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CF3365E8-88E8-9D86-A795-271ABA6DC40F}"/>
              </a:ext>
            </a:extLst>
          </p:cNvPr>
          <p:cNvSpPr/>
          <p:nvPr/>
        </p:nvSpPr>
        <p:spPr>
          <a:xfrm>
            <a:off x="533400" y="1863785"/>
            <a:ext cx="11247120" cy="822960"/>
          </a:xfrm>
          <a:prstGeom prst="roundRect">
            <a:avLst/>
          </a:prstGeom>
          <a:noFill/>
          <a:ln>
            <a:solidFill>
              <a:srgbClr val="0B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B2A52"/>
                </a:solidFill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CONTRIBUTION</a:t>
            </a:r>
          </a:p>
          <a:p>
            <a:pPr>
              <a:defRPr sz="1500"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proposes a sequential, data-driven framework integrating waste demand modelling with deterministic and stochastic facility-location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optimisation</a:t>
            </a:r>
            <a:r>
              <a:rPr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municipal recycling infrastructure planning under demand uncertainty.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FFFAB986-E77F-7F52-6713-DAFE81ABED80}"/>
              </a:ext>
            </a:extLst>
          </p:cNvPr>
          <p:cNvSpPr/>
          <p:nvPr/>
        </p:nvSpPr>
        <p:spPr>
          <a:xfrm>
            <a:off x="274320" y="3069203"/>
            <a:ext cx="3474720" cy="2743200"/>
          </a:xfrm>
          <a:prstGeom prst="roundRect">
            <a:avLst/>
          </a:prstGeom>
          <a:noFill/>
          <a:ln>
            <a:solidFill>
              <a:srgbClr val="24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44E8C"/>
                </a:solidFill>
              </a:defRPr>
            </a:pP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</a:p>
          <a:p>
            <a:pPr>
              <a:defRPr sz="2000" b="1"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Demand Modelling</a:t>
            </a:r>
          </a:p>
          <a:p>
            <a:pPr algn="justLow">
              <a:defRPr sz="1300"/>
            </a:pP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estimated using stepwise regression</a:t>
            </a:r>
          </a:p>
          <a:p>
            <a:pPr algn="justLow">
              <a:defRPr sz="1300"/>
            </a:pPr>
            <a:r>
              <a:rPr lang="en-GB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population with buffer area and CBD distance identified  as most significant predictors</a:t>
            </a:r>
          </a:p>
          <a:p>
            <a:pPr algn="justLow">
              <a:defRPr sz="1300"/>
            </a:pPr>
            <a:r>
              <a:rPr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estimates used as input for facility location </a:t>
            </a:r>
            <a:endParaRPr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D5862377-6446-19BB-8D31-B40D1D1FB244}"/>
              </a:ext>
            </a:extLst>
          </p:cNvPr>
          <p:cNvSpPr/>
          <p:nvPr/>
        </p:nvSpPr>
        <p:spPr>
          <a:xfrm>
            <a:off x="4114800" y="3069203"/>
            <a:ext cx="3474720" cy="2743200"/>
          </a:xfrm>
          <a:prstGeom prst="roundRect">
            <a:avLst/>
          </a:prstGeom>
          <a:noFill/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</a:p>
          <a:p>
            <a:pPr>
              <a:defRPr sz="2000" b="1"/>
            </a:pP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</a:t>
            </a:r>
            <a:r>
              <a:rPr 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Facility location</a:t>
            </a:r>
            <a:endParaRPr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Low">
              <a:defRPr sz="1300"/>
            </a:pP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p-median developed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Low">
              <a:defRPr sz="1300"/>
            </a:pP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a baseline facility –location configuration</a:t>
            </a:r>
          </a:p>
          <a:p>
            <a:pPr algn="justLow">
              <a:buFont typeface="Arial" panose="020B0604020202020204" pitchFamily="34" charset="0"/>
              <a:buChar char="•"/>
              <a:defRPr sz="1300"/>
            </a:pP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a reliable baseline strategic  solution</a:t>
            </a:r>
          </a:p>
          <a:p>
            <a:pPr algn="justLow">
              <a:buFont typeface="Arial" panose="020B0604020202020204" pitchFamily="34" charset="0"/>
              <a:buChar char="•"/>
              <a:defRPr sz="13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Minimize total weighted distance</a:t>
            </a:r>
            <a:endParaRPr kumimoji="0" lang="fa-IR" sz="1400" b="0" i="0" u="none" strike="noStrike" kern="1200" cap="none" spc="0" normalizeH="0" baseline="0" noProof="0" dirty="0">
              <a:ln>
                <a:noFill/>
              </a:ln>
              <a:solidFill>
                <a:srgbClr val="16222E"/>
              </a:solidFill>
              <a:effectLst/>
              <a:uLnTx/>
              <a:uFillTx/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marR="0" lvl="0" indent="0" algn="justLow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between demand</a:t>
            </a:r>
            <a:r>
              <a:rPr lang="fa-IR" sz="1400" dirty="0">
                <a:solidFill>
                  <a:srgbClr val="1622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points and selected </a:t>
            </a:r>
            <a:r>
              <a:rPr lang="en-US" sz="1400" dirty="0">
                <a:solidFill>
                  <a:srgbClr val="1622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sites under fixed demand</a:t>
            </a:r>
          </a:p>
          <a:p>
            <a:pPr algn="justLow">
              <a:buFont typeface="Arial" panose="020B0604020202020204" pitchFamily="34" charset="0"/>
              <a:buChar char="•"/>
              <a:defRPr sz="1300"/>
            </a:pPr>
            <a:endParaRPr lang="en-GB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ED276A06-7F1C-400B-96DF-7729676F1C72}"/>
              </a:ext>
            </a:extLst>
          </p:cNvPr>
          <p:cNvSpPr/>
          <p:nvPr/>
        </p:nvSpPr>
        <p:spPr>
          <a:xfrm>
            <a:off x="7955279" y="3069203"/>
            <a:ext cx="3474720" cy="2743200"/>
          </a:xfrm>
          <a:prstGeom prst="roundRect">
            <a:avLst/>
          </a:prstGeom>
          <a:noFill/>
          <a:ln>
            <a:solidFill>
              <a:srgbClr val="D2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26E14"/>
                </a:solidFill>
              </a:defRPr>
            </a:pP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</a:defRPr>
            </a:pPr>
            <a:r>
              <a:rPr 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Facility location</a:t>
            </a:r>
          </a:p>
          <a:p>
            <a:pPr algn="justLow">
              <a:defRPr sz="1300"/>
            </a:pPr>
            <a:r>
              <a:rPr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Explicitly incorporates demand uncertainly (seasonality , population dynamics, behaviour, tourism)</a:t>
            </a:r>
            <a:r>
              <a:rPr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proposes a stochastic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en-GB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</a:p>
          <a:p>
            <a:pPr algn="justLow">
              <a:buFont typeface="Arial" panose="020B0604020202020204" pitchFamily="34" charset="0"/>
              <a:buChar char="•"/>
              <a:defRPr sz="1300"/>
            </a:pPr>
            <a:r>
              <a:rPr lang="en-GB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objective is supports more robust facility -locations decision and supports more resilient infrastructure planning under real world condition</a:t>
            </a:r>
            <a:endParaRPr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582EB4DE-AFD8-30EE-9AC2-EF7895D6E996}"/>
              </a:ext>
            </a:extLst>
          </p:cNvPr>
          <p:cNvSpPr/>
          <p:nvPr/>
        </p:nvSpPr>
        <p:spPr>
          <a:xfrm>
            <a:off x="731520" y="6085271"/>
            <a:ext cx="2743200" cy="0"/>
          </a:xfrm>
          <a:prstGeom prst="line">
            <a:avLst/>
          </a:prstGeom>
          <a:noFill/>
          <a:ln w="25400">
            <a:solidFill>
              <a:srgbClr val="3FBF9F"/>
            </a:solidFill>
            <a:prstDash val="solid"/>
          </a:ln>
        </p:spPr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F4A55EE8-5F33-1FDA-5EF8-9464C65A9BA8}"/>
              </a:ext>
            </a:extLst>
          </p:cNvPr>
          <p:cNvSpPr/>
          <p:nvPr/>
        </p:nvSpPr>
        <p:spPr>
          <a:xfrm>
            <a:off x="144666" y="6252713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Attention</a:t>
            </a:r>
            <a:endParaRPr lang="en-US" sz="2400" dirty="0"/>
          </a:p>
        </p:txBody>
      </p:sp>
      <p:sp>
        <p:nvSpPr>
          <p:cNvPr id="3" name="Shape 15">
            <a:extLst>
              <a:ext uri="{FF2B5EF4-FFF2-40B4-BE49-F238E27FC236}">
                <a16:creationId xmlns:a16="http://schemas.microsoft.com/office/drawing/2014/main" id="{3450982C-0B0C-2A18-5C89-EA1181E03835}"/>
              </a:ext>
            </a:extLst>
          </p:cNvPr>
          <p:cNvSpPr/>
          <p:nvPr/>
        </p:nvSpPr>
        <p:spPr>
          <a:xfrm>
            <a:off x="4361543" y="5973290"/>
            <a:ext cx="7220857" cy="884709"/>
          </a:xfrm>
          <a:prstGeom prst="roundRect">
            <a:avLst>
              <a:gd name="adj" fmla="val 9679"/>
            </a:avLst>
          </a:prstGeom>
          <a:solidFill>
            <a:srgbClr val="E0D7F4"/>
          </a:solidFill>
          <a:ln/>
        </p:spPr>
        <p:txBody>
          <a:bodyPr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Overall contribution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: integration of waste demand estimation, deterministic optimization, and stochastic optimization into a unified decision –support framework for strategic municipal infrastructure planning</a:t>
            </a:r>
          </a:p>
        </p:txBody>
      </p:sp>
    </p:spTree>
    <p:extLst>
      <p:ext uri="{BB962C8B-B14F-4D97-AF65-F5344CB8AC3E}">
        <p14:creationId xmlns:p14="http://schemas.microsoft.com/office/powerpoint/2010/main" val="163079653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0319156-1266-4b87-821f-5def9e8aac1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63D94590BEDE40945BC7C77BB2A97A" ma:contentTypeVersion="19" ma:contentTypeDescription="Criar um novo documento." ma:contentTypeScope="" ma:versionID="be3993cb8152b9e1c376fb040b42289a">
  <xsd:schema xmlns:xsd="http://www.w3.org/2001/XMLSchema" xmlns:xs="http://www.w3.org/2001/XMLSchema" xmlns:p="http://schemas.microsoft.com/office/2006/metadata/properties" xmlns:ns3="a0319156-1266-4b87-821f-5def9e8aac1f" xmlns:ns4="e3b2edce-138a-4da2-9cdc-6c86c07054a1" targetNamespace="http://schemas.microsoft.com/office/2006/metadata/properties" ma:root="true" ma:fieldsID="3c5e0546313579ffe847ea9feaea2a30" ns3:_="" ns4:_="">
    <xsd:import namespace="a0319156-1266-4b87-821f-5def9e8aac1f"/>
    <xsd:import namespace="e3b2edce-138a-4da2-9cdc-6c86c07054a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319156-1266-4b87-821f-5def9e8aac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b2edce-138a-4da2-9cdc-6c86c07054a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Sugestão de Partilh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4E4524-5453-4E75-BEAE-9208DE64CE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CAEAA2-A939-47B2-8EEF-A105148BB498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e3b2edce-138a-4da2-9cdc-6c86c07054a1"/>
    <ds:schemaRef ds:uri="a0319156-1266-4b87-821f-5def9e8aac1f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6F92359E-3AFA-4BC1-AC9C-8C66595296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319156-1266-4b87-821f-5def9e8aac1f"/>
    <ds:schemaRef ds:uri="e3b2edce-138a-4da2-9cdc-6c86c07054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6206</TotalTime>
  <Words>1661</Words>
  <Application>Microsoft Office PowerPoint</Application>
  <PresentationFormat>Widescreen</PresentationFormat>
  <Paragraphs>307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esi esi Keyvanloo</dc:creator>
  <cp:lastModifiedBy>esi esi Keyvanloo</cp:lastModifiedBy>
  <cp:revision>332</cp:revision>
  <dcterms:created xsi:type="dcterms:W3CDTF">2026-07-18T19:52:13Z</dcterms:created>
  <dcterms:modified xsi:type="dcterms:W3CDTF">2026-07-28T12:20:21Z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0x0101001363D94590BEDE40945BC7C77BB2A97A</vt:lpwstr>
  </property>
</Properties>
</file>