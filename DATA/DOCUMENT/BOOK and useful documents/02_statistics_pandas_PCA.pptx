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2"/>
  </p:notesMasterIdLst>
  <p:handoutMasterIdLst>
    <p:handoutMasterId r:id="rId63"/>
  </p:handoutMasterIdLst>
  <p:sldIdLst>
    <p:sldId id="258" r:id="rId2"/>
    <p:sldId id="386" r:id="rId3"/>
    <p:sldId id="303" r:id="rId4"/>
    <p:sldId id="272" r:id="rId5"/>
    <p:sldId id="365" r:id="rId6"/>
    <p:sldId id="353" r:id="rId7"/>
    <p:sldId id="305" r:id="rId8"/>
    <p:sldId id="358" r:id="rId9"/>
    <p:sldId id="343" r:id="rId10"/>
    <p:sldId id="347" r:id="rId11"/>
    <p:sldId id="310" r:id="rId12"/>
    <p:sldId id="329" r:id="rId13"/>
    <p:sldId id="308" r:id="rId14"/>
    <p:sldId id="331" r:id="rId15"/>
    <p:sldId id="332" r:id="rId16"/>
    <p:sldId id="316" r:id="rId17"/>
    <p:sldId id="387" r:id="rId18"/>
    <p:sldId id="388" r:id="rId19"/>
    <p:sldId id="321" r:id="rId20"/>
    <p:sldId id="344" r:id="rId21"/>
    <p:sldId id="314" r:id="rId22"/>
    <p:sldId id="322" r:id="rId23"/>
    <p:sldId id="315" r:id="rId24"/>
    <p:sldId id="323" r:id="rId25"/>
    <p:sldId id="324" r:id="rId26"/>
    <p:sldId id="325" r:id="rId27"/>
    <p:sldId id="326" r:id="rId28"/>
    <p:sldId id="385" r:id="rId29"/>
    <p:sldId id="327" r:id="rId30"/>
    <p:sldId id="328" r:id="rId31"/>
    <p:sldId id="304" r:id="rId32"/>
    <p:sldId id="362" r:id="rId33"/>
    <p:sldId id="312" r:id="rId34"/>
    <p:sldId id="360" r:id="rId35"/>
    <p:sldId id="363" r:id="rId36"/>
    <p:sldId id="351" r:id="rId37"/>
    <p:sldId id="352" r:id="rId38"/>
    <p:sldId id="383" r:id="rId39"/>
    <p:sldId id="333" r:id="rId40"/>
    <p:sldId id="334" r:id="rId41"/>
    <p:sldId id="348" r:id="rId42"/>
    <p:sldId id="349" r:id="rId43"/>
    <p:sldId id="345" r:id="rId44"/>
    <p:sldId id="357" r:id="rId45"/>
    <p:sldId id="364" r:id="rId46"/>
    <p:sldId id="336" r:id="rId47"/>
    <p:sldId id="374" r:id="rId48"/>
    <p:sldId id="368" r:id="rId49"/>
    <p:sldId id="337" r:id="rId50"/>
    <p:sldId id="366" r:id="rId51"/>
    <p:sldId id="367" r:id="rId52"/>
    <p:sldId id="340" r:id="rId53"/>
    <p:sldId id="375" r:id="rId54"/>
    <p:sldId id="382" r:id="rId55"/>
    <p:sldId id="376" r:id="rId56"/>
    <p:sldId id="377" r:id="rId57"/>
    <p:sldId id="379" r:id="rId58"/>
    <p:sldId id="380" r:id="rId59"/>
    <p:sldId id="381" r:id="rId60"/>
    <p:sldId id="256" r:id="rId6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8" d="100"/>
          <a:sy n="78" d="100"/>
        </p:scale>
        <p:origin x="83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4_3">
  <dgm:title val=""/>
  <dgm:desc val=""/>
  <dgm:catLst>
    <dgm:cat type="accent4" pri="11300"/>
  </dgm:catLst>
  <dgm:styleLbl name="node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shade val="80000"/>
      </a:schemeClr>
      <a:schemeClr val="accent4">
        <a:tint val="7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/>
    <dgm:txEffectClrLst/>
  </dgm:styleLbl>
  <dgm:styleLbl name="ln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9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8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AB36F7D-A3BA-4840-A5C1-572FCB60E0BE}" type="doc">
      <dgm:prSet loTypeId="urn:microsoft.com/office/officeart/2005/8/layout/vList5" loCatId="list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3CD82DFE-2F40-4E49-8542-46B05A7A8F72}">
      <dgm:prSet phldrT="[Texto]" custT="1"/>
      <dgm:spPr/>
      <dgm:t>
        <a:bodyPr/>
        <a:lstStyle/>
        <a:p>
          <a:r>
            <a:rPr lang="pt-PT" sz="2800" dirty="0"/>
            <a:t>Data </a:t>
          </a:r>
          <a:r>
            <a:rPr lang="pt-PT" sz="2800" dirty="0" err="1"/>
            <a:t>collection</a:t>
          </a:r>
          <a:r>
            <a:rPr lang="pt-PT" sz="2800" dirty="0"/>
            <a:t> </a:t>
          </a:r>
          <a:r>
            <a:rPr lang="pt-PT" sz="2800" dirty="0" err="1"/>
            <a:t>and</a:t>
          </a:r>
          <a:r>
            <a:rPr lang="pt-PT" sz="2800" dirty="0"/>
            <a:t> </a:t>
          </a:r>
          <a:r>
            <a:rPr lang="pt-PT" sz="2800" dirty="0" err="1"/>
            <a:t>acquisition</a:t>
          </a:r>
          <a:endParaRPr lang="en-US" sz="2800" dirty="0"/>
        </a:p>
      </dgm:t>
    </dgm:pt>
    <dgm:pt modelId="{1EF2FC94-51B6-4BD7-AC1A-F5BC5CE763BB}" type="parTrans" cxnId="{A89FDC1B-2413-478D-A21C-86D4F9899E3F}">
      <dgm:prSet/>
      <dgm:spPr/>
      <dgm:t>
        <a:bodyPr/>
        <a:lstStyle/>
        <a:p>
          <a:endParaRPr lang="en-US" sz="2000"/>
        </a:p>
      </dgm:t>
    </dgm:pt>
    <dgm:pt modelId="{8C8CE1A8-530E-41AE-A1C3-15FEEA709BDA}" type="sibTrans" cxnId="{A89FDC1B-2413-478D-A21C-86D4F9899E3F}">
      <dgm:prSet/>
      <dgm:spPr/>
      <dgm:t>
        <a:bodyPr/>
        <a:lstStyle/>
        <a:p>
          <a:endParaRPr lang="en-US" sz="2000"/>
        </a:p>
      </dgm:t>
    </dgm:pt>
    <dgm:pt modelId="{1FE76FDA-08A1-4D3C-84CB-0D5DBC3EA481}">
      <dgm:prSet phldrT="[Texto]" custT="1"/>
      <dgm:spPr/>
      <dgm:t>
        <a:bodyPr/>
        <a:lstStyle/>
        <a:p>
          <a:r>
            <a:rPr lang="pt-PT" sz="1800" dirty="0"/>
            <a:t>Excel </a:t>
          </a:r>
          <a:r>
            <a:rPr lang="pt-PT" sz="1800" dirty="0" err="1"/>
            <a:t>spreadsheets</a:t>
          </a:r>
          <a:r>
            <a:rPr lang="pt-PT" sz="1800" dirty="0"/>
            <a:t>, .</a:t>
          </a:r>
          <a:r>
            <a:rPr lang="pt-PT" sz="1800" dirty="0" err="1"/>
            <a:t>csv</a:t>
          </a:r>
          <a:r>
            <a:rPr lang="pt-PT" sz="1800" dirty="0"/>
            <a:t> files</a:t>
          </a:r>
          <a:endParaRPr lang="en-US" sz="1800" dirty="0"/>
        </a:p>
      </dgm:t>
    </dgm:pt>
    <dgm:pt modelId="{196A1682-8369-443E-BE21-362AA8AFA018}" type="parTrans" cxnId="{9D1FE8CB-6C55-4211-B82D-6A9381BEA5BB}">
      <dgm:prSet/>
      <dgm:spPr/>
      <dgm:t>
        <a:bodyPr/>
        <a:lstStyle/>
        <a:p>
          <a:endParaRPr lang="en-US" sz="2000"/>
        </a:p>
      </dgm:t>
    </dgm:pt>
    <dgm:pt modelId="{D91338E8-521F-42A7-9704-9FD8C796CD62}" type="sibTrans" cxnId="{9D1FE8CB-6C55-4211-B82D-6A9381BEA5BB}">
      <dgm:prSet/>
      <dgm:spPr/>
      <dgm:t>
        <a:bodyPr/>
        <a:lstStyle/>
        <a:p>
          <a:endParaRPr lang="en-US" sz="2000"/>
        </a:p>
      </dgm:t>
    </dgm:pt>
    <dgm:pt modelId="{EB930552-F37D-4CF0-8A73-1E44101062CB}">
      <dgm:prSet phldrT="[Texto]" custT="1"/>
      <dgm:spPr/>
      <dgm:t>
        <a:bodyPr/>
        <a:lstStyle/>
        <a:p>
          <a:r>
            <a:rPr lang="pt-PT" sz="1800" dirty="0"/>
            <a:t>SQL </a:t>
          </a:r>
          <a:r>
            <a:rPr lang="pt-PT" sz="1800" dirty="0" err="1"/>
            <a:t>databases</a:t>
          </a:r>
          <a:r>
            <a:rPr lang="pt-PT" sz="1800" dirty="0"/>
            <a:t>/</a:t>
          </a:r>
          <a:r>
            <a:rPr lang="pt-PT" sz="1800" dirty="0" err="1"/>
            <a:t>historians</a:t>
          </a:r>
          <a:endParaRPr lang="en-US" sz="1800" dirty="0"/>
        </a:p>
      </dgm:t>
    </dgm:pt>
    <dgm:pt modelId="{F9203EBF-5938-4CB8-8DFF-160821E3DC9D}" type="parTrans" cxnId="{146DC983-9CDE-4A8E-B508-08C63E8750AE}">
      <dgm:prSet/>
      <dgm:spPr/>
      <dgm:t>
        <a:bodyPr/>
        <a:lstStyle/>
        <a:p>
          <a:endParaRPr lang="en-US" sz="2000"/>
        </a:p>
      </dgm:t>
    </dgm:pt>
    <dgm:pt modelId="{F2C8AA02-6605-4668-8FDB-3CF608AECC22}" type="sibTrans" cxnId="{146DC983-9CDE-4A8E-B508-08C63E8750AE}">
      <dgm:prSet/>
      <dgm:spPr/>
      <dgm:t>
        <a:bodyPr/>
        <a:lstStyle/>
        <a:p>
          <a:endParaRPr lang="en-US" sz="2000"/>
        </a:p>
      </dgm:t>
    </dgm:pt>
    <dgm:pt modelId="{76277B7E-F3DF-4860-A334-025268DB9BA8}">
      <dgm:prSet phldrT="[Texto]" custT="1"/>
      <dgm:spPr/>
      <dgm:t>
        <a:bodyPr/>
        <a:lstStyle/>
        <a:p>
          <a:r>
            <a:rPr lang="pt-PT" sz="2800" dirty="0" err="1"/>
            <a:t>Extract</a:t>
          </a:r>
          <a:r>
            <a:rPr lang="pt-PT" sz="2800" dirty="0"/>
            <a:t> data </a:t>
          </a:r>
          <a:r>
            <a:rPr lang="pt-PT" sz="2800" dirty="0" err="1"/>
            <a:t>from</a:t>
          </a:r>
          <a:r>
            <a:rPr lang="pt-PT" sz="2800" dirty="0"/>
            <a:t> </a:t>
          </a:r>
          <a:r>
            <a:rPr lang="pt-PT" sz="2800" dirty="0" err="1"/>
            <a:t>databases</a:t>
          </a:r>
          <a:endParaRPr lang="en-US" sz="2800" dirty="0"/>
        </a:p>
      </dgm:t>
    </dgm:pt>
    <dgm:pt modelId="{A704885E-37A9-43B9-8246-7AAFD1604C13}" type="parTrans" cxnId="{2980C1B1-2543-43F7-8CF6-F19CA451AA22}">
      <dgm:prSet/>
      <dgm:spPr/>
      <dgm:t>
        <a:bodyPr/>
        <a:lstStyle/>
        <a:p>
          <a:endParaRPr lang="en-US" sz="2000"/>
        </a:p>
      </dgm:t>
    </dgm:pt>
    <dgm:pt modelId="{1A1621B1-9B61-40CC-B71A-20A1CC7E4B76}" type="sibTrans" cxnId="{2980C1B1-2543-43F7-8CF6-F19CA451AA22}">
      <dgm:prSet/>
      <dgm:spPr/>
      <dgm:t>
        <a:bodyPr/>
        <a:lstStyle/>
        <a:p>
          <a:endParaRPr lang="en-US" sz="2000"/>
        </a:p>
      </dgm:t>
    </dgm:pt>
    <dgm:pt modelId="{792C94F3-D873-473C-982C-8C0A96A2EBFF}">
      <dgm:prSet phldrT="[Texto]" custT="1"/>
      <dgm:spPr/>
      <dgm:t>
        <a:bodyPr/>
        <a:lstStyle/>
        <a:p>
          <a:r>
            <a:rPr lang="pt-PT" sz="1800" dirty="0" err="1"/>
            <a:t>Extract</a:t>
          </a:r>
          <a:r>
            <a:rPr lang="pt-PT" sz="1800" dirty="0"/>
            <a:t> data </a:t>
          </a:r>
          <a:r>
            <a:rPr lang="pt-PT" sz="1800" dirty="0" err="1"/>
            <a:t>from</a:t>
          </a:r>
          <a:r>
            <a:rPr lang="pt-PT" sz="1800" dirty="0"/>
            <a:t> </a:t>
          </a:r>
          <a:r>
            <a:rPr lang="pt-PT" sz="1800" dirty="0" err="1"/>
            <a:t>databases</a:t>
          </a:r>
          <a:r>
            <a:rPr lang="pt-PT" sz="1800" dirty="0"/>
            <a:t> </a:t>
          </a:r>
          <a:r>
            <a:rPr lang="pt-PT" sz="1800" dirty="0" err="1"/>
            <a:t>or</a:t>
          </a:r>
          <a:r>
            <a:rPr lang="pt-PT" sz="1800" dirty="0"/>
            <a:t> </a:t>
          </a:r>
          <a:r>
            <a:rPr lang="pt-PT" sz="1800" dirty="0" err="1"/>
            <a:t>spreadsheets</a:t>
          </a:r>
          <a:endParaRPr lang="en-US" sz="1800" dirty="0"/>
        </a:p>
      </dgm:t>
    </dgm:pt>
    <dgm:pt modelId="{2D4FA0DA-9140-4CB3-9A26-580E6232FC61}" type="parTrans" cxnId="{FA6F506C-4F70-40D0-8E9A-D5AC9B394B69}">
      <dgm:prSet/>
      <dgm:spPr/>
      <dgm:t>
        <a:bodyPr/>
        <a:lstStyle/>
        <a:p>
          <a:endParaRPr lang="en-US" sz="2000"/>
        </a:p>
      </dgm:t>
    </dgm:pt>
    <dgm:pt modelId="{2C859F66-5BAC-4289-8882-CD02895D2FA2}" type="sibTrans" cxnId="{FA6F506C-4F70-40D0-8E9A-D5AC9B394B69}">
      <dgm:prSet/>
      <dgm:spPr/>
      <dgm:t>
        <a:bodyPr/>
        <a:lstStyle/>
        <a:p>
          <a:endParaRPr lang="en-US" sz="2000"/>
        </a:p>
      </dgm:t>
    </dgm:pt>
    <dgm:pt modelId="{97B5BDCE-8871-4D34-9ED5-BA8E377CDB18}">
      <dgm:prSet phldrT="[Texto]" custT="1"/>
      <dgm:spPr/>
      <dgm:t>
        <a:bodyPr/>
        <a:lstStyle/>
        <a:p>
          <a:r>
            <a:rPr lang="pt-PT" sz="2800" dirty="0"/>
            <a:t>Data </a:t>
          </a:r>
          <a:r>
            <a:rPr lang="pt-PT" sz="2800" dirty="0" err="1"/>
            <a:t>storage</a:t>
          </a:r>
          <a:endParaRPr lang="en-US" sz="2800" dirty="0"/>
        </a:p>
      </dgm:t>
    </dgm:pt>
    <dgm:pt modelId="{717A8A55-75BB-4489-86E9-C1B51FA076C4}" type="sibTrans" cxnId="{E2A2ED93-A0AE-4F3F-BDF3-563428C430E1}">
      <dgm:prSet/>
      <dgm:spPr/>
      <dgm:t>
        <a:bodyPr/>
        <a:lstStyle/>
        <a:p>
          <a:endParaRPr lang="en-US" sz="2000"/>
        </a:p>
      </dgm:t>
    </dgm:pt>
    <dgm:pt modelId="{0BBF0555-472B-4B5A-B456-494BE731C75A}" type="parTrans" cxnId="{E2A2ED93-A0AE-4F3F-BDF3-563428C430E1}">
      <dgm:prSet/>
      <dgm:spPr/>
      <dgm:t>
        <a:bodyPr/>
        <a:lstStyle/>
        <a:p>
          <a:endParaRPr lang="en-US" sz="2000"/>
        </a:p>
      </dgm:t>
    </dgm:pt>
    <dgm:pt modelId="{4A3AF55B-C06E-406F-8111-7AD53FEAA965}">
      <dgm:prSet phldrT="[Texto]" custT="1"/>
      <dgm:spPr/>
      <dgm:t>
        <a:bodyPr/>
        <a:lstStyle/>
        <a:p>
          <a:r>
            <a:rPr lang="pt-PT" sz="1800" dirty="0"/>
            <a:t>On-line </a:t>
          </a:r>
          <a:r>
            <a:rPr lang="pt-PT" sz="1800" dirty="0" err="1"/>
            <a:t>sensors</a:t>
          </a:r>
          <a:r>
            <a:rPr lang="pt-PT" sz="1800" dirty="0"/>
            <a:t> </a:t>
          </a:r>
          <a:r>
            <a:rPr lang="pt-PT" sz="1800" dirty="0" err="1"/>
            <a:t>or</a:t>
          </a:r>
          <a:r>
            <a:rPr lang="pt-PT" sz="1800" dirty="0"/>
            <a:t> off-line </a:t>
          </a:r>
          <a:r>
            <a:rPr lang="pt-PT" sz="1800" dirty="0" err="1"/>
            <a:t>laboratory</a:t>
          </a:r>
          <a:r>
            <a:rPr lang="pt-PT" sz="1800" dirty="0"/>
            <a:t> </a:t>
          </a:r>
          <a:r>
            <a:rPr lang="pt-PT" sz="1800" dirty="0" err="1"/>
            <a:t>analysis</a:t>
          </a:r>
          <a:endParaRPr lang="en-US" sz="1800" dirty="0"/>
        </a:p>
      </dgm:t>
    </dgm:pt>
    <dgm:pt modelId="{AE7D051A-6A77-47A9-AA78-3FC36E647616}" type="sibTrans" cxnId="{A4642D7A-2536-4B1B-B657-1A3A27F9D68D}">
      <dgm:prSet/>
      <dgm:spPr/>
      <dgm:t>
        <a:bodyPr/>
        <a:lstStyle/>
        <a:p>
          <a:endParaRPr lang="en-US" sz="2000"/>
        </a:p>
      </dgm:t>
    </dgm:pt>
    <dgm:pt modelId="{A8A21BD7-2303-47EB-B4F5-5D3282778415}" type="parTrans" cxnId="{A4642D7A-2536-4B1B-B657-1A3A27F9D68D}">
      <dgm:prSet/>
      <dgm:spPr/>
      <dgm:t>
        <a:bodyPr/>
        <a:lstStyle/>
        <a:p>
          <a:endParaRPr lang="en-US" sz="2000"/>
        </a:p>
      </dgm:t>
    </dgm:pt>
    <dgm:pt modelId="{2686B6B7-9295-4CE5-A010-2134C3CAAA6E}">
      <dgm:prSet phldrT="[Texto]" custT="1"/>
      <dgm:spPr/>
      <dgm:t>
        <a:bodyPr/>
        <a:lstStyle/>
        <a:p>
          <a:r>
            <a:rPr lang="pt-PT" sz="1800" dirty="0" err="1"/>
            <a:t>Experiments</a:t>
          </a:r>
          <a:endParaRPr lang="en-US" sz="1800" dirty="0"/>
        </a:p>
      </dgm:t>
    </dgm:pt>
    <dgm:pt modelId="{4975B00F-0C19-424C-BE43-F2FB9C5925AB}" type="parTrans" cxnId="{DD39FF38-05AC-40F7-8E0B-2B6584F65BE3}">
      <dgm:prSet/>
      <dgm:spPr/>
      <dgm:t>
        <a:bodyPr/>
        <a:lstStyle/>
        <a:p>
          <a:endParaRPr lang="en-US" sz="2000"/>
        </a:p>
      </dgm:t>
    </dgm:pt>
    <dgm:pt modelId="{A18F565D-A3BC-4DAF-ADFD-D0DDEBB21201}" type="sibTrans" cxnId="{DD39FF38-05AC-40F7-8E0B-2B6584F65BE3}">
      <dgm:prSet/>
      <dgm:spPr/>
      <dgm:t>
        <a:bodyPr/>
        <a:lstStyle/>
        <a:p>
          <a:endParaRPr lang="en-US" sz="2000"/>
        </a:p>
      </dgm:t>
    </dgm:pt>
    <dgm:pt modelId="{2BB74883-5CE6-46C4-943A-F1EAE7E25E4F}">
      <dgm:prSet phldrT="[Texto]" custT="1"/>
      <dgm:spPr/>
      <dgm:t>
        <a:bodyPr/>
        <a:lstStyle/>
        <a:p>
          <a:r>
            <a:rPr lang="pt-PT" sz="1800" dirty="0" err="1"/>
            <a:t>Transform</a:t>
          </a:r>
          <a:r>
            <a:rPr lang="pt-PT" sz="1800" dirty="0"/>
            <a:t> </a:t>
          </a:r>
          <a:r>
            <a:rPr lang="pt-PT" sz="1800" dirty="0" err="1"/>
            <a:t>or</a:t>
          </a:r>
          <a:r>
            <a:rPr lang="pt-PT" sz="1800" dirty="0"/>
            <a:t> </a:t>
          </a:r>
          <a:r>
            <a:rPr lang="pt-PT" sz="1800" dirty="0" err="1"/>
            <a:t>clean</a:t>
          </a:r>
          <a:r>
            <a:rPr lang="pt-PT" sz="1800" dirty="0"/>
            <a:t> data for </a:t>
          </a:r>
          <a:r>
            <a:rPr lang="pt-PT" sz="1800" dirty="0" err="1"/>
            <a:t>analysis</a:t>
          </a:r>
          <a:endParaRPr lang="en-US" sz="1800" dirty="0"/>
        </a:p>
      </dgm:t>
    </dgm:pt>
    <dgm:pt modelId="{60E25FF4-1630-4D36-9E3D-F8379B6AD96A}" type="sibTrans" cxnId="{6B8054CD-A3DB-4644-9F9A-B4B257F533A6}">
      <dgm:prSet/>
      <dgm:spPr/>
      <dgm:t>
        <a:bodyPr/>
        <a:lstStyle/>
        <a:p>
          <a:endParaRPr lang="en-US" sz="2000"/>
        </a:p>
      </dgm:t>
    </dgm:pt>
    <dgm:pt modelId="{897DFB86-80D5-48CF-9949-1543D90F3526}" type="parTrans" cxnId="{6B8054CD-A3DB-4644-9F9A-B4B257F533A6}">
      <dgm:prSet/>
      <dgm:spPr/>
      <dgm:t>
        <a:bodyPr/>
        <a:lstStyle/>
        <a:p>
          <a:endParaRPr lang="en-US" sz="2000"/>
        </a:p>
      </dgm:t>
    </dgm:pt>
    <dgm:pt modelId="{B03E2F81-F70B-4F08-94EC-0F566A3399AA}">
      <dgm:prSet phldrT="[Texto]" custT="1"/>
      <dgm:spPr/>
      <dgm:t>
        <a:bodyPr/>
        <a:lstStyle/>
        <a:p>
          <a:r>
            <a:rPr lang="pt-PT" sz="2800" dirty="0" err="1"/>
            <a:t>Exploratory</a:t>
          </a:r>
          <a:r>
            <a:rPr lang="pt-PT" sz="2800" dirty="0"/>
            <a:t> data </a:t>
          </a:r>
          <a:r>
            <a:rPr lang="pt-PT" sz="2800" dirty="0" err="1"/>
            <a:t>analysis</a:t>
          </a:r>
          <a:endParaRPr lang="en-US" sz="2800" dirty="0"/>
        </a:p>
      </dgm:t>
    </dgm:pt>
    <dgm:pt modelId="{BCC17676-8D31-4575-BD50-F603861A8A3A}" type="parTrans" cxnId="{9F7698EE-847B-4F61-B85B-DE5295DFB8E7}">
      <dgm:prSet/>
      <dgm:spPr/>
      <dgm:t>
        <a:bodyPr/>
        <a:lstStyle/>
        <a:p>
          <a:endParaRPr lang="en-US" sz="2000"/>
        </a:p>
      </dgm:t>
    </dgm:pt>
    <dgm:pt modelId="{176BE1D1-FCBB-4565-BA9C-209192885E97}" type="sibTrans" cxnId="{9F7698EE-847B-4F61-B85B-DE5295DFB8E7}">
      <dgm:prSet/>
      <dgm:spPr/>
      <dgm:t>
        <a:bodyPr/>
        <a:lstStyle/>
        <a:p>
          <a:endParaRPr lang="en-US" sz="2000"/>
        </a:p>
      </dgm:t>
    </dgm:pt>
    <dgm:pt modelId="{9DF90C9A-A695-4829-B11E-3720F41EE511}">
      <dgm:prSet phldrT="[Texto]" custT="1"/>
      <dgm:spPr/>
      <dgm:t>
        <a:bodyPr/>
        <a:lstStyle/>
        <a:p>
          <a:r>
            <a:rPr lang="pt-PT" sz="1800" dirty="0" err="1"/>
            <a:t>Statistical</a:t>
          </a:r>
          <a:r>
            <a:rPr lang="pt-PT" sz="1800" dirty="0"/>
            <a:t> </a:t>
          </a:r>
          <a:r>
            <a:rPr lang="pt-PT" sz="1800" dirty="0" err="1"/>
            <a:t>analysis</a:t>
          </a:r>
          <a:r>
            <a:rPr lang="pt-PT" sz="1800" dirty="0"/>
            <a:t> (</a:t>
          </a:r>
          <a:r>
            <a:rPr lang="pt-PT" sz="1800" dirty="0" err="1"/>
            <a:t>univariate</a:t>
          </a:r>
          <a:r>
            <a:rPr lang="pt-PT" sz="1800" dirty="0"/>
            <a:t> </a:t>
          </a:r>
          <a:r>
            <a:rPr lang="pt-PT" sz="1800" dirty="0" err="1"/>
            <a:t>and</a:t>
          </a:r>
          <a:r>
            <a:rPr lang="pt-PT" sz="1800" dirty="0"/>
            <a:t> </a:t>
          </a:r>
          <a:r>
            <a:rPr lang="pt-PT" sz="1800" dirty="0" err="1"/>
            <a:t>multivariate</a:t>
          </a:r>
          <a:r>
            <a:rPr lang="pt-PT" sz="1400" dirty="0"/>
            <a:t>)</a:t>
          </a:r>
          <a:endParaRPr lang="en-US" sz="1400" dirty="0"/>
        </a:p>
      </dgm:t>
    </dgm:pt>
    <dgm:pt modelId="{34206754-0F11-41D2-9504-C023693E5DEA}" type="parTrans" cxnId="{0DFFC3F0-999C-49BB-A459-8A4550DBADDB}">
      <dgm:prSet/>
      <dgm:spPr/>
      <dgm:t>
        <a:bodyPr/>
        <a:lstStyle/>
        <a:p>
          <a:endParaRPr lang="en-US" sz="2000"/>
        </a:p>
      </dgm:t>
    </dgm:pt>
    <dgm:pt modelId="{0CA9A3D4-FADF-4D60-8F02-0761650026D1}" type="sibTrans" cxnId="{0DFFC3F0-999C-49BB-A459-8A4550DBADDB}">
      <dgm:prSet/>
      <dgm:spPr/>
      <dgm:t>
        <a:bodyPr/>
        <a:lstStyle/>
        <a:p>
          <a:endParaRPr lang="en-US" sz="2000"/>
        </a:p>
      </dgm:t>
    </dgm:pt>
    <dgm:pt modelId="{03C579C0-03D7-4092-83DC-088FC1CBBB8B}">
      <dgm:prSet phldrT="[Texto]" custT="1"/>
      <dgm:spPr/>
      <dgm:t>
        <a:bodyPr/>
        <a:lstStyle/>
        <a:p>
          <a:r>
            <a:rPr lang="pt-PT" sz="1800" dirty="0"/>
            <a:t>Data </a:t>
          </a:r>
          <a:r>
            <a:rPr lang="pt-PT" sz="1800" dirty="0" err="1"/>
            <a:t>visualization</a:t>
          </a:r>
          <a:endParaRPr lang="en-US" sz="1800" dirty="0"/>
        </a:p>
      </dgm:t>
    </dgm:pt>
    <dgm:pt modelId="{CF380840-A200-4D09-9714-CC8A52597AE8}" type="parTrans" cxnId="{9D23285A-C71A-4F7F-BB6C-C468FC228F29}">
      <dgm:prSet/>
      <dgm:spPr/>
      <dgm:t>
        <a:bodyPr/>
        <a:lstStyle/>
        <a:p>
          <a:endParaRPr lang="en-US" sz="2000"/>
        </a:p>
      </dgm:t>
    </dgm:pt>
    <dgm:pt modelId="{B3CF39B8-221E-4D41-8B5B-5C3459DE9102}" type="sibTrans" cxnId="{9D23285A-C71A-4F7F-BB6C-C468FC228F29}">
      <dgm:prSet/>
      <dgm:spPr/>
      <dgm:t>
        <a:bodyPr/>
        <a:lstStyle/>
        <a:p>
          <a:endParaRPr lang="en-US" sz="2000"/>
        </a:p>
      </dgm:t>
    </dgm:pt>
    <dgm:pt modelId="{BD421D91-E292-4D36-ADA8-785C3D120241}">
      <dgm:prSet phldrT="[Texto]" custT="1"/>
      <dgm:spPr/>
      <dgm:t>
        <a:bodyPr/>
        <a:lstStyle/>
        <a:p>
          <a:r>
            <a:rPr lang="pt-PT" sz="2800" dirty="0"/>
            <a:t>Define </a:t>
          </a:r>
          <a:r>
            <a:rPr lang="pt-PT" sz="2800" dirty="0" err="1"/>
            <a:t>goals</a:t>
          </a:r>
          <a:r>
            <a:rPr lang="pt-PT" sz="2800" dirty="0"/>
            <a:t> </a:t>
          </a:r>
          <a:r>
            <a:rPr lang="pt-PT" sz="2800" dirty="0" err="1"/>
            <a:t>and</a:t>
          </a:r>
          <a:r>
            <a:rPr lang="pt-PT" sz="2800" dirty="0"/>
            <a:t> </a:t>
          </a:r>
          <a:r>
            <a:rPr lang="pt-PT" sz="2800" dirty="0" err="1"/>
            <a:t>hypothesis</a:t>
          </a:r>
          <a:endParaRPr lang="en-US" sz="2800" dirty="0"/>
        </a:p>
      </dgm:t>
    </dgm:pt>
    <dgm:pt modelId="{B0FFE945-1049-4BE6-8CC3-1AD47A03F8FE}" type="parTrans" cxnId="{8054DB19-C873-4172-9F9A-9C3B7444B8CB}">
      <dgm:prSet/>
      <dgm:spPr/>
      <dgm:t>
        <a:bodyPr/>
        <a:lstStyle/>
        <a:p>
          <a:endParaRPr lang="en-US" sz="2000"/>
        </a:p>
      </dgm:t>
    </dgm:pt>
    <dgm:pt modelId="{D35F5C6C-14CE-4CC3-9956-EC0CC13F6BF2}" type="sibTrans" cxnId="{8054DB19-C873-4172-9F9A-9C3B7444B8CB}">
      <dgm:prSet/>
      <dgm:spPr/>
      <dgm:t>
        <a:bodyPr/>
        <a:lstStyle/>
        <a:p>
          <a:endParaRPr lang="en-US" sz="2000"/>
        </a:p>
      </dgm:t>
    </dgm:pt>
    <dgm:pt modelId="{11943B2E-0233-4F9A-A66F-1E6AC5A96998}">
      <dgm:prSet phldrT="[Texto]" custT="1"/>
      <dgm:spPr/>
      <dgm:t>
        <a:bodyPr/>
        <a:lstStyle/>
        <a:p>
          <a:r>
            <a:rPr lang="pt-PT" sz="1800" dirty="0" err="1"/>
            <a:t>What</a:t>
          </a:r>
          <a:r>
            <a:rPr lang="pt-PT" sz="1800" dirty="0"/>
            <a:t> to </a:t>
          </a:r>
          <a:r>
            <a:rPr lang="pt-PT" sz="1800" dirty="0" err="1"/>
            <a:t>want</a:t>
          </a:r>
          <a:r>
            <a:rPr lang="pt-PT" sz="1800" dirty="0"/>
            <a:t> to </a:t>
          </a:r>
          <a:r>
            <a:rPr lang="pt-PT" sz="1800" dirty="0" err="1"/>
            <a:t>predict</a:t>
          </a:r>
          <a:r>
            <a:rPr lang="pt-PT" sz="1800" dirty="0"/>
            <a:t>? </a:t>
          </a:r>
          <a:endParaRPr lang="en-US" sz="1800" dirty="0"/>
        </a:p>
      </dgm:t>
    </dgm:pt>
    <dgm:pt modelId="{E89D023B-E72C-4631-AF63-C79712FC2F44}" type="parTrans" cxnId="{6FC322C5-CA79-4986-8E09-F74038814D7E}">
      <dgm:prSet/>
      <dgm:spPr/>
      <dgm:t>
        <a:bodyPr/>
        <a:lstStyle/>
        <a:p>
          <a:endParaRPr lang="en-US" sz="2000"/>
        </a:p>
      </dgm:t>
    </dgm:pt>
    <dgm:pt modelId="{C35B3AD3-2B96-48E0-9623-0F065C36BF9D}" type="sibTrans" cxnId="{6FC322C5-CA79-4986-8E09-F74038814D7E}">
      <dgm:prSet/>
      <dgm:spPr/>
      <dgm:t>
        <a:bodyPr/>
        <a:lstStyle/>
        <a:p>
          <a:endParaRPr lang="en-US" sz="2000"/>
        </a:p>
      </dgm:t>
    </dgm:pt>
    <dgm:pt modelId="{54570D7B-1AA4-4464-90FE-5D29D50117F7}">
      <dgm:prSet phldrT="[Texto]" custT="1"/>
      <dgm:spPr/>
      <dgm:t>
        <a:bodyPr/>
        <a:lstStyle/>
        <a:p>
          <a:r>
            <a:rPr lang="pt-PT" sz="1800" dirty="0" err="1"/>
            <a:t>What</a:t>
          </a:r>
          <a:r>
            <a:rPr lang="pt-PT" sz="1800" dirty="0"/>
            <a:t> to use for </a:t>
          </a:r>
          <a:r>
            <a:rPr lang="pt-PT" sz="1800" dirty="0" err="1"/>
            <a:t>prediction</a:t>
          </a:r>
          <a:r>
            <a:rPr lang="pt-PT" sz="1800" dirty="0"/>
            <a:t>?</a:t>
          </a:r>
          <a:endParaRPr lang="en-US" sz="1800" dirty="0"/>
        </a:p>
      </dgm:t>
    </dgm:pt>
    <dgm:pt modelId="{EE8452DE-2D75-4656-8918-47FEF84B5851}" type="parTrans" cxnId="{3C952A8C-53D9-4EF2-A01F-AE79FA991338}">
      <dgm:prSet/>
      <dgm:spPr/>
      <dgm:t>
        <a:bodyPr/>
        <a:lstStyle/>
        <a:p>
          <a:endParaRPr lang="en-US" sz="2000"/>
        </a:p>
      </dgm:t>
    </dgm:pt>
    <dgm:pt modelId="{DA1CC178-38F0-4E40-8350-D8A6855EFCF8}" type="sibTrans" cxnId="{3C952A8C-53D9-4EF2-A01F-AE79FA991338}">
      <dgm:prSet/>
      <dgm:spPr/>
      <dgm:t>
        <a:bodyPr/>
        <a:lstStyle/>
        <a:p>
          <a:endParaRPr lang="en-US" sz="2000"/>
        </a:p>
      </dgm:t>
    </dgm:pt>
    <dgm:pt modelId="{90030DA2-7C34-442C-A7EE-E34B0868420B}">
      <dgm:prSet phldrT="[Texto]" custT="1"/>
      <dgm:spPr/>
      <dgm:t>
        <a:bodyPr/>
        <a:lstStyle/>
        <a:p>
          <a:r>
            <a:rPr lang="pt-PT" sz="2800" dirty="0" err="1"/>
            <a:t>Build</a:t>
          </a:r>
          <a:r>
            <a:rPr lang="pt-PT" sz="2800" dirty="0"/>
            <a:t> </a:t>
          </a:r>
          <a:r>
            <a:rPr lang="pt-PT" sz="2800" dirty="0" err="1"/>
            <a:t>models</a:t>
          </a:r>
          <a:endParaRPr lang="en-US" sz="2800" dirty="0"/>
        </a:p>
      </dgm:t>
    </dgm:pt>
    <dgm:pt modelId="{CB7FA5D4-82BE-4647-9106-604DFF42A705}" type="parTrans" cxnId="{19BC2BB4-A24C-4394-9FD3-28F6AE2A2D7C}">
      <dgm:prSet/>
      <dgm:spPr/>
      <dgm:t>
        <a:bodyPr/>
        <a:lstStyle/>
        <a:p>
          <a:endParaRPr lang="en-US" sz="2000"/>
        </a:p>
      </dgm:t>
    </dgm:pt>
    <dgm:pt modelId="{69333F31-6814-48D0-BE40-207F4A4C4B62}" type="sibTrans" cxnId="{19BC2BB4-A24C-4394-9FD3-28F6AE2A2D7C}">
      <dgm:prSet/>
      <dgm:spPr/>
      <dgm:t>
        <a:bodyPr/>
        <a:lstStyle/>
        <a:p>
          <a:endParaRPr lang="en-US" sz="2000"/>
        </a:p>
      </dgm:t>
    </dgm:pt>
    <dgm:pt modelId="{D278D99C-D022-4C70-986C-13102F932E3D}">
      <dgm:prSet phldrT="[Texto]" custT="1"/>
      <dgm:spPr/>
      <dgm:t>
        <a:bodyPr/>
        <a:lstStyle/>
        <a:p>
          <a:r>
            <a:rPr lang="pt-PT" sz="2800" dirty="0" err="1"/>
            <a:t>Decision</a:t>
          </a:r>
          <a:r>
            <a:rPr lang="pt-PT" sz="2800" dirty="0"/>
            <a:t> </a:t>
          </a:r>
          <a:r>
            <a:rPr lang="pt-PT" sz="2800" dirty="0" err="1"/>
            <a:t>making</a:t>
          </a:r>
          <a:endParaRPr lang="en-US" sz="2800" dirty="0"/>
        </a:p>
      </dgm:t>
    </dgm:pt>
    <dgm:pt modelId="{D70EE287-4FA5-48BC-9F24-3F561B6E9A3E}" type="parTrans" cxnId="{47D22824-B874-4314-A1F5-ED66F8DB7686}">
      <dgm:prSet/>
      <dgm:spPr/>
      <dgm:t>
        <a:bodyPr/>
        <a:lstStyle/>
        <a:p>
          <a:endParaRPr lang="en-US" sz="2000"/>
        </a:p>
      </dgm:t>
    </dgm:pt>
    <dgm:pt modelId="{30913A22-C5EB-44CF-9E82-ADA26B00EBE5}" type="sibTrans" cxnId="{47D22824-B874-4314-A1F5-ED66F8DB7686}">
      <dgm:prSet/>
      <dgm:spPr/>
      <dgm:t>
        <a:bodyPr/>
        <a:lstStyle/>
        <a:p>
          <a:endParaRPr lang="en-US" sz="2000"/>
        </a:p>
      </dgm:t>
    </dgm:pt>
    <dgm:pt modelId="{89F72407-8E3F-4BDD-A764-B96CEF7A01EE}">
      <dgm:prSet phldrT="[Texto]" custT="1"/>
      <dgm:spPr/>
      <dgm:t>
        <a:bodyPr/>
        <a:lstStyle/>
        <a:p>
          <a:r>
            <a:rPr lang="pt-PT" sz="1800" dirty="0"/>
            <a:t>Define </a:t>
          </a:r>
          <a:r>
            <a:rPr lang="pt-PT" sz="1800" dirty="0" err="1"/>
            <a:t>modeling</a:t>
          </a:r>
          <a:r>
            <a:rPr lang="pt-PT" sz="1800" dirty="0"/>
            <a:t> </a:t>
          </a:r>
          <a:r>
            <a:rPr lang="pt-PT" sz="1800" dirty="0" err="1"/>
            <a:t>hypothesis</a:t>
          </a:r>
          <a:endParaRPr lang="en-US" sz="1800" dirty="0"/>
        </a:p>
      </dgm:t>
    </dgm:pt>
    <dgm:pt modelId="{23B4747F-0F97-43D7-BE1B-1F0B66514AC9}" type="parTrans" cxnId="{5EFCABDA-A42A-496C-9E08-D3FDDDD0F567}">
      <dgm:prSet/>
      <dgm:spPr/>
      <dgm:t>
        <a:bodyPr/>
        <a:lstStyle/>
        <a:p>
          <a:endParaRPr lang="en-US"/>
        </a:p>
      </dgm:t>
    </dgm:pt>
    <dgm:pt modelId="{2F9361B6-F311-457A-9EB6-58FF403B59F0}" type="sibTrans" cxnId="{5EFCABDA-A42A-496C-9E08-D3FDDDD0F567}">
      <dgm:prSet/>
      <dgm:spPr/>
      <dgm:t>
        <a:bodyPr/>
        <a:lstStyle/>
        <a:p>
          <a:endParaRPr lang="en-US"/>
        </a:p>
      </dgm:t>
    </dgm:pt>
    <dgm:pt modelId="{10B5F738-9F7F-4ECA-A147-963846D78B45}">
      <dgm:prSet phldrT="[Texto]" custT="1"/>
      <dgm:spPr/>
      <dgm:t>
        <a:bodyPr/>
        <a:lstStyle/>
        <a:p>
          <a:r>
            <a:rPr lang="pt-PT" sz="1800" dirty="0"/>
            <a:t>Is </a:t>
          </a:r>
          <a:r>
            <a:rPr lang="pt-PT" sz="1800" dirty="0" err="1"/>
            <a:t>the</a:t>
          </a:r>
          <a:r>
            <a:rPr lang="pt-PT" sz="1800" dirty="0"/>
            <a:t> </a:t>
          </a:r>
          <a:r>
            <a:rPr lang="pt-PT" sz="1800" dirty="0" err="1"/>
            <a:t>model</a:t>
          </a:r>
          <a:r>
            <a:rPr lang="pt-PT" sz="1800" dirty="0"/>
            <a:t> </a:t>
          </a:r>
          <a:r>
            <a:rPr lang="pt-PT" sz="1800" dirty="0" err="1"/>
            <a:t>good</a:t>
          </a:r>
          <a:r>
            <a:rPr lang="pt-PT" sz="1800" dirty="0"/>
            <a:t> for </a:t>
          </a:r>
          <a:r>
            <a:rPr lang="pt-PT" sz="1800" dirty="0" err="1"/>
            <a:t>our</a:t>
          </a:r>
          <a:r>
            <a:rPr lang="pt-PT" sz="1800" dirty="0"/>
            <a:t> </a:t>
          </a:r>
          <a:r>
            <a:rPr lang="pt-PT" sz="1800" dirty="0" err="1"/>
            <a:t>goals</a:t>
          </a:r>
          <a:r>
            <a:rPr lang="pt-PT" sz="1800" dirty="0"/>
            <a:t>?</a:t>
          </a:r>
          <a:endParaRPr lang="en-US" sz="1800" dirty="0"/>
        </a:p>
      </dgm:t>
    </dgm:pt>
    <dgm:pt modelId="{3F7EE0CD-3503-433A-9AD6-E5AD84794A5D}" type="parTrans" cxnId="{3FFE3311-01C7-4F02-9A9A-00FD1F149285}">
      <dgm:prSet/>
      <dgm:spPr/>
      <dgm:t>
        <a:bodyPr/>
        <a:lstStyle/>
        <a:p>
          <a:endParaRPr lang="en-US"/>
        </a:p>
      </dgm:t>
    </dgm:pt>
    <dgm:pt modelId="{63D5C009-70B5-400C-BFCE-6635EB7668EA}" type="sibTrans" cxnId="{3FFE3311-01C7-4F02-9A9A-00FD1F149285}">
      <dgm:prSet/>
      <dgm:spPr/>
      <dgm:t>
        <a:bodyPr/>
        <a:lstStyle/>
        <a:p>
          <a:endParaRPr lang="en-US"/>
        </a:p>
      </dgm:t>
    </dgm:pt>
    <dgm:pt modelId="{1F286245-D2CE-4689-B525-5974823026F4}" type="pres">
      <dgm:prSet presAssocID="{BAB36F7D-A3BA-4840-A5C1-572FCB60E0BE}" presName="Name0" presStyleCnt="0">
        <dgm:presLayoutVars>
          <dgm:dir/>
          <dgm:animLvl val="lvl"/>
          <dgm:resizeHandles val="exact"/>
        </dgm:presLayoutVars>
      </dgm:prSet>
      <dgm:spPr/>
    </dgm:pt>
    <dgm:pt modelId="{39A3DEE3-5E18-418E-BD09-FDCD33BA3D76}" type="pres">
      <dgm:prSet presAssocID="{3CD82DFE-2F40-4E49-8542-46B05A7A8F72}" presName="linNode" presStyleCnt="0"/>
      <dgm:spPr/>
    </dgm:pt>
    <dgm:pt modelId="{7800AB58-CAE7-4CF8-9C86-C3438897C8D2}" type="pres">
      <dgm:prSet presAssocID="{3CD82DFE-2F40-4E49-8542-46B05A7A8F72}" presName="parentText" presStyleLbl="node1" presStyleIdx="0" presStyleCnt="7">
        <dgm:presLayoutVars>
          <dgm:chMax val="1"/>
          <dgm:bulletEnabled val="1"/>
        </dgm:presLayoutVars>
      </dgm:prSet>
      <dgm:spPr/>
    </dgm:pt>
    <dgm:pt modelId="{147F6A5E-9EE3-4821-8CD9-FF5D4C2C7195}" type="pres">
      <dgm:prSet presAssocID="{3CD82DFE-2F40-4E49-8542-46B05A7A8F72}" presName="descendantText" presStyleLbl="alignAccFollowNode1" presStyleIdx="0" presStyleCnt="7">
        <dgm:presLayoutVars>
          <dgm:bulletEnabled val="1"/>
        </dgm:presLayoutVars>
      </dgm:prSet>
      <dgm:spPr/>
    </dgm:pt>
    <dgm:pt modelId="{9BED911C-7347-4911-9F54-8EE7D436D598}" type="pres">
      <dgm:prSet presAssocID="{8C8CE1A8-530E-41AE-A1C3-15FEEA709BDA}" presName="sp" presStyleCnt="0"/>
      <dgm:spPr/>
    </dgm:pt>
    <dgm:pt modelId="{FA11961F-4BE0-4278-B23E-FCB6095E89A1}" type="pres">
      <dgm:prSet presAssocID="{97B5BDCE-8871-4D34-9ED5-BA8E377CDB18}" presName="linNode" presStyleCnt="0"/>
      <dgm:spPr/>
    </dgm:pt>
    <dgm:pt modelId="{7E587D8A-6235-4644-ACA4-27925E0C4639}" type="pres">
      <dgm:prSet presAssocID="{97B5BDCE-8871-4D34-9ED5-BA8E377CDB18}" presName="parentText" presStyleLbl="node1" presStyleIdx="1" presStyleCnt="7">
        <dgm:presLayoutVars>
          <dgm:chMax val="1"/>
          <dgm:bulletEnabled val="1"/>
        </dgm:presLayoutVars>
      </dgm:prSet>
      <dgm:spPr/>
    </dgm:pt>
    <dgm:pt modelId="{8A5F9279-2FBD-4BAF-A9DE-6821E25B4054}" type="pres">
      <dgm:prSet presAssocID="{97B5BDCE-8871-4D34-9ED5-BA8E377CDB18}" presName="descendantText" presStyleLbl="alignAccFollowNode1" presStyleIdx="1" presStyleCnt="7">
        <dgm:presLayoutVars>
          <dgm:bulletEnabled val="1"/>
        </dgm:presLayoutVars>
      </dgm:prSet>
      <dgm:spPr/>
    </dgm:pt>
    <dgm:pt modelId="{33E9A406-0A9E-4752-889D-383E29819635}" type="pres">
      <dgm:prSet presAssocID="{717A8A55-75BB-4489-86E9-C1B51FA076C4}" presName="sp" presStyleCnt="0"/>
      <dgm:spPr/>
    </dgm:pt>
    <dgm:pt modelId="{27B4A4C5-14CA-437A-996D-495A420058CA}" type="pres">
      <dgm:prSet presAssocID="{76277B7E-F3DF-4860-A334-025268DB9BA8}" presName="linNode" presStyleCnt="0"/>
      <dgm:spPr/>
    </dgm:pt>
    <dgm:pt modelId="{E324597F-A74F-41D2-A028-E8A64BDEF1D5}" type="pres">
      <dgm:prSet presAssocID="{76277B7E-F3DF-4860-A334-025268DB9BA8}" presName="parentText" presStyleLbl="node1" presStyleIdx="2" presStyleCnt="7">
        <dgm:presLayoutVars>
          <dgm:chMax val="1"/>
          <dgm:bulletEnabled val="1"/>
        </dgm:presLayoutVars>
      </dgm:prSet>
      <dgm:spPr/>
    </dgm:pt>
    <dgm:pt modelId="{A37AF600-DBEA-4964-9184-DD44E8827743}" type="pres">
      <dgm:prSet presAssocID="{76277B7E-F3DF-4860-A334-025268DB9BA8}" presName="descendantText" presStyleLbl="alignAccFollowNode1" presStyleIdx="2" presStyleCnt="7">
        <dgm:presLayoutVars>
          <dgm:bulletEnabled val="1"/>
        </dgm:presLayoutVars>
      </dgm:prSet>
      <dgm:spPr/>
    </dgm:pt>
    <dgm:pt modelId="{9FA5A708-3202-4198-A8D0-97D243F60E37}" type="pres">
      <dgm:prSet presAssocID="{1A1621B1-9B61-40CC-B71A-20A1CC7E4B76}" presName="sp" presStyleCnt="0"/>
      <dgm:spPr/>
    </dgm:pt>
    <dgm:pt modelId="{A60CC4F4-8A2D-41F1-8687-1F3915641C88}" type="pres">
      <dgm:prSet presAssocID="{B03E2F81-F70B-4F08-94EC-0F566A3399AA}" presName="linNode" presStyleCnt="0"/>
      <dgm:spPr/>
    </dgm:pt>
    <dgm:pt modelId="{E691E0F2-698E-4C59-B6B9-D6898E32DE1F}" type="pres">
      <dgm:prSet presAssocID="{B03E2F81-F70B-4F08-94EC-0F566A3399AA}" presName="parentText" presStyleLbl="node1" presStyleIdx="3" presStyleCnt="7">
        <dgm:presLayoutVars>
          <dgm:chMax val="1"/>
          <dgm:bulletEnabled val="1"/>
        </dgm:presLayoutVars>
      </dgm:prSet>
      <dgm:spPr/>
    </dgm:pt>
    <dgm:pt modelId="{9F5486F8-6ED6-4FC0-94CB-158E6588E3AB}" type="pres">
      <dgm:prSet presAssocID="{B03E2F81-F70B-4F08-94EC-0F566A3399AA}" presName="descendantText" presStyleLbl="alignAccFollowNode1" presStyleIdx="3" presStyleCnt="7">
        <dgm:presLayoutVars>
          <dgm:bulletEnabled val="1"/>
        </dgm:presLayoutVars>
      </dgm:prSet>
      <dgm:spPr/>
    </dgm:pt>
    <dgm:pt modelId="{1D00764B-FF91-42D9-9CF4-2A31B91C2D07}" type="pres">
      <dgm:prSet presAssocID="{176BE1D1-FCBB-4565-BA9C-209192885E97}" presName="sp" presStyleCnt="0"/>
      <dgm:spPr/>
    </dgm:pt>
    <dgm:pt modelId="{EDCE6849-E18A-4EA3-A332-6CDA7D13B67F}" type="pres">
      <dgm:prSet presAssocID="{BD421D91-E292-4D36-ADA8-785C3D120241}" presName="linNode" presStyleCnt="0"/>
      <dgm:spPr/>
    </dgm:pt>
    <dgm:pt modelId="{53D420D7-8CC0-4CBC-BA75-A9CD5C41EE3C}" type="pres">
      <dgm:prSet presAssocID="{BD421D91-E292-4D36-ADA8-785C3D120241}" presName="parentText" presStyleLbl="node1" presStyleIdx="4" presStyleCnt="7">
        <dgm:presLayoutVars>
          <dgm:chMax val="1"/>
          <dgm:bulletEnabled val="1"/>
        </dgm:presLayoutVars>
      </dgm:prSet>
      <dgm:spPr/>
    </dgm:pt>
    <dgm:pt modelId="{29126A74-AE6E-4CB0-9EED-B53C335F144A}" type="pres">
      <dgm:prSet presAssocID="{BD421D91-E292-4D36-ADA8-785C3D120241}" presName="descendantText" presStyleLbl="alignAccFollowNode1" presStyleIdx="4" presStyleCnt="7" custLinFactNeighborY="1914">
        <dgm:presLayoutVars>
          <dgm:bulletEnabled val="1"/>
        </dgm:presLayoutVars>
      </dgm:prSet>
      <dgm:spPr/>
    </dgm:pt>
    <dgm:pt modelId="{681DD990-8424-48BD-86E3-42E397D1E18B}" type="pres">
      <dgm:prSet presAssocID="{D35F5C6C-14CE-4CC3-9956-EC0CC13F6BF2}" presName="sp" presStyleCnt="0"/>
      <dgm:spPr/>
    </dgm:pt>
    <dgm:pt modelId="{98C9C1BF-380C-451E-90D0-CE3D527E8E7A}" type="pres">
      <dgm:prSet presAssocID="{90030DA2-7C34-442C-A7EE-E34B0868420B}" presName="linNode" presStyleCnt="0"/>
      <dgm:spPr/>
    </dgm:pt>
    <dgm:pt modelId="{F9390EFB-83AD-411F-B322-069841ECDBA0}" type="pres">
      <dgm:prSet presAssocID="{90030DA2-7C34-442C-A7EE-E34B0868420B}" presName="parentText" presStyleLbl="node1" presStyleIdx="5" presStyleCnt="7">
        <dgm:presLayoutVars>
          <dgm:chMax val="1"/>
          <dgm:bulletEnabled val="1"/>
        </dgm:presLayoutVars>
      </dgm:prSet>
      <dgm:spPr/>
    </dgm:pt>
    <dgm:pt modelId="{2EC26013-5BA5-4B9B-A77A-351309C56DDF}" type="pres">
      <dgm:prSet presAssocID="{90030DA2-7C34-442C-A7EE-E34B0868420B}" presName="descendantText" presStyleLbl="alignAccFollowNode1" presStyleIdx="5" presStyleCnt="7">
        <dgm:presLayoutVars>
          <dgm:bulletEnabled val="1"/>
        </dgm:presLayoutVars>
      </dgm:prSet>
      <dgm:spPr/>
    </dgm:pt>
    <dgm:pt modelId="{3E314BAF-7AC3-4D58-8C2B-1C05C2C925E8}" type="pres">
      <dgm:prSet presAssocID="{69333F31-6814-48D0-BE40-207F4A4C4B62}" presName="sp" presStyleCnt="0"/>
      <dgm:spPr/>
    </dgm:pt>
    <dgm:pt modelId="{A88A4C33-4474-4455-BB35-AED516CDED3A}" type="pres">
      <dgm:prSet presAssocID="{D278D99C-D022-4C70-986C-13102F932E3D}" presName="linNode" presStyleCnt="0"/>
      <dgm:spPr/>
    </dgm:pt>
    <dgm:pt modelId="{3668BFCD-4099-463A-9CF2-3C3F6A71584A}" type="pres">
      <dgm:prSet presAssocID="{D278D99C-D022-4C70-986C-13102F932E3D}" presName="parentText" presStyleLbl="node1" presStyleIdx="6" presStyleCnt="7">
        <dgm:presLayoutVars>
          <dgm:chMax val="1"/>
          <dgm:bulletEnabled val="1"/>
        </dgm:presLayoutVars>
      </dgm:prSet>
      <dgm:spPr/>
    </dgm:pt>
    <dgm:pt modelId="{22F2CF04-1F9C-4314-B8D8-DD3367C3FBFF}" type="pres">
      <dgm:prSet presAssocID="{D278D99C-D022-4C70-986C-13102F932E3D}" presName="descendantText" presStyleLbl="alignAccFollowNode1" presStyleIdx="6" presStyleCnt="7">
        <dgm:presLayoutVars>
          <dgm:bulletEnabled val="1"/>
        </dgm:presLayoutVars>
      </dgm:prSet>
      <dgm:spPr/>
    </dgm:pt>
  </dgm:ptLst>
  <dgm:cxnLst>
    <dgm:cxn modelId="{D98AB10C-F14C-4CD5-BF2F-7793066C7F68}" type="presOf" srcId="{BD421D91-E292-4D36-ADA8-785C3D120241}" destId="{53D420D7-8CC0-4CBC-BA75-A9CD5C41EE3C}" srcOrd="0" destOrd="0" presId="urn:microsoft.com/office/officeart/2005/8/layout/vList5"/>
    <dgm:cxn modelId="{3C965F0D-A7C9-4348-A3B0-99F30BE57F24}" type="presOf" srcId="{BAB36F7D-A3BA-4840-A5C1-572FCB60E0BE}" destId="{1F286245-D2CE-4689-B525-5974823026F4}" srcOrd="0" destOrd="0" presId="urn:microsoft.com/office/officeart/2005/8/layout/vList5"/>
    <dgm:cxn modelId="{3FFE3311-01C7-4F02-9A9A-00FD1F149285}" srcId="{D278D99C-D022-4C70-986C-13102F932E3D}" destId="{10B5F738-9F7F-4ECA-A147-963846D78B45}" srcOrd="0" destOrd="0" parTransId="{3F7EE0CD-3503-433A-9AD6-E5AD84794A5D}" sibTransId="{63D5C009-70B5-400C-BFCE-6635EB7668EA}"/>
    <dgm:cxn modelId="{1C3ACC19-5EBC-4CD6-BD4A-D8F2F67B08C9}" type="presOf" srcId="{D278D99C-D022-4C70-986C-13102F932E3D}" destId="{3668BFCD-4099-463A-9CF2-3C3F6A71584A}" srcOrd="0" destOrd="0" presId="urn:microsoft.com/office/officeart/2005/8/layout/vList5"/>
    <dgm:cxn modelId="{8054DB19-C873-4172-9F9A-9C3B7444B8CB}" srcId="{BAB36F7D-A3BA-4840-A5C1-572FCB60E0BE}" destId="{BD421D91-E292-4D36-ADA8-785C3D120241}" srcOrd="4" destOrd="0" parTransId="{B0FFE945-1049-4BE6-8CC3-1AD47A03F8FE}" sibTransId="{D35F5C6C-14CE-4CC3-9956-EC0CC13F6BF2}"/>
    <dgm:cxn modelId="{A89FDC1B-2413-478D-A21C-86D4F9899E3F}" srcId="{BAB36F7D-A3BA-4840-A5C1-572FCB60E0BE}" destId="{3CD82DFE-2F40-4E49-8542-46B05A7A8F72}" srcOrd="0" destOrd="0" parTransId="{1EF2FC94-51B6-4BD7-AC1A-F5BC5CE763BB}" sibTransId="{8C8CE1A8-530E-41AE-A1C3-15FEEA709BDA}"/>
    <dgm:cxn modelId="{47D22824-B874-4314-A1F5-ED66F8DB7686}" srcId="{BAB36F7D-A3BA-4840-A5C1-572FCB60E0BE}" destId="{D278D99C-D022-4C70-986C-13102F932E3D}" srcOrd="6" destOrd="0" parTransId="{D70EE287-4FA5-48BC-9F24-3F561B6E9A3E}" sibTransId="{30913A22-C5EB-44CF-9E82-ADA26B00EBE5}"/>
    <dgm:cxn modelId="{DDF4F634-EB04-45AA-8607-F411417E2878}" type="presOf" srcId="{76277B7E-F3DF-4860-A334-025268DB9BA8}" destId="{E324597F-A74F-41D2-A028-E8A64BDEF1D5}" srcOrd="0" destOrd="0" presId="urn:microsoft.com/office/officeart/2005/8/layout/vList5"/>
    <dgm:cxn modelId="{DD39FF38-05AC-40F7-8E0B-2B6584F65BE3}" srcId="{3CD82DFE-2F40-4E49-8542-46B05A7A8F72}" destId="{2686B6B7-9295-4CE5-A010-2134C3CAAA6E}" srcOrd="1" destOrd="0" parTransId="{4975B00F-0C19-424C-BE43-F2FB9C5925AB}" sibTransId="{A18F565D-A3BC-4DAF-ADFD-D0DDEBB21201}"/>
    <dgm:cxn modelId="{8D254B3D-1828-48D9-AA1D-AA806195F972}" type="presOf" srcId="{B03E2F81-F70B-4F08-94EC-0F566A3399AA}" destId="{E691E0F2-698E-4C59-B6B9-D6898E32DE1F}" srcOrd="0" destOrd="0" presId="urn:microsoft.com/office/officeart/2005/8/layout/vList5"/>
    <dgm:cxn modelId="{8FAD293E-CFB5-4927-A121-353A3F682D95}" type="presOf" srcId="{90030DA2-7C34-442C-A7EE-E34B0868420B}" destId="{F9390EFB-83AD-411F-B322-069841ECDBA0}" srcOrd="0" destOrd="0" presId="urn:microsoft.com/office/officeart/2005/8/layout/vList5"/>
    <dgm:cxn modelId="{779F3642-0459-46BD-935A-375338124D77}" type="presOf" srcId="{89F72407-8E3F-4BDD-A764-B96CEF7A01EE}" destId="{2EC26013-5BA5-4B9B-A77A-351309C56DDF}" srcOrd="0" destOrd="0" presId="urn:microsoft.com/office/officeart/2005/8/layout/vList5"/>
    <dgm:cxn modelId="{1BDA7963-9C4C-47DF-8518-CC22FB6DF3D1}" type="presOf" srcId="{3CD82DFE-2F40-4E49-8542-46B05A7A8F72}" destId="{7800AB58-CAE7-4CF8-9C86-C3438897C8D2}" srcOrd="0" destOrd="0" presId="urn:microsoft.com/office/officeart/2005/8/layout/vList5"/>
    <dgm:cxn modelId="{DD3CD763-9A96-465A-B587-17D085135ABE}" type="presOf" srcId="{54570D7B-1AA4-4464-90FE-5D29D50117F7}" destId="{29126A74-AE6E-4CB0-9EED-B53C335F144A}" srcOrd="0" destOrd="1" presId="urn:microsoft.com/office/officeart/2005/8/layout/vList5"/>
    <dgm:cxn modelId="{FA6F506C-4F70-40D0-8E9A-D5AC9B394B69}" srcId="{76277B7E-F3DF-4860-A334-025268DB9BA8}" destId="{792C94F3-D873-473C-982C-8C0A96A2EBFF}" srcOrd="0" destOrd="0" parTransId="{2D4FA0DA-9140-4CB3-9A26-580E6232FC61}" sibTransId="{2C859F66-5BAC-4289-8882-CD02895D2FA2}"/>
    <dgm:cxn modelId="{96E6C955-62B4-4B1A-99C1-9B6C150D173D}" type="presOf" srcId="{9DF90C9A-A695-4829-B11E-3720F41EE511}" destId="{9F5486F8-6ED6-4FC0-94CB-158E6588E3AB}" srcOrd="0" destOrd="1" presId="urn:microsoft.com/office/officeart/2005/8/layout/vList5"/>
    <dgm:cxn modelId="{5E83FC57-4D95-49FE-B183-ED463BDE0D63}" type="presOf" srcId="{4A3AF55B-C06E-406F-8111-7AD53FEAA965}" destId="{147F6A5E-9EE3-4821-8CD9-FF5D4C2C7195}" srcOrd="0" destOrd="0" presId="urn:microsoft.com/office/officeart/2005/8/layout/vList5"/>
    <dgm:cxn modelId="{9D23285A-C71A-4F7F-BB6C-C468FC228F29}" srcId="{B03E2F81-F70B-4F08-94EC-0F566A3399AA}" destId="{03C579C0-03D7-4092-83DC-088FC1CBBB8B}" srcOrd="0" destOrd="0" parTransId="{CF380840-A200-4D09-9714-CC8A52597AE8}" sibTransId="{B3CF39B8-221E-4D41-8B5B-5C3459DE9102}"/>
    <dgm:cxn modelId="{A4642D7A-2536-4B1B-B657-1A3A27F9D68D}" srcId="{3CD82DFE-2F40-4E49-8542-46B05A7A8F72}" destId="{4A3AF55B-C06E-406F-8111-7AD53FEAA965}" srcOrd="0" destOrd="0" parTransId="{A8A21BD7-2303-47EB-B4F5-5D3282778415}" sibTransId="{AE7D051A-6A77-47A9-AA78-3FC36E647616}"/>
    <dgm:cxn modelId="{146DC983-9CDE-4A8E-B508-08C63E8750AE}" srcId="{97B5BDCE-8871-4D34-9ED5-BA8E377CDB18}" destId="{EB930552-F37D-4CF0-8A73-1E44101062CB}" srcOrd="1" destOrd="0" parTransId="{F9203EBF-5938-4CB8-8DFF-160821E3DC9D}" sibTransId="{F2C8AA02-6605-4668-8FDB-3CF608AECC22}"/>
    <dgm:cxn modelId="{3C952A8C-53D9-4EF2-A01F-AE79FA991338}" srcId="{BD421D91-E292-4D36-ADA8-785C3D120241}" destId="{54570D7B-1AA4-4464-90FE-5D29D50117F7}" srcOrd="1" destOrd="0" parTransId="{EE8452DE-2D75-4656-8918-47FEF84B5851}" sibTransId="{DA1CC178-38F0-4E40-8350-D8A6855EFCF8}"/>
    <dgm:cxn modelId="{E2A2ED93-A0AE-4F3F-BDF3-563428C430E1}" srcId="{BAB36F7D-A3BA-4840-A5C1-572FCB60E0BE}" destId="{97B5BDCE-8871-4D34-9ED5-BA8E377CDB18}" srcOrd="1" destOrd="0" parTransId="{0BBF0555-472B-4B5A-B456-494BE731C75A}" sibTransId="{717A8A55-75BB-4489-86E9-C1B51FA076C4}"/>
    <dgm:cxn modelId="{D2831095-2A7F-43EB-8596-18DDDE387AB6}" type="presOf" srcId="{EB930552-F37D-4CF0-8A73-1E44101062CB}" destId="{8A5F9279-2FBD-4BAF-A9DE-6821E25B4054}" srcOrd="0" destOrd="1" presId="urn:microsoft.com/office/officeart/2005/8/layout/vList5"/>
    <dgm:cxn modelId="{EC3643A4-AEFB-4EC9-BFAD-3E6735FA2EEF}" type="presOf" srcId="{10B5F738-9F7F-4ECA-A147-963846D78B45}" destId="{22F2CF04-1F9C-4314-B8D8-DD3367C3FBFF}" srcOrd="0" destOrd="0" presId="urn:microsoft.com/office/officeart/2005/8/layout/vList5"/>
    <dgm:cxn modelId="{BF1A8AA6-6A24-44D2-8A5B-3113C74450FD}" type="presOf" srcId="{2686B6B7-9295-4CE5-A010-2134C3CAAA6E}" destId="{147F6A5E-9EE3-4821-8CD9-FF5D4C2C7195}" srcOrd="0" destOrd="1" presId="urn:microsoft.com/office/officeart/2005/8/layout/vList5"/>
    <dgm:cxn modelId="{2980C1B1-2543-43F7-8CF6-F19CA451AA22}" srcId="{BAB36F7D-A3BA-4840-A5C1-572FCB60E0BE}" destId="{76277B7E-F3DF-4860-A334-025268DB9BA8}" srcOrd="2" destOrd="0" parTransId="{A704885E-37A9-43B9-8246-7AAFD1604C13}" sibTransId="{1A1621B1-9B61-40CC-B71A-20A1CC7E4B76}"/>
    <dgm:cxn modelId="{19BC2BB4-A24C-4394-9FD3-28F6AE2A2D7C}" srcId="{BAB36F7D-A3BA-4840-A5C1-572FCB60E0BE}" destId="{90030DA2-7C34-442C-A7EE-E34B0868420B}" srcOrd="5" destOrd="0" parTransId="{CB7FA5D4-82BE-4647-9106-604DFF42A705}" sibTransId="{69333F31-6814-48D0-BE40-207F4A4C4B62}"/>
    <dgm:cxn modelId="{3A36C2BA-C4CB-4C8B-A991-3BAD375B1E9F}" type="presOf" srcId="{11943B2E-0233-4F9A-A66F-1E6AC5A96998}" destId="{29126A74-AE6E-4CB0-9EED-B53C335F144A}" srcOrd="0" destOrd="0" presId="urn:microsoft.com/office/officeart/2005/8/layout/vList5"/>
    <dgm:cxn modelId="{6FC322C5-CA79-4986-8E09-F74038814D7E}" srcId="{BD421D91-E292-4D36-ADA8-785C3D120241}" destId="{11943B2E-0233-4F9A-A66F-1E6AC5A96998}" srcOrd="0" destOrd="0" parTransId="{E89D023B-E72C-4631-AF63-C79712FC2F44}" sibTransId="{C35B3AD3-2B96-48E0-9623-0F065C36BF9D}"/>
    <dgm:cxn modelId="{D80562C7-1E4F-4145-B30E-CA25DA0CE0DA}" type="presOf" srcId="{1FE76FDA-08A1-4D3C-84CB-0D5DBC3EA481}" destId="{8A5F9279-2FBD-4BAF-A9DE-6821E25B4054}" srcOrd="0" destOrd="0" presId="urn:microsoft.com/office/officeart/2005/8/layout/vList5"/>
    <dgm:cxn modelId="{9D1FE8CB-6C55-4211-B82D-6A9381BEA5BB}" srcId="{97B5BDCE-8871-4D34-9ED5-BA8E377CDB18}" destId="{1FE76FDA-08A1-4D3C-84CB-0D5DBC3EA481}" srcOrd="0" destOrd="0" parTransId="{196A1682-8369-443E-BE21-362AA8AFA018}" sibTransId="{D91338E8-521F-42A7-9704-9FD8C796CD62}"/>
    <dgm:cxn modelId="{6B8054CD-A3DB-4644-9F9A-B4B257F533A6}" srcId="{76277B7E-F3DF-4860-A334-025268DB9BA8}" destId="{2BB74883-5CE6-46C4-943A-F1EAE7E25E4F}" srcOrd="1" destOrd="0" parTransId="{897DFB86-80D5-48CF-9949-1543D90F3526}" sibTransId="{60E25FF4-1630-4D36-9E3D-F8379B6AD96A}"/>
    <dgm:cxn modelId="{797A2AD0-41A8-4E01-B83D-08A45EC4149B}" type="presOf" srcId="{792C94F3-D873-473C-982C-8C0A96A2EBFF}" destId="{A37AF600-DBEA-4964-9184-DD44E8827743}" srcOrd="0" destOrd="0" presId="urn:microsoft.com/office/officeart/2005/8/layout/vList5"/>
    <dgm:cxn modelId="{5EFCABDA-A42A-496C-9E08-D3FDDDD0F567}" srcId="{90030DA2-7C34-442C-A7EE-E34B0868420B}" destId="{89F72407-8E3F-4BDD-A764-B96CEF7A01EE}" srcOrd="0" destOrd="0" parTransId="{23B4747F-0F97-43D7-BE1B-1F0B66514AC9}" sibTransId="{2F9361B6-F311-457A-9EB6-58FF403B59F0}"/>
    <dgm:cxn modelId="{D2823CDD-3D77-47F0-B6C4-10786F189511}" type="presOf" srcId="{2BB74883-5CE6-46C4-943A-F1EAE7E25E4F}" destId="{A37AF600-DBEA-4964-9184-DD44E8827743}" srcOrd="0" destOrd="1" presId="urn:microsoft.com/office/officeart/2005/8/layout/vList5"/>
    <dgm:cxn modelId="{6B9AFDED-8213-4202-A956-E5989B303ADF}" type="presOf" srcId="{97B5BDCE-8871-4D34-9ED5-BA8E377CDB18}" destId="{7E587D8A-6235-4644-ACA4-27925E0C4639}" srcOrd="0" destOrd="0" presId="urn:microsoft.com/office/officeart/2005/8/layout/vList5"/>
    <dgm:cxn modelId="{9F7698EE-847B-4F61-B85B-DE5295DFB8E7}" srcId="{BAB36F7D-A3BA-4840-A5C1-572FCB60E0BE}" destId="{B03E2F81-F70B-4F08-94EC-0F566A3399AA}" srcOrd="3" destOrd="0" parTransId="{BCC17676-8D31-4575-BD50-F603861A8A3A}" sibTransId="{176BE1D1-FCBB-4565-BA9C-209192885E97}"/>
    <dgm:cxn modelId="{4B7BE1EF-45BC-45DE-8AF1-75948A4AF431}" type="presOf" srcId="{03C579C0-03D7-4092-83DC-088FC1CBBB8B}" destId="{9F5486F8-6ED6-4FC0-94CB-158E6588E3AB}" srcOrd="0" destOrd="0" presId="urn:microsoft.com/office/officeart/2005/8/layout/vList5"/>
    <dgm:cxn modelId="{0DFFC3F0-999C-49BB-A459-8A4550DBADDB}" srcId="{B03E2F81-F70B-4F08-94EC-0F566A3399AA}" destId="{9DF90C9A-A695-4829-B11E-3720F41EE511}" srcOrd="1" destOrd="0" parTransId="{34206754-0F11-41D2-9504-C023693E5DEA}" sibTransId="{0CA9A3D4-FADF-4D60-8F02-0761650026D1}"/>
    <dgm:cxn modelId="{7C9FDC30-DFCB-46E5-89CC-230C382DBA8C}" type="presParOf" srcId="{1F286245-D2CE-4689-B525-5974823026F4}" destId="{39A3DEE3-5E18-418E-BD09-FDCD33BA3D76}" srcOrd="0" destOrd="0" presId="urn:microsoft.com/office/officeart/2005/8/layout/vList5"/>
    <dgm:cxn modelId="{A9CCB71F-4EA0-48A0-875C-5E25EC8547B9}" type="presParOf" srcId="{39A3DEE3-5E18-418E-BD09-FDCD33BA3D76}" destId="{7800AB58-CAE7-4CF8-9C86-C3438897C8D2}" srcOrd="0" destOrd="0" presId="urn:microsoft.com/office/officeart/2005/8/layout/vList5"/>
    <dgm:cxn modelId="{8A29955D-28C9-4653-8976-08C68324057C}" type="presParOf" srcId="{39A3DEE3-5E18-418E-BD09-FDCD33BA3D76}" destId="{147F6A5E-9EE3-4821-8CD9-FF5D4C2C7195}" srcOrd="1" destOrd="0" presId="urn:microsoft.com/office/officeart/2005/8/layout/vList5"/>
    <dgm:cxn modelId="{4408C661-83BC-4AB1-B144-E209F6C6B417}" type="presParOf" srcId="{1F286245-D2CE-4689-B525-5974823026F4}" destId="{9BED911C-7347-4911-9F54-8EE7D436D598}" srcOrd="1" destOrd="0" presId="urn:microsoft.com/office/officeart/2005/8/layout/vList5"/>
    <dgm:cxn modelId="{693226B9-1132-4BDF-ABB2-52B034145E2F}" type="presParOf" srcId="{1F286245-D2CE-4689-B525-5974823026F4}" destId="{FA11961F-4BE0-4278-B23E-FCB6095E89A1}" srcOrd="2" destOrd="0" presId="urn:microsoft.com/office/officeart/2005/8/layout/vList5"/>
    <dgm:cxn modelId="{68D63F7C-53B9-4D3D-991B-BE6956DB1E31}" type="presParOf" srcId="{FA11961F-4BE0-4278-B23E-FCB6095E89A1}" destId="{7E587D8A-6235-4644-ACA4-27925E0C4639}" srcOrd="0" destOrd="0" presId="urn:microsoft.com/office/officeart/2005/8/layout/vList5"/>
    <dgm:cxn modelId="{669F4D2E-C691-4B66-A742-4AE94C9909C1}" type="presParOf" srcId="{FA11961F-4BE0-4278-B23E-FCB6095E89A1}" destId="{8A5F9279-2FBD-4BAF-A9DE-6821E25B4054}" srcOrd="1" destOrd="0" presId="urn:microsoft.com/office/officeart/2005/8/layout/vList5"/>
    <dgm:cxn modelId="{3559C458-3DA2-4F6C-8A7F-A466D09BBE73}" type="presParOf" srcId="{1F286245-D2CE-4689-B525-5974823026F4}" destId="{33E9A406-0A9E-4752-889D-383E29819635}" srcOrd="3" destOrd="0" presId="urn:microsoft.com/office/officeart/2005/8/layout/vList5"/>
    <dgm:cxn modelId="{F8039F7A-8132-46CD-B004-B5AE838AD28D}" type="presParOf" srcId="{1F286245-D2CE-4689-B525-5974823026F4}" destId="{27B4A4C5-14CA-437A-996D-495A420058CA}" srcOrd="4" destOrd="0" presId="urn:microsoft.com/office/officeart/2005/8/layout/vList5"/>
    <dgm:cxn modelId="{99043872-FBB9-4B10-B893-B01DFAA54723}" type="presParOf" srcId="{27B4A4C5-14CA-437A-996D-495A420058CA}" destId="{E324597F-A74F-41D2-A028-E8A64BDEF1D5}" srcOrd="0" destOrd="0" presId="urn:microsoft.com/office/officeart/2005/8/layout/vList5"/>
    <dgm:cxn modelId="{5BBDD83B-2591-489C-9ED1-24F10E55DCA0}" type="presParOf" srcId="{27B4A4C5-14CA-437A-996D-495A420058CA}" destId="{A37AF600-DBEA-4964-9184-DD44E8827743}" srcOrd="1" destOrd="0" presId="urn:microsoft.com/office/officeart/2005/8/layout/vList5"/>
    <dgm:cxn modelId="{0C3008B5-6D2F-4CBD-9B39-7B62186ACA9F}" type="presParOf" srcId="{1F286245-D2CE-4689-B525-5974823026F4}" destId="{9FA5A708-3202-4198-A8D0-97D243F60E37}" srcOrd="5" destOrd="0" presId="urn:microsoft.com/office/officeart/2005/8/layout/vList5"/>
    <dgm:cxn modelId="{9755C443-99E5-4CCF-88BD-18E872FBB612}" type="presParOf" srcId="{1F286245-D2CE-4689-B525-5974823026F4}" destId="{A60CC4F4-8A2D-41F1-8687-1F3915641C88}" srcOrd="6" destOrd="0" presId="urn:microsoft.com/office/officeart/2005/8/layout/vList5"/>
    <dgm:cxn modelId="{D3A62DA9-866F-4FF1-B88A-283C09C926C4}" type="presParOf" srcId="{A60CC4F4-8A2D-41F1-8687-1F3915641C88}" destId="{E691E0F2-698E-4C59-B6B9-D6898E32DE1F}" srcOrd="0" destOrd="0" presId="urn:microsoft.com/office/officeart/2005/8/layout/vList5"/>
    <dgm:cxn modelId="{EA2F536D-1AFC-4C9A-A0D5-C79D3E775999}" type="presParOf" srcId="{A60CC4F4-8A2D-41F1-8687-1F3915641C88}" destId="{9F5486F8-6ED6-4FC0-94CB-158E6588E3AB}" srcOrd="1" destOrd="0" presId="urn:microsoft.com/office/officeart/2005/8/layout/vList5"/>
    <dgm:cxn modelId="{8857A48C-2788-46D8-9652-22CA31EE29BA}" type="presParOf" srcId="{1F286245-D2CE-4689-B525-5974823026F4}" destId="{1D00764B-FF91-42D9-9CF4-2A31B91C2D07}" srcOrd="7" destOrd="0" presId="urn:microsoft.com/office/officeart/2005/8/layout/vList5"/>
    <dgm:cxn modelId="{0311799E-8DA9-45AC-91A9-9619C9CF0B79}" type="presParOf" srcId="{1F286245-D2CE-4689-B525-5974823026F4}" destId="{EDCE6849-E18A-4EA3-A332-6CDA7D13B67F}" srcOrd="8" destOrd="0" presId="urn:microsoft.com/office/officeart/2005/8/layout/vList5"/>
    <dgm:cxn modelId="{688781C6-6A2F-4894-ABD6-59D50600DCC1}" type="presParOf" srcId="{EDCE6849-E18A-4EA3-A332-6CDA7D13B67F}" destId="{53D420D7-8CC0-4CBC-BA75-A9CD5C41EE3C}" srcOrd="0" destOrd="0" presId="urn:microsoft.com/office/officeart/2005/8/layout/vList5"/>
    <dgm:cxn modelId="{57DCDF78-6DDE-4542-A588-782CCFFA31BC}" type="presParOf" srcId="{EDCE6849-E18A-4EA3-A332-6CDA7D13B67F}" destId="{29126A74-AE6E-4CB0-9EED-B53C335F144A}" srcOrd="1" destOrd="0" presId="urn:microsoft.com/office/officeart/2005/8/layout/vList5"/>
    <dgm:cxn modelId="{0D60FD0F-45C4-4361-B80B-0926E5DA0ABA}" type="presParOf" srcId="{1F286245-D2CE-4689-B525-5974823026F4}" destId="{681DD990-8424-48BD-86E3-42E397D1E18B}" srcOrd="9" destOrd="0" presId="urn:microsoft.com/office/officeart/2005/8/layout/vList5"/>
    <dgm:cxn modelId="{61EAF145-629A-4551-A6CD-070408F77EC6}" type="presParOf" srcId="{1F286245-D2CE-4689-B525-5974823026F4}" destId="{98C9C1BF-380C-451E-90D0-CE3D527E8E7A}" srcOrd="10" destOrd="0" presId="urn:microsoft.com/office/officeart/2005/8/layout/vList5"/>
    <dgm:cxn modelId="{187F8796-49C5-42D4-A601-71EFAFA2E19D}" type="presParOf" srcId="{98C9C1BF-380C-451E-90D0-CE3D527E8E7A}" destId="{F9390EFB-83AD-411F-B322-069841ECDBA0}" srcOrd="0" destOrd="0" presId="urn:microsoft.com/office/officeart/2005/8/layout/vList5"/>
    <dgm:cxn modelId="{F100B81A-B7F1-4E0E-8ACF-F881DB466116}" type="presParOf" srcId="{98C9C1BF-380C-451E-90D0-CE3D527E8E7A}" destId="{2EC26013-5BA5-4B9B-A77A-351309C56DDF}" srcOrd="1" destOrd="0" presId="urn:microsoft.com/office/officeart/2005/8/layout/vList5"/>
    <dgm:cxn modelId="{C3EBF0AD-7091-48A8-A99A-77070155AF80}" type="presParOf" srcId="{1F286245-D2CE-4689-B525-5974823026F4}" destId="{3E314BAF-7AC3-4D58-8C2B-1C05C2C925E8}" srcOrd="11" destOrd="0" presId="urn:microsoft.com/office/officeart/2005/8/layout/vList5"/>
    <dgm:cxn modelId="{180DFBE9-9961-435E-A9F8-52DDA9C71B9C}" type="presParOf" srcId="{1F286245-D2CE-4689-B525-5974823026F4}" destId="{A88A4C33-4474-4455-BB35-AED516CDED3A}" srcOrd="12" destOrd="0" presId="urn:microsoft.com/office/officeart/2005/8/layout/vList5"/>
    <dgm:cxn modelId="{F978A069-291C-48A8-867A-C955B0DE0A8F}" type="presParOf" srcId="{A88A4C33-4474-4455-BB35-AED516CDED3A}" destId="{3668BFCD-4099-463A-9CF2-3C3F6A71584A}" srcOrd="0" destOrd="0" presId="urn:microsoft.com/office/officeart/2005/8/layout/vList5"/>
    <dgm:cxn modelId="{141B66F7-F1FD-45F0-90A0-18D81A4DC091}" type="presParOf" srcId="{A88A4C33-4474-4455-BB35-AED516CDED3A}" destId="{22F2CF04-1F9C-4314-B8D8-DD3367C3FBFF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66BA1B8-606E-4492-864C-E68C02D5A0D0}" type="doc">
      <dgm:prSet loTypeId="urn:microsoft.com/office/officeart/2005/8/layout/chevron2" loCatId="process" qsTypeId="urn:microsoft.com/office/officeart/2005/8/quickstyle/simple1" qsCatId="simple" csTypeId="urn:microsoft.com/office/officeart/2005/8/colors/accent4_3" csCatId="accent4" phldr="1"/>
      <dgm:spPr/>
      <dgm:t>
        <a:bodyPr/>
        <a:lstStyle/>
        <a:p>
          <a:endParaRPr lang="en-US"/>
        </a:p>
      </dgm:t>
    </dgm:pt>
    <dgm:pt modelId="{3570FB14-3349-4333-A8B2-19FBA528FDCC}">
      <dgm:prSet phldrT="[Texto]"/>
      <dgm:spPr/>
      <dgm:t>
        <a:bodyPr/>
        <a:lstStyle/>
        <a:p>
          <a:r>
            <a:rPr lang="pt-PT" dirty="0"/>
            <a:t>1</a:t>
          </a:r>
          <a:endParaRPr lang="en-US" dirty="0"/>
        </a:p>
      </dgm:t>
    </dgm:pt>
    <dgm:pt modelId="{8CA5CED5-389F-4AA1-B2D8-47A3D1521D7C}" type="parTrans" cxnId="{E9967563-C735-49FB-8632-6B4D2C2747AF}">
      <dgm:prSet/>
      <dgm:spPr/>
      <dgm:t>
        <a:bodyPr/>
        <a:lstStyle/>
        <a:p>
          <a:endParaRPr lang="en-US"/>
        </a:p>
      </dgm:t>
    </dgm:pt>
    <dgm:pt modelId="{9337D72F-9190-4E0C-880C-80D5BE8B7D63}" type="sibTrans" cxnId="{E9967563-C735-49FB-8632-6B4D2C2747AF}">
      <dgm:prSet/>
      <dgm:spPr/>
      <dgm:t>
        <a:bodyPr/>
        <a:lstStyle/>
        <a:p>
          <a:endParaRPr lang="en-US"/>
        </a:p>
      </dgm:t>
    </dgm:pt>
    <dgm:pt modelId="{BAECB7DE-BB83-4315-8C45-08670B5A5040}">
      <dgm:prSet phldrT="[Texto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pt-PT" dirty="0" err="1"/>
            <a:t>Apply</a:t>
          </a:r>
          <a:r>
            <a:rPr lang="pt-PT" dirty="0"/>
            <a:t> PCA to data </a:t>
          </a:r>
          <a:r>
            <a:rPr lang="pt-PT" dirty="0" err="1"/>
            <a:t>with</a:t>
          </a:r>
          <a:r>
            <a:rPr lang="pt-PT" dirty="0"/>
            <a:t> </a:t>
          </a:r>
          <a:r>
            <a:rPr lang="pt-PT" dirty="0" err="1"/>
            <a:t>large</a:t>
          </a:r>
          <a:r>
            <a:rPr lang="pt-PT" dirty="0"/>
            <a:t> </a:t>
          </a:r>
          <a:r>
            <a:rPr lang="pt-PT" dirty="0" err="1"/>
            <a:t>number</a:t>
          </a:r>
          <a:r>
            <a:rPr lang="pt-PT" dirty="0"/>
            <a:t> </a:t>
          </a:r>
          <a:r>
            <a:rPr lang="pt-PT" dirty="0" err="1"/>
            <a:t>of</a:t>
          </a:r>
          <a:r>
            <a:rPr lang="pt-PT" dirty="0"/>
            <a:t> </a:t>
          </a:r>
          <a:r>
            <a:rPr lang="pt-PT" dirty="0" err="1"/>
            <a:t>components</a:t>
          </a:r>
          <a:endParaRPr lang="en-US" dirty="0"/>
        </a:p>
      </dgm:t>
    </dgm:pt>
    <dgm:pt modelId="{E1450071-1AA2-4285-87BB-4C052CB8FBDA}" type="parTrans" cxnId="{E0D5D769-0639-40DA-A879-37C7F3EB5A26}">
      <dgm:prSet/>
      <dgm:spPr/>
      <dgm:t>
        <a:bodyPr/>
        <a:lstStyle/>
        <a:p>
          <a:endParaRPr lang="en-US"/>
        </a:p>
      </dgm:t>
    </dgm:pt>
    <dgm:pt modelId="{EE44F790-37CE-4329-9F53-BA7745154FE2}" type="sibTrans" cxnId="{E0D5D769-0639-40DA-A879-37C7F3EB5A26}">
      <dgm:prSet/>
      <dgm:spPr/>
      <dgm:t>
        <a:bodyPr/>
        <a:lstStyle/>
        <a:p>
          <a:endParaRPr lang="en-US"/>
        </a:p>
      </dgm:t>
    </dgm:pt>
    <dgm:pt modelId="{C77BB696-CF6C-4A06-89F5-221A17AF754F}">
      <dgm:prSet phldrT="[Texto]"/>
      <dgm:spPr/>
      <dgm:t>
        <a:bodyPr/>
        <a:lstStyle/>
        <a:p>
          <a:r>
            <a:rPr lang="pt-PT" dirty="0"/>
            <a:t>2</a:t>
          </a:r>
          <a:endParaRPr lang="en-US" dirty="0"/>
        </a:p>
      </dgm:t>
    </dgm:pt>
    <dgm:pt modelId="{D8678BC9-36EB-471A-8901-30D297B6F13D}" type="parTrans" cxnId="{41FE9727-394D-476E-88DB-906D4DD3B830}">
      <dgm:prSet/>
      <dgm:spPr/>
      <dgm:t>
        <a:bodyPr/>
        <a:lstStyle/>
        <a:p>
          <a:endParaRPr lang="en-US"/>
        </a:p>
      </dgm:t>
    </dgm:pt>
    <dgm:pt modelId="{E416B840-9BBF-444A-AF02-D8223C9127A0}" type="sibTrans" cxnId="{41FE9727-394D-476E-88DB-906D4DD3B830}">
      <dgm:prSet/>
      <dgm:spPr/>
      <dgm:t>
        <a:bodyPr/>
        <a:lstStyle/>
        <a:p>
          <a:endParaRPr lang="en-US"/>
        </a:p>
      </dgm:t>
    </dgm:pt>
    <dgm:pt modelId="{CA600E60-F3B1-4024-82B4-39323BC98F75}">
      <dgm:prSet phldrT="[Texto]"/>
      <dgm:spPr/>
      <dgm:t>
        <a:bodyPr/>
        <a:lstStyle/>
        <a:p>
          <a:r>
            <a:rPr lang="pt-PT" dirty="0" err="1"/>
            <a:t>Select</a:t>
          </a:r>
          <a:r>
            <a:rPr lang="pt-PT" dirty="0"/>
            <a:t> </a:t>
          </a:r>
          <a:r>
            <a:rPr lang="pt-PT" dirty="0" err="1"/>
            <a:t>number</a:t>
          </a:r>
          <a:r>
            <a:rPr lang="pt-PT" dirty="0"/>
            <a:t> </a:t>
          </a:r>
          <a:r>
            <a:rPr lang="pt-PT" dirty="0" err="1"/>
            <a:t>of</a:t>
          </a:r>
          <a:r>
            <a:rPr lang="pt-PT" dirty="0"/>
            <a:t> </a:t>
          </a:r>
          <a:r>
            <a:rPr lang="pt-PT" dirty="0" err="1"/>
            <a:t>components</a:t>
          </a:r>
          <a:r>
            <a:rPr lang="pt-PT" dirty="0"/>
            <a:t> to </a:t>
          </a:r>
          <a:r>
            <a:rPr lang="pt-PT" dirty="0" err="1"/>
            <a:t>retain</a:t>
          </a:r>
          <a:endParaRPr lang="en-US" dirty="0"/>
        </a:p>
      </dgm:t>
    </dgm:pt>
    <dgm:pt modelId="{FD8B0E5C-4B6B-456C-A5FD-A401C8C7B489}" type="parTrans" cxnId="{EF88CA7E-F5B3-4538-9536-B3AAD2061DB8}">
      <dgm:prSet/>
      <dgm:spPr/>
      <dgm:t>
        <a:bodyPr/>
        <a:lstStyle/>
        <a:p>
          <a:endParaRPr lang="en-US"/>
        </a:p>
      </dgm:t>
    </dgm:pt>
    <dgm:pt modelId="{D67DCC3E-D88B-4620-B8D1-ADB1D3B085D7}" type="sibTrans" cxnId="{EF88CA7E-F5B3-4538-9536-B3AAD2061DB8}">
      <dgm:prSet/>
      <dgm:spPr/>
      <dgm:t>
        <a:bodyPr/>
        <a:lstStyle/>
        <a:p>
          <a:endParaRPr lang="en-US"/>
        </a:p>
      </dgm:t>
    </dgm:pt>
    <dgm:pt modelId="{F650473D-CE0B-4E69-A4ED-5A8F74F0A87C}">
      <dgm:prSet phldrT="[Texto]"/>
      <dgm:spPr/>
      <dgm:t>
        <a:bodyPr/>
        <a:lstStyle/>
        <a:p>
          <a:r>
            <a:rPr lang="pt-PT" dirty="0"/>
            <a:t>3</a:t>
          </a:r>
          <a:endParaRPr lang="en-US" dirty="0"/>
        </a:p>
      </dgm:t>
    </dgm:pt>
    <dgm:pt modelId="{DCE6E7FE-6BC3-40B0-8CD7-801317CB0ADD}" type="parTrans" cxnId="{93BEFCE8-18DE-43B7-866F-55B0EEEBD514}">
      <dgm:prSet/>
      <dgm:spPr/>
      <dgm:t>
        <a:bodyPr/>
        <a:lstStyle/>
        <a:p>
          <a:endParaRPr lang="en-US"/>
        </a:p>
      </dgm:t>
    </dgm:pt>
    <dgm:pt modelId="{8C927FB4-5B65-4666-BAA0-90E5A76C74C6}" type="sibTrans" cxnId="{93BEFCE8-18DE-43B7-866F-55B0EEEBD514}">
      <dgm:prSet/>
      <dgm:spPr/>
      <dgm:t>
        <a:bodyPr/>
        <a:lstStyle/>
        <a:p>
          <a:endParaRPr lang="en-US"/>
        </a:p>
      </dgm:t>
    </dgm:pt>
    <dgm:pt modelId="{C9EE6B25-7745-4256-A7FC-E6BE012CE5B6}">
      <dgm:prSet phldrT="[Texto]"/>
      <dgm:spPr/>
      <dgm:t>
        <a:bodyPr/>
        <a:lstStyle/>
        <a:p>
          <a:r>
            <a:rPr lang="pt-PT" dirty="0" err="1"/>
            <a:t>Apply</a:t>
          </a:r>
          <a:r>
            <a:rPr lang="pt-PT" dirty="0"/>
            <a:t> PCA to data </a:t>
          </a:r>
          <a:r>
            <a:rPr lang="pt-PT" dirty="0" err="1"/>
            <a:t>with</a:t>
          </a:r>
          <a:r>
            <a:rPr lang="pt-PT" dirty="0"/>
            <a:t> </a:t>
          </a:r>
          <a:r>
            <a:rPr lang="pt-PT" dirty="0" err="1"/>
            <a:t>selected</a:t>
          </a:r>
          <a:r>
            <a:rPr lang="pt-PT" dirty="0"/>
            <a:t> </a:t>
          </a:r>
          <a:r>
            <a:rPr lang="pt-PT" dirty="0" err="1"/>
            <a:t>number</a:t>
          </a:r>
          <a:r>
            <a:rPr lang="pt-PT" dirty="0"/>
            <a:t> </a:t>
          </a:r>
          <a:r>
            <a:rPr lang="pt-PT" dirty="0" err="1"/>
            <a:t>of</a:t>
          </a:r>
          <a:r>
            <a:rPr lang="pt-PT" dirty="0"/>
            <a:t> </a:t>
          </a:r>
          <a:r>
            <a:rPr lang="pt-PT" dirty="0" err="1"/>
            <a:t>components</a:t>
          </a:r>
          <a:endParaRPr lang="en-US" dirty="0"/>
        </a:p>
      </dgm:t>
    </dgm:pt>
    <dgm:pt modelId="{A0FFF536-88D7-4F30-81DB-C8B4BF1320DC}" type="parTrans" cxnId="{F7721C1E-4120-438E-923B-B0F7F70DA46A}">
      <dgm:prSet/>
      <dgm:spPr/>
      <dgm:t>
        <a:bodyPr/>
        <a:lstStyle/>
        <a:p>
          <a:endParaRPr lang="en-US"/>
        </a:p>
      </dgm:t>
    </dgm:pt>
    <dgm:pt modelId="{563BEB8D-0576-490E-B0AF-5E4DEE17A3D2}" type="sibTrans" cxnId="{F7721C1E-4120-438E-923B-B0F7F70DA46A}">
      <dgm:prSet/>
      <dgm:spPr/>
      <dgm:t>
        <a:bodyPr/>
        <a:lstStyle/>
        <a:p>
          <a:endParaRPr lang="en-US"/>
        </a:p>
      </dgm:t>
    </dgm:pt>
    <dgm:pt modelId="{9746FC88-A048-4919-9CED-E9578CC6F521}">
      <dgm:prSet phldrT="[Texto]"/>
      <dgm:spPr/>
      <dgm:t>
        <a:bodyPr/>
        <a:lstStyle/>
        <a:p>
          <a:r>
            <a:rPr lang="pt-PT" dirty="0"/>
            <a:t>4</a:t>
          </a:r>
          <a:endParaRPr lang="en-US" dirty="0"/>
        </a:p>
      </dgm:t>
    </dgm:pt>
    <dgm:pt modelId="{038A6101-454C-4D7F-9CE8-C99D9CFA6DF0}" type="sibTrans" cxnId="{6282782A-F463-4725-B374-6645F106F9A5}">
      <dgm:prSet/>
      <dgm:spPr/>
      <dgm:t>
        <a:bodyPr/>
        <a:lstStyle/>
        <a:p>
          <a:endParaRPr lang="en-US"/>
        </a:p>
      </dgm:t>
    </dgm:pt>
    <dgm:pt modelId="{4A576387-5144-4DF2-BD9E-52368C45FBC2}" type="parTrans" cxnId="{6282782A-F463-4725-B374-6645F106F9A5}">
      <dgm:prSet/>
      <dgm:spPr/>
      <dgm:t>
        <a:bodyPr/>
        <a:lstStyle/>
        <a:p>
          <a:endParaRPr lang="en-US"/>
        </a:p>
      </dgm:t>
    </dgm:pt>
    <dgm:pt modelId="{5056A5BC-C03B-45EC-ABCA-706D95EB79C8}">
      <dgm:prSet phldrT="[Texto]"/>
      <dgm:spPr/>
      <dgm:t>
        <a:bodyPr/>
        <a:lstStyle/>
        <a:p>
          <a:r>
            <a:rPr lang="pt-PT" dirty="0"/>
            <a:t>Use PCA for </a:t>
          </a:r>
          <a:r>
            <a:rPr lang="pt-PT" dirty="0" err="1"/>
            <a:t>dimensionality</a:t>
          </a:r>
          <a:r>
            <a:rPr lang="pt-PT" dirty="0"/>
            <a:t> </a:t>
          </a:r>
          <a:r>
            <a:rPr lang="pt-PT" dirty="0" err="1"/>
            <a:t>reduction</a:t>
          </a:r>
          <a:r>
            <a:rPr lang="pt-PT" dirty="0"/>
            <a:t>, </a:t>
          </a:r>
          <a:r>
            <a:rPr lang="pt-PT" dirty="0" err="1"/>
            <a:t>pattern</a:t>
          </a:r>
          <a:r>
            <a:rPr lang="pt-PT" dirty="0"/>
            <a:t> </a:t>
          </a:r>
          <a:r>
            <a:rPr lang="pt-PT" dirty="0" err="1"/>
            <a:t>analysis</a:t>
          </a:r>
          <a:r>
            <a:rPr lang="pt-PT" dirty="0"/>
            <a:t> </a:t>
          </a:r>
          <a:r>
            <a:rPr lang="pt-PT" dirty="0" err="1"/>
            <a:t>or</a:t>
          </a:r>
          <a:r>
            <a:rPr lang="pt-PT" dirty="0"/>
            <a:t> </a:t>
          </a:r>
          <a:r>
            <a:rPr lang="pt-PT" dirty="0" err="1"/>
            <a:t>outlier</a:t>
          </a:r>
          <a:r>
            <a:rPr lang="pt-PT" dirty="0"/>
            <a:t> </a:t>
          </a:r>
          <a:r>
            <a:rPr lang="pt-PT" dirty="0" err="1"/>
            <a:t>identification</a:t>
          </a:r>
          <a:endParaRPr lang="en-US" dirty="0"/>
        </a:p>
      </dgm:t>
    </dgm:pt>
    <dgm:pt modelId="{7E8A3796-DDD3-4FBD-946E-CBD77AB4CE7A}" type="parTrans" cxnId="{D6DB3FF8-EDAD-46A4-A819-66F58E19420A}">
      <dgm:prSet/>
      <dgm:spPr/>
      <dgm:t>
        <a:bodyPr/>
        <a:lstStyle/>
        <a:p>
          <a:endParaRPr lang="en-US"/>
        </a:p>
      </dgm:t>
    </dgm:pt>
    <dgm:pt modelId="{BF86E37B-2ACA-4F8E-8594-C2EE0783DC71}" type="sibTrans" cxnId="{D6DB3FF8-EDAD-46A4-A819-66F58E19420A}">
      <dgm:prSet/>
      <dgm:spPr/>
      <dgm:t>
        <a:bodyPr/>
        <a:lstStyle/>
        <a:p>
          <a:endParaRPr lang="en-US"/>
        </a:p>
      </dgm:t>
    </dgm:pt>
    <dgm:pt modelId="{9EA6C201-7D88-455D-A48B-51C2079BE1AA}" type="pres">
      <dgm:prSet presAssocID="{166BA1B8-606E-4492-864C-E68C02D5A0D0}" presName="linearFlow" presStyleCnt="0">
        <dgm:presLayoutVars>
          <dgm:dir/>
          <dgm:animLvl val="lvl"/>
          <dgm:resizeHandles val="exact"/>
        </dgm:presLayoutVars>
      </dgm:prSet>
      <dgm:spPr/>
    </dgm:pt>
    <dgm:pt modelId="{7CA8CE14-0C7F-4477-A309-E397BEAFFB85}" type="pres">
      <dgm:prSet presAssocID="{3570FB14-3349-4333-A8B2-19FBA528FDCC}" presName="composite" presStyleCnt="0"/>
      <dgm:spPr/>
    </dgm:pt>
    <dgm:pt modelId="{7F877550-192A-4AD2-87BF-6DAD8C6884C6}" type="pres">
      <dgm:prSet presAssocID="{3570FB14-3349-4333-A8B2-19FBA528FDCC}" presName="parentText" presStyleLbl="alignNode1" presStyleIdx="0" presStyleCnt="4">
        <dgm:presLayoutVars>
          <dgm:chMax val="1"/>
          <dgm:bulletEnabled val="1"/>
        </dgm:presLayoutVars>
      </dgm:prSet>
      <dgm:spPr/>
    </dgm:pt>
    <dgm:pt modelId="{8F196344-2766-48FD-8408-758F79468FD8}" type="pres">
      <dgm:prSet presAssocID="{3570FB14-3349-4333-A8B2-19FBA528FDCC}" presName="descendantText" presStyleLbl="alignAcc1" presStyleIdx="0" presStyleCnt="4">
        <dgm:presLayoutVars>
          <dgm:bulletEnabled val="1"/>
        </dgm:presLayoutVars>
      </dgm:prSet>
      <dgm:spPr/>
    </dgm:pt>
    <dgm:pt modelId="{ADBDFDD1-5B31-43EA-B8E3-128F96E0190C}" type="pres">
      <dgm:prSet presAssocID="{9337D72F-9190-4E0C-880C-80D5BE8B7D63}" presName="sp" presStyleCnt="0"/>
      <dgm:spPr/>
    </dgm:pt>
    <dgm:pt modelId="{52D76000-5C36-45BC-ACB2-A98486AC9741}" type="pres">
      <dgm:prSet presAssocID="{C77BB696-CF6C-4A06-89F5-221A17AF754F}" presName="composite" presStyleCnt="0"/>
      <dgm:spPr/>
    </dgm:pt>
    <dgm:pt modelId="{0683817D-64B1-4563-ADA8-AE606B32589E}" type="pres">
      <dgm:prSet presAssocID="{C77BB696-CF6C-4A06-89F5-221A17AF754F}" presName="parentText" presStyleLbl="alignNode1" presStyleIdx="1" presStyleCnt="4">
        <dgm:presLayoutVars>
          <dgm:chMax val="1"/>
          <dgm:bulletEnabled val="1"/>
        </dgm:presLayoutVars>
      </dgm:prSet>
      <dgm:spPr/>
    </dgm:pt>
    <dgm:pt modelId="{1CD8A935-4A3D-45ED-AE8F-96674751E081}" type="pres">
      <dgm:prSet presAssocID="{C77BB696-CF6C-4A06-89F5-221A17AF754F}" presName="descendantText" presStyleLbl="alignAcc1" presStyleIdx="1" presStyleCnt="4">
        <dgm:presLayoutVars>
          <dgm:bulletEnabled val="1"/>
        </dgm:presLayoutVars>
      </dgm:prSet>
      <dgm:spPr/>
    </dgm:pt>
    <dgm:pt modelId="{CEB7E1C4-AB7E-453E-A7EC-686633BBAF28}" type="pres">
      <dgm:prSet presAssocID="{E416B840-9BBF-444A-AF02-D8223C9127A0}" presName="sp" presStyleCnt="0"/>
      <dgm:spPr/>
    </dgm:pt>
    <dgm:pt modelId="{D843EB50-C453-4313-9F6B-A8550C82DCA3}" type="pres">
      <dgm:prSet presAssocID="{F650473D-CE0B-4E69-A4ED-5A8F74F0A87C}" presName="composite" presStyleCnt="0"/>
      <dgm:spPr/>
    </dgm:pt>
    <dgm:pt modelId="{0FDC472F-51F3-406B-A132-4D22DD4DE477}" type="pres">
      <dgm:prSet presAssocID="{F650473D-CE0B-4E69-A4ED-5A8F74F0A87C}" presName="parentText" presStyleLbl="alignNode1" presStyleIdx="2" presStyleCnt="4">
        <dgm:presLayoutVars>
          <dgm:chMax val="1"/>
          <dgm:bulletEnabled val="1"/>
        </dgm:presLayoutVars>
      </dgm:prSet>
      <dgm:spPr/>
    </dgm:pt>
    <dgm:pt modelId="{7DD17B51-0FA9-4E3A-AEEA-BDB80923EDF6}" type="pres">
      <dgm:prSet presAssocID="{F650473D-CE0B-4E69-A4ED-5A8F74F0A87C}" presName="descendantText" presStyleLbl="alignAcc1" presStyleIdx="2" presStyleCnt="4">
        <dgm:presLayoutVars>
          <dgm:bulletEnabled val="1"/>
        </dgm:presLayoutVars>
      </dgm:prSet>
      <dgm:spPr/>
    </dgm:pt>
    <dgm:pt modelId="{781CB63F-C3D0-4391-AAB4-5958104D0489}" type="pres">
      <dgm:prSet presAssocID="{8C927FB4-5B65-4666-BAA0-90E5A76C74C6}" presName="sp" presStyleCnt="0"/>
      <dgm:spPr/>
    </dgm:pt>
    <dgm:pt modelId="{72E649FA-3EE7-4EB4-A628-C72BA4EE4766}" type="pres">
      <dgm:prSet presAssocID="{9746FC88-A048-4919-9CED-E9578CC6F521}" presName="composite" presStyleCnt="0"/>
      <dgm:spPr/>
    </dgm:pt>
    <dgm:pt modelId="{FB7AC98D-2796-4925-9E59-7ECD70A3A9B5}" type="pres">
      <dgm:prSet presAssocID="{9746FC88-A048-4919-9CED-E9578CC6F521}" presName="parentText" presStyleLbl="alignNode1" presStyleIdx="3" presStyleCnt="4">
        <dgm:presLayoutVars>
          <dgm:chMax val="1"/>
          <dgm:bulletEnabled val="1"/>
        </dgm:presLayoutVars>
      </dgm:prSet>
      <dgm:spPr/>
    </dgm:pt>
    <dgm:pt modelId="{47F167B7-0A5E-4F36-81B0-E8C0EBE241F6}" type="pres">
      <dgm:prSet presAssocID="{9746FC88-A048-4919-9CED-E9578CC6F521}" presName="descendantText" presStyleLbl="alignAcc1" presStyleIdx="3" presStyleCnt="4">
        <dgm:presLayoutVars>
          <dgm:bulletEnabled val="1"/>
        </dgm:presLayoutVars>
      </dgm:prSet>
      <dgm:spPr/>
    </dgm:pt>
  </dgm:ptLst>
  <dgm:cxnLst>
    <dgm:cxn modelId="{EBF7310B-712F-45EF-BEB7-0B5B1F055F5C}" type="presOf" srcId="{F650473D-CE0B-4E69-A4ED-5A8F74F0A87C}" destId="{0FDC472F-51F3-406B-A132-4D22DD4DE477}" srcOrd="0" destOrd="0" presId="urn:microsoft.com/office/officeart/2005/8/layout/chevron2"/>
    <dgm:cxn modelId="{F7721C1E-4120-438E-923B-B0F7F70DA46A}" srcId="{F650473D-CE0B-4E69-A4ED-5A8F74F0A87C}" destId="{C9EE6B25-7745-4256-A7FC-E6BE012CE5B6}" srcOrd="0" destOrd="0" parTransId="{A0FFF536-88D7-4F30-81DB-C8B4BF1320DC}" sibTransId="{563BEB8D-0576-490E-B0AF-5E4DEE17A3D2}"/>
    <dgm:cxn modelId="{41FE9727-394D-476E-88DB-906D4DD3B830}" srcId="{166BA1B8-606E-4492-864C-E68C02D5A0D0}" destId="{C77BB696-CF6C-4A06-89F5-221A17AF754F}" srcOrd="1" destOrd="0" parTransId="{D8678BC9-36EB-471A-8901-30D297B6F13D}" sibTransId="{E416B840-9BBF-444A-AF02-D8223C9127A0}"/>
    <dgm:cxn modelId="{6282782A-F463-4725-B374-6645F106F9A5}" srcId="{166BA1B8-606E-4492-864C-E68C02D5A0D0}" destId="{9746FC88-A048-4919-9CED-E9578CC6F521}" srcOrd="3" destOrd="0" parTransId="{4A576387-5144-4DF2-BD9E-52368C45FBC2}" sibTransId="{038A6101-454C-4D7F-9CE8-C99D9CFA6DF0}"/>
    <dgm:cxn modelId="{E9967563-C735-49FB-8632-6B4D2C2747AF}" srcId="{166BA1B8-606E-4492-864C-E68C02D5A0D0}" destId="{3570FB14-3349-4333-A8B2-19FBA528FDCC}" srcOrd="0" destOrd="0" parTransId="{8CA5CED5-389F-4AA1-B2D8-47A3D1521D7C}" sibTransId="{9337D72F-9190-4E0C-880C-80D5BE8B7D63}"/>
    <dgm:cxn modelId="{E0D5D769-0639-40DA-A879-37C7F3EB5A26}" srcId="{3570FB14-3349-4333-A8B2-19FBA528FDCC}" destId="{BAECB7DE-BB83-4315-8C45-08670B5A5040}" srcOrd="0" destOrd="0" parTransId="{E1450071-1AA2-4285-87BB-4C052CB8FBDA}" sibTransId="{EE44F790-37CE-4329-9F53-BA7745154FE2}"/>
    <dgm:cxn modelId="{F7F6554F-EDCD-4704-BDE4-7BA64865FF6B}" type="presOf" srcId="{C9EE6B25-7745-4256-A7FC-E6BE012CE5B6}" destId="{7DD17B51-0FA9-4E3A-AEEA-BDB80923EDF6}" srcOrd="0" destOrd="0" presId="urn:microsoft.com/office/officeart/2005/8/layout/chevron2"/>
    <dgm:cxn modelId="{EF88CA7E-F5B3-4538-9536-B3AAD2061DB8}" srcId="{C77BB696-CF6C-4A06-89F5-221A17AF754F}" destId="{CA600E60-F3B1-4024-82B4-39323BC98F75}" srcOrd="0" destOrd="0" parTransId="{FD8B0E5C-4B6B-456C-A5FD-A401C8C7B489}" sibTransId="{D67DCC3E-D88B-4620-B8D1-ADB1D3B085D7}"/>
    <dgm:cxn modelId="{D6CCD78A-5FC8-4D3C-83AC-7995281B1D08}" type="presOf" srcId="{CA600E60-F3B1-4024-82B4-39323BC98F75}" destId="{1CD8A935-4A3D-45ED-AE8F-96674751E081}" srcOrd="0" destOrd="0" presId="urn:microsoft.com/office/officeart/2005/8/layout/chevron2"/>
    <dgm:cxn modelId="{D49AABAF-53D0-4553-BEDE-04EBF249F7BD}" type="presOf" srcId="{9746FC88-A048-4919-9CED-E9578CC6F521}" destId="{FB7AC98D-2796-4925-9E59-7ECD70A3A9B5}" srcOrd="0" destOrd="0" presId="urn:microsoft.com/office/officeart/2005/8/layout/chevron2"/>
    <dgm:cxn modelId="{18426DBB-31CB-4CB8-8597-018474060F2B}" type="presOf" srcId="{3570FB14-3349-4333-A8B2-19FBA528FDCC}" destId="{7F877550-192A-4AD2-87BF-6DAD8C6884C6}" srcOrd="0" destOrd="0" presId="urn:microsoft.com/office/officeart/2005/8/layout/chevron2"/>
    <dgm:cxn modelId="{B1F93BC3-4F91-4C04-8F2B-BAB67B3A6DB2}" type="presOf" srcId="{166BA1B8-606E-4492-864C-E68C02D5A0D0}" destId="{9EA6C201-7D88-455D-A48B-51C2079BE1AA}" srcOrd="0" destOrd="0" presId="urn:microsoft.com/office/officeart/2005/8/layout/chevron2"/>
    <dgm:cxn modelId="{A3C4C8C9-F7DE-497C-B085-8812DCF424C5}" type="presOf" srcId="{5056A5BC-C03B-45EC-ABCA-706D95EB79C8}" destId="{47F167B7-0A5E-4F36-81B0-E8C0EBE241F6}" srcOrd="0" destOrd="0" presId="urn:microsoft.com/office/officeart/2005/8/layout/chevron2"/>
    <dgm:cxn modelId="{93BEFCE8-18DE-43B7-866F-55B0EEEBD514}" srcId="{166BA1B8-606E-4492-864C-E68C02D5A0D0}" destId="{F650473D-CE0B-4E69-A4ED-5A8F74F0A87C}" srcOrd="2" destOrd="0" parTransId="{DCE6E7FE-6BC3-40B0-8CD7-801317CB0ADD}" sibTransId="{8C927FB4-5B65-4666-BAA0-90E5A76C74C6}"/>
    <dgm:cxn modelId="{CDF8B2EC-D9E3-44FE-A704-544480C7161C}" type="presOf" srcId="{BAECB7DE-BB83-4315-8C45-08670B5A5040}" destId="{8F196344-2766-48FD-8408-758F79468FD8}" srcOrd="0" destOrd="0" presId="urn:microsoft.com/office/officeart/2005/8/layout/chevron2"/>
    <dgm:cxn modelId="{D6DB3FF8-EDAD-46A4-A819-66F58E19420A}" srcId="{9746FC88-A048-4919-9CED-E9578CC6F521}" destId="{5056A5BC-C03B-45EC-ABCA-706D95EB79C8}" srcOrd="0" destOrd="0" parTransId="{7E8A3796-DDD3-4FBD-946E-CBD77AB4CE7A}" sibTransId="{BF86E37B-2ACA-4F8E-8594-C2EE0783DC71}"/>
    <dgm:cxn modelId="{363237F9-0420-4564-B545-A5ADF9EAC77A}" type="presOf" srcId="{C77BB696-CF6C-4A06-89F5-221A17AF754F}" destId="{0683817D-64B1-4563-ADA8-AE606B32589E}" srcOrd="0" destOrd="0" presId="urn:microsoft.com/office/officeart/2005/8/layout/chevron2"/>
    <dgm:cxn modelId="{1BCA45E7-AA1B-46EC-8687-E527BBD6F893}" type="presParOf" srcId="{9EA6C201-7D88-455D-A48B-51C2079BE1AA}" destId="{7CA8CE14-0C7F-4477-A309-E397BEAFFB85}" srcOrd="0" destOrd="0" presId="urn:microsoft.com/office/officeart/2005/8/layout/chevron2"/>
    <dgm:cxn modelId="{9B5866AB-DC18-4C3A-8AB2-0E7C0EA8B0F4}" type="presParOf" srcId="{7CA8CE14-0C7F-4477-A309-E397BEAFFB85}" destId="{7F877550-192A-4AD2-87BF-6DAD8C6884C6}" srcOrd="0" destOrd="0" presId="urn:microsoft.com/office/officeart/2005/8/layout/chevron2"/>
    <dgm:cxn modelId="{A31A0A64-F4B3-4235-991F-64FB23D5117D}" type="presParOf" srcId="{7CA8CE14-0C7F-4477-A309-E397BEAFFB85}" destId="{8F196344-2766-48FD-8408-758F79468FD8}" srcOrd="1" destOrd="0" presId="urn:microsoft.com/office/officeart/2005/8/layout/chevron2"/>
    <dgm:cxn modelId="{49C5653D-486D-4406-A9F4-EE6C93F4E029}" type="presParOf" srcId="{9EA6C201-7D88-455D-A48B-51C2079BE1AA}" destId="{ADBDFDD1-5B31-43EA-B8E3-128F96E0190C}" srcOrd="1" destOrd="0" presId="urn:microsoft.com/office/officeart/2005/8/layout/chevron2"/>
    <dgm:cxn modelId="{060F20AD-B843-452B-A339-4EF2ACC20635}" type="presParOf" srcId="{9EA6C201-7D88-455D-A48B-51C2079BE1AA}" destId="{52D76000-5C36-45BC-ACB2-A98486AC9741}" srcOrd="2" destOrd="0" presId="urn:microsoft.com/office/officeart/2005/8/layout/chevron2"/>
    <dgm:cxn modelId="{AFF3EB11-ABE5-4AE6-AB83-76D07D0FC527}" type="presParOf" srcId="{52D76000-5C36-45BC-ACB2-A98486AC9741}" destId="{0683817D-64B1-4563-ADA8-AE606B32589E}" srcOrd="0" destOrd="0" presId="urn:microsoft.com/office/officeart/2005/8/layout/chevron2"/>
    <dgm:cxn modelId="{7617470B-9205-4461-B580-8CA8C77D90D7}" type="presParOf" srcId="{52D76000-5C36-45BC-ACB2-A98486AC9741}" destId="{1CD8A935-4A3D-45ED-AE8F-96674751E081}" srcOrd="1" destOrd="0" presId="urn:microsoft.com/office/officeart/2005/8/layout/chevron2"/>
    <dgm:cxn modelId="{CB0006BC-EBB8-4423-B93C-9051B51AE572}" type="presParOf" srcId="{9EA6C201-7D88-455D-A48B-51C2079BE1AA}" destId="{CEB7E1C4-AB7E-453E-A7EC-686633BBAF28}" srcOrd="3" destOrd="0" presId="urn:microsoft.com/office/officeart/2005/8/layout/chevron2"/>
    <dgm:cxn modelId="{3D31E1B4-1EE3-4BD0-AC96-5F67AA619176}" type="presParOf" srcId="{9EA6C201-7D88-455D-A48B-51C2079BE1AA}" destId="{D843EB50-C453-4313-9F6B-A8550C82DCA3}" srcOrd="4" destOrd="0" presId="urn:microsoft.com/office/officeart/2005/8/layout/chevron2"/>
    <dgm:cxn modelId="{DBBC083A-871E-4DB7-A725-68CBC21CBBFF}" type="presParOf" srcId="{D843EB50-C453-4313-9F6B-A8550C82DCA3}" destId="{0FDC472F-51F3-406B-A132-4D22DD4DE477}" srcOrd="0" destOrd="0" presId="urn:microsoft.com/office/officeart/2005/8/layout/chevron2"/>
    <dgm:cxn modelId="{BAEBE1EF-AB51-4618-B6CB-48C0778F09D4}" type="presParOf" srcId="{D843EB50-C453-4313-9F6B-A8550C82DCA3}" destId="{7DD17B51-0FA9-4E3A-AEEA-BDB80923EDF6}" srcOrd="1" destOrd="0" presId="urn:microsoft.com/office/officeart/2005/8/layout/chevron2"/>
    <dgm:cxn modelId="{9CF24D22-C35A-4263-82F4-E93EB5040853}" type="presParOf" srcId="{9EA6C201-7D88-455D-A48B-51C2079BE1AA}" destId="{781CB63F-C3D0-4391-AAB4-5958104D0489}" srcOrd="5" destOrd="0" presId="urn:microsoft.com/office/officeart/2005/8/layout/chevron2"/>
    <dgm:cxn modelId="{154F06AE-2B3B-48C3-B187-5BE6A0BDF6A7}" type="presParOf" srcId="{9EA6C201-7D88-455D-A48B-51C2079BE1AA}" destId="{72E649FA-3EE7-4EB4-A628-C72BA4EE4766}" srcOrd="6" destOrd="0" presId="urn:microsoft.com/office/officeart/2005/8/layout/chevron2"/>
    <dgm:cxn modelId="{BEBC0C99-A6AB-40C6-9DE8-15A035DC6CB2}" type="presParOf" srcId="{72E649FA-3EE7-4EB4-A628-C72BA4EE4766}" destId="{FB7AC98D-2796-4925-9E59-7ECD70A3A9B5}" srcOrd="0" destOrd="0" presId="urn:microsoft.com/office/officeart/2005/8/layout/chevron2"/>
    <dgm:cxn modelId="{5EE9CE42-FCEE-4C68-8633-E30BBBD21D5E}" type="presParOf" srcId="{72E649FA-3EE7-4EB4-A628-C72BA4EE4766}" destId="{47F167B7-0A5E-4F36-81B0-E8C0EBE241F6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7F6A5E-9EE3-4821-8CD9-FF5D4C2C7195}">
      <dsp:nvSpPr>
        <dsp:cNvPr id="0" name=""/>
        <dsp:cNvSpPr/>
      </dsp:nvSpPr>
      <dsp:spPr>
        <a:xfrm rot="5400000">
          <a:off x="5642211" y="-2367413"/>
          <a:ext cx="736889" cy="5657088"/>
        </a:xfrm>
        <a:prstGeom prst="round2Same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PT" sz="1800" kern="1200" dirty="0"/>
            <a:t>On-line </a:t>
          </a:r>
          <a:r>
            <a:rPr lang="pt-PT" sz="1800" kern="1200" dirty="0" err="1"/>
            <a:t>sensors</a:t>
          </a:r>
          <a:r>
            <a:rPr lang="pt-PT" sz="1800" kern="1200" dirty="0"/>
            <a:t> </a:t>
          </a:r>
          <a:r>
            <a:rPr lang="pt-PT" sz="1800" kern="1200" dirty="0" err="1"/>
            <a:t>or</a:t>
          </a:r>
          <a:r>
            <a:rPr lang="pt-PT" sz="1800" kern="1200" dirty="0"/>
            <a:t> off-line </a:t>
          </a:r>
          <a:r>
            <a:rPr lang="pt-PT" sz="1800" kern="1200" dirty="0" err="1"/>
            <a:t>laboratory</a:t>
          </a:r>
          <a:r>
            <a:rPr lang="pt-PT" sz="1800" kern="1200" dirty="0"/>
            <a:t> </a:t>
          </a:r>
          <a:r>
            <a:rPr lang="pt-PT" sz="1800" kern="1200" dirty="0" err="1"/>
            <a:t>analysis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PT" sz="1800" kern="1200" dirty="0" err="1"/>
            <a:t>Experiments</a:t>
          </a:r>
          <a:endParaRPr lang="en-US" sz="1800" kern="1200" dirty="0"/>
        </a:p>
      </dsp:txBody>
      <dsp:txXfrm rot="-5400000">
        <a:off x="3182112" y="128658"/>
        <a:ext cx="5621116" cy="664945"/>
      </dsp:txXfrm>
    </dsp:sp>
    <dsp:sp modelId="{7800AB58-CAE7-4CF8-9C86-C3438897C8D2}">
      <dsp:nvSpPr>
        <dsp:cNvPr id="0" name=""/>
        <dsp:cNvSpPr/>
      </dsp:nvSpPr>
      <dsp:spPr>
        <a:xfrm>
          <a:off x="0" y="574"/>
          <a:ext cx="3182112" cy="921111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800" kern="1200" dirty="0"/>
            <a:t>Data </a:t>
          </a:r>
          <a:r>
            <a:rPr lang="pt-PT" sz="2800" kern="1200" dirty="0" err="1"/>
            <a:t>collection</a:t>
          </a:r>
          <a:r>
            <a:rPr lang="pt-PT" sz="2800" kern="1200" dirty="0"/>
            <a:t> </a:t>
          </a:r>
          <a:r>
            <a:rPr lang="pt-PT" sz="2800" kern="1200" dirty="0" err="1"/>
            <a:t>and</a:t>
          </a:r>
          <a:r>
            <a:rPr lang="pt-PT" sz="2800" kern="1200" dirty="0"/>
            <a:t> </a:t>
          </a:r>
          <a:r>
            <a:rPr lang="pt-PT" sz="2800" kern="1200" dirty="0" err="1"/>
            <a:t>acquisition</a:t>
          </a:r>
          <a:endParaRPr lang="en-US" sz="2800" kern="1200" dirty="0"/>
        </a:p>
      </dsp:txBody>
      <dsp:txXfrm>
        <a:off x="44965" y="45539"/>
        <a:ext cx="3092182" cy="831181"/>
      </dsp:txXfrm>
    </dsp:sp>
    <dsp:sp modelId="{8A5F9279-2FBD-4BAF-A9DE-6821E25B4054}">
      <dsp:nvSpPr>
        <dsp:cNvPr id="0" name=""/>
        <dsp:cNvSpPr/>
      </dsp:nvSpPr>
      <dsp:spPr>
        <a:xfrm rot="5400000">
          <a:off x="5642211" y="-1400246"/>
          <a:ext cx="736889" cy="5657088"/>
        </a:xfrm>
        <a:prstGeom prst="round2SameRect">
          <a:avLst/>
        </a:prstGeom>
        <a:solidFill>
          <a:schemeClr val="accent3">
            <a:tint val="40000"/>
            <a:alpha val="90000"/>
            <a:hueOff val="842526"/>
            <a:satOff val="7451"/>
            <a:lumOff val="883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842526"/>
              <a:satOff val="7451"/>
              <a:lumOff val="88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PT" sz="1800" kern="1200" dirty="0"/>
            <a:t>Excel </a:t>
          </a:r>
          <a:r>
            <a:rPr lang="pt-PT" sz="1800" kern="1200" dirty="0" err="1"/>
            <a:t>spreadsheets</a:t>
          </a:r>
          <a:r>
            <a:rPr lang="pt-PT" sz="1800" kern="1200" dirty="0"/>
            <a:t>, .</a:t>
          </a:r>
          <a:r>
            <a:rPr lang="pt-PT" sz="1800" kern="1200" dirty="0" err="1"/>
            <a:t>csv</a:t>
          </a:r>
          <a:r>
            <a:rPr lang="pt-PT" sz="1800" kern="1200" dirty="0"/>
            <a:t> files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PT" sz="1800" kern="1200" dirty="0"/>
            <a:t>SQL </a:t>
          </a:r>
          <a:r>
            <a:rPr lang="pt-PT" sz="1800" kern="1200" dirty="0" err="1"/>
            <a:t>databases</a:t>
          </a:r>
          <a:r>
            <a:rPr lang="pt-PT" sz="1800" kern="1200" dirty="0"/>
            <a:t>/</a:t>
          </a:r>
          <a:r>
            <a:rPr lang="pt-PT" sz="1800" kern="1200" dirty="0" err="1"/>
            <a:t>historians</a:t>
          </a:r>
          <a:endParaRPr lang="en-US" sz="1800" kern="1200" dirty="0"/>
        </a:p>
      </dsp:txBody>
      <dsp:txXfrm rot="-5400000">
        <a:off x="3182112" y="1095825"/>
        <a:ext cx="5621116" cy="664945"/>
      </dsp:txXfrm>
    </dsp:sp>
    <dsp:sp modelId="{7E587D8A-6235-4644-ACA4-27925E0C4639}">
      <dsp:nvSpPr>
        <dsp:cNvPr id="0" name=""/>
        <dsp:cNvSpPr/>
      </dsp:nvSpPr>
      <dsp:spPr>
        <a:xfrm>
          <a:off x="0" y="967741"/>
          <a:ext cx="3182112" cy="921111"/>
        </a:xfrm>
        <a:prstGeom prst="roundRect">
          <a:avLst/>
        </a:prstGeom>
        <a:solidFill>
          <a:schemeClr val="accent3">
            <a:hueOff val="686194"/>
            <a:satOff val="4119"/>
            <a:lumOff val="313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800" kern="1200" dirty="0"/>
            <a:t>Data </a:t>
          </a:r>
          <a:r>
            <a:rPr lang="pt-PT" sz="2800" kern="1200" dirty="0" err="1"/>
            <a:t>storage</a:t>
          </a:r>
          <a:endParaRPr lang="en-US" sz="2800" kern="1200" dirty="0"/>
        </a:p>
      </dsp:txBody>
      <dsp:txXfrm>
        <a:off x="44965" y="1012706"/>
        <a:ext cx="3092182" cy="831181"/>
      </dsp:txXfrm>
    </dsp:sp>
    <dsp:sp modelId="{A37AF600-DBEA-4964-9184-DD44E8827743}">
      <dsp:nvSpPr>
        <dsp:cNvPr id="0" name=""/>
        <dsp:cNvSpPr/>
      </dsp:nvSpPr>
      <dsp:spPr>
        <a:xfrm rot="5400000">
          <a:off x="5642211" y="-433078"/>
          <a:ext cx="736889" cy="5657088"/>
        </a:xfrm>
        <a:prstGeom prst="round2SameRect">
          <a:avLst/>
        </a:prstGeom>
        <a:solidFill>
          <a:schemeClr val="accent3">
            <a:tint val="40000"/>
            <a:alpha val="90000"/>
            <a:hueOff val="1685052"/>
            <a:satOff val="14902"/>
            <a:lumOff val="1765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1685052"/>
              <a:satOff val="14902"/>
              <a:lumOff val="1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PT" sz="1800" kern="1200" dirty="0" err="1"/>
            <a:t>Extract</a:t>
          </a:r>
          <a:r>
            <a:rPr lang="pt-PT" sz="1800" kern="1200" dirty="0"/>
            <a:t> data </a:t>
          </a:r>
          <a:r>
            <a:rPr lang="pt-PT" sz="1800" kern="1200" dirty="0" err="1"/>
            <a:t>from</a:t>
          </a:r>
          <a:r>
            <a:rPr lang="pt-PT" sz="1800" kern="1200" dirty="0"/>
            <a:t> </a:t>
          </a:r>
          <a:r>
            <a:rPr lang="pt-PT" sz="1800" kern="1200" dirty="0" err="1"/>
            <a:t>databases</a:t>
          </a:r>
          <a:r>
            <a:rPr lang="pt-PT" sz="1800" kern="1200" dirty="0"/>
            <a:t> </a:t>
          </a:r>
          <a:r>
            <a:rPr lang="pt-PT" sz="1800" kern="1200" dirty="0" err="1"/>
            <a:t>or</a:t>
          </a:r>
          <a:r>
            <a:rPr lang="pt-PT" sz="1800" kern="1200" dirty="0"/>
            <a:t> </a:t>
          </a:r>
          <a:r>
            <a:rPr lang="pt-PT" sz="1800" kern="1200" dirty="0" err="1"/>
            <a:t>spreadsheets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PT" sz="1800" kern="1200" dirty="0" err="1"/>
            <a:t>Transform</a:t>
          </a:r>
          <a:r>
            <a:rPr lang="pt-PT" sz="1800" kern="1200" dirty="0"/>
            <a:t> </a:t>
          </a:r>
          <a:r>
            <a:rPr lang="pt-PT" sz="1800" kern="1200" dirty="0" err="1"/>
            <a:t>or</a:t>
          </a:r>
          <a:r>
            <a:rPr lang="pt-PT" sz="1800" kern="1200" dirty="0"/>
            <a:t> </a:t>
          </a:r>
          <a:r>
            <a:rPr lang="pt-PT" sz="1800" kern="1200" dirty="0" err="1"/>
            <a:t>clean</a:t>
          </a:r>
          <a:r>
            <a:rPr lang="pt-PT" sz="1800" kern="1200" dirty="0"/>
            <a:t> data for </a:t>
          </a:r>
          <a:r>
            <a:rPr lang="pt-PT" sz="1800" kern="1200" dirty="0" err="1"/>
            <a:t>analysis</a:t>
          </a:r>
          <a:endParaRPr lang="en-US" sz="1800" kern="1200" dirty="0"/>
        </a:p>
      </dsp:txBody>
      <dsp:txXfrm rot="-5400000">
        <a:off x="3182112" y="2062993"/>
        <a:ext cx="5621116" cy="664945"/>
      </dsp:txXfrm>
    </dsp:sp>
    <dsp:sp modelId="{E324597F-A74F-41D2-A028-E8A64BDEF1D5}">
      <dsp:nvSpPr>
        <dsp:cNvPr id="0" name=""/>
        <dsp:cNvSpPr/>
      </dsp:nvSpPr>
      <dsp:spPr>
        <a:xfrm>
          <a:off x="0" y="1934909"/>
          <a:ext cx="3182112" cy="921111"/>
        </a:xfrm>
        <a:prstGeom prst="roundRect">
          <a:avLst/>
        </a:prstGeom>
        <a:solidFill>
          <a:schemeClr val="accent3">
            <a:hueOff val="1372388"/>
            <a:satOff val="8237"/>
            <a:lumOff val="627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800" kern="1200" dirty="0" err="1"/>
            <a:t>Extract</a:t>
          </a:r>
          <a:r>
            <a:rPr lang="pt-PT" sz="2800" kern="1200" dirty="0"/>
            <a:t> data </a:t>
          </a:r>
          <a:r>
            <a:rPr lang="pt-PT" sz="2800" kern="1200" dirty="0" err="1"/>
            <a:t>from</a:t>
          </a:r>
          <a:r>
            <a:rPr lang="pt-PT" sz="2800" kern="1200" dirty="0"/>
            <a:t> </a:t>
          </a:r>
          <a:r>
            <a:rPr lang="pt-PT" sz="2800" kern="1200" dirty="0" err="1"/>
            <a:t>databases</a:t>
          </a:r>
          <a:endParaRPr lang="en-US" sz="2800" kern="1200" dirty="0"/>
        </a:p>
      </dsp:txBody>
      <dsp:txXfrm>
        <a:off x="44965" y="1979874"/>
        <a:ext cx="3092182" cy="831181"/>
      </dsp:txXfrm>
    </dsp:sp>
    <dsp:sp modelId="{9F5486F8-6ED6-4FC0-94CB-158E6588E3AB}">
      <dsp:nvSpPr>
        <dsp:cNvPr id="0" name=""/>
        <dsp:cNvSpPr/>
      </dsp:nvSpPr>
      <dsp:spPr>
        <a:xfrm rot="5400000">
          <a:off x="5642211" y="534088"/>
          <a:ext cx="736889" cy="5657088"/>
        </a:xfrm>
        <a:prstGeom prst="round2SameRect">
          <a:avLst/>
        </a:prstGeom>
        <a:solidFill>
          <a:schemeClr val="accent3">
            <a:tint val="40000"/>
            <a:alpha val="90000"/>
            <a:hueOff val="2527578"/>
            <a:satOff val="22352"/>
            <a:lumOff val="2648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2527578"/>
              <a:satOff val="22352"/>
              <a:lumOff val="264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PT" sz="1800" kern="1200" dirty="0"/>
            <a:t>Data </a:t>
          </a:r>
          <a:r>
            <a:rPr lang="pt-PT" sz="1800" kern="1200" dirty="0" err="1"/>
            <a:t>visualization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PT" sz="1800" kern="1200" dirty="0" err="1"/>
            <a:t>Statistical</a:t>
          </a:r>
          <a:r>
            <a:rPr lang="pt-PT" sz="1800" kern="1200" dirty="0"/>
            <a:t> </a:t>
          </a:r>
          <a:r>
            <a:rPr lang="pt-PT" sz="1800" kern="1200" dirty="0" err="1"/>
            <a:t>analysis</a:t>
          </a:r>
          <a:r>
            <a:rPr lang="pt-PT" sz="1800" kern="1200" dirty="0"/>
            <a:t> (</a:t>
          </a:r>
          <a:r>
            <a:rPr lang="pt-PT" sz="1800" kern="1200" dirty="0" err="1"/>
            <a:t>univariate</a:t>
          </a:r>
          <a:r>
            <a:rPr lang="pt-PT" sz="1800" kern="1200" dirty="0"/>
            <a:t> </a:t>
          </a:r>
          <a:r>
            <a:rPr lang="pt-PT" sz="1800" kern="1200" dirty="0" err="1"/>
            <a:t>and</a:t>
          </a:r>
          <a:r>
            <a:rPr lang="pt-PT" sz="1800" kern="1200" dirty="0"/>
            <a:t> </a:t>
          </a:r>
          <a:r>
            <a:rPr lang="pt-PT" sz="1800" kern="1200" dirty="0" err="1"/>
            <a:t>multivariate</a:t>
          </a:r>
          <a:r>
            <a:rPr lang="pt-PT" sz="1400" kern="1200" dirty="0"/>
            <a:t>)</a:t>
          </a:r>
          <a:endParaRPr lang="en-US" sz="1400" kern="1200" dirty="0"/>
        </a:p>
      </dsp:txBody>
      <dsp:txXfrm rot="-5400000">
        <a:off x="3182112" y="3030159"/>
        <a:ext cx="5621116" cy="664945"/>
      </dsp:txXfrm>
    </dsp:sp>
    <dsp:sp modelId="{E691E0F2-698E-4C59-B6B9-D6898E32DE1F}">
      <dsp:nvSpPr>
        <dsp:cNvPr id="0" name=""/>
        <dsp:cNvSpPr/>
      </dsp:nvSpPr>
      <dsp:spPr>
        <a:xfrm>
          <a:off x="0" y="2902076"/>
          <a:ext cx="3182112" cy="921111"/>
        </a:xfrm>
        <a:prstGeom prst="roundRect">
          <a:avLst/>
        </a:prstGeom>
        <a:solidFill>
          <a:schemeClr val="accent3">
            <a:hueOff val="2058582"/>
            <a:satOff val="12356"/>
            <a:lumOff val="941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800" kern="1200" dirty="0" err="1"/>
            <a:t>Exploratory</a:t>
          </a:r>
          <a:r>
            <a:rPr lang="pt-PT" sz="2800" kern="1200" dirty="0"/>
            <a:t> data </a:t>
          </a:r>
          <a:r>
            <a:rPr lang="pt-PT" sz="2800" kern="1200" dirty="0" err="1"/>
            <a:t>analysis</a:t>
          </a:r>
          <a:endParaRPr lang="en-US" sz="2800" kern="1200" dirty="0"/>
        </a:p>
      </dsp:txBody>
      <dsp:txXfrm>
        <a:off x="44965" y="2947041"/>
        <a:ext cx="3092182" cy="831181"/>
      </dsp:txXfrm>
    </dsp:sp>
    <dsp:sp modelId="{29126A74-AE6E-4CB0-9EED-B53C335F144A}">
      <dsp:nvSpPr>
        <dsp:cNvPr id="0" name=""/>
        <dsp:cNvSpPr/>
      </dsp:nvSpPr>
      <dsp:spPr>
        <a:xfrm rot="5400000">
          <a:off x="5642211" y="1515359"/>
          <a:ext cx="736889" cy="5657088"/>
        </a:xfrm>
        <a:prstGeom prst="round2SameRect">
          <a:avLst/>
        </a:prstGeom>
        <a:solidFill>
          <a:schemeClr val="accent3">
            <a:tint val="40000"/>
            <a:alpha val="90000"/>
            <a:hueOff val="3370104"/>
            <a:satOff val="29803"/>
            <a:lumOff val="3530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3370104"/>
              <a:satOff val="29803"/>
              <a:lumOff val="353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PT" sz="1800" kern="1200" dirty="0" err="1"/>
            <a:t>What</a:t>
          </a:r>
          <a:r>
            <a:rPr lang="pt-PT" sz="1800" kern="1200" dirty="0"/>
            <a:t> to </a:t>
          </a:r>
          <a:r>
            <a:rPr lang="pt-PT" sz="1800" kern="1200" dirty="0" err="1"/>
            <a:t>want</a:t>
          </a:r>
          <a:r>
            <a:rPr lang="pt-PT" sz="1800" kern="1200" dirty="0"/>
            <a:t> to </a:t>
          </a:r>
          <a:r>
            <a:rPr lang="pt-PT" sz="1800" kern="1200" dirty="0" err="1"/>
            <a:t>predict</a:t>
          </a:r>
          <a:r>
            <a:rPr lang="pt-PT" sz="1800" kern="1200" dirty="0"/>
            <a:t>? 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PT" sz="1800" kern="1200" dirty="0" err="1"/>
            <a:t>What</a:t>
          </a:r>
          <a:r>
            <a:rPr lang="pt-PT" sz="1800" kern="1200" dirty="0"/>
            <a:t> to use for </a:t>
          </a:r>
          <a:r>
            <a:rPr lang="pt-PT" sz="1800" kern="1200" dirty="0" err="1"/>
            <a:t>prediction</a:t>
          </a:r>
          <a:r>
            <a:rPr lang="pt-PT" sz="1800" kern="1200" dirty="0"/>
            <a:t>?</a:t>
          </a:r>
          <a:endParaRPr lang="en-US" sz="1800" kern="1200" dirty="0"/>
        </a:p>
      </dsp:txBody>
      <dsp:txXfrm rot="-5400000">
        <a:off x="3182112" y="4011430"/>
        <a:ext cx="5621116" cy="664945"/>
      </dsp:txXfrm>
    </dsp:sp>
    <dsp:sp modelId="{53D420D7-8CC0-4CBC-BA75-A9CD5C41EE3C}">
      <dsp:nvSpPr>
        <dsp:cNvPr id="0" name=""/>
        <dsp:cNvSpPr/>
      </dsp:nvSpPr>
      <dsp:spPr>
        <a:xfrm>
          <a:off x="0" y="3869243"/>
          <a:ext cx="3182112" cy="921111"/>
        </a:xfrm>
        <a:prstGeom prst="roundRect">
          <a:avLst/>
        </a:prstGeom>
        <a:solidFill>
          <a:schemeClr val="accent3">
            <a:hueOff val="2744775"/>
            <a:satOff val="16475"/>
            <a:lumOff val="1255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800" kern="1200" dirty="0"/>
            <a:t>Define </a:t>
          </a:r>
          <a:r>
            <a:rPr lang="pt-PT" sz="2800" kern="1200" dirty="0" err="1"/>
            <a:t>goals</a:t>
          </a:r>
          <a:r>
            <a:rPr lang="pt-PT" sz="2800" kern="1200" dirty="0"/>
            <a:t> </a:t>
          </a:r>
          <a:r>
            <a:rPr lang="pt-PT" sz="2800" kern="1200" dirty="0" err="1"/>
            <a:t>and</a:t>
          </a:r>
          <a:r>
            <a:rPr lang="pt-PT" sz="2800" kern="1200" dirty="0"/>
            <a:t> </a:t>
          </a:r>
          <a:r>
            <a:rPr lang="pt-PT" sz="2800" kern="1200" dirty="0" err="1"/>
            <a:t>hypothesis</a:t>
          </a:r>
          <a:endParaRPr lang="en-US" sz="2800" kern="1200" dirty="0"/>
        </a:p>
      </dsp:txBody>
      <dsp:txXfrm>
        <a:off x="44965" y="3914208"/>
        <a:ext cx="3092182" cy="831181"/>
      </dsp:txXfrm>
    </dsp:sp>
    <dsp:sp modelId="{2EC26013-5BA5-4B9B-A77A-351309C56DDF}">
      <dsp:nvSpPr>
        <dsp:cNvPr id="0" name=""/>
        <dsp:cNvSpPr/>
      </dsp:nvSpPr>
      <dsp:spPr>
        <a:xfrm rot="5400000">
          <a:off x="5642211" y="2468423"/>
          <a:ext cx="736889" cy="5657088"/>
        </a:xfrm>
        <a:prstGeom prst="round2SameRect">
          <a:avLst/>
        </a:prstGeom>
        <a:solidFill>
          <a:schemeClr val="accent3">
            <a:tint val="40000"/>
            <a:alpha val="90000"/>
            <a:hueOff val="4212629"/>
            <a:satOff val="37254"/>
            <a:lumOff val="4413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4212629"/>
              <a:satOff val="37254"/>
              <a:lumOff val="441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PT" sz="1800" kern="1200" dirty="0"/>
            <a:t>Define </a:t>
          </a:r>
          <a:r>
            <a:rPr lang="pt-PT" sz="1800" kern="1200" dirty="0" err="1"/>
            <a:t>modeling</a:t>
          </a:r>
          <a:r>
            <a:rPr lang="pt-PT" sz="1800" kern="1200" dirty="0"/>
            <a:t> </a:t>
          </a:r>
          <a:r>
            <a:rPr lang="pt-PT" sz="1800" kern="1200" dirty="0" err="1"/>
            <a:t>hypothesis</a:t>
          </a:r>
          <a:endParaRPr lang="en-US" sz="1800" kern="1200" dirty="0"/>
        </a:p>
      </dsp:txBody>
      <dsp:txXfrm rot="-5400000">
        <a:off x="3182112" y="4964494"/>
        <a:ext cx="5621116" cy="664945"/>
      </dsp:txXfrm>
    </dsp:sp>
    <dsp:sp modelId="{F9390EFB-83AD-411F-B322-069841ECDBA0}">
      <dsp:nvSpPr>
        <dsp:cNvPr id="0" name=""/>
        <dsp:cNvSpPr/>
      </dsp:nvSpPr>
      <dsp:spPr>
        <a:xfrm>
          <a:off x="0" y="4836411"/>
          <a:ext cx="3182112" cy="921111"/>
        </a:xfrm>
        <a:prstGeom prst="roundRect">
          <a:avLst/>
        </a:prstGeom>
        <a:solidFill>
          <a:schemeClr val="accent3">
            <a:hueOff val="3430969"/>
            <a:satOff val="20593"/>
            <a:lumOff val="1568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800" kern="1200" dirty="0" err="1"/>
            <a:t>Build</a:t>
          </a:r>
          <a:r>
            <a:rPr lang="pt-PT" sz="2800" kern="1200" dirty="0"/>
            <a:t> </a:t>
          </a:r>
          <a:r>
            <a:rPr lang="pt-PT" sz="2800" kern="1200" dirty="0" err="1"/>
            <a:t>models</a:t>
          </a:r>
          <a:endParaRPr lang="en-US" sz="2800" kern="1200" dirty="0"/>
        </a:p>
      </dsp:txBody>
      <dsp:txXfrm>
        <a:off x="44965" y="4881376"/>
        <a:ext cx="3092182" cy="831181"/>
      </dsp:txXfrm>
    </dsp:sp>
    <dsp:sp modelId="{22F2CF04-1F9C-4314-B8D8-DD3367C3FBFF}">
      <dsp:nvSpPr>
        <dsp:cNvPr id="0" name=""/>
        <dsp:cNvSpPr/>
      </dsp:nvSpPr>
      <dsp:spPr>
        <a:xfrm rot="5400000">
          <a:off x="5642211" y="3435590"/>
          <a:ext cx="736889" cy="5657088"/>
        </a:xfrm>
        <a:prstGeom prst="round2SameRect">
          <a:avLst/>
        </a:prstGeom>
        <a:solidFill>
          <a:schemeClr val="accent3">
            <a:tint val="40000"/>
            <a:alpha val="90000"/>
            <a:hueOff val="5055155"/>
            <a:satOff val="44705"/>
            <a:lumOff val="5295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5055155"/>
              <a:satOff val="44705"/>
              <a:lumOff val="529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PT" sz="1800" kern="1200" dirty="0"/>
            <a:t>Is </a:t>
          </a:r>
          <a:r>
            <a:rPr lang="pt-PT" sz="1800" kern="1200" dirty="0" err="1"/>
            <a:t>the</a:t>
          </a:r>
          <a:r>
            <a:rPr lang="pt-PT" sz="1800" kern="1200" dirty="0"/>
            <a:t> </a:t>
          </a:r>
          <a:r>
            <a:rPr lang="pt-PT" sz="1800" kern="1200" dirty="0" err="1"/>
            <a:t>model</a:t>
          </a:r>
          <a:r>
            <a:rPr lang="pt-PT" sz="1800" kern="1200" dirty="0"/>
            <a:t> </a:t>
          </a:r>
          <a:r>
            <a:rPr lang="pt-PT" sz="1800" kern="1200" dirty="0" err="1"/>
            <a:t>good</a:t>
          </a:r>
          <a:r>
            <a:rPr lang="pt-PT" sz="1800" kern="1200" dirty="0"/>
            <a:t> for </a:t>
          </a:r>
          <a:r>
            <a:rPr lang="pt-PT" sz="1800" kern="1200" dirty="0" err="1"/>
            <a:t>our</a:t>
          </a:r>
          <a:r>
            <a:rPr lang="pt-PT" sz="1800" kern="1200" dirty="0"/>
            <a:t> </a:t>
          </a:r>
          <a:r>
            <a:rPr lang="pt-PT" sz="1800" kern="1200" dirty="0" err="1"/>
            <a:t>goals</a:t>
          </a:r>
          <a:r>
            <a:rPr lang="pt-PT" sz="1800" kern="1200" dirty="0"/>
            <a:t>?</a:t>
          </a:r>
          <a:endParaRPr lang="en-US" sz="1800" kern="1200" dirty="0"/>
        </a:p>
      </dsp:txBody>
      <dsp:txXfrm rot="-5400000">
        <a:off x="3182112" y="5931661"/>
        <a:ext cx="5621116" cy="664945"/>
      </dsp:txXfrm>
    </dsp:sp>
    <dsp:sp modelId="{3668BFCD-4099-463A-9CF2-3C3F6A71584A}">
      <dsp:nvSpPr>
        <dsp:cNvPr id="0" name=""/>
        <dsp:cNvSpPr/>
      </dsp:nvSpPr>
      <dsp:spPr>
        <a:xfrm>
          <a:off x="0" y="5803578"/>
          <a:ext cx="3182112" cy="921111"/>
        </a:xfrm>
        <a:prstGeom prst="roundRect">
          <a:avLst/>
        </a:prstGeom>
        <a:solidFill>
          <a:schemeClr val="accent3">
            <a:hueOff val="4117163"/>
            <a:satOff val="24712"/>
            <a:lumOff val="1882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800" kern="1200" dirty="0" err="1"/>
            <a:t>Decision</a:t>
          </a:r>
          <a:r>
            <a:rPr lang="pt-PT" sz="2800" kern="1200" dirty="0"/>
            <a:t> </a:t>
          </a:r>
          <a:r>
            <a:rPr lang="pt-PT" sz="2800" kern="1200" dirty="0" err="1"/>
            <a:t>making</a:t>
          </a:r>
          <a:endParaRPr lang="en-US" sz="2800" kern="1200" dirty="0"/>
        </a:p>
      </dsp:txBody>
      <dsp:txXfrm>
        <a:off x="44965" y="5848543"/>
        <a:ext cx="3092182" cy="83118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877550-192A-4AD2-87BF-6DAD8C6884C6}">
      <dsp:nvSpPr>
        <dsp:cNvPr id="0" name=""/>
        <dsp:cNvSpPr/>
      </dsp:nvSpPr>
      <dsp:spPr>
        <a:xfrm rot="5400000">
          <a:off x="-219471" y="219479"/>
          <a:ext cx="1463145" cy="1024202"/>
        </a:xfrm>
        <a:prstGeom prst="chevron">
          <a:avLst/>
        </a:prstGeom>
        <a:solidFill>
          <a:schemeClr val="accent4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800" kern="1200" dirty="0"/>
            <a:t>1</a:t>
          </a:r>
          <a:endParaRPr lang="en-US" sz="2800" kern="1200" dirty="0"/>
        </a:p>
      </dsp:txBody>
      <dsp:txXfrm rot="-5400000">
        <a:off x="1" y="512108"/>
        <a:ext cx="1024202" cy="438943"/>
      </dsp:txXfrm>
    </dsp:sp>
    <dsp:sp modelId="{8F196344-2766-48FD-8408-758F79468FD8}">
      <dsp:nvSpPr>
        <dsp:cNvPr id="0" name=""/>
        <dsp:cNvSpPr/>
      </dsp:nvSpPr>
      <dsp:spPr>
        <a:xfrm rot="5400000">
          <a:off x="4100578" y="-3076368"/>
          <a:ext cx="951044" cy="710379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6248" tIns="18415" rIns="18415" bIns="18415" numCol="1" spcCol="1270" anchor="ctr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pt-PT" sz="2900" kern="1200" dirty="0" err="1"/>
            <a:t>Apply</a:t>
          </a:r>
          <a:r>
            <a:rPr lang="pt-PT" sz="2900" kern="1200" dirty="0"/>
            <a:t> PCA to data </a:t>
          </a:r>
          <a:r>
            <a:rPr lang="pt-PT" sz="2900" kern="1200" dirty="0" err="1"/>
            <a:t>with</a:t>
          </a:r>
          <a:r>
            <a:rPr lang="pt-PT" sz="2900" kern="1200" dirty="0"/>
            <a:t> </a:t>
          </a:r>
          <a:r>
            <a:rPr lang="pt-PT" sz="2900" kern="1200" dirty="0" err="1"/>
            <a:t>large</a:t>
          </a:r>
          <a:r>
            <a:rPr lang="pt-PT" sz="2900" kern="1200" dirty="0"/>
            <a:t> </a:t>
          </a:r>
          <a:r>
            <a:rPr lang="pt-PT" sz="2900" kern="1200" dirty="0" err="1"/>
            <a:t>number</a:t>
          </a:r>
          <a:r>
            <a:rPr lang="pt-PT" sz="2900" kern="1200" dirty="0"/>
            <a:t> </a:t>
          </a:r>
          <a:r>
            <a:rPr lang="pt-PT" sz="2900" kern="1200" dirty="0" err="1"/>
            <a:t>of</a:t>
          </a:r>
          <a:r>
            <a:rPr lang="pt-PT" sz="2900" kern="1200" dirty="0"/>
            <a:t> </a:t>
          </a:r>
          <a:r>
            <a:rPr lang="pt-PT" sz="2900" kern="1200" dirty="0" err="1"/>
            <a:t>components</a:t>
          </a:r>
          <a:endParaRPr lang="en-US" sz="2900" kern="1200" dirty="0"/>
        </a:p>
      </dsp:txBody>
      <dsp:txXfrm rot="-5400000">
        <a:off x="1024202" y="46434"/>
        <a:ext cx="7057371" cy="858192"/>
      </dsp:txXfrm>
    </dsp:sp>
    <dsp:sp modelId="{0683817D-64B1-4563-ADA8-AE606B32589E}">
      <dsp:nvSpPr>
        <dsp:cNvPr id="0" name=""/>
        <dsp:cNvSpPr/>
      </dsp:nvSpPr>
      <dsp:spPr>
        <a:xfrm rot="5400000">
          <a:off x="-219471" y="1537981"/>
          <a:ext cx="1463145" cy="1024202"/>
        </a:xfrm>
        <a:prstGeom prst="chevron">
          <a:avLst/>
        </a:prstGeom>
        <a:solidFill>
          <a:schemeClr val="accent4">
            <a:shade val="80000"/>
            <a:hueOff val="176082"/>
            <a:satOff val="-10086"/>
            <a:lumOff val="11180"/>
            <a:alphaOff val="0"/>
          </a:schemeClr>
        </a:solidFill>
        <a:ln w="19050" cap="flat" cmpd="sng" algn="ctr">
          <a:solidFill>
            <a:schemeClr val="accent4">
              <a:shade val="80000"/>
              <a:hueOff val="176082"/>
              <a:satOff val="-10086"/>
              <a:lumOff val="1118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800" kern="1200" dirty="0"/>
            <a:t>2</a:t>
          </a:r>
          <a:endParaRPr lang="en-US" sz="2800" kern="1200" dirty="0"/>
        </a:p>
      </dsp:txBody>
      <dsp:txXfrm rot="-5400000">
        <a:off x="1" y="1830610"/>
        <a:ext cx="1024202" cy="438943"/>
      </dsp:txXfrm>
    </dsp:sp>
    <dsp:sp modelId="{1CD8A935-4A3D-45ED-AE8F-96674751E081}">
      <dsp:nvSpPr>
        <dsp:cNvPr id="0" name=""/>
        <dsp:cNvSpPr/>
      </dsp:nvSpPr>
      <dsp:spPr>
        <a:xfrm rot="5400000">
          <a:off x="4100578" y="-1757866"/>
          <a:ext cx="951044" cy="710379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shade val="80000"/>
              <a:hueOff val="176082"/>
              <a:satOff val="-10086"/>
              <a:lumOff val="1118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6248" tIns="18415" rIns="18415" bIns="18415" numCol="1" spcCol="1270" anchor="ctr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PT" sz="2900" kern="1200" dirty="0" err="1"/>
            <a:t>Select</a:t>
          </a:r>
          <a:r>
            <a:rPr lang="pt-PT" sz="2900" kern="1200" dirty="0"/>
            <a:t> </a:t>
          </a:r>
          <a:r>
            <a:rPr lang="pt-PT" sz="2900" kern="1200" dirty="0" err="1"/>
            <a:t>number</a:t>
          </a:r>
          <a:r>
            <a:rPr lang="pt-PT" sz="2900" kern="1200" dirty="0"/>
            <a:t> </a:t>
          </a:r>
          <a:r>
            <a:rPr lang="pt-PT" sz="2900" kern="1200" dirty="0" err="1"/>
            <a:t>of</a:t>
          </a:r>
          <a:r>
            <a:rPr lang="pt-PT" sz="2900" kern="1200" dirty="0"/>
            <a:t> </a:t>
          </a:r>
          <a:r>
            <a:rPr lang="pt-PT" sz="2900" kern="1200" dirty="0" err="1"/>
            <a:t>components</a:t>
          </a:r>
          <a:r>
            <a:rPr lang="pt-PT" sz="2900" kern="1200" dirty="0"/>
            <a:t> to </a:t>
          </a:r>
          <a:r>
            <a:rPr lang="pt-PT" sz="2900" kern="1200" dirty="0" err="1"/>
            <a:t>retain</a:t>
          </a:r>
          <a:endParaRPr lang="en-US" sz="2900" kern="1200" dirty="0"/>
        </a:p>
      </dsp:txBody>
      <dsp:txXfrm rot="-5400000">
        <a:off x="1024202" y="1364936"/>
        <a:ext cx="7057371" cy="858192"/>
      </dsp:txXfrm>
    </dsp:sp>
    <dsp:sp modelId="{0FDC472F-51F3-406B-A132-4D22DD4DE477}">
      <dsp:nvSpPr>
        <dsp:cNvPr id="0" name=""/>
        <dsp:cNvSpPr/>
      </dsp:nvSpPr>
      <dsp:spPr>
        <a:xfrm rot="5400000">
          <a:off x="-219471" y="2856483"/>
          <a:ext cx="1463145" cy="1024202"/>
        </a:xfrm>
        <a:prstGeom prst="chevron">
          <a:avLst/>
        </a:prstGeom>
        <a:solidFill>
          <a:schemeClr val="accent4">
            <a:shade val="80000"/>
            <a:hueOff val="352164"/>
            <a:satOff val="-20172"/>
            <a:lumOff val="22361"/>
            <a:alphaOff val="0"/>
          </a:schemeClr>
        </a:solidFill>
        <a:ln w="19050" cap="flat" cmpd="sng" algn="ctr">
          <a:solidFill>
            <a:schemeClr val="accent4">
              <a:shade val="80000"/>
              <a:hueOff val="352164"/>
              <a:satOff val="-20172"/>
              <a:lumOff val="2236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800" kern="1200" dirty="0"/>
            <a:t>3</a:t>
          </a:r>
          <a:endParaRPr lang="en-US" sz="2800" kern="1200" dirty="0"/>
        </a:p>
      </dsp:txBody>
      <dsp:txXfrm rot="-5400000">
        <a:off x="1" y="3149112"/>
        <a:ext cx="1024202" cy="438943"/>
      </dsp:txXfrm>
    </dsp:sp>
    <dsp:sp modelId="{7DD17B51-0FA9-4E3A-AEEA-BDB80923EDF6}">
      <dsp:nvSpPr>
        <dsp:cNvPr id="0" name=""/>
        <dsp:cNvSpPr/>
      </dsp:nvSpPr>
      <dsp:spPr>
        <a:xfrm rot="5400000">
          <a:off x="4100578" y="-439365"/>
          <a:ext cx="951044" cy="710379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shade val="80000"/>
              <a:hueOff val="352164"/>
              <a:satOff val="-20172"/>
              <a:lumOff val="2236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6248" tIns="18415" rIns="18415" bIns="18415" numCol="1" spcCol="1270" anchor="ctr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PT" sz="2900" kern="1200" dirty="0" err="1"/>
            <a:t>Apply</a:t>
          </a:r>
          <a:r>
            <a:rPr lang="pt-PT" sz="2900" kern="1200" dirty="0"/>
            <a:t> PCA to data </a:t>
          </a:r>
          <a:r>
            <a:rPr lang="pt-PT" sz="2900" kern="1200" dirty="0" err="1"/>
            <a:t>with</a:t>
          </a:r>
          <a:r>
            <a:rPr lang="pt-PT" sz="2900" kern="1200" dirty="0"/>
            <a:t> </a:t>
          </a:r>
          <a:r>
            <a:rPr lang="pt-PT" sz="2900" kern="1200" dirty="0" err="1"/>
            <a:t>selected</a:t>
          </a:r>
          <a:r>
            <a:rPr lang="pt-PT" sz="2900" kern="1200" dirty="0"/>
            <a:t> </a:t>
          </a:r>
          <a:r>
            <a:rPr lang="pt-PT" sz="2900" kern="1200" dirty="0" err="1"/>
            <a:t>number</a:t>
          </a:r>
          <a:r>
            <a:rPr lang="pt-PT" sz="2900" kern="1200" dirty="0"/>
            <a:t> </a:t>
          </a:r>
          <a:r>
            <a:rPr lang="pt-PT" sz="2900" kern="1200" dirty="0" err="1"/>
            <a:t>of</a:t>
          </a:r>
          <a:r>
            <a:rPr lang="pt-PT" sz="2900" kern="1200" dirty="0"/>
            <a:t> </a:t>
          </a:r>
          <a:r>
            <a:rPr lang="pt-PT" sz="2900" kern="1200" dirty="0" err="1"/>
            <a:t>components</a:t>
          </a:r>
          <a:endParaRPr lang="en-US" sz="2900" kern="1200" dirty="0"/>
        </a:p>
      </dsp:txBody>
      <dsp:txXfrm rot="-5400000">
        <a:off x="1024202" y="2683437"/>
        <a:ext cx="7057371" cy="858192"/>
      </dsp:txXfrm>
    </dsp:sp>
    <dsp:sp modelId="{FB7AC98D-2796-4925-9E59-7ECD70A3A9B5}">
      <dsp:nvSpPr>
        <dsp:cNvPr id="0" name=""/>
        <dsp:cNvSpPr/>
      </dsp:nvSpPr>
      <dsp:spPr>
        <a:xfrm rot="5400000">
          <a:off x="-219471" y="4174985"/>
          <a:ext cx="1463145" cy="1024202"/>
        </a:xfrm>
        <a:prstGeom prst="chevron">
          <a:avLst/>
        </a:prstGeom>
        <a:solidFill>
          <a:schemeClr val="accent4">
            <a:shade val="80000"/>
            <a:hueOff val="528246"/>
            <a:satOff val="-30258"/>
            <a:lumOff val="33541"/>
            <a:alphaOff val="0"/>
          </a:schemeClr>
        </a:solidFill>
        <a:ln w="19050" cap="flat" cmpd="sng" algn="ctr">
          <a:solidFill>
            <a:schemeClr val="accent4">
              <a:shade val="80000"/>
              <a:hueOff val="528246"/>
              <a:satOff val="-30258"/>
              <a:lumOff val="3354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800" kern="1200" dirty="0"/>
            <a:t>4</a:t>
          </a:r>
          <a:endParaRPr lang="en-US" sz="2800" kern="1200" dirty="0"/>
        </a:p>
      </dsp:txBody>
      <dsp:txXfrm rot="-5400000">
        <a:off x="1" y="4467614"/>
        <a:ext cx="1024202" cy="438943"/>
      </dsp:txXfrm>
    </dsp:sp>
    <dsp:sp modelId="{47F167B7-0A5E-4F36-81B0-E8C0EBE241F6}">
      <dsp:nvSpPr>
        <dsp:cNvPr id="0" name=""/>
        <dsp:cNvSpPr/>
      </dsp:nvSpPr>
      <dsp:spPr>
        <a:xfrm rot="5400000">
          <a:off x="4100578" y="879136"/>
          <a:ext cx="951044" cy="710379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shade val="80000"/>
              <a:hueOff val="528246"/>
              <a:satOff val="-30258"/>
              <a:lumOff val="3354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6248" tIns="18415" rIns="18415" bIns="18415" numCol="1" spcCol="1270" anchor="ctr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PT" sz="2900" kern="1200" dirty="0"/>
            <a:t>Use PCA for </a:t>
          </a:r>
          <a:r>
            <a:rPr lang="pt-PT" sz="2900" kern="1200" dirty="0" err="1"/>
            <a:t>dimensionality</a:t>
          </a:r>
          <a:r>
            <a:rPr lang="pt-PT" sz="2900" kern="1200" dirty="0"/>
            <a:t> </a:t>
          </a:r>
          <a:r>
            <a:rPr lang="pt-PT" sz="2900" kern="1200" dirty="0" err="1"/>
            <a:t>reduction</a:t>
          </a:r>
          <a:r>
            <a:rPr lang="pt-PT" sz="2900" kern="1200" dirty="0"/>
            <a:t>, </a:t>
          </a:r>
          <a:r>
            <a:rPr lang="pt-PT" sz="2900" kern="1200" dirty="0" err="1"/>
            <a:t>pattern</a:t>
          </a:r>
          <a:r>
            <a:rPr lang="pt-PT" sz="2900" kern="1200" dirty="0"/>
            <a:t> </a:t>
          </a:r>
          <a:r>
            <a:rPr lang="pt-PT" sz="2900" kern="1200" dirty="0" err="1"/>
            <a:t>analysis</a:t>
          </a:r>
          <a:r>
            <a:rPr lang="pt-PT" sz="2900" kern="1200" dirty="0"/>
            <a:t> </a:t>
          </a:r>
          <a:r>
            <a:rPr lang="pt-PT" sz="2900" kern="1200" dirty="0" err="1"/>
            <a:t>or</a:t>
          </a:r>
          <a:r>
            <a:rPr lang="pt-PT" sz="2900" kern="1200" dirty="0"/>
            <a:t> </a:t>
          </a:r>
          <a:r>
            <a:rPr lang="pt-PT" sz="2900" kern="1200" dirty="0" err="1"/>
            <a:t>outlier</a:t>
          </a:r>
          <a:r>
            <a:rPr lang="pt-PT" sz="2900" kern="1200" dirty="0"/>
            <a:t> </a:t>
          </a:r>
          <a:r>
            <a:rPr lang="pt-PT" sz="2900" kern="1200" dirty="0" err="1"/>
            <a:t>identification</a:t>
          </a:r>
          <a:endParaRPr lang="en-US" sz="2900" kern="1200" dirty="0"/>
        </a:p>
      </dsp:txBody>
      <dsp:txXfrm rot="-5400000">
        <a:off x="1024202" y="4001938"/>
        <a:ext cx="7057371" cy="85819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>
            <a:extLst>
              <a:ext uri="{FF2B5EF4-FFF2-40B4-BE49-F238E27FC236}">
                <a16:creationId xmlns:a16="http://schemas.microsoft.com/office/drawing/2014/main" id="{1AAF8FC1-9F2E-6C7B-FA69-25E670D61F4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F9532E8F-20B7-F499-3C1F-9E06E6F114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40E4DD-3AD8-40E4-B55D-89B4A297E844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E57D8FE7-5924-AAF4-919A-FC4EA5A9BBA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037ECCE5-91BB-D8DF-6D05-509E88987CD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5173A8-807E-42E6-8785-AA51FCBD7BD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67461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C8CBED-51F1-48DB-9A55-78DE040F7CE2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D880E-8C57-437E-8E1C-97D6266E26B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86132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880E-8C57-437E-8E1C-97D6266E26B3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974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400BB3-C479-CFFA-E3BE-86DD5A3BB8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A0D1339-CBC4-8329-5ECA-CA1DE55503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  <a:endParaRPr lang="en-US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5A4D44DD-F508-29DE-E4A9-85E07AB59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0C7CD-8BC1-42F3-842C-4839003408EF}" type="datetime1">
              <a:rPr lang="en-GB" smtClean="0"/>
              <a:t>23/06/2025</a:t>
            </a:fld>
            <a:endParaRPr lang="en-GB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69CB4C4B-A1D4-5B92-CF66-D75B8258C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013F3DD2-C0A5-24CB-4B54-AB5FE9B95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39160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EF2206-E45C-6177-0EAB-C9A058A6D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9CBECCCC-378D-96CC-37E4-1B5D7D1443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1CF3316D-C11C-FE84-D9D3-FF931BC23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CDFFC-4030-43B9-906E-F3F07AD1496A}" type="datetime1">
              <a:rPr lang="en-GB" smtClean="0"/>
              <a:t>23/06/2025</a:t>
            </a:fld>
            <a:endParaRPr lang="en-GB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355AF878-FBC4-2DA8-37B4-3856A73F9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87078B19-F938-49DC-CFFA-69AE0C3E7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48420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5E62DD-EB14-97AD-FC2E-FF98B80E1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5C765652-0F7D-6E22-D608-FBB689823D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1C6B5182-4C5F-CD4A-96CF-FFCE0306A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03FFA-2F7B-4AA4-97A5-B52B7E2822AE}" type="datetime1">
              <a:rPr lang="en-GB" smtClean="0"/>
              <a:t>23/06/2025</a:t>
            </a:fld>
            <a:endParaRPr lang="en-GB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8F32EAA8-8A19-9FF8-8BAA-309236DEC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EEBA5C75-4C17-3564-AA11-8103219EB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36211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FB8DE2-DBC5-1E03-01FB-5EF5AF66E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8B05788D-6288-F654-3C11-1AEA0578C1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9B68A6D2-8A11-20B4-6460-C643D94AC8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E0465FB3-493B-67F1-909C-3452B5772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5D039-BF4C-4C11-8D56-18BEA6C26879}" type="datetime1">
              <a:rPr lang="en-GB" smtClean="0"/>
              <a:t>23/06/2025</a:t>
            </a:fld>
            <a:endParaRPr lang="en-GB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31E2D59A-A014-D0A8-6DFE-6BE4C0350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B387DD0A-BF9A-FBD4-9440-4A5B74EA2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2947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6D6A4A-0CC8-5934-0F34-DDD2D5C20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FD2ED13C-AED6-0A9B-36BA-1ECA39B5C9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B32DE41C-7E18-618A-3817-4CC66CD69F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4E921761-EF9A-AA7F-E174-92E7FA1DA7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4DC0D00E-91FD-9425-BF02-F998C20595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F22F861B-ADE8-7A9B-FE29-7715DBDF0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CE9BF-92B6-4F90-98C4-1B8619458DEF}" type="datetime1">
              <a:rPr lang="en-GB" smtClean="0"/>
              <a:t>23/06/2025</a:t>
            </a:fld>
            <a:endParaRPr lang="en-GB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0D2D1CF3-E8AC-94AC-2C8F-3ADDCA56F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839763CD-F4A3-56DC-3EA8-F4151658B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4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B742DF-12E3-6E45-F14A-3A7E94EA8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28004750-EBB2-05B9-DA3A-3DDBBEBDE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20AE9-764D-422D-A1DF-711F63072813}" type="datetime1">
              <a:rPr lang="en-GB" smtClean="0"/>
              <a:t>23/06/2025</a:t>
            </a:fld>
            <a:endParaRPr lang="en-GB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E82B1E75-6346-BA3E-BB37-57061E226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17FB403D-587E-466B-6CEC-3DFE004ED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93379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BE69D62F-BEF5-393F-6966-C31BD8CEA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DE3C0-51A9-416C-8AFD-43FD55AB0D0A}" type="datetime1">
              <a:rPr lang="en-GB" smtClean="0"/>
              <a:t>23/06/2025</a:t>
            </a:fld>
            <a:endParaRPr lang="en-GB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F0465B13-7A99-DA8D-616C-C8DDF1FDC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AE3649D4-4584-FD71-BA62-51281F2AB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94001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5093C8-68C4-7F4E-1B7C-090A6AEF9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EC935E8F-3B53-F2C0-AF33-FA5662C402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FED318A2-40D8-0F40-9AE1-50AEF0192F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3E7CB6A5-EE86-63B3-2869-6138B6EEE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8B5B8-87A6-4E83-97F4-A84C3D14875C}" type="datetime1">
              <a:rPr lang="en-GB" smtClean="0"/>
              <a:t>23/06/2025</a:t>
            </a:fld>
            <a:endParaRPr lang="en-GB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20EDA002-1675-A781-2BFB-79D3EDD45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B9CA0135-3A90-9342-3C73-B2208A975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6083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D70059-4371-3359-221C-0BFBE5224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Marcador de Posição da Imagem 2">
            <a:extLst>
              <a:ext uri="{FF2B5EF4-FFF2-40B4-BE49-F238E27FC236}">
                <a16:creationId xmlns:a16="http://schemas.microsoft.com/office/drawing/2014/main" id="{140463F5-90F1-51E9-2E36-6EDC4466EF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D342B686-3C05-62D8-C4B9-E5BCF33A84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42CD70F5-7E8F-3529-09E8-7241BBC9F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1F55B-7F84-41DE-9EAE-A8AF2406E7D2}" type="datetime1">
              <a:rPr lang="en-GB" smtClean="0"/>
              <a:t>23/06/2025</a:t>
            </a:fld>
            <a:endParaRPr lang="en-GB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9DABE4E4-71E3-DC0B-AB72-C1470C4B0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A3B28CB2-5D7B-F844-CD9E-BB625D071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22838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611AC0-CE3D-95B0-ADCB-FB6C36CCD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DFC5E8AE-B64C-6A61-5EDC-77AE63AD9B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F9640B75-3F47-E3BA-821C-B4B7FE884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CB223-728D-473F-BA08-43A45F60008A}" type="datetime1">
              <a:rPr lang="en-GB" smtClean="0"/>
              <a:t>23/06/2025</a:t>
            </a:fld>
            <a:endParaRPr lang="en-GB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BC79F06F-80E3-9B66-F8B0-55D88D8CF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8C117FA1-8B9A-750F-D0A5-FEB098984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45932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CF3A304-DB17-40B3-2B45-D3769FAA26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9DDBE9B4-5FEE-2281-2602-AC1F643739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EB21326E-C601-4FEC-5E33-9B4A94227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3B789-60F4-4D35-B4C8-B950BDF036DA}" type="datetime1">
              <a:rPr lang="en-GB" smtClean="0"/>
              <a:t>23/06/2025</a:t>
            </a:fld>
            <a:endParaRPr lang="en-GB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A4A24246-031C-7E51-D765-F87079066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7E5D7FD9-0506-A672-0F59-33050BC64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97412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43D8D235-D70E-8D82-1CCB-68BBCC14B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C1628867-33A5-C096-E646-20324372C9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BAD54A2D-85B6-5CD8-DB13-7558A6205A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98A5BF-0B07-4E35-B473-9065D65C7A5B}" type="datetime1">
              <a:rPr lang="en-GB" smtClean="0"/>
              <a:t>23/06/2025</a:t>
            </a:fld>
            <a:endParaRPr lang="en-GB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B008C33A-BA85-894F-94D7-2CC5B74378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AE085E3D-9A6A-DABB-46D1-C7DC2751E7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0C34FA-8BA3-450A-B660-F3EE90DBB46D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1965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3.png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0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6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9.png"/><Relationship Id="rId4" Type="http://schemas.openxmlformats.org/officeDocument/2006/relationships/image" Target="../media/image98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2.png"/><Relationship Id="rId4" Type="http://schemas.openxmlformats.org/officeDocument/2006/relationships/image" Target="../media/image91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3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0B6997-A69C-89E8-8715-3FE423D6DB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1111" y="461845"/>
            <a:ext cx="9097617" cy="3367048"/>
          </a:xfrm>
        </p:spPr>
        <p:txBody>
          <a:bodyPr>
            <a:normAutofit/>
          </a:bodyPr>
          <a:lstStyle/>
          <a:p>
            <a:r>
              <a:rPr lang="en-US" sz="5300" b="1" i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AI &amp; ML for Process Analytical Technology using Python</a:t>
            </a:r>
            <a:br>
              <a:rPr lang="en-US" sz="5300" b="1" dirty="0"/>
            </a:br>
            <a:br>
              <a:rPr lang="en-US" b="1" dirty="0"/>
            </a:br>
            <a:r>
              <a:rPr lang="en-US" sz="3600" b="1" dirty="0"/>
              <a:t>Day 2: </a:t>
            </a:r>
            <a:br>
              <a:rPr lang="en-US" sz="3600" dirty="0"/>
            </a:br>
            <a:r>
              <a:rPr lang="en-US" sz="3600" dirty="0"/>
              <a:t>Exploratory data analysis and visualization</a:t>
            </a:r>
            <a:endParaRPr lang="en-US" sz="40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1C7A6CC-FE3E-B131-1E39-C42E70C7C2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47191" y="3983203"/>
            <a:ext cx="9097617" cy="433249"/>
          </a:xfrm>
        </p:spPr>
        <p:txBody>
          <a:bodyPr/>
          <a:lstStyle/>
          <a:p>
            <a:r>
              <a:rPr lang="pt-PT"/>
              <a:t>João Coutinho</a:t>
            </a:r>
            <a:endParaRPr lang="en-US" dirty="0"/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431CCAB2-F5B4-8C99-886A-206FF6ECD252}"/>
              </a:ext>
            </a:extLst>
          </p:cNvPr>
          <p:cNvGrpSpPr/>
          <p:nvPr/>
        </p:nvGrpSpPr>
        <p:grpSpPr>
          <a:xfrm>
            <a:off x="2074597" y="5509516"/>
            <a:ext cx="7757878" cy="1298663"/>
            <a:chOff x="2416697" y="2438400"/>
            <a:chExt cx="7757878" cy="1298663"/>
          </a:xfrm>
        </p:grpSpPr>
        <p:pic>
          <p:nvPicPr>
            <p:cNvPr id="5" name="Imagem 4" descr="Uma imagem com texto, captura de ecrã, Tipo de letra, Gráficos&#10;&#10;Descrição gerada automaticamente">
              <a:extLst>
                <a:ext uri="{FF2B5EF4-FFF2-40B4-BE49-F238E27FC236}">
                  <a16:creationId xmlns:a16="http://schemas.microsoft.com/office/drawing/2014/main" id="{FFAC0DA0-D3BA-42AB-8696-4638CF433F3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22117" y="2758276"/>
              <a:ext cx="6052458" cy="873677"/>
            </a:xfrm>
            <a:prstGeom prst="rect">
              <a:avLst/>
            </a:prstGeom>
          </p:spPr>
        </p:pic>
        <p:pic>
          <p:nvPicPr>
            <p:cNvPr id="6" name="Imagem 5" descr="Uma imagem com Gráficos, design gráfico, Tipo de letra, captura de ecrã&#10;&#10;Descrição gerada automaticamente">
              <a:extLst>
                <a:ext uri="{FF2B5EF4-FFF2-40B4-BE49-F238E27FC236}">
                  <a16:creationId xmlns:a16="http://schemas.microsoft.com/office/drawing/2014/main" id="{4934A051-E67B-0D37-DC02-C05797C6315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16697" y="2438400"/>
              <a:ext cx="1453727" cy="1298663"/>
            </a:xfrm>
            <a:prstGeom prst="rect">
              <a:avLst/>
            </a:prstGeom>
          </p:spPr>
        </p:pic>
      </p:grpSp>
      <p:sp>
        <p:nvSpPr>
          <p:cNvPr id="8" name="Marcador de Posição do Número do Diapositivo 7">
            <a:extLst>
              <a:ext uri="{FF2B5EF4-FFF2-40B4-BE49-F238E27FC236}">
                <a16:creationId xmlns:a16="http://schemas.microsoft.com/office/drawing/2014/main" id="{7FAA7737-05C6-697A-15A5-582FA4F6E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1</a:t>
            </a:fld>
            <a:endParaRPr lang="en-GB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274F9DDE-1EFC-F514-1EB4-221D65AD0AAB}"/>
              </a:ext>
            </a:extLst>
          </p:cNvPr>
          <p:cNvSpPr txBox="1"/>
          <p:nvPr/>
        </p:nvSpPr>
        <p:spPr>
          <a:xfrm>
            <a:off x="966673" y="4647742"/>
            <a:ext cx="1006649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b="1" dirty="0" err="1"/>
              <a:t>CInTech</a:t>
            </a:r>
            <a:r>
              <a:rPr lang="pt-PT" b="1" dirty="0"/>
              <a:t>: Polo Tecnológico de Inovação, Translação e Industrialização de Medicamentos Injetáveis Complexos</a:t>
            </a:r>
          </a:p>
          <a:p>
            <a:pPr algn="ctr"/>
            <a:r>
              <a:rPr lang="pt-PT" sz="1400" dirty="0"/>
              <a:t>Projeto nº 30 – Referência 7131, (Código do projeto: C644865576-00000005)</a:t>
            </a:r>
          </a:p>
        </p:txBody>
      </p:sp>
    </p:spTree>
    <p:extLst>
      <p:ext uri="{BB962C8B-B14F-4D97-AF65-F5344CB8AC3E}">
        <p14:creationId xmlns:p14="http://schemas.microsoft.com/office/powerpoint/2010/main" val="8743229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F5F775-AED0-2A48-00DA-E6712A070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a 5">
            <a:extLst>
              <a:ext uri="{FF2B5EF4-FFF2-40B4-BE49-F238E27FC236}">
                <a16:creationId xmlns:a16="http://schemas.microsoft.com/office/drawing/2014/main" id="{2C164C2D-ABE9-45CF-55A4-A6A23CEAAC6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86971834"/>
              </p:ext>
            </p:extLst>
          </p:nvPr>
        </p:nvGraphicFramePr>
        <p:xfrm>
          <a:off x="2399071" y="66367"/>
          <a:ext cx="8839200" cy="67252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3" name="Seta: Para a Direita 12">
            <a:extLst>
              <a:ext uri="{FF2B5EF4-FFF2-40B4-BE49-F238E27FC236}">
                <a16:creationId xmlns:a16="http://schemas.microsoft.com/office/drawing/2014/main" id="{4ABB0DB2-9622-BD05-BC35-761653D1B04C}"/>
              </a:ext>
            </a:extLst>
          </p:cNvPr>
          <p:cNvSpPr/>
          <p:nvPr/>
        </p:nvSpPr>
        <p:spPr>
          <a:xfrm>
            <a:off x="1347022" y="3165993"/>
            <a:ext cx="980212" cy="640565"/>
          </a:xfrm>
          <a:prstGeom prst="rightArrow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Seta: Para a Direita 13">
            <a:extLst>
              <a:ext uri="{FF2B5EF4-FFF2-40B4-BE49-F238E27FC236}">
                <a16:creationId xmlns:a16="http://schemas.microsoft.com/office/drawing/2014/main" id="{ACB997D0-F2CD-C897-014A-F18FBF975E43}"/>
              </a:ext>
            </a:extLst>
          </p:cNvPr>
          <p:cNvSpPr/>
          <p:nvPr/>
        </p:nvSpPr>
        <p:spPr>
          <a:xfrm>
            <a:off x="1347021" y="2325542"/>
            <a:ext cx="980212" cy="640565"/>
          </a:xfrm>
          <a:prstGeom prst="rightArrow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924809F5-12D0-28B2-FCC9-C425F05A38C3}"/>
              </a:ext>
            </a:extLst>
          </p:cNvPr>
          <p:cNvSpPr txBox="1"/>
          <p:nvPr/>
        </p:nvSpPr>
        <p:spPr>
          <a:xfrm>
            <a:off x="156086" y="3213375"/>
            <a:ext cx="1234526" cy="5408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2800" dirty="0" err="1"/>
              <a:t>Day</a:t>
            </a:r>
            <a:r>
              <a:rPr lang="pt-PT" sz="2800" dirty="0"/>
              <a:t> 2</a:t>
            </a:r>
            <a:endParaRPr lang="en-US" sz="2800" dirty="0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BAAA7B9C-D3DD-5617-D681-CB1EF8AC97E9}"/>
              </a:ext>
            </a:extLst>
          </p:cNvPr>
          <p:cNvSpPr txBox="1"/>
          <p:nvPr/>
        </p:nvSpPr>
        <p:spPr>
          <a:xfrm>
            <a:off x="156086" y="2373915"/>
            <a:ext cx="1234526" cy="5408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2800" dirty="0" err="1"/>
              <a:t>Day</a:t>
            </a:r>
            <a:r>
              <a:rPr lang="pt-PT" sz="2800" dirty="0"/>
              <a:t> 2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2304193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10636-EFD5-0E60-1DFB-4B458AF14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ACCD3997-7A16-D589-EAAC-9BEA37680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3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E214F81E-6AEC-4589-ECFB-6A9C7298EA4A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1" i="0" u="none" strike="noStrike" kern="1200" cap="none" spc="0" baseline="0" dirty="0">
                <a:solidFill>
                  <a:schemeClr val="bg1"/>
                </a:solidFill>
                <a:uFillTx/>
                <a:latin typeface="+mj-lt"/>
                <a:ea typeface="Arrus BT Roman"/>
                <a:cs typeface="Arrus BT Roman"/>
              </a:rPr>
              <a:t>Day 2 overview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3967D176-73D1-70D7-0215-41A13CEA81F5}"/>
              </a:ext>
            </a:extLst>
          </p:cNvPr>
          <p:cNvSpPr txBox="1"/>
          <p:nvPr/>
        </p:nvSpPr>
        <p:spPr>
          <a:xfrm>
            <a:off x="0" y="838688"/>
            <a:ext cx="1219200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000" b="1" dirty="0" err="1"/>
              <a:t>Part</a:t>
            </a:r>
            <a:r>
              <a:rPr lang="pt-PT" sz="2000" b="1" dirty="0"/>
              <a:t> 1: </a:t>
            </a:r>
            <a:r>
              <a:rPr lang="pt-PT" sz="2000" b="1" dirty="0" err="1"/>
              <a:t>Univariate</a:t>
            </a:r>
            <a:r>
              <a:rPr lang="pt-PT" sz="2000" b="1" dirty="0"/>
              <a:t> </a:t>
            </a:r>
            <a:r>
              <a:rPr lang="pt-PT" sz="2000" b="1" dirty="0" err="1"/>
              <a:t>statistical</a:t>
            </a:r>
            <a:r>
              <a:rPr lang="pt-PT" sz="2000" b="1" dirty="0"/>
              <a:t> </a:t>
            </a:r>
            <a:r>
              <a:rPr lang="pt-PT" sz="2000" b="1" dirty="0" err="1"/>
              <a:t>analysis</a:t>
            </a:r>
            <a:endParaRPr lang="pt-PT" sz="2000" b="1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PT" sz="2000" dirty="0"/>
              <a:t>Data </a:t>
            </a:r>
            <a:r>
              <a:rPr lang="pt-PT" sz="2000" dirty="0" err="1"/>
              <a:t>visualization</a:t>
            </a:r>
            <a:r>
              <a:rPr lang="pt-PT" sz="2000" dirty="0"/>
              <a:t>, </a:t>
            </a:r>
            <a:r>
              <a:rPr lang="pt-PT" sz="2000" dirty="0" err="1"/>
              <a:t>frequency</a:t>
            </a:r>
            <a:r>
              <a:rPr lang="pt-PT" sz="2000" dirty="0"/>
              <a:t> </a:t>
            </a:r>
            <a:r>
              <a:rPr lang="pt-PT" sz="2000" dirty="0" err="1"/>
              <a:t>statistics</a:t>
            </a:r>
            <a:endParaRPr lang="pt-PT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PT" sz="2000" dirty="0" err="1"/>
              <a:t>Probability</a:t>
            </a:r>
            <a:r>
              <a:rPr lang="pt-PT" sz="2000" dirty="0"/>
              <a:t> </a:t>
            </a:r>
            <a:r>
              <a:rPr lang="pt-PT" sz="2000" dirty="0" err="1"/>
              <a:t>distributions</a:t>
            </a:r>
            <a:endParaRPr lang="pt-PT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PT" sz="2000" dirty="0" err="1"/>
              <a:t>Summary</a:t>
            </a:r>
            <a:r>
              <a:rPr lang="pt-PT" sz="2000" dirty="0"/>
              <a:t> </a:t>
            </a:r>
            <a:r>
              <a:rPr lang="pt-PT" sz="2000" dirty="0" err="1"/>
              <a:t>statistics</a:t>
            </a:r>
            <a:endParaRPr lang="pt-PT" sz="2000" dirty="0"/>
          </a:p>
          <a:p>
            <a:pPr lvl="1"/>
            <a:endParaRPr lang="pt-PT" sz="2000" dirty="0"/>
          </a:p>
          <a:p>
            <a:r>
              <a:rPr lang="pt-PT" sz="2000" b="1" dirty="0" err="1"/>
              <a:t>Part</a:t>
            </a:r>
            <a:r>
              <a:rPr lang="pt-PT" sz="2000" b="1" dirty="0"/>
              <a:t> 2: </a:t>
            </a:r>
            <a:r>
              <a:rPr lang="en-US" sz="2000" b="1" dirty="0"/>
              <a:t>Data analysis and manipulation with Pandas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PT" sz="2000" dirty="0" err="1"/>
              <a:t>Loading</a:t>
            </a:r>
            <a:r>
              <a:rPr lang="pt-PT" sz="2000" dirty="0"/>
              <a:t> </a:t>
            </a:r>
            <a:r>
              <a:rPr lang="pt-PT" sz="2000" dirty="0" err="1"/>
              <a:t>and</a:t>
            </a:r>
            <a:r>
              <a:rPr lang="pt-PT" sz="2000" dirty="0"/>
              <a:t> </a:t>
            </a:r>
            <a:r>
              <a:rPr lang="pt-PT" sz="2000" dirty="0" err="1"/>
              <a:t>saving</a:t>
            </a:r>
            <a:r>
              <a:rPr lang="pt-PT" sz="2000" dirty="0"/>
              <a:t> </a:t>
            </a:r>
            <a:r>
              <a:rPr lang="pt-PT" sz="2000" dirty="0" err="1"/>
              <a:t>datafiles</a:t>
            </a:r>
            <a:endParaRPr lang="pt-PT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PT" sz="2000" dirty="0"/>
              <a:t>Data </a:t>
            </a:r>
            <a:r>
              <a:rPr lang="pt-PT" sz="2000" dirty="0" err="1"/>
              <a:t>selection</a:t>
            </a:r>
            <a:r>
              <a:rPr lang="pt-PT" sz="2000" dirty="0"/>
              <a:t> </a:t>
            </a:r>
            <a:r>
              <a:rPr lang="pt-PT" sz="2000" dirty="0" err="1"/>
              <a:t>and</a:t>
            </a:r>
            <a:r>
              <a:rPr lang="pt-PT" sz="2000" dirty="0"/>
              <a:t> </a:t>
            </a:r>
            <a:r>
              <a:rPr lang="pt-PT" sz="2000" dirty="0" err="1"/>
              <a:t>transformation</a:t>
            </a:r>
            <a:endParaRPr lang="pt-PT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PT" sz="2000" dirty="0" err="1"/>
              <a:t>Plotting</a:t>
            </a:r>
            <a:endParaRPr lang="pt-PT" sz="2000" dirty="0"/>
          </a:p>
          <a:p>
            <a:pPr lvl="1"/>
            <a:endParaRPr lang="pt-PT" sz="2000" dirty="0"/>
          </a:p>
          <a:p>
            <a:r>
              <a:rPr lang="pt-PT" sz="2000" b="1" dirty="0" err="1"/>
              <a:t>Part</a:t>
            </a:r>
            <a:r>
              <a:rPr lang="pt-PT" sz="2000" b="1" dirty="0"/>
              <a:t> 3: </a:t>
            </a:r>
            <a:r>
              <a:rPr lang="en-US" sz="2000" b="1" dirty="0"/>
              <a:t>Multivariate data</a:t>
            </a:r>
            <a:r>
              <a:rPr lang="pt-PT" sz="2000" b="1" dirty="0"/>
              <a:t> </a:t>
            </a:r>
            <a:r>
              <a:rPr lang="pt-PT" sz="2000" b="1" dirty="0" err="1"/>
              <a:t>analysis</a:t>
            </a:r>
            <a:endParaRPr lang="pt-PT" sz="2000" b="1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PT" sz="2000" dirty="0" err="1"/>
              <a:t>Correlation</a:t>
            </a:r>
            <a:r>
              <a:rPr lang="pt-PT" sz="2000" dirty="0"/>
              <a:t> </a:t>
            </a:r>
            <a:r>
              <a:rPr lang="pt-PT" sz="2000" dirty="0" err="1"/>
              <a:t>and</a:t>
            </a:r>
            <a:r>
              <a:rPr lang="pt-PT" sz="2000" dirty="0"/>
              <a:t> </a:t>
            </a:r>
            <a:r>
              <a:rPr lang="pt-PT" sz="2000" dirty="0" err="1"/>
              <a:t>covariance</a:t>
            </a:r>
            <a:r>
              <a:rPr lang="pt-PT" sz="2000" dirty="0"/>
              <a:t>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PT" sz="2000" dirty="0" err="1"/>
              <a:t>Multivariate</a:t>
            </a:r>
            <a:r>
              <a:rPr lang="pt-PT" sz="2000" dirty="0"/>
              <a:t> </a:t>
            </a:r>
            <a:r>
              <a:rPr lang="pt-PT" sz="2000" dirty="0" err="1"/>
              <a:t>distributions</a:t>
            </a:r>
            <a:endParaRPr lang="pt-PT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r>
              <a:rPr lang="pt-PT" sz="2000" b="1" dirty="0" err="1"/>
              <a:t>Part</a:t>
            </a:r>
            <a:r>
              <a:rPr lang="pt-PT" sz="2000" b="1" dirty="0"/>
              <a:t> 4: </a:t>
            </a:r>
            <a:r>
              <a:rPr lang="en-US" sz="2000" b="1" dirty="0"/>
              <a:t>Principal Component Analysis and applications</a:t>
            </a:r>
            <a:r>
              <a:rPr lang="pt-PT" sz="2000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19276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B96A24-91A0-6B44-48F1-BBE211278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78F517-90E7-245A-D80E-1EF6D2EE34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41783" y="2651608"/>
            <a:ext cx="9508433" cy="1554783"/>
          </a:xfrm>
          <a:solidFill>
            <a:schemeClr val="tx2">
              <a:lumMod val="50000"/>
              <a:lumOff val="50000"/>
            </a:schemeClr>
          </a:solidFill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Part 1:</a:t>
            </a:r>
            <a:br>
              <a:rPr lang="en-US" b="1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Univariate statistical analysis</a:t>
            </a:r>
            <a:endParaRPr lang="en-US" sz="4800" dirty="0">
              <a:solidFill>
                <a:schemeClr val="bg1"/>
              </a:solidFill>
            </a:endParaRPr>
          </a:p>
        </p:txBody>
      </p:sp>
      <p:sp>
        <p:nvSpPr>
          <p:cNvPr id="8" name="Marcador de Posição do Número do Diapositivo 7">
            <a:extLst>
              <a:ext uri="{FF2B5EF4-FFF2-40B4-BE49-F238E27FC236}">
                <a16:creationId xmlns:a16="http://schemas.microsoft.com/office/drawing/2014/main" id="{4E20BE70-A113-25FA-DD9A-9AB00E18F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00545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0E590F-28B6-7849-7167-1A7402D79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58FACB38-7649-0293-57A7-95A0996E5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5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14A79084-05F5-2FF5-430D-BA676866F023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PT" sz="2800" b="1" dirty="0">
                <a:solidFill>
                  <a:schemeClr val="bg1"/>
                </a:solidFill>
                <a:latin typeface="+mj-lt"/>
                <a:ea typeface="Arrus BT Roman"/>
                <a:cs typeface="Arrus BT Roman"/>
              </a:rPr>
              <a:t>U</a:t>
            </a:r>
            <a:r>
              <a:rPr lang="en-US" sz="2800" b="1" dirty="0" err="1">
                <a:solidFill>
                  <a:schemeClr val="bg1"/>
                </a:solidFill>
                <a:latin typeface="+mj-lt"/>
                <a:ea typeface="Arrus BT Roman"/>
                <a:cs typeface="Arrus BT Roman"/>
              </a:rPr>
              <a:t>nivariate</a:t>
            </a:r>
            <a:r>
              <a:rPr lang="en-US" sz="2800" b="1" dirty="0">
                <a:solidFill>
                  <a:schemeClr val="bg1"/>
                </a:solidFill>
                <a:latin typeface="+mj-lt"/>
                <a:ea typeface="Arrus BT Roman"/>
                <a:cs typeface="Arrus BT Roman"/>
              </a:rPr>
              <a:t> statistical analysis - introduction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9963EA3-4A14-303F-AC93-F8E0D313F0A3}"/>
              </a:ext>
            </a:extLst>
          </p:cNvPr>
          <p:cNvSpPr txBox="1"/>
          <p:nvPr/>
        </p:nvSpPr>
        <p:spPr>
          <a:xfrm>
            <a:off x="-4" y="764596"/>
            <a:ext cx="121920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 err="1"/>
              <a:t>Deterministic</a:t>
            </a:r>
            <a:r>
              <a:rPr lang="pt-PT" dirty="0"/>
              <a:t> </a:t>
            </a:r>
            <a:r>
              <a:rPr lang="pt-PT" dirty="0" err="1"/>
              <a:t>systems</a:t>
            </a:r>
            <a:r>
              <a:rPr lang="pt-PT" dirty="0"/>
              <a:t> are </a:t>
            </a:r>
            <a:r>
              <a:rPr lang="pt-PT" dirty="0" err="1"/>
              <a:t>not</a:t>
            </a:r>
            <a:r>
              <a:rPr lang="pt-PT" dirty="0"/>
              <a:t> </a:t>
            </a:r>
            <a:r>
              <a:rPr lang="pt-PT" dirty="0" err="1"/>
              <a:t>subject</a:t>
            </a:r>
            <a:r>
              <a:rPr lang="pt-PT" dirty="0"/>
              <a:t> to </a:t>
            </a:r>
            <a:r>
              <a:rPr lang="pt-PT" dirty="0" err="1"/>
              <a:t>change</a:t>
            </a:r>
            <a:r>
              <a:rPr lang="pt-PT" dirty="0"/>
              <a:t> (e.g. noise-free </a:t>
            </a:r>
            <a:r>
              <a:rPr lang="pt-PT" dirty="0" err="1"/>
              <a:t>computer</a:t>
            </a:r>
            <a:r>
              <a:rPr lang="pt-PT" dirty="0"/>
              <a:t> </a:t>
            </a:r>
            <a:r>
              <a:rPr lang="pt-PT" dirty="0" err="1"/>
              <a:t>simulations</a:t>
            </a:r>
            <a:r>
              <a:rPr lang="pt-PT" dirty="0"/>
              <a:t>)</a:t>
            </a:r>
          </a:p>
          <a:p>
            <a:endParaRPr lang="pt-P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 err="1"/>
              <a:t>However</a:t>
            </a:r>
            <a:r>
              <a:rPr lang="pt-PT" dirty="0"/>
              <a:t>, </a:t>
            </a:r>
            <a:r>
              <a:rPr lang="pt-PT" dirty="0" err="1"/>
              <a:t>typical</a:t>
            </a:r>
            <a:r>
              <a:rPr lang="pt-PT" dirty="0"/>
              <a:t> real-</a:t>
            </a:r>
            <a:r>
              <a:rPr lang="pt-PT" dirty="0" err="1"/>
              <a:t>world</a:t>
            </a:r>
            <a:r>
              <a:rPr lang="pt-PT" dirty="0"/>
              <a:t> </a:t>
            </a:r>
            <a:r>
              <a:rPr lang="pt-PT" dirty="0" err="1"/>
              <a:t>phenomena</a:t>
            </a:r>
            <a:r>
              <a:rPr lang="pt-PT" dirty="0"/>
              <a:t> </a:t>
            </a:r>
            <a:r>
              <a:rPr lang="pt-PT" b="1" dirty="0"/>
              <a:t>are </a:t>
            </a:r>
            <a:r>
              <a:rPr lang="pt-PT" b="1" dirty="0" err="1"/>
              <a:t>not</a:t>
            </a:r>
            <a:r>
              <a:rPr lang="pt-PT" b="1" dirty="0"/>
              <a:t> </a:t>
            </a:r>
            <a:r>
              <a:rPr lang="pt-PT" b="1" dirty="0" err="1"/>
              <a:t>determinstic</a:t>
            </a:r>
            <a:r>
              <a:rPr lang="pt-PT" b="1" dirty="0"/>
              <a:t> </a:t>
            </a:r>
            <a:r>
              <a:rPr lang="pt-PT" b="1" dirty="0" err="1"/>
              <a:t>but</a:t>
            </a:r>
            <a:r>
              <a:rPr lang="pt-PT" b="1" dirty="0"/>
              <a:t> </a:t>
            </a:r>
            <a:r>
              <a:rPr lang="pt-PT" b="1" dirty="0" err="1"/>
              <a:t>instead</a:t>
            </a:r>
            <a:r>
              <a:rPr lang="pt-PT" b="1" dirty="0"/>
              <a:t> </a:t>
            </a:r>
            <a:r>
              <a:rPr lang="pt-PT" b="1" dirty="0" err="1"/>
              <a:t>stochastic</a:t>
            </a:r>
            <a:endParaRPr lang="pt-PT" b="1" dirty="0"/>
          </a:p>
          <a:p>
            <a:endParaRPr lang="pt-P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/>
              <a:t>A </a:t>
            </a:r>
            <a:r>
              <a:rPr lang="pt-PT" b="1" dirty="0" err="1"/>
              <a:t>random</a:t>
            </a:r>
            <a:r>
              <a:rPr lang="pt-PT" b="1" dirty="0"/>
              <a:t> </a:t>
            </a:r>
            <a:r>
              <a:rPr lang="pt-PT" b="1" dirty="0" err="1"/>
              <a:t>variable</a:t>
            </a:r>
            <a:r>
              <a:rPr lang="pt-PT" b="1" dirty="0"/>
              <a:t> </a:t>
            </a:r>
            <a:r>
              <a:rPr lang="pt-PT" dirty="0" err="1"/>
              <a:t>is</a:t>
            </a:r>
            <a:r>
              <a:rPr lang="pt-PT" dirty="0"/>
              <a:t> a </a:t>
            </a:r>
            <a:r>
              <a:rPr lang="pt-PT" dirty="0" err="1"/>
              <a:t>variable</a:t>
            </a:r>
            <a:r>
              <a:rPr lang="pt-PT" dirty="0"/>
              <a:t> </a:t>
            </a:r>
            <a:r>
              <a:rPr lang="pt-PT" dirty="0" err="1"/>
              <a:t>whose</a:t>
            </a:r>
            <a:r>
              <a:rPr lang="pt-PT" dirty="0"/>
              <a:t> </a:t>
            </a:r>
            <a:r>
              <a:rPr lang="pt-PT" dirty="0" err="1"/>
              <a:t>value</a:t>
            </a:r>
            <a:r>
              <a:rPr lang="pt-PT" dirty="0"/>
              <a:t> </a:t>
            </a:r>
            <a:r>
              <a:rPr lang="pt-PT" dirty="0" err="1"/>
              <a:t>is</a:t>
            </a:r>
            <a:r>
              <a:rPr lang="pt-PT" dirty="0"/>
              <a:t> </a:t>
            </a:r>
            <a:r>
              <a:rPr lang="pt-PT" dirty="0" err="1"/>
              <a:t>determined</a:t>
            </a:r>
            <a:r>
              <a:rPr lang="pt-PT" dirty="0"/>
              <a:t> </a:t>
            </a:r>
            <a:r>
              <a:rPr lang="pt-PT" dirty="0" err="1"/>
              <a:t>by</a:t>
            </a:r>
            <a:r>
              <a:rPr lang="pt-PT" dirty="0"/>
              <a:t> </a:t>
            </a:r>
            <a:r>
              <a:rPr lang="pt-PT" dirty="0" err="1"/>
              <a:t>the</a:t>
            </a:r>
            <a:r>
              <a:rPr lang="pt-PT" dirty="0"/>
              <a:t> </a:t>
            </a:r>
            <a:r>
              <a:rPr lang="pt-PT" b="1" dirty="0" err="1"/>
              <a:t>outcome</a:t>
            </a:r>
            <a:r>
              <a:rPr lang="pt-PT" b="1" dirty="0"/>
              <a:t> </a:t>
            </a:r>
            <a:r>
              <a:rPr lang="pt-PT" b="1" dirty="0" err="1"/>
              <a:t>of</a:t>
            </a:r>
            <a:r>
              <a:rPr lang="pt-PT" b="1" dirty="0"/>
              <a:t> a </a:t>
            </a:r>
            <a:r>
              <a:rPr lang="pt-PT" b="1" dirty="0" err="1"/>
              <a:t>stochastic</a:t>
            </a:r>
            <a:r>
              <a:rPr lang="pt-PT" b="1" dirty="0"/>
              <a:t> </a:t>
            </a:r>
            <a:r>
              <a:rPr lang="pt-PT" b="1" dirty="0" err="1"/>
              <a:t>or</a:t>
            </a:r>
            <a:r>
              <a:rPr lang="pt-PT" b="1" dirty="0"/>
              <a:t> </a:t>
            </a:r>
            <a:r>
              <a:rPr lang="pt-PT" b="1" dirty="0" err="1"/>
              <a:t>random</a:t>
            </a:r>
            <a:r>
              <a:rPr lang="pt-PT" b="1" dirty="0"/>
              <a:t> </a:t>
            </a:r>
            <a:r>
              <a:rPr lang="pt-PT" b="1" dirty="0" err="1"/>
              <a:t>phenomenon</a:t>
            </a:r>
            <a:endParaRPr lang="pt-PT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 err="1"/>
              <a:t>There</a:t>
            </a:r>
            <a:r>
              <a:rPr lang="pt-PT" dirty="0"/>
              <a:t> are </a:t>
            </a:r>
            <a:r>
              <a:rPr lang="pt-PT" dirty="0" err="1"/>
              <a:t>different</a:t>
            </a:r>
            <a:r>
              <a:rPr lang="pt-PT" dirty="0"/>
              <a:t> </a:t>
            </a:r>
            <a:r>
              <a:rPr lang="pt-PT" dirty="0" err="1"/>
              <a:t>types</a:t>
            </a:r>
            <a:r>
              <a:rPr lang="pt-PT" dirty="0"/>
              <a:t> </a:t>
            </a:r>
            <a:r>
              <a:rPr lang="pt-PT" dirty="0" err="1"/>
              <a:t>of</a:t>
            </a:r>
            <a:r>
              <a:rPr lang="pt-PT" dirty="0"/>
              <a:t> </a:t>
            </a:r>
            <a:r>
              <a:rPr lang="pt-PT" dirty="0" err="1"/>
              <a:t>random</a:t>
            </a:r>
            <a:r>
              <a:rPr lang="pt-PT" dirty="0"/>
              <a:t> </a:t>
            </a:r>
            <a:r>
              <a:rPr lang="pt-PT" dirty="0" err="1"/>
              <a:t>variables</a:t>
            </a:r>
            <a:r>
              <a:rPr lang="pt-PT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PT" dirty="0" err="1"/>
              <a:t>Continuous</a:t>
            </a:r>
            <a:r>
              <a:rPr lang="pt-PT" dirty="0"/>
              <a:t> real-</a:t>
            </a:r>
            <a:r>
              <a:rPr lang="pt-PT" dirty="0" err="1"/>
              <a:t>valued</a:t>
            </a:r>
            <a:r>
              <a:rPr lang="pt-PT" dirty="0"/>
              <a:t> </a:t>
            </a:r>
            <a:r>
              <a:rPr lang="pt-PT" dirty="0" err="1"/>
              <a:t>variables</a:t>
            </a:r>
            <a:r>
              <a:rPr lang="pt-PT" dirty="0"/>
              <a:t> (can take </a:t>
            </a:r>
            <a:r>
              <a:rPr lang="pt-PT" dirty="0" err="1"/>
              <a:t>both</a:t>
            </a:r>
            <a:r>
              <a:rPr lang="pt-PT" dirty="0"/>
              <a:t> negative </a:t>
            </a:r>
            <a:r>
              <a:rPr lang="pt-PT" dirty="0" err="1"/>
              <a:t>and</a:t>
            </a:r>
            <a:r>
              <a:rPr lang="pt-PT" dirty="0"/>
              <a:t> positive </a:t>
            </a:r>
            <a:r>
              <a:rPr lang="pt-PT" dirty="0" err="1"/>
              <a:t>values</a:t>
            </a:r>
            <a:r>
              <a:rPr lang="pt-PT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pt-PT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PT" dirty="0"/>
              <a:t>Positive </a:t>
            </a:r>
            <a:r>
              <a:rPr lang="pt-PT" dirty="0" err="1"/>
              <a:t>variables</a:t>
            </a:r>
            <a:endParaRPr lang="pt-PT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pt-PT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PT" dirty="0" err="1"/>
              <a:t>Integer</a:t>
            </a:r>
            <a:r>
              <a:rPr lang="pt-PT" dirty="0"/>
              <a:t>/</a:t>
            </a:r>
            <a:r>
              <a:rPr lang="pt-PT" dirty="0" err="1"/>
              <a:t>Discrete</a:t>
            </a:r>
            <a:r>
              <a:rPr lang="pt-PT" dirty="0"/>
              <a:t>/</a:t>
            </a:r>
            <a:r>
              <a:rPr lang="pt-PT" dirty="0" err="1"/>
              <a:t>Qualitative</a:t>
            </a:r>
            <a:r>
              <a:rPr lang="pt-PT" dirty="0"/>
              <a:t> </a:t>
            </a:r>
            <a:r>
              <a:rPr lang="pt-PT" dirty="0" err="1"/>
              <a:t>variables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8333019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D2E57-157B-2743-BAF6-D4BE467F4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72270409-D755-0BCC-A3F4-832E1E014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6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51A241C5-7A0F-B7AF-9110-AC8112A31535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PT" sz="2800" b="1" dirty="0">
                <a:solidFill>
                  <a:schemeClr val="bg1"/>
                </a:solidFill>
                <a:latin typeface="+mj-lt"/>
                <a:ea typeface="Arrus BT Roman"/>
                <a:cs typeface="Arrus BT Roman"/>
              </a:rPr>
              <a:t>U</a:t>
            </a:r>
            <a:r>
              <a:rPr lang="en-US" sz="2800" b="1" dirty="0" err="1">
                <a:solidFill>
                  <a:schemeClr val="bg1"/>
                </a:solidFill>
                <a:latin typeface="+mj-lt"/>
                <a:ea typeface="Arrus BT Roman"/>
                <a:cs typeface="Arrus BT Roman"/>
              </a:rPr>
              <a:t>nivariate</a:t>
            </a:r>
            <a:r>
              <a:rPr lang="en-US" sz="2800" b="1" dirty="0">
                <a:solidFill>
                  <a:schemeClr val="bg1"/>
                </a:solidFill>
                <a:latin typeface="+mj-lt"/>
                <a:ea typeface="Arrus BT Roman"/>
                <a:cs typeface="Arrus BT Roman"/>
              </a:rPr>
              <a:t> statistical analysis - introduction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E490A747-BF73-C176-EA97-A8E984B30A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331" y="2037874"/>
            <a:ext cx="4880205" cy="356730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D32A4190-C33F-2F41-8421-A38E371DF1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1959" y="2037874"/>
            <a:ext cx="4797282" cy="3654672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28FDF890-B29C-52DF-4298-6EE26D1F0FBA}"/>
              </a:ext>
            </a:extLst>
          </p:cNvPr>
          <p:cNvSpPr txBox="1"/>
          <p:nvPr/>
        </p:nvSpPr>
        <p:spPr>
          <a:xfrm>
            <a:off x="-1" y="667651"/>
            <a:ext cx="121919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 err="1"/>
              <a:t>Histograms</a:t>
            </a:r>
            <a:r>
              <a:rPr lang="pt-PT" dirty="0"/>
              <a:t> </a:t>
            </a:r>
            <a:r>
              <a:rPr lang="pt-PT" dirty="0" err="1"/>
              <a:t>and</a:t>
            </a:r>
            <a:r>
              <a:rPr lang="pt-PT" dirty="0"/>
              <a:t> </a:t>
            </a:r>
            <a:r>
              <a:rPr lang="pt-PT" dirty="0" err="1"/>
              <a:t>boxplots</a:t>
            </a:r>
            <a:r>
              <a:rPr lang="pt-PT" dirty="0"/>
              <a:t> are a </a:t>
            </a:r>
            <a:r>
              <a:rPr lang="pt-PT" dirty="0" err="1"/>
              <a:t>good</a:t>
            </a:r>
            <a:r>
              <a:rPr lang="pt-PT" dirty="0"/>
              <a:t> </a:t>
            </a:r>
            <a:r>
              <a:rPr lang="pt-PT" dirty="0" err="1"/>
              <a:t>way</a:t>
            </a:r>
            <a:r>
              <a:rPr lang="pt-PT" dirty="0"/>
              <a:t> to visualize </a:t>
            </a:r>
            <a:r>
              <a:rPr lang="pt-PT" dirty="0" err="1"/>
              <a:t>the</a:t>
            </a:r>
            <a:r>
              <a:rPr lang="pt-PT" dirty="0"/>
              <a:t> </a:t>
            </a:r>
            <a:r>
              <a:rPr lang="pt-PT" dirty="0" err="1"/>
              <a:t>distribution</a:t>
            </a:r>
            <a:r>
              <a:rPr lang="pt-PT" dirty="0"/>
              <a:t> </a:t>
            </a:r>
            <a:r>
              <a:rPr lang="pt-PT" dirty="0" err="1"/>
              <a:t>of</a:t>
            </a:r>
            <a:r>
              <a:rPr lang="pt-PT" dirty="0"/>
              <a:t> </a:t>
            </a:r>
            <a:r>
              <a:rPr lang="pt-PT" dirty="0" err="1"/>
              <a:t>observed</a:t>
            </a:r>
            <a:r>
              <a:rPr lang="pt-PT" dirty="0"/>
              <a:t> data</a:t>
            </a:r>
          </a:p>
        </p:txBody>
      </p:sp>
    </p:spTree>
    <p:extLst>
      <p:ext uri="{BB962C8B-B14F-4D97-AF65-F5344CB8AC3E}">
        <p14:creationId xmlns:p14="http://schemas.microsoft.com/office/powerpoint/2010/main" val="16587767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D14D3-8713-8FD3-0451-96FDC9F2A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8585A095-40F8-3BE1-5721-141C6F8AE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7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F3E527A5-798D-8B67-976B-7104FBE32F55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U</a:t>
            </a:r>
            <a:r>
              <a:rPr lang="en-US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nivariate</a:t>
            </a:r>
            <a:r>
              <a:rPr lang="en-US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statistical analysis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EE35A92-8F7B-7AE0-B73E-229D24076329}"/>
              </a:ext>
            </a:extLst>
          </p:cNvPr>
          <p:cNvSpPr txBox="1"/>
          <p:nvPr/>
        </p:nvSpPr>
        <p:spPr>
          <a:xfrm>
            <a:off x="0" y="526057"/>
            <a:ext cx="121920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000" dirty="0"/>
              <a:t>Data can </a:t>
            </a:r>
            <a:r>
              <a:rPr lang="pt-PT" sz="2000" dirty="0" err="1"/>
              <a:t>be</a:t>
            </a:r>
            <a:r>
              <a:rPr lang="pt-PT" sz="2000" dirty="0"/>
              <a:t> </a:t>
            </a:r>
            <a:r>
              <a:rPr lang="pt-PT" sz="2000" dirty="0" err="1"/>
              <a:t>characterized</a:t>
            </a:r>
            <a:r>
              <a:rPr lang="pt-PT" sz="2000" dirty="0"/>
              <a:t> </a:t>
            </a:r>
            <a:r>
              <a:rPr lang="pt-PT" sz="2000" dirty="0" err="1"/>
              <a:t>with</a:t>
            </a:r>
            <a:r>
              <a:rPr lang="pt-PT" sz="2000" dirty="0"/>
              <a:t> </a:t>
            </a:r>
            <a:r>
              <a:rPr lang="pt-PT" sz="2000" dirty="0" err="1"/>
              <a:t>different</a:t>
            </a:r>
            <a:r>
              <a:rPr lang="pt-PT" sz="2000" dirty="0"/>
              <a:t> </a:t>
            </a:r>
            <a:r>
              <a:rPr lang="pt-PT" sz="2000" dirty="0" err="1"/>
              <a:t>statistical</a:t>
            </a:r>
            <a:r>
              <a:rPr lang="pt-PT" sz="2000" dirty="0"/>
              <a:t> </a:t>
            </a:r>
            <a:r>
              <a:rPr lang="pt-PT" sz="2000" dirty="0" err="1"/>
              <a:t>measures</a:t>
            </a:r>
            <a:r>
              <a:rPr lang="pt-PT" sz="2000" dirty="0"/>
              <a:t>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PT" sz="2000" b="1" dirty="0"/>
              <a:t>Central </a:t>
            </a:r>
            <a:r>
              <a:rPr lang="pt-PT" sz="2000" b="1" dirty="0" err="1"/>
              <a:t>tendency</a:t>
            </a:r>
            <a:r>
              <a:rPr lang="pt-PT" sz="2000" b="1" dirty="0"/>
              <a:t> (</a:t>
            </a:r>
            <a:r>
              <a:rPr lang="pt-PT" sz="2000" i="1" dirty="0" err="1"/>
              <a:t>what</a:t>
            </a:r>
            <a:r>
              <a:rPr lang="pt-PT" sz="2000" i="1" dirty="0"/>
              <a:t> </a:t>
            </a:r>
            <a:r>
              <a:rPr lang="pt-PT" sz="2000" i="1" dirty="0" err="1"/>
              <a:t>is</a:t>
            </a:r>
            <a:r>
              <a:rPr lang="pt-PT" sz="2000" i="1" dirty="0"/>
              <a:t> </a:t>
            </a:r>
            <a:r>
              <a:rPr lang="pt-PT" sz="2000" i="1" dirty="0" err="1"/>
              <a:t>the</a:t>
            </a:r>
            <a:r>
              <a:rPr lang="pt-PT" sz="2000" i="1" dirty="0"/>
              <a:t> ‘</a:t>
            </a:r>
            <a:r>
              <a:rPr lang="pt-PT" sz="2000" i="1" dirty="0" err="1"/>
              <a:t>typical</a:t>
            </a:r>
            <a:r>
              <a:rPr lang="pt-PT" sz="2000" i="1" dirty="0"/>
              <a:t>’ </a:t>
            </a:r>
            <a:r>
              <a:rPr lang="pt-PT" sz="2000" i="1" dirty="0" err="1"/>
              <a:t>value</a:t>
            </a:r>
            <a:r>
              <a:rPr lang="pt-PT" sz="2000" dirty="0"/>
              <a:t>)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pt-PT" sz="2000" i="1" dirty="0" err="1"/>
              <a:t>Mean</a:t>
            </a:r>
            <a:r>
              <a:rPr lang="pt-PT" sz="2000" dirty="0"/>
              <a:t> - </a:t>
            </a:r>
            <a:r>
              <a:rPr lang="pt-PT" sz="2000" dirty="0" err="1"/>
              <a:t>average</a:t>
            </a:r>
            <a:r>
              <a:rPr lang="pt-PT" sz="2000" dirty="0"/>
              <a:t> </a:t>
            </a:r>
            <a:r>
              <a:rPr lang="pt-PT" sz="2000" dirty="0" err="1"/>
              <a:t>value</a:t>
            </a:r>
            <a:endParaRPr lang="pt-PT" sz="2000" dirty="0"/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pt-PT" sz="2000" i="1" dirty="0" err="1"/>
              <a:t>Mode</a:t>
            </a:r>
            <a:r>
              <a:rPr lang="pt-PT" sz="2000" dirty="0"/>
              <a:t> – </a:t>
            </a:r>
            <a:r>
              <a:rPr lang="pt-PT" sz="2000" dirty="0" err="1"/>
              <a:t>value</a:t>
            </a:r>
            <a:r>
              <a:rPr lang="pt-PT" sz="2000" dirty="0"/>
              <a:t> </a:t>
            </a:r>
            <a:r>
              <a:rPr lang="pt-PT" sz="2000" dirty="0" err="1"/>
              <a:t>with</a:t>
            </a:r>
            <a:r>
              <a:rPr lang="pt-PT" sz="2000" dirty="0"/>
              <a:t> </a:t>
            </a:r>
            <a:r>
              <a:rPr lang="pt-PT" sz="2000" dirty="0" err="1"/>
              <a:t>the</a:t>
            </a:r>
            <a:r>
              <a:rPr lang="pt-PT" sz="2000" dirty="0"/>
              <a:t> </a:t>
            </a:r>
            <a:r>
              <a:rPr lang="pt-PT" sz="2000" dirty="0" err="1"/>
              <a:t>highest</a:t>
            </a:r>
            <a:r>
              <a:rPr lang="pt-PT" sz="2000" dirty="0"/>
              <a:t> </a:t>
            </a:r>
            <a:r>
              <a:rPr lang="pt-PT" sz="2000" dirty="0" err="1"/>
              <a:t>frequency</a:t>
            </a:r>
            <a:r>
              <a:rPr lang="pt-PT" sz="2000" dirty="0"/>
              <a:t> 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pt-PT" sz="2000" i="1" dirty="0" err="1"/>
              <a:t>Median</a:t>
            </a:r>
            <a:r>
              <a:rPr lang="pt-PT" sz="2000" dirty="0"/>
              <a:t> – </a:t>
            </a:r>
            <a:r>
              <a:rPr lang="pt-PT" sz="2000" dirty="0" err="1"/>
              <a:t>value</a:t>
            </a:r>
            <a:r>
              <a:rPr lang="pt-PT" sz="2000" dirty="0"/>
              <a:t> </a:t>
            </a:r>
            <a:r>
              <a:rPr lang="pt-PT" sz="2000" dirty="0" err="1"/>
              <a:t>that</a:t>
            </a:r>
            <a:r>
              <a:rPr lang="pt-PT" sz="2000" dirty="0"/>
              <a:t> </a:t>
            </a:r>
            <a:r>
              <a:rPr lang="pt-PT" sz="2000" dirty="0" err="1"/>
              <a:t>splits</a:t>
            </a:r>
            <a:r>
              <a:rPr lang="pt-PT" sz="2000" dirty="0"/>
              <a:t> </a:t>
            </a:r>
            <a:r>
              <a:rPr lang="pt-PT" sz="2000" dirty="0" err="1"/>
              <a:t>the</a:t>
            </a:r>
            <a:r>
              <a:rPr lang="pt-PT" sz="2000" dirty="0"/>
              <a:t> data </a:t>
            </a:r>
            <a:r>
              <a:rPr lang="pt-PT" sz="2000" dirty="0" err="1"/>
              <a:t>into</a:t>
            </a:r>
            <a:r>
              <a:rPr lang="pt-PT" sz="2000" dirty="0"/>
              <a:t> a </a:t>
            </a:r>
            <a:r>
              <a:rPr lang="pt-PT" sz="2000" dirty="0" err="1"/>
              <a:t>lower</a:t>
            </a:r>
            <a:r>
              <a:rPr lang="pt-PT" sz="2000" dirty="0"/>
              <a:t> </a:t>
            </a:r>
            <a:r>
              <a:rPr lang="pt-PT" sz="2000" dirty="0" err="1"/>
              <a:t>and</a:t>
            </a:r>
            <a:r>
              <a:rPr lang="pt-PT" sz="2000" dirty="0"/>
              <a:t> </a:t>
            </a:r>
            <a:r>
              <a:rPr lang="pt-PT" sz="2000" dirty="0" err="1"/>
              <a:t>upper</a:t>
            </a:r>
            <a:r>
              <a:rPr lang="pt-PT" sz="2000" dirty="0"/>
              <a:t> </a:t>
            </a:r>
            <a:r>
              <a:rPr lang="pt-PT" sz="2000" dirty="0" err="1"/>
              <a:t>half</a:t>
            </a:r>
            <a:endParaRPr lang="pt-PT" sz="2000" dirty="0"/>
          </a:p>
          <a:p>
            <a:pPr lvl="2"/>
            <a:endParaRPr lang="pt-PT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PT" sz="2000" b="1" dirty="0" err="1"/>
              <a:t>Variability</a:t>
            </a:r>
            <a:r>
              <a:rPr lang="pt-PT" sz="2000" dirty="0"/>
              <a:t> (</a:t>
            </a:r>
            <a:r>
              <a:rPr lang="pt-PT" sz="2000" i="1" dirty="0" err="1"/>
              <a:t>how</a:t>
            </a:r>
            <a:r>
              <a:rPr lang="pt-PT" sz="2000" i="1" dirty="0"/>
              <a:t> ‘spread out’ are </a:t>
            </a:r>
            <a:r>
              <a:rPr lang="pt-PT" sz="2000" i="1" dirty="0" err="1"/>
              <a:t>the</a:t>
            </a:r>
            <a:r>
              <a:rPr lang="pt-PT" sz="2000" i="1" dirty="0"/>
              <a:t> </a:t>
            </a:r>
            <a:r>
              <a:rPr lang="pt-PT" sz="2000" i="1" dirty="0" err="1"/>
              <a:t>values</a:t>
            </a:r>
            <a:r>
              <a:rPr lang="pt-PT" sz="2000" dirty="0"/>
              <a:t>)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pt-PT" sz="2000" dirty="0" err="1"/>
              <a:t>Variance</a:t>
            </a:r>
            <a:r>
              <a:rPr lang="pt-PT" sz="2000" dirty="0"/>
              <a:t> 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pt-PT" sz="2000" dirty="0"/>
              <a:t>Standard </a:t>
            </a:r>
            <a:r>
              <a:rPr lang="pt-PT" sz="2000" dirty="0" err="1"/>
              <a:t>deviation</a:t>
            </a:r>
            <a:endParaRPr lang="pt-PT" sz="2000" dirty="0"/>
          </a:p>
          <a:p>
            <a:pPr lvl="1"/>
            <a:endParaRPr lang="pt-PT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000" i="1" dirty="0" err="1">
                <a:solidFill>
                  <a:srgbClr val="FF0000"/>
                </a:solidFill>
              </a:rPr>
              <a:t>Kurtosis</a:t>
            </a:r>
            <a:r>
              <a:rPr lang="pt-PT" sz="2000" i="1" dirty="0">
                <a:solidFill>
                  <a:srgbClr val="FF0000"/>
                </a:solidFill>
              </a:rPr>
              <a:t> </a:t>
            </a:r>
            <a:r>
              <a:rPr lang="pt-PT" sz="2000" i="1" dirty="0" err="1">
                <a:solidFill>
                  <a:srgbClr val="FF0000"/>
                </a:solidFill>
              </a:rPr>
              <a:t>and</a:t>
            </a:r>
            <a:r>
              <a:rPr lang="pt-PT" sz="2000" i="1" dirty="0">
                <a:solidFill>
                  <a:srgbClr val="FF0000"/>
                </a:solidFill>
              </a:rPr>
              <a:t> </a:t>
            </a:r>
            <a:r>
              <a:rPr lang="pt-PT" sz="2000" i="1" dirty="0" err="1">
                <a:solidFill>
                  <a:srgbClr val="FF0000"/>
                </a:solidFill>
              </a:rPr>
              <a:t>skewness</a:t>
            </a:r>
            <a:r>
              <a:rPr lang="pt-PT" sz="2000" i="1" dirty="0">
                <a:solidFill>
                  <a:srgbClr val="FF0000"/>
                </a:solidFill>
              </a:rPr>
              <a:t> (later)</a:t>
            </a:r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0001BFFC-AF71-BD85-7BCD-9E8A230DE20E}"/>
              </a:ext>
            </a:extLst>
          </p:cNvPr>
          <p:cNvGrpSpPr/>
          <p:nvPr/>
        </p:nvGrpSpPr>
        <p:grpSpPr>
          <a:xfrm>
            <a:off x="2195803" y="4481796"/>
            <a:ext cx="8086601" cy="1704467"/>
            <a:chOff x="2336234" y="4371654"/>
            <a:chExt cx="7735418" cy="1528263"/>
          </a:xfrm>
        </p:grpSpPr>
        <p:pic>
          <p:nvPicPr>
            <p:cNvPr id="12" name="Imagem 11">
              <a:extLst>
                <a:ext uri="{FF2B5EF4-FFF2-40B4-BE49-F238E27FC236}">
                  <a16:creationId xmlns:a16="http://schemas.microsoft.com/office/drawing/2014/main" id="{EC8A6243-12D8-33D6-E2CD-77C3C88F926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02350" y="4741577"/>
              <a:ext cx="2987299" cy="1158340"/>
            </a:xfrm>
            <a:prstGeom prst="rect">
              <a:avLst/>
            </a:prstGeom>
          </p:spPr>
        </p:pic>
        <p:pic>
          <p:nvPicPr>
            <p:cNvPr id="13" name="Imagem 12">
              <a:extLst>
                <a:ext uri="{FF2B5EF4-FFF2-40B4-BE49-F238E27FC236}">
                  <a16:creationId xmlns:a16="http://schemas.microsoft.com/office/drawing/2014/main" id="{C0661AB0-F8C3-133B-CAEF-581EC96938E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36234" y="4817783"/>
              <a:ext cx="1806097" cy="1005927"/>
            </a:xfrm>
            <a:prstGeom prst="rect">
              <a:avLst/>
            </a:prstGeom>
          </p:spPr>
        </p:pic>
        <p:pic>
          <p:nvPicPr>
            <p:cNvPr id="14" name="Imagem 13">
              <a:extLst>
                <a:ext uri="{FF2B5EF4-FFF2-40B4-BE49-F238E27FC236}">
                  <a16:creationId xmlns:a16="http://schemas.microsoft.com/office/drawing/2014/main" id="{A33E80ED-E9EA-E0F5-3796-6C9B93FFC3B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049667" y="4905486"/>
              <a:ext cx="1420193" cy="830522"/>
            </a:xfrm>
            <a:prstGeom prst="rect">
              <a:avLst/>
            </a:prstGeom>
          </p:spPr>
        </p:pic>
        <p:sp>
          <p:nvSpPr>
            <p:cNvPr id="2" name="CaixaDeTexto 1">
              <a:extLst>
                <a:ext uri="{FF2B5EF4-FFF2-40B4-BE49-F238E27FC236}">
                  <a16:creationId xmlns:a16="http://schemas.microsoft.com/office/drawing/2014/main" id="{02B6DEC0-C97F-C87F-8CD9-D525F36EAFBD}"/>
                </a:ext>
              </a:extLst>
            </p:cNvPr>
            <p:cNvSpPr txBox="1"/>
            <p:nvPr/>
          </p:nvSpPr>
          <p:spPr>
            <a:xfrm>
              <a:off x="2949637" y="4371654"/>
              <a:ext cx="847112" cy="3699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b="1" dirty="0" err="1"/>
                <a:t>Mean</a:t>
              </a:r>
              <a:endParaRPr lang="en-US" b="1" dirty="0"/>
            </a:p>
          </p:txBody>
        </p:sp>
        <p:sp>
          <p:nvSpPr>
            <p:cNvPr id="3" name="CaixaDeTexto 2">
              <a:extLst>
                <a:ext uri="{FF2B5EF4-FFF2-40B4-BE49-F238E27FC236}">
                  <a16:creationId xmlns:a16="http://schemas.microsoft.com/office/drawing/2014/main" id="{9535F8BF-B1EA-0628-8641-52463DB3AF91}"/>
                </a:ext>
              </a:extLst>
            </p:cNvPr>
            <p:cNvSpPr txBox="1"/>
            <p:nvPr/>
          </p:nvSpPr>
          <p:spPr>
            <a:xfrm>
              <a:off x="5440530" y="4389377"/>
              <a:ext cx="13109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b="1" dirty="0" err="1"/>
                <a:t>Variance</a:t>
              </a:r>
              <a:endParaRPr lang="en-US" b="1" dirty="0"/>
            </a:p>
          </p:txBody>
        </p:sp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A3C51859-71FF-212C-B05F-C56221BB11C5}"/>
                </a:ext>
              </a:extLst>
            </p:cNvPr>
            <p:cNvSpPr txBox="1"/>
            <p:nvPr/>
          </p:nvSpPr>
          <p:spPr>
            <a:xfrm>
              <a:off x="7753550" y="4389377"/>
              <a:ext cx="23181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b="1" dirty="0"/>
                <a:t>Standard </a:t>
              </a:r>
              <a:r>
                <a:rPr lang="pt-PT" b="1" dirty="0" err="1"/>
                <a:t>deviation</a:t>
              </a:r>
              <a:endParaRPr lang="en-US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6488209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7FE4A-BB18-C781-6E15-83A60D6BF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424E9DDB-A336-BF51-DE37-CD1EDD6F3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8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2D943C5F-7797-3E13-24FE-6EEF64811FDC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U</a:t>
            </a:r>
            <a:r>
              <a:rPr lang="en-US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nivariate</a:t>
            </a:r>
            <a:r>
              <a:rPr lang="en-US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statistical analysis</a:t>
            </a:r>
          </a:p>
        </p:txBody>
      </p:sp>
      <p:pic>
        <p:nvPicPr>
          <p:cNvPr id="3074" name="Picture 2" descr="undefined">
            <a:extLst>
              <a:ext uri="{FF2B5EF4-FFF2-40B4-BE49-F238E27FC236}">
                <a16:creationId xmlns:a16="http://schemas.microsoft.com/office/drawing/2014/main" id="{7D717376-FA8B-A3CE-77A3-BCC5B476E6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103" y="674347"/>
            <a:ext cx="5213764" cy="5682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" name="Agrupar 8">
            <a:extLst>
              <a:ext uri="{FF2B5EF4-FFF2-40B4-BE49-F238E27FC236}">
                <a16:creationId xmlns:a16="http://schemas.microsoft.com/office/drawing/2014/main" id="{B3BE8F27-01AF-1405-580A-1461F974C1E0}"/>
              </a:ext>
            </a:extLst>
          </p:cNvPr>
          <p:cNvGrpSpPr/>
          <p:nvPr/>
        </p:nvGrpSpPr>
        <p:grpSpPr>
          <a:xfrm>
            <a:off x="6095998" y="401297"/>
            <a:ext cx="5344041" cy="6320178"/>
            <a:chOff x="3470446" y="0"/>
            <a:chExt cx="5251106" cy="6538912"/>
          </a:xfrm>
        </p:grpSpPr>
        <p:pic>
          <p:nvPicPr>
            <p:cNvPr id="3" name="Imagem 2">
              <a:extLst>
                <a:ext uri="{FF2B5EF4-FFF2-40B4-BE49-F238E27FC236}">
                  <a16:creationId xmlns:a16="http://schemas.microsoft.com/office/drawing/2014/main" id="{D2EB9525-1ADD-5709-CBA8-0509F1AA3CA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26667"/>
            <a:stretch>
              <a:fillRect/>
            </a:stretch>
          </p:blipFill>
          <p:spPr>
            <a:xfrm>
              <a:off x="3470448" y="0"/>
              <a:ext cx="5251104" cy="5029200"/>
            </a:xfrm>
            <a:prstGeom prst="rect">
              <a:avLst/>
            </a:prstGeom>
          </p:spPr>
        </p:pic>
        <p:pic>
          <p:nvPicPr>
            <p:cNvPr id="8" name="Imagem 7">
              <a:extLst>
                <a:ext uri="{FF2B5EF4-FFF2-40B4-BE49-F238E27FC236}">
                  <a16:creationId xmlns:a16="http://schemas.microsoft.com/office/drawing/2014/main" id="{EA97B496-4BEF-991B-9A30-703D115EBFD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77875"/>
            <a:stretch>
              <a:fillRect/>
            </a:stretch>
          </p:blipFill>
          <p:spPr>
            <a:xfrm>
              <a:off x="3470446" y="5021539"/>
              <a:ext cx="5251104" cy="151737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090397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1A0F63-5470-0AA5-95AA-2571386C7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7E7E7EDF-34FF-7E01-DD86-BBE4E8687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9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57CEF43E-0749-8F5A-2D44-ACCBF9CB0738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U</a:t>
            </a:r>
            <a:r>
              <a:rPr lang="en-US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nivariate</a:t>
            </a:r>
            <a:r>
              <a:rPr lang="en-US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statistical analysis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AC5A01D7-8573-DBC6-9412-BECCD4CD7E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9232" y="2439763"/>
            <a:ext cx="4999382" cy="3808636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7E9813C6-B564-3409-208D-99A87C5064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0181" y="710763"/>
            <a:ext cx="3117576" cy="1729000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C5FBAC11-D42B-F7F2-7841-755AD4E97C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7916" y="710763"/>
            <a:ext cx="3518314" cy="1729000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493B488A-9DF5-3FE4-DE9A-A3DB7E6066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986" y="2439763"/>
            <a:ext cx="5210362" cy="3808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851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9C191-CA91-5CBD-A763-115824CD5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A873315E-6F17-CEC1-C021-A0AFE3C7E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10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375095CC-1608-7E9E-781D-D1AF1668EFAA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U</a:t>
            </a:r>
            <a:r>
              <a:rPr lang="en-US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nivariate</a:t>
            </a:r>
            <a:r>
              <a:rPr lang="en-US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statistical analysis – introduction to </a:t>
            </a:r>
            <a:r>
              <a:rPr lang="en-US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scipy</a:t>
            </a:r>
            <a:endParaRPr lang="en-US" sz="2800" b="1" dirty="0">
              <a:solidFill>
                <a:schemeClr val="bg1"/>
              </a:solidFill>
              <a:latin typeface="Calibri Light"/>
              <a:ea typeface="Arrus BT Roman"/>
              <a:cs typeface="Arrus BT Roman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9E7820C-B448-3F94-B9D4-D00AA38515AB}"/>
              </a:ext>
            </a:extLst>
          </p:cNvPr>
          <p:cNvSpPr txBox="1"/>
          <p:nvPr/>
        </p:nvSpPr>
        <p:spPr>
          <a:xfrm>
            <a:off x="0" y="634592"/>
            <a:ext cx="10886661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 err="1"/>
              <a:t>Scipy</a:t>
            </a:r>
            <a:r>
              <a:rPr lang="pt-PT" dirty="0"/>
              <a:t> </a:t>
            </a:r>
            <a:r>
              <a:rPr lang="pt-PT" dirty="0" err="1"/>
              <a:t>is</a:t>
            </a:r>
            <a:r>
              <a:rPr lang="pt-PT" dirty="0"/>
              <a:t> a </a:t>
            </a:r>
            <a:r>
              <a:rPr lang="pt-PT" dirty="0" err="1"/>
              <a:t>Python</a:t>
            </a:r>
            <a:r>
              <a:rPr lang="pt-PT" dirty="0"/>
              <a:t> </a:t>
            </a:r>
            <a:r>
              <a:rPr lang="pt-PT" dirty="0" err="1"/>
              <a:t>library</a:t>
            </a:r>
            <a:r>
              <a:rPr lang="pt-PT" dirty="0"/>
              <a:t> for basic </a:t>
            </a:r>
            <a:r>
              <a:rPr lang="pt-PT" dirty="0" err="1"/>
              <a:t>and</a:t>
            </a:r>
            <a:r>
              <a:rPr lang="pt-PT" dirty="0"/>
              <a:t> </a:t>
            </a:r>
            <a:r>
              <a:rPr lang="pt-PT" dirty="0" err="1"/>
              <a:t>advanced</a:t>
            </a:r>
            <a:r>
              <a:rPr lang="pt-PT" dirty="0"/>
              <a:t> </a:t>
            </a:r>
            <a:r>
              <a:rPr lang="pt-PT" dirty="0" err="1"/>
              <a:t>scientific</a:t>
            </a:r>
            <a:r>
              <a:rPr lang="pt-PT" dirty="0"/>
              <a:t> </a:t>
            </a:r>
            <a:r>
              <a:rPr lang="pt-PT" dirty="0" err="1"/>
              <a:t>computing</a:t>
            </a:r>
            <a:endParaRPr lang="pt-PT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i="1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i="1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i="1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i="1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i="1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i="1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i="1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i="1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i="1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i="1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i="1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i="1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i="1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i="1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i="1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i="1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 err="1"/>
              <a:t>Import</a:t>
            </a:r>
            <a:r>
              <a:rPr lang="pt-PT" dirty="0"/>
              <a:t> </a:t>
            </a:r>
            <a:r>
              <a:rPr lang="pt-PT" dirty="0" err="1"/>
              <a:t>following</a:t>
            </a:r>
            <a:r>
              <a:rPr lang="pt-PT" dirty="0"/>
              <a:t> packages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24A6B784-AD77-8C2C-2AC3-BCC2CAA512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1347" y="1114781"/>
            <a:ext cx="6327913" cy="4011486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3D160B6A-1520-8E3C-675A-41F5E8A0D0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5872" y="5876161"/>
            <a:ext cx="8138865" cy="472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6452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7D28D-7190-9047-73BD-0DAF8903E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0C9FC7D7-CBCE-9FA1-AFA0-84C511FE6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11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C364C766-BBB8-78E4-E72C-C7FA56069078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U</a:t>
            </a:r>
            <a:r>
              <a:rPr lang="en-US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nivariate</a:t>
            </a:r>
            <a:r>
              <a:rPr lang="en-US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statistical analysis – relative and cumulative frequency</a:t>
            </a:r>
            <a:endParaRPr lang="en-US" sz="2800" b="1" i="0" u="none" strike="noStrike" kern="1200" cap="none" spc="0" baseline="0" dirty="0">
              <a:solidFill>
                <a:schemeClr val="bg1"/>
              </a:solidFill>
              <a:uFillTx/>
              <a:latin typeface="Calibri Light"/>
              <a:ea typeface="Arrus BT Roman"/>
              <a:cs typeface="Arrus BT Roman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1CDD4050-06A7-A34D-7588-D6EDC1D4E6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0115"/>
          <a:stretch>
            <a:fillRect/>
          </a:stretch>
        </p:blipFill>
        <p:spPr>
          <a:xfrm>
            <a:off x="664308" y="686683"/>
            <a:ext cx="4632467" cy="2617304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B7271CCC-8A4D-7BDB-F828-B6C03D0B4B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308" y="3342769"/>
            <a:ext cx="4403350" cy="3463051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32CB7688-551C-2855-45C2-3F8D32AFF84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9238"/>
          <a:stretch>
            <a:fillRect/>
          </a:stretch>
        </p:blipFill>
        <p:spPr>
          <a:xfrm>
            <a:off x="6187732" y="686683"/>
            <a:ext cx="4516925" cy="2617304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3AB6F4B6-A385-ECB9-A242-A833A8F029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4433" y="3344655"/>
            <a:ext cx="4323522" cy="3376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7313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8B883-DA44-5559-FDC0-92AA374D4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505B5667-1BB1-697F-11D2-C8C64D217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12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2030759E-F74B-61CB-9557-5AC8D969D3DA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U</a:t>
            </a:r>
            <a:r>
              <a:rPr lang="en-US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nivariate</a:t>
            </a:r>
            <a:r>
              <a:rPr lang="en-US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statistical analysis – probability distribution</a:t>
            </a:r>
            <a:endParaRPr lang="en-US" sz="2800" b="1" i="0" u="none" strike="noStrike" kern="1200" cap="none" spc="0" baseline="0" dirty="0">
              <a:solidFill>
                <a:schemeClr val="bg1"/>
              </a:solidFill>
              <a:uFillTx/>
              <a:latin typeface="Calibri Light"/>
              <a:ea typeface="Arrus BT Roman"/>
              <a:cs typeface="Arrus BT Roman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8B33832-CD6D-81B0-6E10-472AAAA753C3}"/>
              </a:ext>
            </a:extLst>
          </p:cNvPr>
          <p:cNvSpPr txBox="1"/>
          <p:nvPr/>
        </p:nvSpPr>
        <p:spPr>
          <a:xfrm>
            <a:off x="0" y="1179444"/>
            <a:ext cx="6625398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000" dirty="0"/>
              <a:t>A </a:t>
            </a:r>
            <a:r>
              <a:rPr lang="pt-PT" sz="2000" dirty="0" err="1"/>
              <a:t>probability</a:t>
            </a:r>
            <a:r>
              <a:rPr lang="pt-PT" sz="2000" dirty="0"/>
              <a:t> </a:t>
            </a:r>
            <a:r>
              <a:rPr lang="pt-PT" sz="2000" dirty="0" err="1"/>
              <a:t>distribution</a:t>
            </a:r>
            <a:r>
              <a:rPr lang="pt-PT" sz="2000" dirty="0"/>
              <a:t> </a:t>
            </a:r>
            <a:r>
              <a:rPr lang="pt-PT" sz="2000" dirty="0" err="1"/>
              <a:t>is</a:t>
            </a:r>
            <a:r>
              <a:rPr lang="pt-PT" sz="2000" dirty="0"/>
              <a:t> a </a:t>
            </a:r>
            <a:r>
              <a:rPr lang="pt-PT" sz="2000" dirty="0" err="1"/>
              <a:t>mathematical</a:t>
            </a:r>
            <a:r>
              <a:rPr lang="pt-PT" sz="2000" dirty="0"/>
              <a:t> </a:t>
            </a:r>
            <a:r>
              <a:rPr lang="pt-PT" sz="2000" dirty="0" err="1"/>
              <a:t>description</a:t>
            </a:r>
            <a:r>
              <a:rPr lang="pt-PT" sz="2000" dirty="0"/>
              <a:t> </a:t>
            </a:r>
            <a:r>
              <a:rPr lang="pt-PT" sz="2000" dirty="0" err="1"/>
              <a:t>of</a:t>
            </a:r>
            <a:r>
              <a:rPr lang="pt-PT" sz="2000" dirty="0"/>
              <a:t> </a:t>
            </a:r>
            <a:r>
              <a:rPr lang="pt-PT" sz="2000" dirty="0" err="1"/>
              <a:t>the</a:t>
            </a:r>
            <a:r>
              <a:rPr lang="pt-PT" sz="2000" dirty="0"/>
              <a:t> </a:t>
            </a:r>
            <a:r>
              <a:rPr lang="pt-PT" sz="2000" b="1" dirty="0" err="1"/>
              <a:t>probability</a:t>
            </a:r>
            <a:r>
              <a:rPr lang="pt-PT" sz="2000" b="1" dirty="0"/>
              <a:t> </a:t>
            </a:r>
            <a:r>
              <a:rPr lang="pt-PT" sz="2000" b="1" dirty="0" err="1"/>
              <a:t>of</a:t>
            </a:r>
            <a:r>
              <a:rPr lang="pt-PT" sz="2000" b="1" dirty="0"/>
              <a:t> a </a:t>
            </a:r>
            <a:r>
              <a:rPr lang="pt-PT" sz="2000" b="1" dirty="0" err="1"/>
              <a:t>random</a:t>
            </a:r>
            <a:r>
              <a:rPr lang="pt-PT" sz="2000" b="1" dirty="0"/>
              <a:t> </a:t>
            </a:r>
            <a:r>
              <a:rPr lang="pt-PT" sz="2000" b="1" dirty="0" err="1"/>
              <a:t>variable</a:t>
            </a:r>
            <a:endParaRPr lang="pt-PT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000" dirty="0" err="1"/>
              <a:t>We</a:t>
            </a:r>
            <a:r>
              <a:rPr lang="pt-PT" sz="2000" dirty="0"/>
              <a:t> can </a:t>
            </a:r>
            <a:r>
              <a:rPr lang="pt-PT" sz="2000" dirty="0" err="1"/>
              <a:t>have</a:t>
            </a:r>
            <a:r>
              <a:rPr lang="pt-PT" sz="20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PT" sz="2000" b="1" dirty="0" err="1"/>
              <a:t>continuous</a:t>
            </a:r>
            <a:r>
              <a:rPr lang="pt-PT" sz="2000" dirty="0"/>
              <a:t> (</a:t>
            </a:r>
            <a:r>
              <a:rPr lang="pt-PT" sz="2000" dirty="0" err="1"/>
              <a:t>daily</a:t>
            </a:r>
            <a:r>
              <a:rPr lang="pt-PT" sz="2000" dirty="0"/>
              <a:t> </a:t>
            </a:r>
            <a:r>
              <a:rPr lang="pt-PT" sz="2000" dirty="0" err="1"/>
              <a:t>temperature</a:t>
            </a:r>
            <a:r>
              <a:rPr lang="pt-PT" sz="2000" dirty="0"/>
              <a:t>, stock </a:t>
            </a:r>
            <a:r>
              <a:rPr lang="pt-PT" sz="2000" dirty="0" err="1"/>
              <a:t>price</a:t>
            </a:r>
            <a:r>
              <a:rPr lang="pt-PT" sz="2000" dirty="0"/>
              <a:t>) </a:t>
            </a:r>
            <a:r>
              <a:rPr lang="pt-PT" sz="2000" dirty="0" err="1"/>
              <a:t>distributions</a:t>
            </a:r>
            <a:endParaRPr lang="pt-PT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PT" sz="2000" b="1" dirty="0" err="1"/>
              <a:t>discrete</a:t>
            </a:r>
            <a:r>
              <a:rPr lang="pt-PT" sz="2000" dirty="0"/>
              <a:t> (</a:t>
            </a:r>
            <a:r>
              <a:rPr lang="pt-PT" sz="2000" dirty="0" err="1"/>
              <a:t>pass</a:t>
            </a:r>
            <a:r>
              <a:rPr lang="pt-PT" sz="2000" dirty="0"/>
              <a:t>/</a:t>
            </a:r>
            <a:r>
              <a:rPr lang="pt-PT" sz="2000" dirty="0" err="1"/>
              <a:t>fail</a:t>
            </a:r>
            <a:r>
              <a:rPr lang="pt-PT" sz="2000" dirty="0"/>
              <a:t> </a:t>
            </a:r>
            <a:r>
              <a:rPr lang="pt-PT" sz="2000" dirty="0" err="1"/>
              <a:t>trials</a:t>
            </a:r>
            <a:r>
              <a:rPr lang="pt-PT" sz="2000" dirty="0"/>
              <a:t>, </a:t>
            </a:r>
            <a:r>
              <a:rPr lang="pt-PT" sz="2000" dirty="0" err="1"/>
              <a:t>coin</a:t>
            </a:r>
            <a:r>
              <a:rPr lang="pt-PT" sz="2000" dirty="0"/>
              <a:t> tosses) </a:t>
            </a:r>
            <a:r>
              <a:rPr lang="pt-PT" sz="2000" dirty="0" err="1"/>
              <a:t>distributions</a:t>
            </a:r>
            <a:endParaRPr lang="pt-PT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000" dirty="0" err="1"/>
              <a:t>Probability</a:t>
            </a:r>
            <a:r>
              <a:rPr lang="pt-PT" sz="2000" dirty="0"/>
              <a:t> </a:t>
            </a:r>
            <a:r>
              <a:rPr lang="pt-PT" sz="2000" dirty="0" err="1"/>
              <a:t>distributions</a:t>
            </a:r>
            <a:r>
              <a:rPr lang="pt-PT" sz="2000" dirty="0"/>
              <a:t> are </a:t>
            </a:r>
            <a:r>
              <a:rPr lang="pt-PT" sz="2000" dirty="0" err="1"/>
              <a:t>tipically</a:t>
            </a:r>
            <a:r>
              <a:rPr lang="pt-PT" sz="2000" dirty="0"/>
              <a:t> </a:t>
            </a:r>
            <a:r>
              <a:rPr lang="pt-PT" sz="2000" dirty="0" err="1"/>
              <a:t>illustrated</a:t>
            </a:r>
            <a:r>
              <a:rPr lang="pt-PT" sz="2000" dirty="0"/>
              <a:t> </a:t>
            </a:r>
            <a:r>
              <a:rPr lang="pt-PT" sz="2000" dirty="0" err="1"/>
              <a:t>using</a:t>
            </a:r>
            <a:r>
              <a:rPr lang="pt-PT" sz="2000" dirty="0"/>
              <a:t> </a:t>
            </a:r>
            <a:r>
              <a:rPr lang="pt-PT" sz="2000" dirty="0" err="1"/>
              <a:t>the</a:t>
            </a:r>
            <a:r>
              <a:rPr lang="pt-PT" sz="2000" dirty="0"/>
              <a:t> </a:t>
            </a:r>
            <a:r>
              <a:rPr lang="pt-PT" sz="2000" b="1" dirty="0" err="1"/>
              <a:t>Probability</a:t>
            </a:r>
            <a:r>
              <a:rPr lang="pt-PT" sz="2000" b="1" dirty="0"/>
              <a:t> </a:t>
            </a:r>
            <a:r>
              <a:rPr lang="pt-PT" sz="2000" b="1" dirty="0" err="1"/>
              <a:t>Density</a:t>
            </a:r>
            <a:r>
              <a:rPr lang="pt-PT" sz="2000" b="1" dirty="0"/>
              <a:t> </a:t>
            </a:r>
            <a:r>
              <a:rPr lang="pt-PT" sz="2000" b="1" dirty="0" err="1"/>
              <a:t>Function</a:t>
            </a:r>
            <a:r>
              <a:rPr lang="pt-PT" sz="2000" b="1" dirty="0"/>
              <a:t> (PDF)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000" dirty="0" err="1"/>
              <a:t>Three</a:t>
            </a:r>
            <a:r>
              <a:rPr lang="pt-PT" sz="2000" dirty="0"/>
              <a:t> </a:t>
            </a:r>
            <a:r>
              <a:rPr lang="pt-PT" sz="2000" dirty="0" err="1"/>
              <a:t>relevant</a:t>
            </a:r>
            <a:r>
              <a:rPr lang="pt-PT" sz="2000" dirty="0"/>
              <a:t> </a:t>
            </a:r>
            <a:r>
              <a:rPr lang="pt-PT" sz="2000" dirty="0" err="1"/>
              <a:t>continuous</a:t>
            </a:r>
            <a:r>
              <a:rPr lang="pt-PT" sz="2000" dirty="0"/>
              <a:t> </a:t>
            </a:r>
            <a:r>
              <a:rPr lang="pt-PT" sz="2000" dirty="0" err="1"/>
              <a:t>distributions</a:t>
            </a:r>
            <a:r>
              <a:rPr lang="pt-PT" sz="2000" dirty="0"/>
              <a:t> are: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PT" sz="2000" b="1" dirty="0" err="1"/>
              <a:t>Uniform</a:t>
            </a:r>
            <a:r>
              <a:rPr lang="pt-PT" sz="2000" b="1" dirty="0"/>
              <a:t> </a:t>
            </a:r>
            <a:r>
              <a:rPr lang="pt-PT" sz="2000" dirty="0"/>
              <a:t>(</a:t>
            </a:r>
            <a:r>
              <a:rPr lang="pt-PT" sz="2000" dirty="0" err="1"/>
              <a:t>simulation</a:t>
            </a:r>
            <a:r>
              <a:rPr lang="pt-PT" sz="2000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PT" sz="2000" b="1" dirty="0"/>
              <a:t>Normal</a:t>
            </a:r>
            <a:r>
              <a:rPr lang="pt-PT" sz="2000" dirty="0"/>
              <a:t> (</a:t>
            </a:r>
            <a:r>
              <a:rPr lang="pt-PT" sz="2000" dirty="0" err="1"/>
              <a:t>continuous</a:t>
            </a:r>
            <a:r>
              <a:rPr lang="pt-PT" sz="2000" dirty="0"/>
              <a:t> </a:t>
            </a:r>
            <a:r>
              <a:rPr lang="pt-PT" sz="2000" dirty="0" err="1"/>
              <a:t>variables</a:t>
            </a:r>
            <a:r>
              <a:rPr lang="pt-PT" sz="2000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PT" sz="2000" b="1" dirty="0"/>
              <a:t>Log-normal </a:t>
            </a:r>
            <a:r>
              <a:rPr lang="pt-PT" sz="2000" dirty="0"/>
              <a:t>(positive </a:t>
            </a:r>
            <a:r>
              <a:rPr lang="pt-PT" sz="2000" dirty="0" err="1"/>
              <a:t>variables</a:t>
            </a:r>
            <a:r>
              <a:rPr lang="pt-PT" sz="2000" dirty="0"/>
              <a:t>, </a:t>
            </a:r>
            <a:r>
              <a:rPr lang="pt-PT" sz="2000" dirty="0" err="1"/>
              <a:t>particle</a:t>
            </a:r>
            <a:r>
              <a:rPr lang="pt-PT" sz="2000" dirty="0"/>
              <a:t> </a:t>
            </a:r>
            <a:r>
              <a:rPr lang="pt-PT" sz="2000" dirty="0" err="1"/>
              <a:t>distributions</a:t>
            </a:r>
            <a:r>
              <a:rPr lang="pt-PT" sz="2000" dirty="0"/>
              <a:t>)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23A3B8CA-77F5-3F94-974F-A97A6914DD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5398" y="1076835"/>
            <a:ext cx="5500342" cy="4422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2809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2A1C9-A769-2F91-BA56-A0A152B1F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B3D31EDE-9AEB-2ACD-152B-9B8DAAE7F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13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68E58D75-D030-57B5-1E7C-C4A0D62CD34F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U</a:t>
            </a:r>
            <a:r>
              <a:rPr lang="en-US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nivariate</a:t>
            </a:r>
            <a:r>
              <a:rPr lang="en-US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statistical analysis – Uniform distribution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4F52067-C43B-9943-9FFB-2E16F439700B}"/>
              </a:ext>
            </a:extLst>
          </p:cNvPr>
          <p:cNvSpPr txBox="1"/>
          <p:nvPr/>
        </p:nvSpPr>
        <p:spPr>
          <a:xfrm>
            <a:off x="0" y="3726426"/>
            <a:ext cx="7010400" cy="25478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000" dirty="0" err="1"/>
              <a:t>The</a:t>
            </a:r>
            <a:r>
              <a:rPr lang="pt-PT" sz="2000" dirty="0"/>
              <a:t> </a:t>
            </a:r>
            <a:r>
              <a:rPr lang="pt-PT" sz="2000" dirty="0" err="1"/>
              <a:t>uniform</a:t>
            </a:r>
            <a:r>
              <a:rPr lang="pt-PT" sz="2000" dirty="0"/>
              <a:t> </a:t>
            </a:r>
            <a:r>
              <a:rPr lang="pt-PT" sz="2000" dirty="0" err="1"/>
              <a:t>distribution</a:t>
            </a:r>
            <a:r>
              <a:rPr lang="pt-PT" sz="2000" dirty="0"/>
              <a:t> </a:t>
            </a:r>
            <a:r>
              <a:rPr lang="pt-PT" sz="2000" dirty="0" err="1"/>
              <a:t>is</a:t>
            </a:r>
            <a:r>
              <a:rPr lang="pt-PT" sz="2000" dirty="0"/>
              <a:t> </a:t>
            </a:r>
            <a:r>
              <a:rPr lang="pt-PT" sz="2000" dirty="0" err="1"/>
              <a:t>tipically</a:t>
            </a:r>
            <a:r>
              <a:rPr lang="pt-PT" sz="2000" dirty="0"/>
              <a:t> </a:t>
            </a:r>
            <a:r>
              <a:rPr lang="pt-PT" sz="2000" dirty="0" err="1"/>
              <a:t>only</a:t>
            </a:r>
            <a:r>
              <a:rPr lang="pt-PT" sz="2000" dirty="0"/>
              <a:t> </a:t>
            </a:r>
            <a:r>
              <a:rPr lang="pt-PT" sz="2000" dirty="0" err="1"/>
              <a:t>useful</a:t>
            </a:r>
            <a:r>
              <a:rPr lang="pt-PT" sz="2000" dirty="0"/>
              <a:t> in </a:t>
            </a:r>
            <a:r>
              <a:rPr lang="pt-PT" sz="2000" dirty="0" err="1"/>
              <a:t>simulation</a:t>
            </a:r>
            <a:r>
              <a:rPr lang="pt-PT" sz="2000" dirty="0"/>
              <a:t> </a:t>
            </a:r>
            <a:r>
              <a:rPr lang="pt-PT" sz="2000" dirty="0" err="1"/>
              <a:t>settings</a:t>
            </a:r>
            <a:endParaRPr lang="pt-PT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000" dirty="0" err="1"/>
              <a:t>Every</a:t>
            </a:r>
            <a:r>
              <a:rPr lang="pt-PT" sz="2000" dirty="0"/>
              <a:t> </a:t>
            </a:r>
            <a:r>
              <a:rPr lang="pt-PT" sz="2000" dirty="0" err="1"/>
              <a:t>value</a:t>
            </a:r>
            <a:r>
              <a:rPr lang="pt-PT" sz="2000" dirty="0"/>
              <a:t> </a:t>
            </a:r>
            <a:r>
              <a:rPr lang="pt-PT" sz="2000" dirty="0" err="1"/>
              <a:t>between</a:t>
            </a:r>
            <a:r>
              <a:rPr lang="pt-PT" sz="2000" dirty="0"/>
              <a:t> a </a:t>
            </a:r>
            <a:r>
              <a:rPr lang="pt-PT" sz="2000" dirty="0" err="1"/>
              <a:t>lower</a:t>
            </a:r>
            <a:r>
              <a:rPr lang="pt-PT" sz="2000" dirty="0"/>
              <a:t> </a:t>
            </a:r>
            <a:r>
              <a:rPr lang="pt-PT" sz="2000" dirty="0" err="1"/>
              <a:t>and</a:t>
            </a:r>
            <a:r>
              <a:rPr lang="pt-PT" sz="2000" dirty="0"/>
              <a:t> </a:t>
            </a:r>
            <a:r>
              <a:rPr lang="pt-PT" sz="2000" dirty="0" err="1"/>
              <a:t>upper</a:t>
            </a:r>
            <a:r>
              <a:rPr lang="pt-PT" sz="2000" dirty="0"/>
              <a:t> </a:t>
            </a:r>
            <a:r>
              <a:rPr lang="pt-PT" sz="2000" dirty="0" err="1"/>
              <a:t>limit</a:t>
            </a:r>
            <a:r>
              <a:rPr lang="pt-PT" sz="2000" dirty="0"/>
              <a:t> </a:t>
            </a:r>
            <a:r>
              <a:rPr lang="pt-PT" sz="2000" dirty="0" err="1"/>
              <a:t>has</a:t>
            </a:r>
            <a:r>
              <a:rPr lang="pt-PT" sz="2000" dirty="0"/>
              <a:t> </a:t>
            </a:r>
            <a:r>
              <a:rPr lang="pt-PT" sz="2000" dirty="0" err="1"/>
              <a:t>exactly</a:t>
            </a:r>
            <a:r>
              <a:rPr lang="pt-PT" sz="2000" dirty="0"/>
              <a:t> </a:t>
            </a:r>
            <a:r>
              <a:rPr lang="pt-PT" sz="2000" dirty="0" err="1"/>
              <a:t>the</a:t>
            </a:r>
            <a:r>
              <a:rPr lang="pt-PT" sz="2000" dirty="0"/>
              <a:t> </a:t>
            </a:r>
            <a:r>
              <a:rPr lang="pt-PT" sz="2000" dirty="0" err="1"/>
              <a:t>same</a:t>
            </a:r>
            <a:r>
              <a:rPr lang="pt-PT" sz="2000" dirty="0"/>
              <a:t> </a:t>
            </a:r>
            <a:r>
              <a:rPr lang="pt-PT" sz="2000" dirty="0" err="1"/>
              <a:t>probability</a:t>
            </a:r>
            <a:r>
              <a:rPr lang="pt-PT" sz="20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000" dirty="0" err="1"/>
              <a:t>Changing</a:t>
            </a:r>
            <a:r>
              <a:rPr lang="pt-PT" sz="2000" dirty="0"/>
              <a:t> </a:t>
            </a:r>
            <a:r>
              <a:rPr lang="pt-PT" sz="2000" dirty="0" err="1"/>
              <a:t>the</a:t>
            </a:r>
            <a:r>
              <a:rPr lang="pt-PT" sz="2000" dirty="0"/>
              <a:t> </a:t>
            </a:r>
            <a:r>
              <a:rPr lang="pt-PT" sz="2000" dirty="0" err="1"/>
              <a:t>upper</a:t>
            </a:r>
            <a:r>
              <a:rPr lang="pt-PT" sz="2000" dirty="0"/>
              <a:t> </a:t>
            </a:r>
            <a:r>
              <a:rPr lang="pt-PT" sz="2000" dirty="0" err="1"/>
              <a:t>and</a:t>
            </a:r>
            <a:r>
              <a:rPr lang="pt-PT" sz="2000" dirty="0"/>
              <a:t> </a:t>
            </a:r>
            <a:r>
              <a:rPr lang="pt-PT" sz="2000" dirty="0" err="1"/>
              <a:t>lower</a:t>
            </a:r>
            <a:r>
              <a:rPr lang="pt-PT" sz="2000" dirty="0"/>
              <a:t> </a:t>
            </a:r>
            <a:r>
              <a:rPr lang="pt-PT" sz="2000" dirty="0" err="1"/>
              <a:t>parameters</a:t>
            </a:r>
            <a:r>
              <a:rPr lang="pt-PT" sz="2000" dirty="0"/>
              <a:t> spreads out </a:t>
            </a:r>
            <a:r>
              <a:rPr lang="pt-PT" sz="2000" dirty="0" err="1"/>
              <a:t>the</a:t>
            </a:r>
            <a:r>
              <a:rPr lang="pt-PT" sz="2000" dirty="0"/>
              <a:t> </a:t>
            </a:r>
            <a:r>
              <a:rPr lang="pt-PT" sz="2000" dirty="0" err="1"/>
              <a:t>distribution</a:t>
            </a:r>
            <a:endParaRPr lang="en-US" sz="2000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E587068A-803D-33F1-7902-9F1ED4F226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5303" y="3050529"/>
            <a:ext cx="4997306" cy="3807471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07C23ADF-004E-CDA8-F75A-B6771546CD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386" y="1257705"/>
            <a:ext cx="4436779" cy="1291301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889D0B28-81D1-24A7-DB8B-CF1DF7C24E7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9772"/>
          <a:stretch>
            <a:fillRect/>
          </a:stretch>
        </p:blipFill>
        <p:spPr>
          <a:xfrm>
            <a:off x="7759149" y="487429"/>
            <a:ext cx="4083908" cy="256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5205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B63074-D6F1-5037-2050-A09788E20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EF1F9A70-2885-01FD-C967-7899F6BA5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14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7FB439B7-291B-5447-0367-40D8CFFBEFF0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U</a:t>
            </a:r>
            <a:r>
              <a:rPr lang="en-US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nivariate</a:t>
            </a:r>
            <a:r>
              <a:rPr lang="en-US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statistical analysis – Normal distribution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6774FD2-6F26-38BB-074A-4A9578DCC61F}"/>
              </a:ext>
            </a:extLst>
          </p:cNvPr>
          <p:cNvSpPr txBox="1"/>
          <p:nvPr/>
        </p:nvSpPr>
        <p:spPr>
          <a:xfrm>
            <a:off x="0" y="3217029"/>
            <a:ext cx="720255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/>
              <a:t>Normal (</a:t>
            </a:r>
            <a:r>
              <a:rPr lang="pt-PT" dirty="0" err="1"/>
              <a:t>Gaussian</a:t>
            </a:r>
            <a:r>
              <a:rPr lang="pt-PT" dirty="0"/>
              <a:t>) </a:t>
            </a:r>
            <a:r>
              <a:rPr lang="pt-PT" dirty="0" err="1"/>
              <a:t>is</a:t>
            </a:r>
            <a:r>
              <a:rPr lang="pt-PT" dirty="0"/>
              <a:t> </a:t>
            </a:r>
            <a:r>
              <a:rPr lang="pt-PT" dirty="0" err="1"/>
              <a:t>the</a:t>
            </a:r>
            <a:r>
              <a:rPr lang="pt-PT" dirty="0"/>
              <a:t> </a:t>
            </a:r>
            <a:r>
              <a:rPr lang="pt-PT" dirty="0" err="1"/>
              <a:t>most</a:t>
            </a:r>
            <a:r>
              <a:rPr lang="pt-PT" dirty="0"/>
              <a:t> </a:t>
            </a:r>
            <a:r>
              <a:rPr lang="pt-PT" dirty="0" err="1"/>
              <a:t>used</a:t>
            </a:r>
            <a:r>
              <a:rPr lang="pt-PT" dirty="0"/>
              <a:t> </a:t>
            </a:r>
            <a:r>
              <a:rPr lang="pt-PT" dirty="0" err="1"/>
              <a:t>distribution</a:t>
            </a:r>
            <a:r>
              <a:rPr lang="pt-PT" dirty="0"/>
              <a:t> in </a:t>
            </a:r>
            <a:r>
              <a:rPr lang="pt-PT" dirty="0" err="1"/>
              <a:t>statistics</a:t>
            </a:r>
            <a:r>
              <a:rPr lang="pt-PT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 err="1"/>
              <a:t>Symmetric</a:t>
            </a:r>
            <a:r>
              <a:rPr lang="pt-PT" dirty="0"/>
              <a:t> “</a:t>
            </a:r>
            <a:r>
              <a:rPr lang="pt-PT" dirty="0" err="1"/>
              <a:t>bell</a:t>
            </a:r>
            <a:r>
              <a:rPr lang="pt-PT" dirty="0"/>
              <a:t>” </a:t>
            </a:r>
            <a:r>
              <a:rPr lang="pt-PT" dirty="0" err="1"/>
              <a:t>shaped</a:t>
            </a:r>
            <a:r>
              <a:rPr lang="pt-PT" dirty="0"/>
              <a:t> </a:t>
            </a:r>
            <a:r>
              <a:rPr lang="pt-PT" dirty="0" err="1"/>
              <a:t>distribution</a:t>
            </a:r>
            <a:endParaRPr lang="pt-PT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 err="1"/>
              <a:t>The</a:t>
            </a:r>
            <a:r>
              <a:rPr lang="pt-PT" dirty="0"/>
              <a:t> </a:t>
            </a:r>
            <a:r>
              <a:rPr lang="pt-PT" dirty="0" err="1"/>
              <a:t>mean</a:t>
            </a:r>
            <a:r>
              <a:rPr lang="pt-PT" dirty="0"/>
              <a:t>, </a:t>
            </a:r>
            <a:r>
              <a:rPr lang="pt-PT" dirty="0" err="1"/>
              <a:t>mode</a:t>
            </a:r>
            <a:r>
              <a:rPr lang="pt-PT" dirty="0"/>
              <a:t> </a:t>
            </a:r>
            <a:r>
              <a:rPr lang="pt-PT" dirty="0" err="1"/>
              <a:t>and</a:t>
            </a:r>
            <a:r>
              <a:rPr lang="pt-PT" dirty="0"/>
              <a:t> </a:t>
            </a:r>
            <a:r>
              <a:rPr lang="pt-PT" dirty="0" err="1"/>
              <a:t>median</a:t>
            </a:r>
            <a:r>
              <a:rPr lang="pt-PT" dirty="0"/>
              <a:t> </a:t>
            </a:r>
            <a:r>
              <a:rPr lang="pt-PT" dirty="0" err="1"/>
              <a:t>all</a:t>
            </a:r>
            <a:r>
              <a:rPr lang="pt-PT" dirty="0"/>
              <a:t> coincide </a:t>
            </a:r>
            <a:r>
              <a:rPr lang="pt-PT" dirty="0" err="1"/>
              <a:t>at</a:t>
            </a:r>
            <a:r>
              <a:rPr lang="pt-PT" dirty="0"/>
              <a:t> </a:t>
            </a:r>
            <a:r>
              <a:rPr lang="pt-PT" dirty="0" err="1"/>
              <a:t>the</a:t>
            </a:r>
            <a:r>
              <a:rPr lang="pt-PT" dirty="0"/>
              <a:t> </a:t>
            </a:r>
            <a:r>
              <a:rPr lang="pt-PT" dirty="0" err="1"/>
              <a:t>peak</a:t>
            </a:r>
            <a:r>
              <a:rPr lang="pt-PT" dirty="0"/>
              <a:t> </a:t>
            </a:r>
            <a:r>
              <a:rPr lang="pt-PT" dirty="0" err="1"/>
              <a:t>of</a:t>
            </a:r>
            <a:r>
              <a:rPr lang="pt-PT" dirty="0"/>
              <a:t> </a:t>
            </a:r>
            <a:r>
              <a:rPr lang="pt-PT" dirty="0" err="1"/>
              <a:t>the</a:t>
            </a:r>
            <a:r>
              <a:rPr lang="pt-PT" dirty="0"/>
              <a:t> </a:t>
            </a:r>
            <a:r>
              <a:rPr lang="pt-PT" dirty="0" err="1"/>
              <a:t>distribution</a:t>
            </a:r>
            <a:endParaRPr lang="pt-PT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 err="1"/>
              <a:t>Changing</a:t>
            </a:r>
            <a:r>
              <a:rPr lang="pt-PT" dirty="0"/>
              <a:t> </a:t>
            </a:r>
            <a:r>
              <a:rPr lang="pt-PT" dirty="0" err="1"/>
              <a:t>the</a:t>
            </a:r>
            <a:r>
              <a:rPr lang="pt-PT" dirty="0"/>
              <a:t> </a:t>
            </a:r>
            <a:r>
              <a:rPr lang="pt-PT" dirty="0" err="1"/>
              <a:t>mean</a:t>
            </a:r>
            <a:r>
              <a:rPr lang="pt-PT" dirty="0"/>
              <a:t> </a:t>
            </a:r>
            <a:r>
              <a:rPr lang="pt-PT" dirty="0" err="1"/>
              <a:t>changes</a:t>
            </a:r>
            <a:r>
              <a:rPr lang="pt-PT" dirty="0"/>
              <a:t> </a:t>
            </a:r>
            <a:r>
              <a:rPr lang="pt-PT" dirty="0" err="1"/>
              <a:t>the</a:t>
            </a:r>
            <a:r>
              <a:rPr lang="pt-PT" dirty="0"/>
              <a:t> </a:t>
            </a:r>
            <a:r>
              <a:rPr lang="pt-PT" dirty="0" err="1"/>
              <a:t>location</a:t>
            </a:r>
            <a:r>
              <a:rPr lang="pt-PT" dirty="0"/>
              <a:t> </a:t>
            </a:r>
            <a:r>
              <a:rPr lang="pt-PT" dirty="0" err="1"/>
              <a:t>of</a:t>
            </a:r>
            <a:r>
              <a:rPr lang="pt-PT" dirty="0"/>
              <a:t> </a:t>
            </a:r>
            <a:r>
              <a:rPr lang="pt-PT" dirty="0" err="1"/>
              <a:t>the</a:t>
            </a:r>
            <a:r>
              <a:rPr lang="pt-PT" dirty="0"/>
              <a:t> </a:t>
            </a:r>
            <a:r>
              <a:rPr lang="pt-PT" dirty="0" err="1"/>
              <a:t>peak</a:t>
            </a:r>
            <a:endParaRPr lang="pt-PT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 err="1"/>
              <a:t>Changing</a:t>
            </a:r>
            <a:r>
              <a:rPr lang="pt-PT" dirty="0"/>
              <a:t> </a:t>
            </a:r>
            <a:r>
              <a:rPr lang="pt-PT" dirty="0" err="1"/>
              <a:t>the</a:t>
            </a:r>
            <a:r>
              <a:rPr lang="pt-PT" dirty="0"/>
              <a:t> standard </a:t>
            </a:r>
            <a:r>
              <a:rPr lang="pt-PT" dirty="0" err="1"/>
              <a:t>deviation</a:t>
            </a:r>
            <a:r>
              <a:rPr lang="pt-PT" dirty="0"/>
              <a:t> “</a:t>
            </a:r>
            <a:r>
              <a:rPr lang="pt-PT" dirty="0" err="1"/>
              <a:t>shrinks</a:t>
            </a:r>
            <a:r>
              <a:rPr lang="pt-PT" dirty="0"/>
              <a:t>” </a:t>
            </a:r>
            <a:r>
              <a:rPr lang="pt-PT" dirty="0" err="1"/>
              <a:t>or</a:t>
            </a:r>
            <a:r>
              <a:rPr lang="pt-PT" dirty="0"/>
              <a:t> “spreads” </a:t>
            </a:r>
            <a:r>
              <a:rPr lang="pt-PT" dirty="0" err="1"/>
              <a:t>the</a:t>
            </a:r>
            <a:r>
              <a:rPr lang="pt-PT" dirty="0"/>
              <a:t> </a:t>
            </a:r>
            <a:r>
              <a:rPr lang="pt-PT" dirty="0" err="1"/>
              <a:t>distribution</a:t>
            </a:r>
            <a:endParaRPr lang="pt-PT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07ECCEE-2BB2-A879-9C3E-025B5A5854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2557" y="3103822"/>
            <a:ext cx="4927359" cy="3754178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FA0EE11C-083F-AB56-E2CA-B715BAF1945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711" b="8159"/>
          <a:stretch>
            <a:fillRect/>
          </a:stretch>
        </p:blipFill>
        <p:spPr>
          <a:xfrm>
            <a:off x="7275443" y="546419"/>
            <a:ext cx="4854473" cy="2530711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768FC6D8-0F3A-49FB-ECFA-100EF66EDA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625" y="1306428"/>
            <a:ext cx="4806095" cy="1324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4255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AD3DC4-DF67-4F1E-7D6B-33AF7E6B3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FD78BD05-D453-ACD0-A64A-8DA4FC976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15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CF25591A-6BB5-792E-EEAD-DEED19ABA7D3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U</a:t>
            </a:r>
            <a:r>
              <a:rPr lang="en-US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nivariate</a:t>
            </a:r>
            <a:r>
              <a:rPr lang="en-US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statistical analysis – Log-normal distribution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EF98115-92DB-401C-E967-CFE8A1F856BE}"/>
              </a:ext>
            </a:extLst>
          </p:cNvPr>
          <p:cNvSpPr txBox="1"/>
          <p:nvPr/>
        </p:nvSpPr>
        <p:spPr>
          <a:xfrm>
            <a:off x="-1" y="3657600"/>
            <a:ext cx="717375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/>
              <a:t>A log-normal </a:t>
            </a:r>
            <a:r>
              <a:rPr lang="pt-PT" dirty="0" err="1"/>
              <a:t>random</a:t>
            </a:r>
            <a:r>
              <a:rPr lang="pt-PT" dirty="0"/>
              <a:t> </a:t>
            </a:r>
            <a:r>
              <a:rPr lang="pt-PT" dirty="0" err="1"/>
              <a:t>variable</a:t>
            </a:r>
            <a:r>
              <a:rPr lang="pt-PT" dirty="0"/>
              <a:t> </a:t>
            </a:r>
            <a:r>
              <a:rPr lang="pt-PT" dirty="0" err="1"/>
              <a:t>is</a:t>
            </a:r>
            <a:r>
              <a:rPr lang="pt-PT" dirty="0"/>
              <a:t> a </a:t>
            </a:r>
            <a:r>
              <a:rPr lang="pt-PT" b="1" dirty="0"/>
              <a:t>positive </a:t>
            </a:r>
            <a:r>
              <a:rPr lang="pt-PT" b="1" dirty="0" err="1"/>
              <a:t>variable</a:t>
            </a:r>
            <a:r>
              <a:rPr lang="pt-PT" b="1" dirty="0"/>
              <a:t> </a:t>
            </a:r>
            <a:r>
              <a:rPr lang="pt-PT" dirty="0" err="1"/>
              <a:t>where</a:t>
            </a:r>
            <a:r>
              <a:rPr lang="pt-PT" dirty="0"/>
              <a:t> </a:t>
            </a:r>
            <a:r>
              <a:rPr lang="pt-PT" dirty="0" err="1"/>
              <a:t>its</a:t>
            </a:r>
            <a:r>
              <a:rPr lang="pt-PT" dirty="0"/>
              <a:t> natural </a:t>
            </a:r>
            <a:r>
              <a:rPr lang="pt-PT" dirty="0" err="1"/>
              <a:t>logarithm</a:t>
            </a:r>
            <a:r>
              <a:rPr lang="pt-PT" dirty="0"/>
              <a:t> </a:t>
            </a:r>
            <a:r>
              <a:rPr lang="pt-PT" dirty="0" err="1"/>
              <a:t>is</a:t>
            </a:r>
            <a:r>
              <a:rPr lang="pt-PT" dirty="0"/>
              <a:t> </a:t>
            </a:r>
            <a:r>
              <a:rPr lang="pt-PT" dirty="0" err="1"/>
              <a:t>normally</a:t>
            </a:r>
            <a:r>
              <a:rPr lang="pt-PT" dirty="0"/>
              <a:t> </a:t>
            </a:r>
            <a:r>
              <a:rPr lang="pt-PT" dirty="0" err="1"/>
              <a:t>distributed</a:t>
            </a:r>
            <a:r>
              <a:rPr lang="pt-PT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 err="1"/>
              <a:t>Unlike</a:t>
            </a:r>
            <a:r>
              <a:rPr lang="pt-PT" dirty="0"/>
              <a:t> </a:t>
            </a:r>
            <a:r>
              <a:rPr lang="pt-PT" dirty="0" err="1"/>
              <a:t>the</a:t>
            </a:r>
            <a:r>
              <a:rPr lang="pt-PT" dirty="0"/>
              <a:t> normal </a:t>
            </a:r>
            <a:r>
              <a:rPr lang="pt-PT" dirty="0" err="1"/>
              <a:t>distribution</a:t>
            </a:r>
            <a:r>
              <a:rPr lang="pt-PT" dirty="0"/>
              <a:t>, </a:t>
            </a:r>
            <a:r>
              <a:rPr lang="pt-PT" dirty="0" err="1"/>
              <a:t>it</a:t>
            </a:r>
            <a:r>
              <a:rPr lang="pt-PT" dirty="0"/>
              <a:t> </a:t>
            </a:r>
            <a:r>
              <a:rPr lang="pt-PT" dirty="0" err="1"/>
              <a:t>is</a:t>
            </a:r>
            <a:r>
              <a:rPr lang="pt-PT" dirty="0"/>
              <a:t> </a:t>
            </a:r>
            <a:r>
              <a:rPr lang="pt-PT" dirty="0" err="1"/>
              <a:t>not</a:t>
            </a:r>
            <a:r>
              <a:rPr lang="pt-PT" dirty="0"/>
              <a:t> </a:t>
            </a:r>
            <a:r>
              <a:rPr lang="pt-PT" dirty="0" err="1"/>
              <a:t>symmetric</a:t>
            </a:r>
            <a:endParaRPr lang="pt-PT" dirty="0"/>
          </a:p>
          <a:p>
            <a:endParaRPr lang="pt-P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Increasing the standard deviation ‘tilts’ the distribution to the left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Log-normal distributions are typically used to describe </a:t>
            </a:r>
            <a:r>
              <a:rPr lang="en-US" b="1" dirty="0"/>
              <a:t>particle size distributions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3FD5B5C7-1AEF-CE95-4C34-A0D41F4D393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298"/>
          <a:stretch>
            <a:fillRect/>
          </a:stretch>
        </p:blipFill>
        <p:spPr>
          <a:xfrm>
            <a:off x="1406842" y="654220"/>
            <a:ext cx="3660702" cy="593761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1FE5EA29-AEA7-97CA-72CE-2CC354815D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3880" y="1416912"/>
            <a:ext cx="2826627" cy="647555"/>
          </a:xfrm>
          <a:prstGeom prst="rect">
            <a:avLst/>
          </a:prstGeom>
        </p:spPr>
      </p:pic>
      <p:grpSp>
        <p:nvGrpSpPr>
          <p:cNvPr id="13" name="Agrupar 12">
            <a:extLst>
              <a:ext uri="{FF2B5EF4-FFF2-40B4-BE49-F238E27FC236}">
                <a16:creationId xmlns:a16="http://schemas.microsoft.com/office/drawing/2014/main" id="{42AD2C3D-1E7D-23C2-3693-F9262AE1258C}"/>
              </a:ext>
            </a:extLst>
          </p:cNvPr>
          <p:cNvGrpSpPr/>
          <p:nvPr/>
        </p:nvGrpSpPr>
        <p:grpSpPr>
          <a:xfrm>
            <a:off x="601572" y="2232407"/>
            <a:ext cx="5030601" cy="1090893"/>
            <a:chOff x="3450791" y="2163991"/>
            <a:chExt cx="4633362" cy="1036410"/>
          </a:xfrm>
        </p:grpSpPr>
        <p:pic>
          <p:nvPicPr>
            <p:cNvPr id="10" name="Imagem 9">
              <a:extLst>
                <a:ext uri="{FF2B5EF4-FFF2-40B4-BE49-F238E27FC236}">
                  <a16:creationId xmlns:a16="http://schemas.microsoft.com/office/drawing/2014/main" id="{ECC393CB-FB96-1B1E-6588-8EE87FC52B0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372891" y="2163991"/>
              <a:ext cx="3711262" cy="1036410"/>
            </a:xfrm>
            <a:prstGeom prst="rect">
              <a:avLst/>
            </a:prstGeom>
          </p:spPr>
        </p:pic>
        <p:pic>
          <p:nvPicPr>
            <p:cNvPr id="12" name="Imagem 11">
              <a:extLst>
                <a:ext uri="{FF2B5EF4-FFF2-40B4-BE49-F238E27FC236}">
                  <a16:creationId xmlns:a16="http://schemas.microsoft.com/office/drawing/2014/main" id="{1376D19C-C74E-9675-5357-A2DAA7A07E7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450791" y="2453116"/>
              <a:ext cx="922100" cy="586791"/>
            </a:xfrm>
            <a:prstGeom prst="rect">
              <a:avLst/>
            </a:prstGeom>
          </p:spPr>
        </p:pic>
      </p:grpSp>
      <p:pic>
        <p:nvPicPr>
          <p:cNvPr id="15" name="Imagem 14">
            <a:extLst>
              <a:ext uri="{FF2B5EF4-FFF2-40B4-BE49-F238E27FC236}">
                <a16:creationId xmlns:a16="http://schemas.microsoft.com/office/drawing/2014/main" id="{A80819C8-5BBB-50FF-9AB6-2E22C640E7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49623" y="471336"/>
            <a:ext cx="4194256" cy="2798267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D52C46A5-1DD1-87DA-C7CD-23A414C5FB7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73756" y="3323300"/>
            <a:ext cx="4470123" cy="3405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2711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80CD4-61F8-33D9-A0E6-7A3685AC7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95F80535-A559-4CEC-0799-4C368A689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16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8517A3AC-0AD1-0231-D2F6-5DE6A3C7D50E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U</a:t>
            </a:r>
            <a:r>
              <a:rPr lang="en-US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nivariate</a:t>
            </a:r>
            <a:r>
              <a:rPr lang="en-US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statistical analysis – Skewness and kurtosis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FC0326B-A43B-063A-6827-A53C09B8DCDD}"/>
              </a:ext>
            </a:extLst>
          </p:cNvPr>
          <p:cNvSpPr txBox="1"/>
          <p:nvPr/>
        </p:nvSpPr>
        <p:spPr>
          <a:xfrm>
            <a:off x="0" y="527866"/>
            <a:ext cx="118474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b="1" dirty="0" err="1"/>
              <a:t>Skewness</a:t>
            </a:r>
            <a:r>
              <a:rPr lang="pt-PT" dirty="0"/>
              <a:t> </a:t>
            </a:r>
            <a:r>
              <a:rPr lang="pt-PT" dirty="0" err="1"/>
              <a:t>indicates</a:t>
            </a:r>
            <a:r>
              <a:rPr lang="pt-PT" dirty="0"/>
              <a:t> </a:t>
            </a:r>
            <a:r>
              <a:rPr lang="pt-PT" dirty="0" err="1"/>
              <a:t>the</a:t>
            </a:r>
            <a:r>
              <a:rPr lang="pt-PT" dirty="0"/>
              <a:t> </a:t>
            </a:r>
            <a:r>
              <a:rPr lang="pt-PT" dirty="0" err="1"/>
              <a:t>asymetry</a:t>
            </a:r>
            <a:r>
              <a:rPr lang="pt-PT" dirty="0"/>
              <a:t> </a:t>
            </a:r>
            <a:r>
              <a:rPr lang="pt-PT" dirty="0" err="1"/>
              <a:t>of</a:t>
            </a:r>
            <a:r>
              <a:rPr lang="pt-PT" dirty="0"/>
              <a:t> </a:t>
            </a:r>
            <a:r>
              <a:rPr lang="pt-PT" dirty="0" err="1"/>
              <a:t>the</a:t>
            </a:r>
            <a:r>
              <a:rPr lang="pt-PT" dirty="0"/>
              <a:t> </a:t>
            </a:r>
            <a:r>
              <a:rPr lang="pt-PT" dirty="0" err="1"/>
              <a:t>distribution</a:t>
            </a:r>
            <a:r>
              <a:rPr lang="pt-PT" dirty="0"/>
              <a:t> – </a:t>
            </a:r>
            <a:r>
              <a:rPr lang="pt-PT" dirty="0" err="1"/>
              <a:t>if</a:t>
            </a:r>
            <a:r>
              <a:rPr lang="pt-PT" dirty="0"/>
              <a:t> data </a:t>
            </a:r>
            <a:r>
              <a:rPr lang="pt-PT" dirty="0" err="1"/>
              <a:t>tilts</a:t>
            </a:r>
            <a:r>
              <a:rPr lang="pt-PT" dirty="0"/>
              <a:t> to </a:t>
            </a:r>
            <a:r>
              <a:rPr lang="pt-PT" dirty="0" err="1"/>
              <a:t>the</a:t>
            </a:r>
            <a:r>
              <a:rPr lang="pt-PT" dirty="0"/>
              <a:t> </a:t>
            </a:r>
            <a:r>
              <a:rPr lang="pt-PT" dirty="0" err="1"/>
              <a:t>left</a:t>
            </a:r>
            <a:r>
              <a:rPr lang="pt-PT" dirty="0"/>
              <a:t> </a:t>
            </a:r>
            <a:r>
              <a:rPr lang="pt-PT" dirty="0" err="1"/>
              <a:t>or</a:t>
            </a:r>
            <a:r>
              <a:rPr lang="pt-PT" dirty="0"/>
              <a:t> </a:t>
            </a:r>
            <a:r>
              <a:rPr lang="pt-PT" dirty="0" err="1"/>
              <a:t>right</a:t>
            </a:r>
            <a:endParaRPr lang="pt-PT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b="1" dirty="0" err="1"/>
              <a:t>Kurtosis</a:t>
            </a:r>
            <a:r>
              <a:rPr lang="pt-PT" dirty="0"/>
              <a:t> </a:t>
            </a:r>
            <a:r>
              <a:rPr lang="pt-PT" dirty="0" err="1"/>
              <a:t>quantifies</a:t>
            </a:r>
            <a:r>
              <a:rPr lang="pt-PT" dirty="0"/>
              <a:t> </a:t>
            </a:r>
            <a:r>
              <a:rPr lang="pt-PT" dirty="0" err="1"/>
              <a:t>the</a:t>
            </a:r>
            <a:r>
              <a:rPr lang="pt-PT" dirty="0"/>
              <a:t> ‘</a:t>
            </a:r>
            <a:r>
              <a:rPr lang="pt-PT" dirty="0" err="1"/>
              <a:t>flatness</a:t>
            </a:r>
            <a:r>
              <a:rPr lang="pt-PT" dirty="0"/>
              <a:t>’ </a:t>
            </a:r>
            <a:r>
              <a:rPr lang="pt-PT" dirty="0" err="1"/>
              <a:t>and</a:t>
            </a:r>
            <a:r>
              <a:rPr lang="pt-PT" dirty="0"/>
              <a:t> “</a:t>
            </a:r>
            <a:r>
              <a:rPr lang="pt-PT" dirty="0" err="1"/>
              <a:t>spreading</a:t>
            </a:r>
            <a:r>
              <a:rPr lang="pt-PT" dirty="0"/>
              <a:t>” </a:t>
            </a:r>
            <a:r>
              <a:rPr lang="pt-PT" dirty="0" err="1"/>
              <a:t>of</a:t>
            </a:r>
            <a:r>
              <a:rPr lang="pt-PT" dirty="0"/>
              <a:t> </a:t>
            </a:r>
            <a:r>
              <a:rPr lang="pt-PT" dirty="0" err="1"/>
              <a:t>the</a:t>
            </a:r>
            <a:r>
              <a:rPr lang="pt-PT" dirty="0"/>
              <a:t> </a:t>
            </a:r>
            <a:r>
              <a:rPr lang="pt-PT" dirty="0" err="1"/>
              <a:t>distribution</a:t>
            </a:r>
            <a:r>
              <a:rPr lang="pt-PT" dirty="0"/>
              <a:t> – </a:t>
            </a:r>
            <a:r>
              <a:rPr lang="pt-PT" dirty="0" err="1"/>
              <a:t>if</a:t>
            </a:r>
            <a:r>
              <a:rPr lang="pt-PT" dirty="0"/>
              <a:t> </a:t>
            </a:r>
            <a:r>
              <a:rPr lang="pt-PT" dirty="0" err="1"/>
              <a:t>the</a:t>
            </a:r>
            <a:r>
              <a:rPr lang="pt-PT" dirty="0"/>
              <a:t> </a:t>
            </a:r>
            <a:r>
              <a:rPr lang="pt-PT" dirty="0" err="1"/>
              <a:t>distribution</a:t>
            </a:r>
            <a:r>
              <a:rPr lang="pt-PT" dirty="0"/>
              <a:t> ‘</a:t>
            </a:r>
            <a:r>
              <a:rPr lang="pt-PT" dirty="0" err="1"/>
              <a:t>tails</a:t>
            </a:r>
            <a:r>
              <a:rPr lang="pt-PT" dirty="0"/>
              <a:t>’ are </a:t>
            </a:r>
            <a:r>
              <a:rPr lang="pt-PT" dirty="0" err="1"/>
              <a:t>large</a:t>
            </a:r>
            <a:endParaRPr lang="pt-PT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24EEDC80-5386-AB61-9F38-53D85CF4DF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70" y="2564957"/>
            <a:ext cx="6072728" cy="2755812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17E3D558-3665-1137-DCE3-7E543E4337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8" y="1623606"/>
            <a:ext cx="5813173" cy="4560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8241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0991C-19C1-E46A-D937-ACBF95402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6CCD9BCD-1AC7-609E-0EE8-D29108472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17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BA6A39E5-77CA-2784-508A-24F67BCE4605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U</a:t>
            </a:r>
            <a:r>
              <a:rPr lang="en-US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nivariate</a:t>
            </a:r>
            <a:r>
              <a:rPr lang="en-US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statistical analysis – Skewness and kurtosis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874E547-CA05-1557-CB69-35152598651D}"/>
              </a:ext>
            </a:extLst>
          </p:cNvPr>
          <p:cNvSpPr txBox="1"/>
          <p:nvPr/>
        </p:nvSpPr>
        <p:spPr>
          <a:xfrm>
            <a:off x="0" y="527866"/>
            <a:ext cx="118474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b="1" dirty="0" err="1"/>
              <a:t>Skewness</a:t>
            </a:r>
            <a:r>
              <a:rPr lang="pt-PT" dirty="0"/>
              <a:t> </a:t>
            </a:r>
            <a:r>
              <a:rPr lang="pt-PT" dirty="0" err="1"/>
              <a:t>indicates</a:t>
            </a:r>
            <a:r>
              <a:rPr lang="pt-PT" dirty="0"/>
              <a:t> </a:t>
            </a:r>
            <a:r>
              <a:rPr lang="pt-PT" dirty="0" err="1"/>
              <a:t>the</a:t>
            </a:r>
            <a:r>
              <a:rPr lang="pt-PT" dirty="0"/>
              <a:t> </a:t>
            </a:r>
            <a:r>
              <a:rPr lang="pt-PT" dirty="0" err="1"/>
              <a:t>asymetry</a:t>
            </a:r>
            <a:r>
              <a:rPr lang="pt-PT" dirty="0"/>
              <a:t> </a:t>
            </a:r>
            <a:r>
              <a:rPr lang="pt-PT" dirty="0" err="1"/>
              <a:t>of</a:t>
            </a:r>
            <a:r>
              <a:rPr lang="pt-PT" dirty="0"/>
              <a:t> </a:t>
            </a:r>
            <a:r>
              <a:rPr lang="pt-PT" dirty="0" err="1"/>
              <a:t>the</a:t>
            </a:r>
            <a:r>
              <a:rPr lang="pt-PT" dirty="0"/>
              <a:t> </a:t>
            </a:r>
            <a:r>
              <a:rPr lang="pt-PT" dirty="0" err="1"/>
              <a:t>distribution</a:t>
            </a:r>
            <a:r>
              <a:rPr lang="pt-PT" dirty="0"/>
              <a:t> – </a:t>
            </a:r>
            <a:r>
              <a:rPr lang="pt-PT" dirty="0" err="1"/>
              <a:t>if</a:t>
            </a:r>
            <a:r>
              <a:rPr lang="pt-PT" dirty="0"/>
              <a:t> data </a:t>
            </a:r>
            <a:r>
              <a:rPr lang="pt-PT" dirty="0" err="1"/>
              <a:t>tilts</a:t>
            </a:r>
            <a:r>
              <a:rPr lang="pt-PT" dirty="0"/>
              <a:t> to </a:t>
            </a:r>
            <a:r>
              <a:rPr lang="pt-PT" dirty="0" err="1"/>
              <a:t>the</a:t>
            </a:r>
            <a:r>
              <a:rPr lang="pt-PT" dirty="0"/>
              <a:t> </a:t>
            </a:r>
            <a:r>
              <a:rPr lang="pt-PT" dirty="0" err="1"/>
              <a:t>left</a:t>
            </a:r>
            <a:r>
              <a:rPr lang="pt-PT" dirty="0"/>
              <a:t> </a:t>
            </a:r>
            <a:r>
              <a:rPr lang="pt-PT" dirty="0" err="1"/>
              <a:t>or</a:t>
            </a:r>
            <a:r>
              <a:rPr lang="pt-PT" dirty="0"/>
              <a:t> </a:t>
            </a:r>
            <a:r>
              <a:rPr lang="pt-PT" dirty="0" err="1"/>
              <a:t>right</a:t>
            </a:r>
            <a:endParaRPr lang="pt-PT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b="1" dirty="0" err="1"/>
              <a:t>Kurtosis</a:t>
            </a:r>
            <a:r>
              <a:rPr lang="pt-PT" dirty="0"/>
              <a:t> </a:t>
            </a:r>
            <a:r>
              <a:rPr lang="pt-PT" dirty="0" err="1"/>
              <a:t>quantifies</a:t>
            </a:r>
            <a:r>
              <a:rPr lang="pt-PT" dirty="0"/>
              <a:t> </a:t>
            </a:r>
            <a:r>
              <a:rPr lang="pt-PT" dirty="0" err="1"/>
              <a:t>the</a:t>
            </a:r>
            <a:r>
              <a:rPr lang="pt-PT" dirty="0"/>
              <a:t> ‘</a:t>
            </a:r>
            <a:r>
              <a:rPr lang="pt-PT" dirty="0" err="1"/>
              <a:t>flatness</a:t>
            </a:r>
            <a:r>
              <a:rPr lang="pt-PT" dirty="0"/>
              <a:t>’ </a:t>
            </a:r>
            <a:r>
              <a:rPr lang="pt-PT" dirty="0" err="1"/>
              <a:t>and</a:t>
            </a:r>
            <a:r>
              <a:rPr lang="pt-PT" dirty="0"/>
              <a:t> “</a:t>
            </a:r>
            <a:r>
              <a:rPr lang="pt-PT" dirty="0" err="1"/>
              <a:t>spreading</a:t>
            </a:r>
            <a:r>
              <a:rPr lang="pt-PT" dirty="0"/>
              <a:t>” </a:t>
            </a:r>
            <a:r>
              <a:rPr lang="pt-PT" dirty="0" err="1"/>
              <a:t>of</a:t>
            </a:r>
            <a:r>
              <a:rPr lang="pt-PT" dirty="0"/>
              <a:t> </a:t>
            </a:r>
            <a:r>
              <a:rPr lang="pt-PT" dirty="0" err="1"/>
              <a:t>the</a:t>
            </a:r>
            <a:r>
              <a:rPr lang="pt-PT" dirty="0"/>
              <a:t> </a:t>
            </a:r>
            <a:r>
              <a:rPr lang="pt-PT" dirty="0" err="1"/>
              <a:t>distribution</a:t>
            </a:r>
            <a:r>
              <a:rPr lang="pt-PT" dirty="0"/>
              <a:t> – </a:t>
            </a:r>
            <a:r>
              <a:rPr lang="pt-PT" dirty="0" err="1"/>
              <a:t>if</a:t>
            </a:r>
            <a:r>
              <a:rPr lang="pt-PT" dirty="0"/>
              <a:t> </a:t>
            </a:r>
            <a:r>
              <a:rPr lang="pt-PT" dirty="0" err="1"/>
              <a:t>the</a:t>
            </a:r>
            <a:r>
              <a:rPr lang="pt-PT" dirty="0"/>
              <a:t> </a:t>
            </a:r>
            <a:r>
              <a:rPr lang="pt-PT" dirty="0" err="1"/>
              <a:t>distribution</a:t>
            </a:r>
            <a:r>
              <a:rPr lang="pt-PT" dirty="0"/>
              <a:t> ‘</a:t>
            </a:r>
            <a:r>
              <a:rPr lang="pt-PT" dirty="0" err="1"/>
              <a:t>tails</a:t>
            </a:r>
            <a:r>
              <a:rPr lang="pt-PT" dirty="0"/>
              <a:t>’ are </a:t>
            </a:r>
            <a:r>
              <a:rPr lang="pt-PT" dirty="0" err="1"/>
              <a:t>large</a:t>
            </a:r>
            <a:endParaRPr lang="pt-PT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377A9F7C-1EAB-6049-A609-0D2C3994D0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80346"/>
            <a:ext cx="6457243" cy="2848345"/>
          </a:xfrm>
          <a:prstGeom prst="rect">
            <a:avLst/>
          </a:prstGeom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83BAFC1D-E0B1-444C-797D-79C4499224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1138" y="1748201"/>
            <a:ext cx="5752371" cy="4512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9753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F2930-61E8-AD90-6BB3-EA5C7BD1D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2E883218-5372-BBAD-5644-583E6B032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18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1D48EBDC-BE57-3FE6-8E9A-95EB2F79B431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U</a:t>
            </a:r>
            <a:r>
              <a:rPr lang="en-US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nivariate</a:t>
            </a:r>
            <a:r>
              <a:rPr lang="en-US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statistical analysis – Skewness and kurtosis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80F8396-8603-35DF-0591-0B1036BB7195}"/>
              </a:ext>
            </a:extLst>
          </p:cNvPr>
          <p:cNvSpPr txBox="1"/>
          <p:nvPr/>
        </p:nvSpPr>
        <p:spPr>
          <a:xfrm>
            <a:off x="0" y="527866"/>
            <a:ext cx="118474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b="1" dirty="0" err="1"/>
              <a:t>Skewness</a:t>
            </a:r>
            <a:r>
              <a:rPr lang="pt-PT" dirty="0"/>
              <a:t> </a:t>
            </a:r>
            <a:r>
              <a:rPr lang="pt-PT" dirty="0" err="1"/>
              <a:t>indicates</a:t>
            </a:r>
            <a:r>
              <a:rPr lang="pt-PT" dirty="0"/>
              <a:t> </a:t>
            </a:r>
            <a:r>
              <a:rPr lang="pt-PT" dirty="0" err="1"/>
              <a:t>the</a:t>
            </a:r>
            <a:r>
              <a:rPr lang="pt-PT" dirty="0"/>
              <a:t> </a:t>
            </a:r>
            <a:r>
              <a:rPr lang="pt-PT" dirty="0" err="1"/>
              <a:t>asymetry</a:t>
            </a:r>
            <a:r>
              <a:rPr lang="pt-PT" dirty="0"/>
              <a:t> </a:t>
            </a:r>
            <a:r>
              <a:rPr lang="pt-PT" dirty="0" err="1"/>
              <a:t>of</a:t>
            </a:r>
            <a:r>
              <a:rPr lang="pt-PT" dirty="0"/>
              <a:t> </a:t>
            </a:r>
            <a:r>
              <a:rPr lang="pt-PT" dirty="0" err="1"/>
              <a:t>the</a:t>
            </a:r>
            <a:r>
              <a:rPr lang="pt-PT" dirty="0"/>
              <a:t> </a:t>
            </a:r>
            <a:r>
              <a:rPr lang="pt-PT" dirty="0" err="1"/>
              <a:t>distribution</a:t>
            </a:r>
            <a:r>
              <a:rPr lang="pt-PT" dirty="0"/>
              <a:t> – </a:t>
            </a:r>
            <a:r>
              <a:rPr lang="pt-PT" dirty="0" err="1"/>
              <a:t>if</a:t>
            </a:r>
            <a:r>
              <a:rPr lang="pt-PT" dirty="0"/>
              <a:t> data </a:t>
            </a:r>
            <a:r>
              <a:rPr lang="pt-PT" dirty="0" err="1"/>
              <a:t>tilts</a:t>
            </a:r>
            <a:r>
              <a:rPr lang="pt-PT" dirty="0"/>
              <a:t> to </a:t>
            </a:r>
            <a:r>
              <a:rPr lang="pt-PT" dirty="0" err="1"/>
              <a:t>the</a:t>
            </a:r>
            <a:r>
              <a:rPr lang="pt-PT" dirty="0"/>
              <a:t> </a:t>
            </a:r>
            <a:r>
              <a:rPr lang="pt-PT" dirty="0" err="1"/>
              <a:t>left</a:t>
            </a:r>
            <a:r>
              <a:rPr lang="pt-PT" dirty="0"/>
              <a:t> </a:t>
            </a:r>
            <a:r>
              <a:rPr lang="pt-PT" dirty="0" err="1"/>
              <a:t>or</a:t>
            </a:r>
            <a:r>
              <a:rPr lang="pt-PT" dirty="0"/>
              <a:t> </a:t>
            </a:r>
            <a:r>
              <a:rPr lang="pt-PT" dirty="0" err="1"/>
              <a:t>right</a:t>
            </a:r>
            <a:endParaRPr lang="pt-PT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b="1" dirty="0" err="1"/>
              <a:t>Kurtosis</a:t>
            </a:r>
            <a:r>
              <a:rPr lang="pt-PT" dirty="0"/>
              <a:t> </a:t>
            </a:r>
            <a:r>
              <a:rPr lang="pt-PT" dirty="0" err="1"/>
              <a:t>quantifies</a:t>
            </a:r>
            <a:r>
              <a:rPr lang="pt-PT" dirty="0"/>
              <a:t> </a:t>
            </a:r>
            <a:r>
              <a:rPr lang="pt-PT" dirty="0" err="1"/>
              <a:t>the</a:t>
            </a:r>
            <a:r>
              <a:rPr lang="pt-PT" dirty="0"/>
              <a:t> ‘</a:t>
            </a:r>
            <a:r>
              <a:rPr lang="pt-PT" dirty="0" err="1"/>
              <a:t>flatness</a:t>
            </a:r>
            <a:r>
              <a:rPr lang="pt-PT" dirty="0"/>
              <a:t>’ </a:t>
            </a:r>
            <a:r>
              <a:rPr lang="pt-PT" dirty="0" err="1"/>
              <a:t>and</a:t>
            </a:r>
            <a:r>
              <a:rPr lang="pt-PT" dirty="0"/>
              <a:t> “</a:t>
            </a:r>
            <a:r>
              <a:rPr lang="pt-PT" dirty="0" err="1"/>
              <a:t>spreading</a:t>
            </a:r>
            <a:r>
              <a:rPr lang="pt-PT" dirty="0"/>
              <a:t>” </a:t>
            </a:r>
            <a:r>
              <a:rPr lang="pt-PT" dirty="0" err="1"/>
              <a:t>of</a:t>
            </a:r>
            <a:r>
              <a:rPr lang="pt-PT" dirty="0"/>
              <a:t> </a:t>
            </a:r>
            <a:r>
              <a:rPr lang="pt-PT" dirty="0" err="1"/>
              <a:t>the</a:t>
            </a:r>
            <a:r>
              <a:rPr lang="pt-PT" dirty="0"/>
              <a:t> </a:t>
            </a:r>
            <a:r>
              <a:rPr lang="pt-PT" dirty="0" err="1"/>
              <a:t>distribution</a:t>
            </a:r>
            <a:r>
              <a:rPr lang="pt-PT" dirty="0"/>
              <a:t> – </a:t>
            </a:r>
            <a:r>
              <a:rPr lang="pt-PT" dirty="0" err="1"/>
              <a:t>if</a:t>
            </a:r>
            <a:r>
              <a:rPr lang="pt-PT" dirty="0"/>
              <a:t> </a:t>
            </a:r>
            <a:r>
              <a:rPr lang="pt-PT" dirty="0" err="1"/>
              <a:t>the</a:t>
            </a:r>
            <a:r>
              <a:rPr lang="pt-PT" dirty="0"/>
              <a:t> </a:t>
            </a:r>
            <a:r>
              <a:rPr lang="pt-PT" dirty="0" err="1"/>
              <a:t>distribution</a:t>
            </a:r>
            <a:r>
              <a:rPr lang="pt-PT" dirty="0"/>
              <a:t> ‘</a:t>
            </a:r>
            <a:r>
              <a:rPr lang="pt-PT" dirty="0" err="1"/>
              <a:t>tails</a:t>
            </a:r>
            <a:r>
              <a:rPr lang="pt-PT" dirty="0"/>
              <a:t>’ are </a:t>
            </a:r>
            <a:r>
              <a:rPr lang="pt-PT" dirty="0" err="1"/>
              <a:t>large</a:t>
            </a:r>
            <a:endParaRPr lang="pt-PT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B1D855AB-DD8E-204C-0007-261DA0BBEE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49795"/>
            <a:ext cx="6456481" cy="2759857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27520792-0AC0-66A2-79A7-CD82808D56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6481" y="1507726"/>
            <a:ext cx="5673213" cy="4450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2634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3B976-42B3-FC49-3DA3-3DE1CDFF4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9ADD77D0-C47A-4E45-6571-BEB542AD8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19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911B852A-2622-C673-8651-5D3A112A9E34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U</a:t>
            </a:r>
            <a:r>
              <a:rPr lang="en-US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nivariate</a:t>
            </a:r>
            <a:r>
              <a:rPr lang="en-US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statistical analysis – summary data description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20A9C75-F2D1-E1E8-C897-2240663CA1EB}"/>
              </a:ext>
            </a:extLst>
          </p:cNvPr>
          <p:cNvSpPr txBox="1"/>
          <p:nvPr/>
        </p:nvSpPr>
        <p:spPr>
          <a:xfrm>
            <a:off x="66260" y="703302"/>
            <a:ext cx="118474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 err="1"/>
              <a:t>Describe</a:t>
            </a:r>
            <a:r>
              <a:rPr lang="pt-PT" dirty="0"/>
              <a:t> </a:t>
            </a:r>
            <a:r>
              <a:rPr lang="pt-PT" dirty="0" err="1"/>
              <a:t>method</a:t>
            </a:r>
            <a:r>
              <a:rPr lang="pt-PT" dirty="0"/>
              <a:t> </a:t>
            </a:r>
            <a:r>
              <a:rPr lang="pt-PT" dirty="0" err="1"/>
              <a:t>from</a:t>
            </a:r>
            <a:r>
              <a:rPr lang="pt-PT" dirty="0"/>
              <a:t> </a:t>
            </a:r>
            <a:r>
              <a:rPr lang="pt-PT" dirty="0" err="1"/>
              <a:t>scipy.stats</a:t>
            </a:r>
            <a:r>
              <a:rPr lang="pt-PT" dirty="0"/>
              <a:t> </a:t>
            </a:r>
            <a:r>
              <a:rPr lang="pt-PT" dirty="0" err="1"/>
              <a:t>gives</a:t>
            </a:r>
            <a:r>
              <a:rPr lang="pt-PT" dirty="0"/>
              <a:t> </a:t>
            </a:r>
            <a:r>
              <a:rPr lang="pt-PT" dirty="0" err="1"/>
              <a:t>quick</a:t>
            </a:r>
            <a:r>
              <a:rPr lang="pt-PT" dirty="0"/>
              <a:t> </a:t>
            </a:r>
            <a:r>
              <a:rPr lang="pt-PT" dirty="0" err="1"/>
              <a:t>summary</a:t>
            </a:r>
            <a:r>
              <a:rPr lang="pt-PT" dirty="0"/>
              <a:t> </a:t>
            </a:r>
            <a:r>
              <a:rPr lang="pt-PT" dirty="0" err="1"/>
              <a:t>statistics</a:t>
            </a:r>
            <a:r>
              <a:rPr lang="pt-PT" dirty="0"/>
              <a:t> </a:t>
            </a:r>
            <a:r>
              <a:rPr lang="pt-PT" dirty="0" err="1"/>
              <a:t>of</a:t>
            </a:r>
            <a:r>
              <a:rPr lang="pt-PT" dirty="0"/>
              <a:t> </a:t>
            </a:r>
            <a:r>
              <a:rPr lang="pt-PT" dirty="0" err="1"/>
              <a:t>the</a:t>
            </a:r>
            <a:r>
              <a:rPr lang="pt-PT" dirty="0"/>
              <a:t> data</a:t>
            </a:r>
            <a:endParaRPr lang="en-US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7D1AC63-78B4-34B6-59DC-A3AC42A911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00" y="1870527"/>
            <a:ext cx="11774561" cy="2370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66328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AE624-CC8F-6262-9145-E5D69C4EB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6535B2-3137-1027-8E8D-C1F9FE4B20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41783" y="2316991"/>
            <a:ext cx="9508433" cy="2224018"/>
          </a:xfrm>
          <a:solidFill>
            <a:schemeClr val="tx2">
              <a:lumMod val="50000"/>
              <a:lumOff val="50000"/>
            </a:schemeClr>
          </a:solidFill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Part 2:</a:t>
            </a:r>
            <a:br>
              <a:rPr lang="en-US" b="1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Data analysis and manipulation with Pandas </a:t>
            </a:r>
            <a:endParaRPr lang="en-US" sz="4800" dirty="0">
              <a:solidFill>
                <a:schemeClr val="bg1"/>
              </a:solidFill>
            </a:endParaRPr>
          </a:p>
        </p:txBody>
      </p:sp>
      <p:sp>
        <p:nvSpPr>
          <p:cNvPr id="8" name="Marcador de Posição do Número do Diapositivo 7">
            <a:extLst>
              <a:ext uri="{FF2B5EF4-FFF2-40B4-BE49-F238E27FC236}">
                <a16:creationId xmlns:a16="http://schemas.microsoft.com/office/drawing/2014/main" id="{636F93A1-9467-A0C7-0277-876ABE129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13737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1A8F17-9004-F2E5-A50E-275047B35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BBE2C370-2620-9349-A865-1CBA98F9E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21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AECC8FF0-598A-DBAF-C49C-479F818F8FA8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PT" sz="2800" b="1" i="0" u="none" strike="noStrike" kern="1200" cap="none" spc="0" baseline="0" dirty="0">
                <a:solidFill>
                  <a:schemeClr val="bg1"/>
                </a:solidFill>
                <a:uFillTx/>
                <a:latin typeface="Calibri Light"/>
                <a:ea typeface="Arrus BT Roman"/>
                <a:cs typeface="Arrus BT Roman"/>
              </a:rPr>
              <a:t>P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andas -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introduction</a:t>
            </a:r>
            <a:endParaRPr lang="en-US" sz="2800" b="1" i="0" u="none" strike="noStrike" kern="1200" cap="none" spc="0" baseline="0" dirty="0">
              <a:solidFill>
                <a:schemeClr val="bg1"/>
              </a:solidFill>
              <a:uFillTx/>
              <a:latin typeface="Calibri Light"/>
              <a:ea typeface="Arrus BT Roman"/>
              <a:cs typeface="Arrus BT Roman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3026FF52-C7BC-9156-D23E-B44F9FD6E1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7390" y="2178041"/>
            <a:ext cx="7046402" cy="4543433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6FFA549F-9F2E-D7D2-AE03-48050F3F1E48}"/>
              </a:ext>
            </a:extLst>
          </p:cNvPr>
          <p:cNvSpPr txBox="1"/>
          <p:nvPr/>
        </p:nvSpPr>
        <p:spPr>
          <a:xfrm>
            <a:off x="-4" y="546826"/>
            <a:ext cx="121920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Pandas</a:t>
            </a:r>
            <a:r>
              <a:rPr lang="en-US" sz="2000" dirty="0"/>
              <a:t> is a fast, powerful, flexible and easy to use open-source data analysis and manipulation tool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It is built on top of </a:t>
            </a:r>
            <a:r>
              <a:rPr lang="en-US" sz="2000" dirty="0" err="1"/>
              <a:t>numpy</a:t>
            </a:r>
            <a:r>
              <a:rPr lang="en-US" sz="2000" dirty="0"/>
              <a:t>, </a:t>
            </a:r>
            <a:r>
              <a:rPr lang="en-US" sz="2000" dirty="0" err="1"/>
              <a:t>scipy</a:t>
            </a:r>
            <a:r>
              <a:rPr lang="en-US" sz="2000" dirty="0"/>
              <a:t> and matplotlib</a:t>
            </a:r>
            <a:br>
              <a:rPr lang="en-US" sz="2000" dirty="0"/>
            </a:b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Works very well with .csv data and Excel files, allows for very fast exploratory data analysis</a:t>
            </a:r>
          </a:p>
        </p:txBody>
      </p:sp>
    </p:spTree>
    <p:extLst>
      <p:ext uri="{BB962C8B-B14F-4D97-AF65-F5344CB8AC3E}">
        <p14:creationId xmlns:p14="http://schemas.microsoft.com/office/powerpoint/2010/main" val="28717798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C28BB6-A822-6D97-8E19-7B95291B2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5EF76B8A-8D17-12A6-7F09-C57410524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22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DE6ADFF9-8105-A472-131E-82F1AEC52D1C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PT" sz="2800" b="1" i="0" u="none" strike="noStrike" kern="1200" cap="none" spc="0" baseline="0" dirty="0">
                <a:solidFill>
                  <a:schemeClr val="bg1"/>
                </a:solidFill>
                <a:uFillTx/>
                <a:latin typeface="Calibri Light"/>
                <a:ea typeface="Arrus BT Roman"/>
                <a:cs typeface="Arrus BT Roman"/>
              </a:rPr>
              <a:t>P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andas - </a:t>
            </a:r>
            <a:r>
              <a:rPr lang="pt-PT" sz="2800" dirty="0" err="1">
                <a:solidFill>
                  <a:schemeClr val="bg1"/>
                </a:solidFill>
              </a:rPr>
              <a:t>Loading</a:t>
            </a:r>
            <a:r>
              <a:rPr lang="pt-PT" sz="2800" dirty="0">
                <a:solidFill>
                  <a:schemeClr val="bg1"/>
                </a:solidFill>
              </a:rPr>
              <a:t> data </a:t>
            </a:r>
            <a:r>
              <a:rPr lang="pt-PT" sz="2800" dirty="0" err="1">
                <a:solidFill>
                  <a:schemeClr val="bg1"/>
                </a:solidFill>
              </a:rPr>
              <a:t>from</a:t>
            </a:r>
            <a:r>
              <a:rPr lang="pt-PT" sz="2800" dirty="0">
                <a:solidFill>
                  <a:schemeClr val="bg1"/>
                </a:solidFill>
              </a:rPr>
              <a:t> .</a:t>
            </a:r>
            <a:r>
              <a:rPr lang="pt-PT" sz="2800" dirty="0" err="1">
                <a:solidFill>
                  <a:schemeClr val="bg1"/>
                </a:solidFill>
              </a:rPr>
              <a:t>csv</a:t>
            </a:r>
            <a:r>
              <a:rPr lang="pt-PT" sz="2800" dirty="0">
                <a:solidFill>
                  <a:schemeClr val="bg1"/>
                </a:solidFill>
              </a:rPr>
              <a:t> file </a:t>
            </a:r>
            <a:r>
              <a:rPr lang="pt-PT" sz="2800" dirty="0" err="1">
                <a:solidFill>
                  <a:schemeClr val="bg1"/>
                </a:solidFill>
              </a:rPr>
              <a:t>or</a:t>
            </a:r>
            <a:r>
              <a:rPr lang="pt-PT" sz="2800" dirty="0">
                <a:solidFill>
                  <a:schemeClr val="bg1"/>
                </a:solidFill>
              </a:rPr>
              <a:t> Excel </a:t>
            </a:r>
            <a:r>
              <a:rPr lang="pt-PT" sz="2800" dirty="0" err="1">
                <a:solidFill>
                  <a:schemeClr val="bg1"/>
                </a:solidFill>
              </a:rPr>
              <a:t>spreadsheet</a:t>
            </a:r>
            <a:endParaRPr lang="en-US" sz="2800" dirty="0">
              <a:solidFill>
                <a:schemeClr val="bg1"/>
              </a:solidFill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800" b="1" i="0" u="none" strike="noStrike" kern="1200" cap="none" spc="0" baseline="0" dirty="0">
              <a:solidFill>
                <a:schemeClr val="bg1"/>
              </a:solidFill>
              <a:uFillTx/>
              <a:latin typeface="Calibri Light"/>
              <a:ea typeface="Arrus BT Roman"/>
              <a:cs typeface="Arrus BT Roman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D2385CDD-B787-1ADC-D9DE-20FE47C939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4995" y="683105"/>
            <a:ext cx="6902006" cy="6038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47503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BC850E-38A8-0433-4225-C4574FB2E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36822082-0528-C739-04D6-6A790DB26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23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DC58704A-5A56-F5D8-1633-34ED1D4C30CA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PT" sz="2800" b="1" i="0" u="none" strike="noStrike" kern="1200" cap="none" spc="0" baseline="0" dirty="0">
                <a:solidFill>
                  <a:schemeClr val="bg1"/>
                </a:solidFill>
                <a:uFillTx/>
                <a:latin typeface="Calibri Light"/>
                <a:ea typeface="Arrus BT Roman"/>
                <a:cs typeface="Arrus BT Roman"/>
              </a:rPr>
              <a:t>P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andas –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describe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data</a:t>
            </a:r>
            <a:endParaRPr lang="en-US" sz="2800" b="1" i="0" u="none" strike="noStrike" kern="1200" cap="none" spc="0" baseline="0" dirty="0">
              <a:solidFill>
                <a:schemeClr val="bg1"/>
              </a:solidFill>
              <a:uFillTx/>
              <a:latin typeface="Calibri Light"/>
              <a:ea typeface="Arrus BT Roman"/>
              <a:cs typeface="Arrus BT Roman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5EA5D69-D1B1-AA45-0E5D-DD36FD083B61}"/>
              </a:ext>
            </a:extLst>
          </p:cNvPr>
          <p:cNvSpPr txBox="1"/>
          <p:nvPr/>
        </p:nvSpPr>
        <p:spPr>
          <a:xfrm>
            <a:off x="0" y="672349"/>
            <a:ext cx="118474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000" dirty="0" err="1"/>
              <a:t>Describe</a:t>
            </a:r>
            <a:r>
              <a:rPr lang="pt-PT" sz="2000" dirty="0"/>
              <a:t> </a:t>
            </a:r>
            <a:r>
              <a:rPr lang="pt-PT" sz="2000" dirty="0" err="1"/>
              <a:t>is</a:t>
            </a:r>
            <a:r>
              <a:rPr lang="pt-PT" sz="2000" dirty="0"/>
              <a:t> a </a:t>
            </a:r>
            <a:r>
              <a:rPr lang="pt-PT" sz="2000" dirty="0" err="1"/>
              <a:t>simple</a:t>
            </a:r>
            <a:r>
              <a:rPr lang="pt-PT" sz="2000" dirty="0"/>
              <a:t> </a:t>
            </a:r>
            <a:r>
              <a:rPr lang="pt-PT" sz="2000" dirty="0" err="1"/>
              <a:t>and</a:t>
            </a:r>
            <a:r>
              <a:rPr lang="pt-PT" sz="2000" dirty="0"/>
              <a:t> </a:t>
            </a:r>
            <a:r>
              <a:rPr lang="pt-PT" sz="2000" dirty="0" err="1"/>
              <a:t>useful</a:t>
            </a:r>
            <a:r>
              <a:rPr lang="pt-PT" sz="2000" dirty="0"/>
              <a:t> </a:t>
            </a:r>
            <a:r>
              <a:rPr lang="pt-PT" sz="2000" dirty="0" err="1"/>
              <a:t>first</a:t>
            </a:r>
            <a:r>
              <a:rPr lang="pt-PT" sz="2000" dirty="0"/>
              <a:t> </a:t>
            </a:r>
            <a:r>
              <a:rPr lang="pt-PT" sz="2000" dirty="0" err="1"/>
              <a:t>pass</a:t>
            </a:r>
            <a:r>
              <a:rPr lang="pt-PT" sz="2000" dirty="0"/>
              <a:t> </a:t>
            </a:r>
            <a:r>
              <a:rPr lang="pt-PT" sz="2000" dirty="0" err="1"/>
              <a:t>at</a:t>
            </a:r>
            <a:r>
              <a:rPr lang="pt-PT" sz="2000" dirty="0"/>
              <a:t> </a:t>
            </a:r>
            <a:r>
              <a:rPr lang="pt-PT" sz="2000" dirty="0" err="1"/>
              <a:t>the</a:t>
            </a:r>
            <a:r>
              <a:rPr lang="pt-PT" sz="2000" dirty="0"/>
              <a:t> </a:t>
            </a:r>
            <a:r>
              <a:rPr lang="pt-PT" sz="2000" dirty="0" err="1"/>
              <a:t>dataset</a:t>
            </a:r>
            <a:endParaRPr lang="en-US" sz="2000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4E71228A-F1E7-200F-1CFC-325FCC127E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36" y="1481026"/>
            <a:ext cx="11841528" cy="3895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4612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0AB350-B2B7-2B62-93A1-C50D9B84A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A2A69876-A138-BC18-8A8A-A6AF9CFAE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24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1FB89338-02B2-D2F6-1712-A55B0066B11C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PT" sz="2800" b="1" i="0" u="none" strike="noStrike" kern="1200" cap="none" spc="0" baseline="0" dirty="0">
                <a:solidFill>
                  <a:schemeClr val="bg1"/>
                </a:solidFill>
                <a:uFillTx/>
                <a:latin typeface="Calibri Light"/>
                <a:ea typeface="Arrus BT Roman"/>
                <a:cs typeface="Arrus BT Roman"/>
              </a:rPr>
              <a:t>P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andas – data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selection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and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indexing</a:t>
            </a:r>
            <a:endParaRPr lang="en-US" sz="2800" b="1" i="0" u="none" strike="noStrike" kern="1200" cap="none" spc="0" baseline="0" dirty="0">
              <a:solidFill>
                <a:schemeClr val="bg1"/>
              </a:solidFill>
              <a:uFillTx/>
              <a:latin typeface="Calibri Light"/>
              <a:ea typeface="Arrus BT Roman"/>
              <a:cs typeface="Arrus BT Roman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10B4BBF0-F5CA-E730-B720-5BF00C1F29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104" y="657844"/>
            <a:ext cx="5761701" cy="5964937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11187FA6-1AA2-D99B-A4A1-2826C5A36E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4894" y="422627"/>
            <a:ext cx="3838137" cy="6435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6636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D9161-D95B-E1DE-202A-DC746CECB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8A569FD1-B208-99B7-0C40-7EC057385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25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B69CAE6E-7D24-0D4C-5DE2-25997D8396F8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PT" sz="2800" b="1" i="0" u="none" strike="noStrike" kern="1200" cap="none" spc="0" baseline="0" dirty="0">
                <a:solidFill>
                  <a:schemeClr val="bg1"/>
                </a:solidFill>
                <a:uFillTx/>
                <a:ea typeface="Arrus BT Roman"/>
                <a:cs typeface="Arrus BT Roman"/>
              </a:rPr>
              <a:t>P</a:t>
            </a:r>
            <a:r>
              <a:rPr lang="pt-PT" sz="2800" b="1" dirty="0">
                <a:solidFill>
                  <a:schemeClr val="bg1"/>
                </a:solidFill>
                <a:ea typeface="Arrus BT Roman"/>
                <a:cs typeface="Arrus BT Roman"/>
              </a:rPr>
              <a:t>andas - </a:t>
            </a:r>
            <a:r>
              <a:rPr lang="pt-PT" sz="2800" dirty="0" err="1">
                <a:solidFill>
                  <a:schemeClr val="bg1"/>
                </a:solidFill>
              </a:rPr>
              <a:t>Conditional</a:t>
            </a:r>
            <a:r>
              <a:rPr lang="pt-PT" sz="2800" dirty="0">
                <a:solidFill>
                  <a:schemeClr val="bg1"/>
                </a:solidFill>
              </a:rPr>
              <a:t> </a:t>
            </a:r>
            <a:r>
              <a:rPr lang="pt-PT" sz="2800" dirty="0" err="1">
                <a:solidFill>
                  <a:schemeClr val="bg1"/>
                </a:solidFill>
              </a:rPr>
              <a:t>filtering</a:t>
            </a:r>
            <a:r>
              <a:rPr lang="pt-PT" sz="2800" dirty="0">
                <a:solidFill>
                  <a:schemeClr val="bg1"/>
                </a:solidFill>
              </a:rPr>
              <a:t> </a:t>
            </a:r>
            <a:r>
              <a:rPr lang="pt-PT" sz="2800" dirty="0" err="1">
                <a:solidFill>
                  <a:schemeClr val="bg1"/>
                </a:solidFill>
              </a:rPr>
              <a:t>using</a:t>
            </a:r>
            <a:r>
              <a:rPr lang="pt-PT" sz="2800" dirty="0">
                <a:solidFill>
                  <a:schemeClr val="bg1"/>
                </a:solidFill>
              </a:rPr>
              <a:t> </a:t>
            </a:r>
            <a:r>
              <a:rPr lang="pt-PT" sz="2800" dirty="0" err="1">
                <a:solidFill>
                  <a:schemeClr val="bg1"/>
                </a:solidFill>
              </a:rPr>
              <a:t>loc</a:t>
            </a:r>
            <a:r>
              <a:rPr lang="pt-PT" sz="2800" dirty="0">
                <a:solidFill>
                  <a:schemeClr val="bg1"/>
                </a:solidFill>
              </a:rPr>
              <a:t> </a:t>
            </a:r>
            <a:endParaRPr lang="en-US" sz="2800" dirty="0">
              <a:solidFill>
                <a:schemeClr val="bg1"/>
              </a:solidFill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800" b="1" i="0" u="none" strike="noStrike" kern="1200" cap="none" spc="0" baseline="0" dirty="0">
              <a:solidFill>
                <a:schemeClr val="bg1"/>
              </a:solidFill>
              <a:uFillTx/>
              <a:latin typeface="Calibri Light"/>
              <a:ea typeface="Arrus BT Roman"/>
              <a:cs typeface="Arrus BT Roman"/>
            </a:endParaRP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FDAA260B-49FF-F7B9-3727-95CFAD82FE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1945" y="689385"/>
            <a:ext cx="7836249" cy="6032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6333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A9D07F-C3FD-ACA3-BF76-2DF2E6415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FE8DABF5-04E2-42DB-D5AC-B357B9CB5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26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26E8FCFE-2EDA-81D2-AF5C-82D3DA7683F0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PT" sz="2800" b="1" i="0" u="none" strike="noStrike" kern="1200" cap="none" spc="0" baseline="0" dirty="0">
                <a:solidFill>
                  <a:schemeClr val="bg1"/>
                </a:solidFill>
                <a:uFillTx/>
                <a:latin typeface="Calibri Light"/>
                <a:ea typeface="Arrus BT Roman"/>
                <a:cs typeface="Arrus BT Roman"/>
              </a:rPr>
              <a:t>P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andas –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plotting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and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visualization</a:t>
            </a:r>
            <a:endParaRPr lang="en-US" sz="2800" b="1" i="0" u="none" strike="noStrike" kern="1200" cap="none" spc="0" baseline="0" dirty="0">
              <a:solidFill>
                <a:schemeClr val="bg1"/>
              </a:solidFill>
              <a:uFillTx/>
              <a:latin typeface="Calibri Light"/>
              <a:ea typeface="Arrus BT Roman"/>
              <a:cs typeface="Arrus BT Roman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CAFB5010-1D5E-6251-8FB1-957CCD8EB0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05" y="1412198"/>
            <a:ext cx="6503619" cy="5445802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C3E1AB14-FC4D-441B-24E0-CCE864CBC9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978" y="596787"/>
            <a:ext cx="4442846" cy="815411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2FE28FA1-3FE7-436D-24FB-D01B844F7D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9443" y="1674698"/>
            <a:ext cx="5572557" cy="44191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7F50D72E-DB58-9915-C4E0-4337147CC7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2597" y="596787"/>
            <a:ext cx="4671465" cy="815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17256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2C3F3-84AE-CBA2-165C-E4119799A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0A399489-CEB8-80D3-FF6E-D8945CDCC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27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DADE9F35-5713-E9D3-F96D-F788882D71B7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PT" sz="2800" b="1" i="0" u="none" strike="noStrike" kern="1200" cap="none" spc="0" baseline="0" dirty="0">
                <a:solidFill>
                  <a:schemeClr val="bg1"/>
                </a:solidFill>
                <a:uFillTx/>
                <a:latin typeface="Calibri Light"/>
                <a:ea typeface="Arrus BT Roman"/>
                <a:cs typeface="Arrus BT Roman"/>
              </a:rPr>
              <a:t>P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andas –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groupby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and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ploting</a:t>
            </a:r>
            <a:endParaRPr lang="en-US" sz="2800" b="1" i="0" u="none" strike="noStrike" kern="1200" cap="none" spc="0" baseline="0" dirty="0">
              <a:solidFill>
                <a:schemeClr val="bg1"/>
              </a:solidFill>
              <a:uFillTx/>
              <a:latin typeface="Calibri Light"/>
              <a:ea typeface="Arrus BT Roman"/>
              <a:cs typeface="Arrus BT Roman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473EEFB8-4C90-A26B-E30E-121C72C816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6387" y="1653319"/>
            <a:ext cx="6711190" cy="5175645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ED8E1A06-DFAD-BA26-160F-998AE328A7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9892" y="520036"/>
            <a:ext cx="7305721" cy="1113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4309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23166-1F4A-9ADA-F622-26C4E0343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2FAEDC39-7630-4A00-1712-8A5D2A2FC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28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AEFA3B8D-079C-28BD-74F8-A067AA434B3B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PT" sz="2800" b="1" i="0" u="none" strike="noStrike" kern="1200" cap="none" spc="0" baseline="0" dirty="0">
                <a:solidFill>
                  <a:schemeClr val="bg1"/>
                </a:solidFill>
                <a:uFillTx/>
                <a:latin typeface="Calibri Light"/>
                <a:ea typeface="Arrus BT Roman"/>
                <a:cs typeface="Arrus BT Roman"/>
              </a:rPr>
              <a:t>P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andas – data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manipulation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and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transformation</a:t>
            </a:r>
            <a:endParaRPr lang="en-US" sz="2800" b="1" i="0" u="none" strike="noStrike" kern="1200" cap="none" spc="0" baseline="0" dirty="0">
              <a:solidFill>
                <a:schemeClr val="bg1"/>
              </a:solidFill>
              <a:uFillTx/>
              <a:latin typeface="Calibri Light"/>
              <a:ea typeface="Arrus BT Roman"/>
              <a:cs typeface="Arrus BT Roman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828BD61C-56FE-27FC-C027-02C1C08674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0404" y="471336"/>
            <a:ext cx="7429217" cy="3070543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652A8DE1-50B6-C38B-361B-9DB22C7BD0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6318" y="3541879"/>
            <a:ext cx="6906323" cy="3264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254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389BE5-05EF-A503-FD9C-4F07C1C35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58D7FC86-B564-158A-3DA6-E1AC11925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29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930F1C5C-79CE-8D22-30A3-538FF6E28076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PT" sz="2800" b="1" i="0" u="none" strike="noStrike" kern="1200" cap="none" spc="0" baseline="0" dirty="0">
                <a:solidFill>
                  <a:schemeClr val="bg1"/>
                </a:solidFill>
                <a:uFillTx/>
                <a:latin typeface="Calibri Light"/>
                <a:ea typeface="Arrus BT Roman"/>
                <a:cs typeface="Arrus BT Roman"/>
              </a:rPr>
              <a:t>P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andas – data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manipulation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and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transformation</a:t>
            </a:r>
            <a:endParaRPr lang="en-US" sz="2800" b="1" i="0" u="none" strike="noStrike" kern="1200" cap="none" spc="0" baseline="0" dirty="0">
              <a:solidFill>
                <a:schemeClr val="bg1"/>
              </a:solidFill>
              <a:uFillTx/>
              <a:latin typeface="Calibri Light"/>
              <a:ea typeface="Arrus BT Roman"/>
              <a:cs typeface="Arrus BT Roman"/>
            </a:endParaRP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CE7BCC6E-CFCD-CC90-01EA-1D2C0F91D2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5998" y="471336"/>
            <a:ext cx="5784602" cy="3240081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D12AD2F9-290A-17C9-AAC2-D8402173D7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8627" y="3805083"/>
            <a:ext cx="7565088" cy="3052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465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31F52E-BAEF-58D6-5BEB-E9ECC5A9F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F1BF3AA1-E09E-BCE2-69DC-DC4A00A6B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30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7F482F90-7544-8C99-6419-C9587558AFE9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PT" sz="2800" b="1" i="0" u="none" strike="noStrike" kern="1200" cap="none" spc="0" baseline="0" dirty="0">
                <a:solidFill>
                  <a:schemeClr val="bg1"/>
                </a:solidFill>
                <a:uFillTx/>
                <a:latin typeface="Calibri Light"/>
                <a:ea typeface="Arrus BT Roman"/>
                <a:cs typeface="Arrus BT Roman"/>
              </a:rPr>
              <a:t>P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andas –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saving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data</a:t>
            </a:r>
            <a:endParaRPr lang="en-US" sz="2800" b="1" i="0" u="none" strike="noStrike" kern="1200" cap="none" spc="0" baseline="0" dirty="0">
              <a:solidFill>
                <a:schemeClr val="bg1"/>
              </a:solidFill>
              <a:uFillTx/>
              <a:latin typeface="Calibri Light"/>
              <a:ea typeface="Arrus BT Roman"/>
              <a:cs typeface="Arrus BT Roman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1685A49-9407-E167-83C6-9E8C5EE0BC2C}"/>
              </a:ext>
            </a:extLst>
          </p:cNvPr>
          <p:cNvSpPr txBox="1"/>
          <p:nvPr/>
        </p:nvSpPr>
        <p:spPr>
          <a:xfrm>
            <a:off x="106437" y="921841"/>
            <a:ext cx="119791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000" dirty="0" err="1"/>
              <a:t>After</a:t>
            </a:r>
            <a:r>
              <a:rPr lang="pt-PT" sz="2000" dirty="0"/>
              <a:t> </a:t>
            </a:r>
            <a:r>
              <a:rPr lang="pt-PT" sz="2000" dirty="0" err="1"/>
              <a:t>applying</a:t>
            </a:r>
            <a:r>
              <a:rPr lang="pt-PT" sz="2000" dirty="0"/>
              <a:t> </a:t>
            </a:r>
            <a:r>
              <a:rPr lang="pt-PT" sz="2000" dirty="0" err="1"/>
              <a:t>the</a:t>
            </a:r>
            <a:r>
              <a:rPr lang="pt-PT" sz="2000" dirty="0"/>
              <a:t> </a:t>
            </a:r>
            <a:r>
              <a:rPr lang="pt-PT" sz="2000" dirty="0" err="1"/>
              <a:t>desired</a:t>
            </a:r>
            <a:r>
              <a:rPr lang="pt-PT" sz="2000" dirty="0"/>
              <a:t> </a:t>
            </a:r>
            <a:r>
              <a:rPr lang="pt-PT" sz="2000" dirty="0" err="1"/>
              <a:t>transformations</a:t>
            </a:r>
            <a:r>
              <a:rPr lang="pt-PT" sz="2000" dirty="0"/>
              <a:t> to </a:t>
            </a:r>
            <a:r>
              <a:rPr lang="pt-PT" sz="2000" dirty="0" err="1"/>
              <a:t>the</a:t>
            </a:r>
            <a:r>
              <a:rPr lang="pt-PT" sz="2000" dirty="0"/>
              <a:t> data, </a:t>
            </a:r>
            <a:r>
              <a:rPr lang="pt-PT" sz="2000" dirty="0" err="1"/>
              <a:t>the</a:t>
            </a:r>
            <a:r>
              <a:rPr lang="pt-PT" sz="2000" dirty="0"/>
              <a:t> </a:t>
            </a:r>
            <a:r>
              <a:rPr lang="pt-PT" sz="2000" dirty="0" err="1"/>
              <a:t>new</a:t>
            </a:r>
            <a:r>
              <a:rPr lang="pt-PT" sz="2000" dirty="0"/>
              <a:t> data can </a:t>
            </a:r>
            <a:r>
              <a:rPr lang="pt-PT" sz="2000" dirty="0" err="1"/>
              <a:t>be</a:t>
            </a:r>
            <a:r>
              <a:rPr lang="pt-PT" sz="2000" dirty="0"/>
              <a:t> </a:t>
            </a:r>
            <a:r>
              <a:rPr lang="pt-PT" sz="2000" dirty="0" err="1"/>
              <a:t>saved</a:t>
            </a:r>
            <a:r>
              <a:rPr lang="pt-PT" sz="2000" dirty="0"/>
              <a:t> to a .</a:t>
            </a:r>
            <a:r>
              <a:rPr lang="pt-PT" sz="2000" dirty="0" err="1"/>
              <a:t>csv</a:t>
            </a:r>
            <a:r>
              <a:rPr lang="pt-PT" sz="2000" dirty="0"/>
              <a:t> </a:t>
            </a:r>
            <a:r>
              <a:rPr lang="pt-PT" sz="2000" dirty="0" err="1"/>
              <a:t>or</a:t>
            </a:r>
            <a:r>
              <a:rPr lang="pt-PT" sz="2000" dirty="0"/>
              <a:t> Excel file </a:t>
            </a:r>
            <a:endParaRPr lang="en-US" sz="2000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89BA1F1-8ABA-A80E-D16D-75E7527955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069" y="2046868"/>
            <a:ext cx="9624620" cy="2181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31510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63501-DA7D-5C54-297A-7C86D887B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F05D73-505D-7506-123C-FA4A115244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23561" y="2658234"/>
            <a:ext cx="9544878" cy="1541532"/>
          </a:xfrm>
          <a:solidFill>
            <a:schemeClr val="tx2">
              <a:lumMod val="50000"/>
              <a:lumOff val="50000"/>
            </a:schemeClr>
          </a:solidFill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chemeClr val="bg1"/>
                </a:solidFill>
              </a:rPr>
              <a:t>Part 3:</a:t>
            </a:r>
            <a:br>
              <a:rPr lang="en-US" sz="4800" b="1" dirty="0">
                <a:solidFill>
                  <a:schemeClr val="bg1"/>
                </a:solidFill>
              </a:rPr>
            </a:br>
            <a:r>
              <a:rPr lang="en-US" sz="4800" b="1" dirty="0">
                <a:solidFill>
                  <a:schemeClr val="bg1"/>
                </a:solidFill>
              </a:rPr>
              <a:t>Multivariate statistical analysis 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8" name="Marcador de Posição do Número do Diapositivo 7">
            <a:extLst>
              <a:ext uri="{FF2B5EF4-FFF2-40B4-BE49-F238E27FC236}">
                <a16:creationId xmlns:a16="http://schemas.microsoft.com/office/drawing/2014/main" id="{DB9BCEAE-0BAA-8ECA-6420-6E26CD4DB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173290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F5B8DE-2FFA-BFAA-7F91-4551630AF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6C84DC2E-C893-EE3E-E2A1-4441272B9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32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E3D4D5BF-4E6D-327F-4738-4DC0C47C0F52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dirty="0">
                <a:solidFill>
                  <a:schemeClr val="bg1"/>
                </a:solidFill>
              </a:rPr>
              <a:t>Multivariate statistical analysis - motivation</a:t>
            </a:r>
            <a:endParaRPr lang="en-US" sz="2800" dirty="0">
              <a:solidFill>
                <a:schemeClr val="bg1"/>
              </a:solidFill>
              <a:latin typeface="Calibri Light"/>
              <a:ea typeface="Arrus BT Roman"/>
              <a:cs typeface="Arrus BT Roman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4DC57B2B-DA85-E96F-5797-7FFBAFC73BF0}"/>
              </a:ext>
            </a:extLst>
          </p:cNvPr>
          <p:cNvSpPr txBox="1"/>
          <p:nvPr/>
        </p:nvSpPr>
        <p:spPr>
          <a:xfrm>
            <a:off x="-4" y="560753"/>
            <a:ext cx="12192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000" dirty="0"/>
              <a:t>Data </a:t>
            </a:r>
            <a:r>
              <a:rPr lang="pt-PT" sz="2000" dirty="0" err="1"/>
              <a:t>is</a:t>
            </a:r>
            <a:r>
              <a:rPr lang="pt-PT" sz="2000" dirty="0"/>
              <a:t> </a:t>
            </a:r>
            <a:r>
              <a:rPr lang="pt-PT" sz="2000" dirty="0" err="1"/>
              <a:t>not</a:t>
            </a:r>
            <a:r>
              <a:rPr lang="pt-PT" sz="2000" dirty="0"/>
              <a:t> </a:t>
            </a:r>
            <a:r>
              <a:rPr lang="pt-PT" sz="2000" dirty="0" err="1"/>
              <a:t>tipically</a:t>
            </a:r>
            <a:r>
              <a:rPr lang="pt-PT" sz="2000" dirty="0"/>
              <a:t> </a:t>
            </a:r>
            <a:r>
              <a:rPr lang="pt-PT" sz="2000" dirty="0" err="1"/>
              <a:t>univariate</a:t>
            </a:r>
            <a:r>
              <a:rPr lang="pt-PT" sz="2000" dirty="0"/>
              <a:t>, </a:t>
            </a:r>
            <a:r>
              <a:rPr lang="pt-PT" sz="2000" dirty="0" err="1"/>
              <a:t>but</a:t>
            </a:r>
            <a:r>
              <a:rPr lang="pt-PT" sz="2000" dirty="0"/>
              <a:t> </a:t>
            </a:r>
            <a:r>
              <a:rPr lang="pt-PT" sz="2000" dirty="0" err="1"/>
              <a:t>instead</a:t>
            </a:r>
            <a:r>
              <a:rPr lang="pt-PT" sz="2000" dirty="0"/>
              <a:t> </a:t>
            </a:r>
            <a:r>
              <a:rPr lang="pt-PT" sz="2000" dirty="0" err="1"/>
              <a:t>of</a:t>
            </a:r>
            <a:r>
              <a:rPr lang="pt-PT" sz="2000" dirty="0"/>
              <a:t> </a:t>
            </a:r>
            <a:r>
              <a:rPr lang="pt-PT" sz="2000" dirty="0" err="1"/>
              <a:t>rich</a:t>
            </a:r>
            <a:r>
              <a:rPr lang="pt-PT" sz="2000" dirty="0"/>
              <a:t> </a:t>
            </a:r>
            <a:r>
              <a:rPr lang="pt-PT" sz="2000" dirty="0" err="1"/>
              <a:t>and</a:t>
            </a:r>
            <a:r>
              <a:rPr lang="pt-PT" sz="2000" dirty="0"/>
              <a:t> </a:t>
            </a:r>
            <a:r>
              <a:rPr lang="pt-PT" sz="2000" dirty="0" err="1"/>
              <a:t>multivariate</a:t>
            </a:r>
            <a:r>
              <a:rPr lang="pt-PT" sz="2000" dirty="0"/>
              <a:t> </a:t>
            </a:r>
            <a:r>
              <a:rPr lang="pt-PT" sz="2000" dirty="0" err="1"/>
              <a:t>nature</a:t>
            </a:r>
            <a:r>
              <a:rPr lang="pt-PT" sz="20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000" dirty="0" err="1"/>
              <a:t>Spectroscopic</a:t>
            </a:r>
            <a:r>
              <a:rPr lang="pt-PT" sz="2000" dirty="0"/>
              <a:t> data </a:t>
            </a:r>
            <a:r>
              <a:rPr lang="pt-PT" sz="2000" dirty="0" err="1"/>
              <a:t>is</a:t>
            </a:r>
            <a:r>
              <a:rPr lang="pt-PT" sz="2000" dirty="0"/>
              <a:t> </a:t>
            </a:r>
            <a:r>
              <a:rPr lang="pt-PT" sz="2000" dirty="0" err="1"/>
              <a:t>obvious</a:t>
            </a:r>
            <a:r>
              <a:rPr lang="pt-PT" sz="2000" dirty="0"/>
              <a:t> </a:t>
            </a:r>
            <a:r>
              <a:rPr lang="pt-PT" sz="2000" dirty="0" err="1"/>
              <a:t>example</a:t>
            </a:r>
            <a:r>
              <a:rPr lang="pt-PT" sz="2000" dirty="0"/>
              <a:t> </a:t>
            </a:r>
            <a:r>
              <a:rPr lang="pt-PT" sz="2000" dirty="0" err="1"/>
              <a:t>of</a:t>
            </a:r>
            <a:r>
              <a:rPr lang="pt-PT" sz="2000" dirty="0"/>
              <a:t> </a:t>
            </a:r>
            <a:r>
              <a:rPr lang="pt-PT" sz="2000" dirty="0" err="1"/>
              <a:t>multivariate</a:t>
            </a:r>
            <a:r>
              <a:rPr lang="pt-PT" sz="2000" dirty="0"/>
              <a:t> data (</a:t>
            </a:r>
            <a:r>
              <a:rPr lang="pt-PT" sz="2000" dirty="0" err="1"/>
              <a:t>hundreds</a:t>
            </a:r>
            <a:r>
              <a:rPr lang="pt-PT" sz="2000" dirty="0"/>
              <a:t> to </a:t>
            </a:r>
            <a:r>
              <a:rPr lang="pt-PT" sz="2000" dirty="0" err="1"/>
              <a:t>thousands</a:t>
            </a:r>
            <a:r>
              <a:rPr lang="pt-PT" sz="2000" dirty="0"/>
              <a:t> </a:t>
            </a:r>
            <a:r>
              <a:rPr lang="pt-PT" sz="2000" dirty="0" err="1"/>
              <a:t>of</a:t>
            </a:r>
            <a:r>
              <a:rPr lang="pt-PT" sz="2000" dirty="0"/>
              <a:t> </a:t>
            </a:r>
            <a:r>
              <a:rPr lang="pt-PT" sz="2000" dirty="0" err="1"/>
              <a:t>variables</a:t>
            </a:r>
            <a:r>
              <a:rPr lang="pt-PT" sz="2000" dirty="0"/>
              <a:t>) 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37F1C1AD-1DE9-DAF3-A9FB-4CC0C3CE9A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652" y="1785103"/>
            <a:ext cx="6500271" cy="3797409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28B96B9E-B98C-315E-45A1-944E21295A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6295" y="2350780"/>
            <a:ext cx="4996070" cy="2374505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B5CEA27F-8528-DD46-331A-2382360A4CD6}"/>
              </a:ext>
            </a:extLst>
          </p:cNvPr>
          <p:cNvSpPr txBox="1"/>
          <p:nvPr/>
        </p:nvSpPr>
        <p:spPr>
          <a:xfrm>
            <a:off x="7752523" y="4929809"/>
            <a:ext cx="39789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dirty="0" err="1"/>
              <a:t>If</a:t>
            </a:r>
            <a:r>
              <a:rPr lang="pt-PT" dirty="0"/>
              <a:t> </a:t>
            </a:r>
            <a:r>
              <a:rPr lang="pt-PT" dirty="0" err="1"/>
              <a:t>each</a:t>
            </a:r>
            <a:r>
              <a:rPr lang="pt-PT" dirty="0"/>
              <a:t> </a:t>
            </a:r>
            <a:r>
              <a:rPr lang="pt-PT" dirty="0" err="1"/>
              <a:t>wavelength</a:t>
            </a:r>
            <a:r>
              <a:rPr lang="pt-PT" dirty="0"/>
              <a:t> </a:t>
            </a:r>
            <a:r>
              <a:rPr lang="pt-PT" dirty="0" err="1"/>
              <a:t>absorbance</a:t>
            </a:r>
            <a:r>
              <a:rPr lang="pt-PT" dirty="0"/>
              <a:t> </a:t>
            </a:r>
            <a:r>
              <a:rPr lang="pt-PT" dirty="0" err="1"/>
              <a:t>is</a:t>
            </a:r>
            <a:r>
              <a:rPr lang="pt-PT" dirty="0"/>
              <a:t> a </a:t>
            </a:r>
            <a:r>
              <a:rPr lang="pt-PT" dirty="0" err="1"/>
              <a:t>considered</a:t>
            </a:r>
            <a:r>
              <a:rPr lang="pt-PT" dirty="0"/>
              <a:t> a </a:t>
            </a:r>
            <a:r>
              <a:rPr lang="pt-PT" dirty="0" err="1"/>
              <a:t>variable</a:t>
            </a:r>
            <a:r>
              <a:rPr lang="pt-PT" dirty="0"/>
              <a:t>, </a:t>
            </a:r>
            <a:r>
              <a:rPr lang="pt-PT" dirty="0" err="1"/>
              <a:t>we</a:t>
            </a:r>
            <a:r>
              <a:rPr lang="pt-PT" dirty="0"/>
              <a:t> can </a:t>
            </a:r>
            <a:r>
              <a:rPr lang="pt-PT" dirty="0" err="1"/>
              <a:t>easily</a:t>
            </a:r>
            <a:r>
              <a:rPr lang="pt-PT" dirty="0"/>
              <a:t> </a:t>
            </a:r>
            <a:r>
              <a:rPr lang="pt-PT" dirty="0" err="1"/>
              <a:t>have</a:t>
            </a:r>
            <a:r>
              <a:rPr lang="pt-PT" dirty="0"/>
              <a:t> 1000s </a:t>
            </a:r>
            <a:r>
              <a:rPr lang="pt-PT" dirty="0" err="1"/>
              <a:t>of</a:t>
            </a:r>
            <a:r>
              <a:rPr lang="pt-PT" dirty="0"/>
              <a:t> </a:t>
            </a:r>
            <a:r>
              <a:rPr lang="pt-PT" dirty="0" err="1"/>
              <a:t>variables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526464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2DBA8A-1D33-589D-9586-13F30D3D5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CDE94F32-62AF-F6FF-3208-63472551E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33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E891E32D-975A-2580-639D-01393C6BCA77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dirty="0">
                <a:solidFill>
                  <a:schemeClr val="bg1"/>
                </a:solidFill>
              </a:rPr>
              <a:t>Multivariate statistical analysis</a:t>
            </a:r>
            <a:endParaRPr lang="en-US" sz="2800" dirty="0">
              <a:solidFill>
                <a:schemeClr val="bg1"/>
              </a:solidFill>
              <a:latin typeface="Calibri Light"/>
              <a:ea typeface="Arrus BT Roman"/>
              <a:cs typeface="Arrus BT Roman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DFE7F12-40A9-6967-7AF4-4652C00754FB}"/>
              </a:ext>
            </a:extLst>
          </p:cNvPr>
          <p:cNvSpPr txBox="1"/>
          <p:nvPr/>
        </p:nvSpPr>
        <p:spPr>
          <a:xfrm>
            <a:off x="-4" y="560753"/>
            <a:ext cx="121920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000" dirty="0" err="1"/>
              <a:t>We</a:t>
            </a:r>
            <a:r>
              <a:rPr lang="pt-PT" sz="2000" dirty="0"/>
              <a:t> </a:t>
            </a:r>
            <a:r>
              <a:rPr lang="pt-PT" sz="2000" dirty="0" err="1"/>
              <a:t>analyzed</a:t>
            </a:r>
            <a:r>
              <a:rPr lang="pt-PT" sz="2000" dirty="0"/>
              <a:t> </a:t>
            </a:r>
            <a:r>
              <a:rPr lang="pt-PT" sz="2000" dirty="0" err="1"/>
              <a:t>different</a:t>
            </a:r>
            <a:r>
              <a:rPr lang="pt-PT" sz="2000" dirty="0"/>
              <a:t> </a:t>
            </a:r>
            <a:r>
              <a:rPr lang="pt-PT" sz="2000" dirty="0" err="1"/>
              <a:t>variables</a:t>
            </a:r>
            <a:r>
              <a:rPr lang="pt-PT" sz="2000" dirty="0"/>
              <a:t> </a:t>
            </a:r>
            <a:r>
              <a:rPr lang="pt-PT" sz="2000" dirty="0" err="1"/>
              <a:t>independently</a:t>
            </a:r>
            <a:r>
              <a:rPr lang="pt-PT" sz="2000" dirty="0"/>
              <a:t> (</a:t>
            </a:r>
            <a:r>
              <a:rPr lang="pt-PT" sz="2000" b="1" dirty="0" err="1"/>
              <a:t>uncorrelated</a:t>
            </a:r>
            <a:r>
              <a:rPr lang="pt-PT" sz="2000" dirty="0"/>
              <a:t>) </a:t>
            </a:r>
            <a:r>
              <a:rPr lang="pt-PT" sz="2000" dirty="0" err="1"/>
              <a:t>and</a:t>
            </a:r>
            <a:r>
              <a:rPr lang="pt-PT" sz="2000" dirty="0"/>
              <a:t> </a:t>
            </a:r>
            <a:r>
              <a:rPr lang="pt-PT" sz="2000" dirty="0" err="1"/>
              <a:t>one</a:t>
            </a:r>
            <a:r>
              <a:rPr lang="pt-PT" sz="2000" dirty="0"/>
              <a:t> </a:t>
            </a:r>
            <a:r>
              <a:rPr lang="pt-PT" sz="2000" dirty="0" err="1"/>
              <a:t>at</a:t>
            </a:r>
            <a:r>
              <a:rPr lang="pt-PT" sz="2000" dirty="0"/>
              <a:t> a time </a:t>
            </a:r>
            <a:r>
              <a:rPr lang="pt-PT" sz="2000" b="1" dirty="0"/>
              <a:t>(</a:t>
            </a:r>
            <a:r>
              <a:rPr lang="pt-PT" sz="2000" b="1" dirty="0" err="1"/>
              <a:t>univariate</a:t>
            </a:r>
            <a:r>
              <a:rPr lang="pt-PT" sz="2000" b="1" dirty="0"/>
              <a:t> </a:t>
            </a:r>
            <a:r>
              <a:rPr lang="pt-PT" sz="2000" b="1" dirty="0" err="1"/>
              <a:t>statistics</a:t>
            </a:r>
            <a:r>
              <a:rPr lang="pt-PT" sz="2000" b="1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000" dirty="0"/>
              <a:t>In </a:t>
            </a:r>
            <a:r>
              <a:rPr lang="pt-PT" sz="2000" dirty="0" err="1"/>
              <a:t>many</a:t>
            </a:r>
            <a:r>
              <a:rPr lang="pt-PT" sz="2000" dirty="0"/>
              <a:t> cases, </a:t>
            </a:r>
            <a:r>
              <a:rPr lang="pt-PT" sz="2000" dirty="0" err="1"/>
              <a:t>variables</a:t>
            </a:r>
            <a:r>
              <a:rPr lang="pt-PT" sz="2000" dirty="0"/>
              <a:t> are </a:t>
            </a:r>
            <a:r>
              <a:rPr lang="pt-PT" sz="2000" dirty="0" err="1"/>
              <a:t>not</a:t>
            </a:r>
            <a:r>
              <a:rPr lang="pt-PT" sz="2000" dirty="0"/>
              <a:t> </a:t>
            </a:r>
            <a:r>
              <a:rPr lang="pt-PT" sz="2000" dirty="0" err="1"/>
              <a:t>independent</a:t>
            </a:r>
            <a:r>
              <a:rPr lang="pt-PT" sz="2000" dirty="0"/>
              <a:t> </a:t>
            </a:r>
            <a:r>
              <a:rPr lang="pt-PT" sz="2000" dirty="0" err="1"/>
              <a:t>but</a:t>
            </a:r>
            <a:r>
              <a:rPr lang="pt-PT" sz="2000" dirty="0"/>
              <a:t> </a:t>
            </a:r>
            <a:r>
              <a:rPr lang="pt-PT" sz="2000" b="1" dirty="0" err="1"/>
              <a:t>instead</a:t>
            </a:r>
            <a:r>
              <a:rPr lang="pt-PT" sz="2000" b="1" dirty="0"/>
              <a:t> </a:t>
            </a:r>
            <a:r>
              <a:rPr lang="pt-PT" sz="2000" b="1" dirty="0" err="1"/>
              <a:t>correlated</a:t>
            </a:r>
            <a:r>
              <a:rPr lang="pt-PT" sz="2000" b="1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000" dirty="0" err="1"/>
              <a:t>Multivariate</a:t>
            </a:r>
            <a:r>
              <a:rPr lang="pt-PT" sz="2000" dirty="0"/>
              <a:t> </a:t>
            </a:r>
            <a:r>
              <a:rPr lang="pt-PT" sz="2000" dirty="0" err="1"/>
              <a:t>statistics</a:t>
            </a:r>
            <a:r>
              <a:rPr lang="pt-PT" sz="2000" dirty="0"/>
              <a:t> </a:t>
            </a:r>
            <a:r>
              <a:rPr lang="pt-PT" sz="2000" dirty="0" err="1"/>
              <a:t>deals</a:t>
            </a:r>
            <a:r>
              <a:rPr lang="pt-PT" sz="2000" dirty="0"/>
              <a:t> </a:t>
            </a:r>
            <a:r>
              <a:rPr lang="pt-PT" sz="2000" dirty="0" err="1"/>
              <a:t>with</a:t>
            </a:r>
            <a:r>
              <a:rPr lang="pt-PT" sz="2000" dirty="0"/>
              <a:t> </a:t>
            </a:r>
            <a:r>
              <a:rPr lang="pt-PT" sz="2000" dirty="0" err="1"/>
              <a:t>the</a:t>
            </a:r>
            <a:r>
              <a:rPr lang="pt-PT" sz="2000" dirty="0"/>
              <a:t> </a:t>
            </a:r>
            <a:r>
              <a:rPr lang="pt-PT" sz="2000" dirty="0" err="1"/>
              <a:t>analysis</a:t>
            </a:r>
            <a:r>
              <a:rPr lang="pt-PT" sz="2000" dirty="0"/>
              <a:t> </a:t>
            </a:r>
            <a:r>
              <a:rPr lang="pt-PT" sz="2000" dirty="0" err="1"/>
              <a:t>of</a:t>
            </a:r>
            <a:r>
              <a:rPr lang="pt-PT" sz="2000" dirty="0"/>
              <a:t> </a:t>
            </a:r>
            <a:r>
              <a:rPr lang="pt-PT" sz="2000" dirty="0" err="1"/>
              <a:t>multivariate</a:t>
            </a:r>
            <a:r>
              <a:rPr lang="pt-PT" sz="2000" dirty="0"/>
              <a:t> data </a:t>
            </a:r>
            <a:r>
              <a:rPr lang="pt-PT" sz="2000" dirty="0" err="1"/>
              <a:t>and</a:t>
            </a:r>
            <a:r>
              <a:rPr lang="pt-PT" sz="2000" dirty="0"/>
              <a:t> </a:t>
            </a:r>
            <a:r>
              <a:rPr lang="pt-PT" sz="2000" dirty="0" err="1"/>
              <a:t>distributions</a:t>
            </a:r>
            <a:endParaRPr lang="pt-PT" sz="2000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35E7FF54-3CAE-FF83-DB5D-915E94D78A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9096" y="2896939"/>
            <a:ext cx="4152900" cy="3990975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59A715AB-8308-F754-DF13-4EA2046B0E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4" y="3106161"/>
            <a:ext cx="4152900" cy="3280502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7A7CEDC9-CC3F-FAE2-A4D8-53E4F9EB7F1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049"/>
          <a:stretch>
            <a:fillRect/>
          </a:stretch>
        </p:blipFill>
        <p:spPr>
          <a:xfrm>
            <a:off x="4345057" y="3106160"/>
            <a:ext cx="3694039" cy="3280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890423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FD76BE-6059-223A-3DF1-77DA206E1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718107AC-6C26-FD03-2D96-C60E8E3F0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34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16997043-7113-2CB9-A746-CBA9B38AE80E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dirty="0">
                <a:solidFill>
                  <a:schemeClr val="bg1"/>
                </a:solidFill>
              </a:rPr>
              <a:t>Multivariate statistical analysis – covariance and correlation</a:t>
            </a:r>
            <a:endParaRPr lang="en-US" sz="2800" dirty="0">
              <a:solidFill>
                <a:schemeClr val="bg1"/>
              </a:solidFill>
              <a:latin typeface="Calibri Light"/>
              <a:ea typeface="Arrus BT Roman"/>
              <a:cs typeface="Arrus BT Roman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432EA579-68FA-204A-523F-0BF1E82239B7}"/>
              </a:ext>
            </a:extLst>
          </p:cNvPr>
          <p:cNvSpPr txBox="1"/>
          <p:nvPr/>
        </p:nvSpPr>
        <p:spPr>
          <a:xfrm>
            <a:off x="0" y="689928"/>
            <a:ext cx="121920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 err="1"/>
              <a:t>Covariance</a:t>
            </a:r>
            <a:r>
              <a:rPr lang="pt-PT" dirty="0"/>
              <a:t> </a:t>
            </a:r>
            <a:r>
              <a:rPr lang="pt-PT" dirty="0" err="1"/>
              <a:t>measures</a:t>
            </a:r>
            <a:r>
              <a:rPr lang="pt-PT" dirty="0"/>
              <a:t> </a:t>
            </a:r>
            <a:r>
              <a:rPr lang="pt-PT" dirty="0" err="1"/>
              <a:t>how</a:t>
            </a:r>
            <a:r>
              <a:rPr lang="pt-PT" dirty="0"/>
              <a:t> </a:t>
            </a:r>
            <a:r>
              <a:rPr lang="pt-PT" b="1" dirty="0" err="1"/>
              <a:t>two</a:t>
            </a:r>
            <a:r>
              <a:rPr lang="pt-PT" b="1" dirty="0"/>
              <a:t> </a:t>
            </a:r>
            <a:r>
              <a:rPr lang="pt-PT" b="1" dirty="0" err="1"/>
              <a:t>or</a:t>
            </a:r>
            <a:r>
              <a:rPr lang="pt-PT" b="1" dirty="0"/>
              <a:t> more </a:t>
            </a:r>
            <a:r>
              <a:rPr lang="pt-PT" b="1" dirty="0" err="1"/>
              <a:t>random</a:t>
            </a:r>
            <a:r>
              <a:rPr lang="pt-PT" b="1" dirty="0"/>
              <a:t> </a:t>
            </a:r>
            <a:r>
              <a:rPr lang="pt-PT" b="1" dirty="0" err="1"/>
              <a:t>variables</a:t>
            </a:r>
            <a:r>
              <a:rPr lang="pt-PT" b="1" dirty="0"/>
              <a:t> </a:t>
            </a:r>
            <a:r>
              <a:rPr lang="pt-PT" b="1" dirty="0" err="1"/>
              <a:t>vary</a:t>
            </a:r>
            <a:r>
              <a:rPr lang="pt-PT" b="1" dirty="0"/>
              <a:t> </a:t>
            </a:r>
            <a:r>
              <a:rPr lang="pt-PT" b="1" dirty="0" err="1"/>
              <a:t>change</a:t>
            </a:r>
            <a:r>
              <a:rPr lang="pt-PT" b="1" dirty="0"/>
              <a:t> in </a:t>
            </a:r>
            <a:r>
              <a:rPr lang="pt-PT" b="1" dirty="0" err="1"/>
              <a:t>relation</a:t>
            </a:r>
            <a:r>
              <a:rPr lang="pt-PT" b="1" dirty="0"/>
              <a:t> to </a:t>
            </a:r>
            <a:r>
              <a:rPr lang="pt-PT" b="1" dirty="0" err="1"/>
              <a:t>one</a:t>
            </a:r>
            <a:r>
              <a:rPr lang="pt-PT" b="1" dirty="0"/>
              <a:t> </a:t>
            </a:r>
            <a:r>
              <a:rPr lang="pt-PT" b="1" dirty="0" err="1"/>
              <a:t>another</a:t>
            </a:r>
            <a:endParaRPr lang="pt-PT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b="1" dirty="0" err="1"/>
              <a:t>Covariance</a:t>
            </a:r>
            <a:r>
              <a:rPr lang="pt-PT" b="1" dirty="0"/>
              <a:t> </a:t>
            </a:r>
            <a:r>
              <a:rPr lang="pt-PT" b="1" dirty="0" err="1"/>
              <a:t>matrix</a:t>
            </a:r>
            <a:r>
              <a:rPr lang="pt-PT" b="1" dirty="0"/>
              <a:t> </a:t>
            </a:r>
            <a:r>
              <a:rPr lang="pt-PT" b="1" dirty="0" err="1"/>
              <a:t>gives</a:t>
            </a:r>
            <a:r>
              <a:rPr lang="pt-PT" b="1" dirty="0"/>
              <a:t> </a:t>
            </a:r>
            <a:r>
              <a:rPr lang="pt-PT" b="1" dirty="0" err="1"/>
              <a:t>the</a:t>
            </a:r>
            <a:r>
              <a:rPr lang="pt-PT" b="1" dirty="0"/>
              <a:t> </a:t>
            </a:r>
            <a:r>
              <a:rPr lang="pt-PT" b="1" dirty="0" err="1"/>
              <a:t>relationships</a:t>
            </a:r>
            <a:r>
              <a:rPr lang="pt-PT" b="1" dirty="0"/>
              <a:t> </a:t>
            </a:r>
            <a:r>
              <a:rPr lang="pt-PT" b="1" dirty="0" err="1"/>
              <a:t>between</a:t>
            </a:r>
            <a:r>
              <a:rPr lang="pt-PT" b="1" dirty="0"/>
              <a:t> </a:t>
            </a:r>
            <a:r>
              <a:rPr lang="pt-PT" b="1" dirty="0" err="1"/>
              <a:t>two</a:t>
            </a:r>
            <a:r>
              <a:rPr lang="pt-PT" b="1" dirty="0"/>
              <a:t> </a:t>
            </a:r>
            <a:r>
              <a:rPr lang="pt-PT" b="1" dirty="0" err="1"/>
              <a:t>variables</a:t>
            </a:r>
            <a:endParaRPr lang="pt-PT" b="1" dirty="0"/>
          </a:p>
          <a:p>
            <a:endParaRPr lang="pt-PT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b="1" dirty="0"/>
          </a:p>
          <a:p>
            <a:endParaRPr lang="pt-PT" dirty="0"/>
          </a:p>
          <a:p>
            <a:endParaRPr lang="pt-P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 err="1"/>
              <a:t>Pearson</a:t>
            </a:r>
            <a:r>
              <a:rPr lang="pt-PT" dirty="0"/>
              <a:t> </a:t>
            </a:r>
            <a:r>
              <a:rPr lang="pt-PT" dirty="0" err="1"/>
              <a:t>correlation</a:t>
            </a:r>
            <a:r>
              <a:rPr lang="pt-PT" dirty="0"/>
              <a:t> </a:t>
            </a:r>
            <a:r>
              <a:rPr lang="pt-PT" dirty="0" err="1"/>
              <a:t>coefficient</a:t>
            </a:r>
            <a:r>
              <a:rPr lang="pt-PT" dirty="0"/>
              <a:t> can </a:t>
            </a:r>
            <a:r>
              <a:rPr lang="pt-PT" dirty="0" err="1"/>
              <a:t>also</a:t>
            </a:r>
            <a:r>
              <a:rPr lang="pt-PT" dirty="0"/>
              <a:t> </a:t>
            </a:r>
            <a:r>
              <a:rPr lang="pt-PT" dirty="0" err="1"/>
              <a:t>be</a:t>
            </a:r>
            <a:r>
              <a:rPr lang="pt-PT" dirty="0"/>
              <a:t> </a:t>
            </a:r>
            <a:r>
              <a:rPr lang="pt-PT" dirty="0" err="1"/>
              <a:t>used</a:t>
            </a:r>
            <a:r>
              <a:rPr lang="pt-PT" dirty="0"/>
              <a:t> to </a:t>
            </a:r>
            <a:r>
              <a:rPr lang="pt-PT" b="1" dirty="0" err="1"/>
              <a:t>estimate</a:t>
            </a:r>
            <a:r>
              <a:rPr lang="pt-PT" b="1" dirty="0"/>
              <a:t> </a:t>
            </a:r>
            <a:r>
              <a:rPr lang="pt-PT" b="1" dirty="0" err="1"/>
              <a:t>the</a:t>
            </a:r>
            <a:r>
              <a:rPr lang="pt-PT" b="1" dirty="0"/>
              <a:t> </a:t>
            </a:r>
            <a:r>
              <a:rPr lang="pt-PT" b="1" dirty="0" err="1"/>
              <a:t>strength</a:t>
            </a:r>
            <a:r>
              <a:rPr lang="pt-PT" b="1" dirty="0"/>
              <a:t> </a:t>
            </a:r>
            <a:r>
              <a:rPr lang="pt-PT" dirty="0" err="1"/>
              <a:t>of</a:t>
            </a:r>
            <a:r>
              <a:rPr lang="pt-PT" dirty="0"/>
              <a:t> </a:t>
            </a:r>
            <a:r>
              <a:rPr lang="pt-PT" dirty="0" err="1"/>
              <a:t>the</a:t>
            </a:r>
            <a:r>
              <a:rPr lang="pt-PT" dirty="0"/>
              <a:t> </a:t>
            </a:r>
            <a:r>
              <a:rPr lang="pt-PT" dirty="0" err="1"/>
              <a:t>correlation</a:t>
            </a:r>
            <a:r>
              <a:rPr lang="pt-PT" dirty="0"/>
              <a:t> </a:t>
            </a:r>
            <a:r>
              <a:rPr lang="pt-PT" dirty="0" err="1"/>
              <a:t>between</a:t>
            </a:r>
            <a:r>
              <a:rPr lang="pt-PT" dirty="0"/>
              <a:t> </a:t>
            </a:r>
            <a:r>
              <a:rPr lang="pt-PT" dirty="0" err="1"/>
              <a:t>two</a:t>
            </a:r>
            <a:r>
              <a:rPr lang="pt-PT" dirty="0"/>
              <a:t> </a:t>
            </a:r>
            <a:r>
              <a:rPr lang="pt-PT" dirty="0" err="1"/>
              <a:t>variables</a:t>
            </a:r>
            <a:endParaRPr lang="pt-PT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PT" b="1" dirty="0" err="1"/>
              <a:t>Pearson</a:t>
            </a:r>
            <a:r>
              <a:rPr lang="pt-PT" b="1" dirty="0"/>
              <a:t> ~= -1 </a:t>
            </a:r>
            <a:r>
              <a:rPr lang="pt-PT" dirty="0"/>
              <a:t>-&gt; Negative </a:t>
            </a:r>
            <a:r>
              <a:rPr lang="pt-PT" dirty="0" err="1"/>
              <a:t>correlation</a:t>
            </a:r>
            <a:endParaRPr lang="pt-PT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PT" b="1" dirty="0" err="1"/>
              <a:t>Pearson</a:t>
            </a:r>
            <a:r>
              <a:rPr lang="pt-PT" b="1" dirty="0"/>
              <a:t> ~0</a:t>
            </a:r>
            <a:r>
              <a:rPr lang="pt-PT" dirty="0"/>
              <a:t> -&gt; No </a:t>
            </a:r>
            <a:r>
              <a:rPr lang="pt-PT" dirty="0" err="1"/>
              <a:t>correlation</a:t>
            </a:r>
            <a:endParaRPr lang="pt-PT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PT" b="1" dirty="0" err="1"/>
              <a:t>Pearson</a:t>
            </a:r>
            <a:r>
              <a:rPr lang="pt-PT" b="1" dirty="0"/>
              <a:t> ~= 1 </a:t>
            </a:r>
            <a:r>
              <a:rPr lang="pt-PT" dirty="0"/>
              <a:t>-&gt; Positive  </a:t>
            </a:r>
            <a:r>
              <a:rPr lang="pt-PT" dirty="0" err="1"/>
              <a:t>correlation</a:t>
            </a:r>
            <a:endParaRPr lang="pt-PT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0BEB5C1E-0D6F-116B-6D20-47812F856E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761" y="1956702"/>
            <a:ext cx="10148558" cy="1292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90186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A47DF5-C427-CB0E-DCCA-5774EDD2C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9B312842-B6C0-1618-3151-D48905C21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35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74A65D53-F61D-BBC5-4580-94B960855BEE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dirty="0">
                <a:solidFill>
                  <a:schemeClr val="bg1"/>
                </a:solidFill>
              </a:rPr>
              <a:t>Multivariate statistical analysis – correlation and covariance</a:t>
            </a:r>
            <a:endParaRPr lang="en-US" sz="2800" dirty="0">
              <a:solidFill>
                <a:schemeClr val="bg1"/>
              </a:solidFill>
              <a:latin typeface="Calibri Light"/>
              <a:ea typeface="Arrus BT Roman"/>
              <a:cs typeface="Arrus BT Roman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A1BE9314-F222-269F-C573-7A7E896444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86197"/>
            <a:ext cx="6219255" cy="4216669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BD5DEC46-CBDE-FD57-5EAA-5F28675822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79" y="572294"/>
            <a:ext cx="6173776" cy="924706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A040FAB1-7359-2CDA-99AF-07E928053D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2822" y="1497000"/>
            <a:ext cx="5381625" cy="433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998068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D97DF4-C76A-33C1-2DD6-CC81E87F1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B008E9C4-AEE2-7AE7-2289-EAB5CDD2B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36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70F8855B-5636-A200-58CB-8D7CB5FA22D1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dirty="0">
                <a:solidFill>
                  <a:schemeClr val="bg1"/>
                </a:solidFill>
              </a:rPr>
              <a:t>Multivariate statistical analysis – correlation and covariance</a:t>
            </a:r>
            <a:endParaRPr lang="en-US" sz="2800" dirty="0">
              <a:solidFill>
                <a:schemeClr val="bg1"/>
              </a:solidFill>
              <a:latin typeface="Calibri Light"/>
              <a:ea typeface="Arrus BT Roman"/>
              <a:cs typeface="Arrus BT Roman"/>
            </a:endParaRPr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E2815D73-95BD-16C2-24AC-E45536D80B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798" y="834985"/>
            <a:ext cx="6767810" cy="4760598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36B02EF1-562D-795A-487E-80B44B028D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0375" y="1045029"/>
            <a:ext cx="5381625" cy="433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13739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9BACD4-594E-12D1-23DB-DFA47E08A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C686BF33-3FC0-32D3-1BEA-91487A0C9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37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AE479DDB-F66B-7FA9-F9D2-EC1DF354E6F9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dirty="0">
                <a:solidFill>
                  <a:schemeClr val="bg1"/>
                </a:solidFill>
              </a:rPr>
              <a:t>Multivariate statistical analysis – non-linear correlation</a:t>
            </a:r>
            <a:endParaRPr lang="en-US" sz="2800" dirty="0">
              <a:solidFill>
                <a:schemeClr val="bg1"/>
              </a:solidFill>
              <a:latin typeface="Calibri Light"/>
              <a:ea typeface="Arrus BT Roman"/>
              <a:cs typeface="Arrus BT Roman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A49CA43-64AF-91BA-E2C2-9EC432944787}"/>
              </a:ext>
            </a:extLst>
          </p:cNvPr>
          <p:cNvSpPr txBox="1"/>
          <p:nvPr/>
        </p:nvSpPr>
        <p:spPr>
          <a:xfrm>
            <a:off x="0" y="496264"/>
            <a:ext cx="1219199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 err="1"/>
              <a:t>We</a:t>
            </a:r>
            <a:r>
              <a:rPr lang="pt-PT" dirty="0"/>
              <a:t> </a:t>
            </a:r>
            <a:r>
              <a:rPr lang="pt-PT" dirty="0" err="1"/>
              <a:t>have</a:t>
            </a:r>
            <a:r>
              <a:rPr lang="pt-PT" dirty="0"/>
              <a:t> to </a:t>
            </a:r>
            <a:r>
              <a:rPr lang="pt-PT" dirty="0" err="1"/>
              <a:t>be</a:t>
            </a:r>
            <a:r>
              <a:rPr lang="pt-PT" dirty="0"/>
              <a:t> </a:t>
            </a:r>
            <a:r>
              <a:rPr lang="pt-PT" dirty="0" err="1"/>
              <a:t>careful</a:t>
            </a:r>
            <a:r>
              <a:rPr lang="pt-PT" dirty="0"/>
              <a:t> </a:t>
            </a:r>
            <a:r>
              <a:rPr lang="pt-PT" dirty="0" err="1"/>
              <a:t>when</a:t>
            </a:r>
            <a:r>
              <a:rPr lang="pt-PT" dirty="0"/>
              <a:t> </a:t>
            </a:r>
            <a:r>
              <a:rPr lang="pt-PT" dirty="0" err="1"/>
              <a:t>two</a:t>
            </a:r>
            <a:r>
              <a:rPr lang="pt-PT" dirty="0"/>
              <a:t> </a:t>
            </a:r>
            <a:r>
              <a:rPr lang="pt-PT" dirty="0" err="1"/>
              <a:t>variables</a:t>
            </a:r>
            <a:r>
              <a:rPr lang="pt-PT" dirty="0"/>
              <a:t> </a:t>
            </a:r>
            <a:r>
              <a:rPr lang="pt-PT" dirty="0" err="1"/>
              <a:t>have</a:t>
            </a:r>
            <a:r>
              <a:rPr lang="pt-PT" dirty="0"/>
              <a:t> </a:t>
            </a:r>
            <a:r>
              <a:rPr lang="pt-PT" b="1" dirty="0"/>
              <a:t>non-linear </a:t>
            </a:r>
            <a:r>
              <a:rPr lang="pt-PT" b="1" dirty="0" err="1"/>
              <a:t>correlation</a:t>
            </a:r>
            <a:r>
              <a:rPr lang="pt-PT" b="1" dirty="0"/>
              <a:t> </a:t>
            </a:r>
            <a:r>
              <a:rPr lang="pt-PT" dirty="0" err="1"/>
              <a:t>or</a:t>
            </a:r>
            <a:r>
              <a:rPr lang="pt-PT" dirty="0"/>
              <a:t> </a:t>
            </a:r>
            <a:r>
              <a:rPr lang="pt-PT" dirty="0" err="1"/>
              <a:t>there</a:t>
            </a:r>
            <a:r>
              <a:rPr lang="pt-PT" dirty="0"/>
              <a:t> are </a:t>
            </a:r>
            <a:r>
              <a:rPr lang="pt-PT" b="1" dirty="0" err="1"/>
              <a:t>outliers</a:t>
            </a:r>
            <a:r>
              <a:rPr lang="pt-PT" b="1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/>
              <a:t>For </a:t>
            </a:r>
            <a:r>
              <a:rPr lang="pt-PT" dirty="0" err="1"/>
              <a:t>these</a:t>
            </a:r>
            <a:r>
              <a:rPr lang="pt-PT" dirty="0"/>
              <a:t> cases, use </a:t>
            </a:r>
            <a:r>
              <a:rPr lang="pt-PT" b="1" dirty="0" err="1"/>
              <a:t>Spearman</a:t>
            </a:r>
            <a:r>
              <a:rPr lang="pt-PT" b="1" dirty="0"/>
              <a:t> </a:t>
            </a:r>
            <a:r>
              <a:rPr lang="pt-PT" b="1" dirty="0" err="1"/>
              <a:t>correlation</a:t>
            </a:r>
            <a:r>
              <a:rPr lang="pt-PT" b="1" dirty="0"/>
              <a:t> </a:t>
            </a:r>
            <a:r>
              <a:rPr lang="pt-PT" i="1" dirty="0"/>
              <a:t>(</a:t>
            </a:r>
            <a:r>
              <a:rPr lang="pt-PT" i="1" dirty="0" err="1"/>
              <a:t>monotonic</a:t>
            </a:r>
            <a:r>
              <a:rPr lang="pt-PT" i="1" dirty="0"/>
              <a:t> </a:t>
            </a:r>
            <a:r>
              <a:rPr lang="pt-PT" i="1" dirty="0" err="1"/>
              <a:t>correlated</a:t>
            </a:r>
            <a:r>
              <a:rPr lang="pt-PT" i="1" dirty="0"/>
              <a:t> </a:t>
            </a:r>
            <a:r>
              <a:rPr lang="pt-PT" i="1" dirty="0" err="1"/>
              <a:t>variables</a:t>
            </a:r>
            <a:r>
              <a:rPr lang="pt-PT" i="1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i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b="1" i="1" dirty="0" err="1">
                <a:solidFill>
                  <a:srgbClr val="FF0000"/>
                </a:solidFill>
              </a:rPr>
              <a:t>Always</a:t>
            </a:r>
            <a:r>
              <a:rPr lang="pt-PT" b="1" i="1" dirty="0">
                <a:solidFill>
                  <a:srgbClr val="FF0000"/>
                </a:solidFill>
              </a:rPr>
              <a:t> </a:t>
            </a:r>
            <a:r>
              <a:rPr lang="pt-PT" b="1" i="1" dirty="0" err="1">
                <a:solidFill>
                  <a:srgbClr val="FF0000"/>
                </a:solidFill>
              </a:rPr>
              <a:t>try</a:t>
            </a:r>
            <a:r>
              <a:rPr lang="pt-PT" b="1" i="1" dirty="0">
                <a:solidFill>
                  <a:srgbClr val="FF0000"/>
                </a:solidFill>
              </a:rPr>
              <a:t> look </a:t>
            </a:r>
            <a:r>
              <a:rPr lang="pt-PT" b="1" i="1" dirty="0" err="1">
                <a:solidFill>
                  <a:srgbClr val="FF0000"/>
                </a:solidFill>
              </a:rPr>
              <a:t>at</a:t>
            </a:r>
            <a:r>
              <a:rPr lang="pt-PT" b="1" i="1" dirty="0">
                <a:solidFill>
                  <a:srgbClr val="FF0000"/>
                </a:solidFill>
              </a:rPr>
              <a:t> </a:t>
            </a:r>
            <a:r>
              <a:rPr lang="pt-PT" b="1" i="1" dirty="0" err="1">
                <a:solidFill>
                  <a:srgbClr val="FF0000"/>
                </a:solidFill>
              </a:rPr>
              <a:t>the</a:t>
            </a:r>
            <a:r>
              <a:rPr lang="pt-PT" b="1" i="1" dirty="0">
                <a:solidFill>
                  <a:srgbClr val="FF0000"/>
                </a:solidFill>
              </a:rPr>
              <a:t> data, do </a:t>
            </a:r>
            <a:r>
              <a:rPr lang="pt-PT" b="1" i="1" dirty="0" err="1">
                <a:solidFill>
                  <a:srgbClr val="FF0000"/>
                </a:solidFill>
              </a:rPr>
              <a:t>not</a:t>
            </a:r>
            <a:r>
              <a:rPr lang="pt-PT" b="1" i="1" dirty="0">
                <a:solidFill>
                  <a:srgbClr val="FF0000"/>
                </a:solidFill>
              </a:rPr>
              <a:t> base </a:t>
            </a:r>
            <a:r>
              <a:rPr lang="pt-PT" b="1" i="1" dirty="0" err="1">
                <a:solidFill>
                  <a:srgbClr val="FF0000"/>
                </a:solidFill>
              </a:rPr>
              <a:t>decisions</a:t>
            </a:r>
            <a:r>
              <a:rPr lang="pt-PT" b="1" i="1" dirty="0">
                <a:solidFill>
                  <a:srgbClr val="FF0000"/>
                </a:solidFill>
              </a:rPr>
              <a:t> </a:t>
            </a:r>
            <a:r>
              <a:rPr lang="pt-PT" b="1" i="1" dirty="0" err="1">
                <a:solidFill>
                  <a:srgbClr val="FF0000"/>
                </a:solidFill>
              </a:rPr>
              <a:t>solely</a:t>
            </a:r>
            <a:r>
              <a:rPr lang="pt-PT" b="1" i="1" dirty="0">
                <a:solidFill>
                  <a:srgbClr val="FF0000"/>
                </a:solidFill>
              </a:rPr>
              <a:t> </a:t>
            </a:r>
            <a:r>
              <a:rPr lang="pt-PT" b="1" i="1" dirty="0" err="1">
                <a:solidFill>
                  <a:srgbClr val="FF0000"/>
                </a:solidFill>
              </a:rPr>
              <a:t>on</a:t>
            </a:r>
            <a:r>
              <a:rPr lang="pt-PT" b="1" i="1" dirty="0">
                <a:solidFill>
                  <a:srgbClr val="FF0000"/>
                </a:solidFill>
              </a:rPr>
              <a:t> </a:t>
            </a:r>
            <a:r>
              <a:rPr lang="pt-PT" b="1" i="1" dirty="0" err="1">
                <a:solidFill>
                  <a:srgbClr val="FF0000"/>
                </a:solidFill>
              </a:rPr>
              <a:t>correlation</a:t>
            </a:r>
            <a:r>
              <a:rPr lang="pt-PT" b="1" i="1" dirty="0">
                <a:solidFill>
                  <a:srgbClr val="FF0000"/>
                </a:solidFill>
              </a:rPr>
              <a:t> </a:t>
            </a:r>
            <a:r>
              <a:rPr lang="pt-PT" b="1" i="1" dirty="0" err="1">
                <a:solidFill>
                  <a:srgbClr val="FF0000"/>
                </a:solidFill>
              </a:rPr>
              <a:t>coefficients</a:t>
            </a:r>
            <a:endParaRPr lang="en-US" b="1" i="1" dirty="0">
              <a:solidFill>
                <a:srgbClr val="FF0000"/>
              </a:solidFill>
            </a:endParaRPr>
          </a:p>
        </p:txBody>
      </p:sp>
      <p:grpSp>
        <p:nvGrpSpPr>
          <p:cNvPr id="9" name="Agrupar 8">
            <a:extLst>
              <a:ext uri="{FF2B5EF4-FFF2-40B4-BE49-F238E27FC236}">
                <a16:creationId xmlns:a16="http://schemas.microsoft.com/office/drawing/2014/main" id="{8087B8B0-0273-F86E-2CCF-097C01817D58}"/>
              </a:ext>
            </a:extLst>
          </p:cNvPr>
          <p:cNvGrpSpPr/>
          <p:nvPr/>
        </p:nvGrpSpPr>
        <p:grpSpPr>
          <a:xfrm>
            <a:off x="149083" y="1998520"/>
            <a:ext cx="11893828" cy="4488302"/>
            <a:chOff x="298172" y="1587574"/>
            <a:chExt cx="11893828" cy="4488302"/>
          </a:xfrm>
        </p:grpSpPr>
        <p:pic>
          <p:nvPicPr>
            <p:cNvPr id="3" name="Imagem 2">
              <a:extLst>
                <a:ext uri="{FF2B5EF4-FFF2-40B4-BE49-F238E27FC236}">
                  <a16:creationId xmlns:a16="http://schemas.microsoft.com/office/drawing/2014/main" id="{8399E57B-B723-A0E5-B974-FE9BE8E3561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98172" y="1587574"/>
              <a:ext cx="5261113" cy="4192306"/>
            </a:xfrm>
            <a:prstGeom prst="rect">
              <a:avLst/>
            </a:prstGeom>
          </p:spPr>
        </p:pic>
        <p:grpSp>
          <p:nvGrpSpPr>
            <p:cNvPr id="14" name="Agrupar 13">
              <a:extLst>
                <a:ext uri="{FF2B5EF4-FFF2-40B4-BE49-F238E27FC236}">
                  <a16:creationId xmlns:a16="http://schemas.microsoft.com/office/drawing/2014/main" id="{121BE459-C8E9-FC83-7C9B-346E1988518A}"/>
                </a:ext>
              </a:extLst>
            </p:cNvPr>
            <p:cNvGrpSpPr/>
            <p:nvPr/>
          </p:nvGrpSpPr>
          <p:grpSpPr>
            <a:xfrm>
              <a:off x="6330787" y="1587574"/>
              <a:ext cx="5122404" cy="4147142"/>
              <a:chOff x="6231396" y="1905627"/>
              <a:chExt cx="5122404" cy="4147142"/>
            </a:xfrm>
          </p:grpSpPr>
          <p:pic>
            <p:nvPicPr>
              <p:cNvPr id="7" name="Imagem 6">
                <a:extLst>
                  <a:ext uri="{FF2B5EF4-FFF2-40B4-BE49-F238E27FC236}">
                    <a16:creationId xmlns:a16="http://schemas.microsoft.com/office/drawing/2014/main" id="{B4E9EBF9-BEAA-8C21-260F-77C84EE0AA7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231396" y="1905627"/>
                <a:ext cx="5122404" cy="4147142"/>
              </a:xfrm>
              <a:prstGeom prst="rect">
                <a:avLst/>
              </a:prstGeom>
            </p:spPr>
          </p:pic>
          <p:cxnSp>
            <p:nvCxnSpPr>
              <p:cNvPr id="10" name="Conexão reta unidirecional 9">
                <a:extLst>
                  <a:ext uri="{FF2B5EF4-FFF2-40B4-BE49-F238E27FC236}">
                    <a16:creationId xmlns:a16="http://schemas.microsoft.com/office/drawing/2014/main" id="{421C5128-4295-AF27-8475-692EF0282E0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269897" y="2428752"/>
                <a:ext cx="848139" cy="457200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517F2FD1-38F9-CE26-B1CE-38C4B026B8C3}"/>
                  </a:ext>
                </a:extLst>
              </p:cNvPr>
              <p:cNvSpPr txBox="1"/>
              <p:nvPr/>
            </p:nvSpPr>
            <p:spPr>
              <a:xfrm>
                <a:off x="8436885" y="2820201"/>
                <a:ext cx="89452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dirty="0" err="1"/>
                  <a:t>Outlier</a:t>
                </a:r>
                <a:endParaRPr lang="en-US" dirty="0"/>
              </a:p>
            </p:txBody>
          </p:sp>
        </p:grpSp>
        <p:sp>
          <p:nvSpPr>
            <p:cNvPr id="2" name="CaixaDeTexto 1">
              <a:extLst>
                <a:ext uri="{FF2B5EF4-FFF2-40B4-BE49-F238E27FC236}">
                  <a16:creationId xmlns:a16="http://schemas.microsoft.com/office/drawing/2014/main" id="{39C7F90B-48EC-A94B-7647-0FA2C437833B}"/>
                </a:ext>
              </a:extLst>
            </p:cNvPr>
            <p:cNvSpPr txBox="1"/>
            <p:nvPr/>
          </p:nvSpPr>
          <p:spPr>
            <a:xfrm>
              <a:off x="397565" y="5706544"/>
              <a:ext cx="526111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dirty="0" err="1"/>
                <a:t>Pearson</a:t>
              </a:r>
              <a:r>
                <a:rPr lang="pt-PT" dirty="0"/>
                <a:t> </a:t>
              </a:r>
              <a:r>
                <a:rPr lang="pt-PT" dirty="0" err="1"/>
                <a:t>corr</a:t>
              </a:r>
              <a:r>
                <a:rPr lang="pt-PT" dirty="0"/>
                <a:t>. does </a:t>
              </a:r>
              <a:r>
                <a:rPr lang="pt-PT" dirty="0" err="1"/>
                <a:t>not</a:t>
              </a:r>
              <a:r>
                <a:rPr lang="pt-PT" dirty="0"/>
                <a:t> capture non-linear </a:t>
              </a:r>
              <a:r>
                <a:rPr lang="pt-PT" dirty="0" err="1"/>
                <a:t>trend</a:t>
              </a:r>
              <a:endParaRPr lang="en-US" dirty="0"/>
            </a:p>
          </p:txBody>
        </p:sp>
        <p:sp>
          <p:nvSpPr>
            <p:cNvPr id="6" name="CaixaDeTexto 5">
              <a:extLst>
                <a:ext uri="{FF2B5EF4-FFF2-40B4-BE49-F238E27FC236}">
                  <a16:creationId xmlns:a16="http://schemas.microsoft.com/office/drawing/2014/main" id="{10CDB3B9-B9DE-73D4-95DB-E43E11EAC3B7}"/>
                </a:ext>
              </a:extLst>
            </p:cNvPr>
            <p:cNvSpPr txBox="1"/>
            <p:nvPr/>
          </p:nvSpPr>
          <p:spPr>
            <a:xfrm>
              <a:off x="5907594" y="5706544"/>
              <a:ext cx="62844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dirty="0"/>
                <a:t>A single </a:t>
              </a:r>
              <a:r>
                <a:rPr lang="pt-PT" dirty="0" err="1"/>
                <a:t>outlier</a:t>
              </a:r>
              <a:r>
                <a:rPr lang="pt-PT" dirty="0"/>
                <a:t> </a:t>
              </a:r>
              <a:r>
                <a:rPr lang="pt-PT" dirty="0" err="1"/>
                <a:t>changes</a:t>
              </a:r>
              <a:r>
                <a:rPr lang="pt-PT" dirty="0"/>
                <a:t> </a:t>
              </a:r>
              <a:r>
                <a:rPr lang="pt-PT" dirty="0" err="1"/>
                <a:t>the</a:t>
              </a:r>
              <a:r>
                <a:rPr lang="pt-PT" dirty="0"/>
                <a:t> </a:t>
              </a:r>
              <a:r>
                <a:rPr lang="pt-PT" dirty="0" err="1"/>
                <a:t>value</a:t>
              </a:r>
              <a:r>
                <a:rPr lang="pt-PT" dirty="0"/>
                <a:t> </a:t>
              </a:r>
              <a:r>
                <a:rPr lang="pt-PT" dirty="0" err="1"/>
                <a:t>of</a:t>
              </a:r>
              <a:r>
                <a:rPr lang="pt-PT" dirty="0"/>
                <a:t> </a:t>
              </a:r>
              <a:r>
                <a:rPr lang="pt-PT" dirty="0" err="1"/>
                <a:t>Pearson</a:t>
              </a:r>
              <a:r>
                <a:rPr lang="pt-PT" dirty="0"/>
                <a:t> </a:t>
              </a:r>
              <a:r>
                <a:rPr lang="pt-PT" dirty="0" err="1"/>
                <a:t>corr</a:t>
              </a:r>
              <a:r>
                <a:rPr lang="pt-PT" dirty="0"/>
                <a:t>. </a:t>
              </a:r>
              <a:r>
                <a:rPr lang="pt-PT" dirty="0" err="1"/>
                <a:t>coefficient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13155409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C345F9-C919-D22E-FF1C-1737E4E00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5476E3A6-7342-9D14-7BCD-B76DD225E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38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C22315BF-F20C-D0C2-7C22-F0446BBDFEC5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dirty="0">
                <a:solidFill>
                  <a:schemeClr val="bg1"/>
                </a:solidFill>
              </a:rPr>
              <a:t>Multivariate statistical analysis – non-linear correlation</a:t>
            </a:r>
            <a:endParaRPr lang="en-US" sz="2800" dirty="0">
              <a:solidFill>
                <a:schemeClr val="bg1"/>
              </a:solidFill>
              <a:latin typeface="Calibri Light"/>
              <a:ea typeface="Arrus BT Roman"/>
              <a:cs typeface="Arrus BT Roman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5AD66237-0675-8ABC-0A1B-F511731310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9530" y="560492"/>
            <a:ext cx="7956579" cy="2900656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CECDCA7F-8EB6-C3A8-9F2E-C44485403E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9530" y="3550304"/>
            <a:ext cx="8142110" cy="3064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87967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71DF1-8BAC-17C4-F2B9-C13FF4646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45B40B87-5EC1-8D9C-FF90-394F8A46F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39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604ACFC1-6574-568F-C00C-BFCEE86725B2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dirty="0">
                <a:solidFill>
                  <a:schemeClr val="bg1"/>
                </a:solidFill>
              </a:rPr>
              <a:t>Multivariate statistical analysis – Multivariate Normal distribution</a:t>
            </a:r>
            <a:endParaRPr lang="en-US" sz="2800" dirty="0">
              <a:solidFill>
                <a:schemeClr val="bg1"/>
              </a:solidFill>
              <a:latin typeface="Calibri Light"/>
              <a:ea typeface="Arrus BT Roman"/>
              <a:cs typeface="Arrus BT Roman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4E83B7D-91B9-452C-898B-A5C0753CD0F5}"/>
              </a:ext>
            </a:extLst>
          </p:cNvPr>
          <p:cNvSpPr txBox="1"/>
          <p:nvPr/>
        </p:nvSpPr>
        <p:spPr>
          <a:xfrm>
            <a:off x="0" y="742936"/>
            <a:ext cx="1219199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000" dirty="0" err="1"/>
              <a:t>Multivariate</a:t>
            </a:r>
            <a:r>
              <a:rPr lang="pt-PT" sz="2000" dirty="0"/>
              <a:t> normal </a:t>
            </a:r>
            <a:r>
              <a:rPr lang="pt-PT" sz="2000" dirty="0" err="1"/>
              <a:t>distribution</a:t>
            </a:r>
            <a:r>
              <a:rPr lang="pt-PT" sz="2000" dirty="0"/>
              <a:t> </a:t>
            </a:r>
            <a:r>
              <a:rPr lang="pt-PT" sz="2000" dirty="0" err="1"/>
              <a:t>is</a:t>
            </a:r>
            <a:r>
              <a:rPr lang="pt-PT" sz="2000" dirty="0"/>
              <a:t> </a:t>
            </a:r>
            <a:r>
              <a:rPr lang="pt-PT" sz="2000" dirty="0" err="1"/>
              <a:t>an</a:t>
            </a:r>
            <a:r>
              <a:rPr lang="pt-PT" sz="2000" dirty="0"/>
              <a:t> </a:t>
            </a:r>
            <a:r>
              <a:rPr lang="pt-PT" sz="2000" dirty="0" err="1"/>
              <a:t>extension</a:t>
            </a:r>
            <a:r>
              <a:rPr lang="pt-PT" sz="2000" dirty="0"/>
              <a:t> </a:t>
            </a:r>
            <a:r>
              <a:rPr lang="pt-PT" sz="2000" dirty="0" err="1"/>
              <a:t>of</a:t>
            </a:r>
            <a:r>
              <a:rPr lang="pt-PT" sz="2000" dirty="0"/>
              <a:t> </a:t>
            </a:r>
            <a:r>
              <a:rPr lang="pt-PT" sz="2000" dirty="0" err="1"/>
              <a:t>the</a:t>
            </a:r>
            <a:r>
              <a:rPr lang="pt-PT" sz="2000" dirty="0"/>
              <a:t> normal </a:t>
            </a:r>
            <a:r>
              <a:rPr lang="pt-PT" sz="2000" dirty="0" err="1"/>
              <a:t>distribution</a:t>
            </a:r>
            <a:r>
              <a:rPr lang="pt-PT" sz="2000" dirty="0"/>
              <a:t> to 2 </a:t>
            </a:r>
            <a:r>
              <a:rPr lang="pt-PT" sz="2000" dirty="0" err="1"/>
              <a:t>or</a:t>
            </a:r>
            <a:r>
              <a:rPr lang="pt-PT" sz="2000" dirty="0"/>
              <a:t> more </a:t>
            </a:r>
            <a:r>
              <a:rPr lang="pt-PT" sz="2000" dirty="0" err="1"/>
              <a:t>random</a:t>
            </a:r>
            <a:r>
              <a:rPr lang="pt-PT" sz="2000" dirty="0"/>
              <a:t> </a:t>
            </a:r>
            <a:r>
              <a:rPr lang="pt-PT" sz="2000" dirty="0" err="1"/>
              <a:t>variables</a:t>
            </a:r>
            <a:endParaRPr lang="pt-PT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000" dirty="0" err="1"/>
              <a:t>Instead</a:t>
            </a:r>
            <a:r>
              <a:rPr lang="pt-PT" sz="2000" dirty="0"/>
              <a:t> </a:t>
            </a:r>
            <a:r>
              <a:rPr lang="pt-PT" sz="2000" dirty="0" err="1"/>
              <a:t>of</a:t>
            </a:r>
            <a:r>
              <a:rPr lang="pt-PT" sz="2000" dirty="0"/>
              <a:t> a single </a:t>
            </a:r>
            <a:r>
              <a:rPr lang="pt-PT" sz="2000" dirty="0" err="1"/>
              <a:t>mean</a:t>
            </a:r>
            <a:r>
              <a:rPr lang="pt-PT" sz="2000" dirty="0"/>
              <a:t> </a:t>
            </a:r>
            <a:r>
              <a:rPr lang="pt-PT" sz="2000" dirty="0" err="1"/>
              <a:t>and</a:t>
            </a:r>
            <a:r>
              <a:rPr lang="pt-PT" sz="2000" dirty="0"/>
              <a:t> standard </a:t>
            </a:r>
            <a:r>
              <a:rPr lang="pt-PT" sz="2000" dirty="0" err="1"/>
              <a:t>deviation</a:t>
            </a:r>
            <a:r>
              <a:rPr lang="pt-PT" sz="2000" dirty="0"/>
              <a:t>, </a:t>
            </a:r>
            <a:r>
              <a:rPr lang="pt-PT" sz="2000" dirty="0" err="1"/>
              <a:t>we</a:t>
            </a:r>
            <a:r>
              <a:rPr lang="pt-PT" sz="2000" dirty="0"/>
              <a:t> </a:t>
            </a:r>
            <a:r>
              <a:rPr lang="pt-PT" sz="2000" dirty="0" err="1"/>
              <a:t>have</a:t>
            </a:r>
            <a:r>
              <a:rPr lang="pt-PT" sz="2000" dirty="0"/>
              <a:t> a </a:t>
            </a:r>
            <a:r>
              <a:rPr lang="pt-PT" sz="2000" b="1" dirty="0" err="1"/>
              <a:t>mean</a:t>
            </a:r>
            <a:r>
              <a:rPr lang="pt-PT" sz="2000" b="1" dirty="0"/>
              <a:t> </a:t>
            </a:r>
            <a:r>
              <a:rPr lang="pt-PT" sz="2000" b="1" dirty="0" err="1"/>
              <a:t>vector</a:t>
            </a:r>
            <a:r>
              <a:rPr lang="pt-PT" sz="2000" b="1" dirty="0"/>
              <a:t> </a:t>
            </a:r>
            <a:r>
              <a:rPr lang="pt-PT" sz="2000" b="1" dirty="0" err="1"/>
              <a:t>and</a:t>
            </a:r>
            <a:r>
              <a:rPr lang="pt-PT" sz="2000" b="1" dirty="0"/>
              <a:t> </a:t>
            </a:r>
            <a:r>
              <a:rPr lang="pt-PT" sz="2000" b="1" dirty="0" err="1"/>
              <a:t>covariance</a:t>
            </a:r>
            <a:r>
              <a:rPr lang="pt-PT" sz="2000" b="1" dirty="0"/>
              <a:t> </a:t>
            </a:r>
            <a:r>
              <a:rPr lang="pt-PT" sz="2000" b="1" dirty="0" err="1"/>
              <a:t>matrix</a:t>
            </a:r>
            <a:endParaRPr lang="pt-PT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000" dirty="0" err="1"/>
              <a:t>It</a:t>
            </a:r>
            <a:r>
              <a:rPr lang="pt-PT" sz="2000" dirty="0"/>
              <a:t> </a:t>
            </a:r>
            <a:r>
              <a:rPr lang="pt-PT" sz="2000" dirty="0" err="1"/>
              <a:t>gives</a:t>
            </a:r>
            <a:r>
              <a:rPr lang="pt-PT" sz="2000" dirty="0"/>
              <a:t> </a:t>
            </a:r>
            <a:r>
              <a:rPr lang="pt-PT" sz="2000" dirty="0" err="1"/>
              <a:t>the</a:t>
            </a:r>
            <a:r>
              <a:rPr lang="pt-PT" sz="2000" dirty="0"/>
              <a:t> </a:t>
            </a:r>
            <a:r>
              <a:rPr lang="pt-PT" sz="2000" b="1" dirty="0" err="1"/>
              <a:t>joint</a:t>
            </a:r>
            <a:r>
              <a:rPr lang="pt-PT" sz="2000" b="1" dirty="0"/>
              <a:t> </a:t>
            </a:r>
            <a:r>
              <a:rPr lang="pt-PT" sz="2000" b="1" dirty="0" err="1"/>
              <a:t>probability</a:t>
            </a:r>
            <a:r>
              <a:rPr lang="pt-PT" sz="2000" b="1" dirty="0"/>
              <a:t> </a:t>
            </a:r>
            <a:r>
              <a:rPr lang="pt-PT" sz="2000" dirty="0"/>
              <a:t>for na </a:t>
            </a:r>
            <a:r>
              <a:rPr lang="pt-PT" sz="2000" dirty="0" err="1"/>
              <a:t>arbitrary</a:t>
            </a:r>
            <a:r>
              <a:rPr lang="pt-PT" sz="2000" dirty="0"/>
              <a:t> </a:t>
            </a:r>
            <a:r>
              <a:rPr lang="pt-PT" sz="2000" dirty="0" err="1"/>
              <a:t>number</a:t>
            </a:r>
            <a:r>
              <a:rPr lang="pt-PT" sz="2000" dirty="0"/>
              <a:t> </a:t>
            </a:r>
            <a:r>
              <a:rPr lang="pt-PT" sz="2000" dirty="0" err="1"/>
              <a:t>of</a:t>
            </a:r>
            <a:r>
              <a:rPr lang="pt-PT" sz="2000" dirty="0"/>
              <a:t> K </a:t>
            </a:r>
            <a:r>
              <a:rPr lang="pt-PT" sz="2000" dirty="0" err="1"/>
              <a:t>variables</a:t>
            </a:r>
            <a:endParaRPr lang="en-US" sz="2000" dirty="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4A76761B-C745-1C2E-20D1-D7359F6FA3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5750" y="2365375"/>
            <a:ext cx="4152900" cy="399097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7D668C65-312B-A370-5A49-6E077D3DA4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9752" y="2645752"/>
            <a:ext cx="2244564" cy="535505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92A0B56C-2DB3-D538-9BC5-AF9D874C82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367" y="2726761"/>
            <a:ext cx="2614394" cy="373485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BDB9370B-3D0E-E1F0-A155-2B4DC69F0B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" y="3618732"/>
            <a:ext cx="7335355" cy="1493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957434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8AEC3-D358-790D-5387-F378278E6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9AD96354-C038-A2DE-4D92-00D847344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40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B84B04D4-5F0B-C3D4-6AE0-E19099C0B6CE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dirty="0">
                <a:solidFill>
                  <a:schemeClr val="bg1"/>
                </a:solidFill>
              </a:rPr>
              <a:t>Multivariate statistical analysis – Multivariate Normal distribution</a:t>
            </a:r>
            <a:endParaRPr lang="en-US" sz="2800" dirty="0">
              <a:solidFill>
                <a:schemeClr val="bg1"/>
              </a:solidFill>
              <a:latin typeface="Calibri Light"/>
              <a:ea typeface="Arrus BT Roman"/>
              <a:cs typeface="Arrus BT Roman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602D270-B4EC-FD6F-252C-44AD65053C6E}"/>
              </a:ext>
            </a:extLst>
          </p:cNvPr>
          <p:cNvSpPr txBox="1"/>
          <p:nvPr/>
        </p:nvSpPr>
        <p:spPr>
          <a:xfrm>
            <a:off x="59635" y="1345910"/>
            <a:ext cx="32004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 err="1"/>
              <a:t>Create</a:t>
            </a:r>
            <a:r>
              <a:rPr lang="pt-PT" dirty="0"/>
              <a:t> a </a:t>
            </a:r>
            <a:r>
              <a:rPr lang="pt-PT" dirty="0" err="1"/>
              <a:t>helper</a:t>
            </a:r>
            <a:r>
              <a:rPr lang="pt-PT" dirty="0"/>
              <a:t> </a:t>
            </a:r>
            <a:r>
              <a:rPr lang="pt-PT" dirty="0" err="1"/>
              <a:t>function</a:t>
            </a:r>
            <a:r>
              <a:rPr lang="pt-PT" dirty="0"/>
              <a:t> for </a:t>
            </a:r>
            <a:r>
              <a:rPr lang="pt-PT" dirty="0" err="1"/>
              <a:t>generating</a:t>
            </a:r>
            <a:r>
              <a:rPr lang="pt-PT" dirty="0"/>
              <a:t> data </a:t>
            </a:r>
            <a:r>
              <a:rPr lang="pt-PT" dirty="0" err="1"/>
              <a:t>from</a:t>
            </a:r>
            <a:r>
              <a:rPr lang="pt-PT" dirty="0"/>
              <a:t> a </a:t>
            </a:r>
            <a:r>
              <a:rPr lang="pt-PT" dirty="0" err="1"/>
              <a:t>Multivariate</a:t>
            </a:r>
            <a:r>
              <a:rPr lang="pt-PT" dirty="0"/>
              <a:t> Normal </a:t>
            </a:r>
            <a:r>
              <a:rPr lang="pt-PT" dirty="0" err="1"/>
              <a:t>distribution</a:t>
            </a:r>
            <a:endParaRPr lang="pt-PT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 err="1"/>
              <a:t>This</a:t>
            </a:r>
            <a:r>
              <a:rPr lang="pt-PT" dirty="0"/>
              <a:t> </a:t>
            </a:r>
            <a:r>
              <a:rPr lang="pt-PT" dirty="0" err="1"/>
              <a:t>will</a:t>
            </a:r>
            <a:r>
              <a:rPr lang="pt-PT" dirty="0"/>
              <a:t> </a:t>
            </a:r>
            <a:r>
              <a:rPr lang="pt-PT" dirty="0" err="1"/>
              <a:t>be</a:t>
            </a:r>
            <a:r>
              <a:rPr lang="pt-PT" dirty="0"/>
              <a:t> </a:t>
            </a:r>
            <a:r>
              <a:rPr lang="pt-PT" dirty="0" err="1"/>
              <a:t>useful</a:t>
            </a:r>
            <a:r>
              <a:rPr lang="pt-PT" dirty="0"/>
              <a:t> for </a:t>
            </a:r>
            <a:r>
              <a:rPr lang="pt-PT" dirty="0" err="1"/>
              <a:t>next</a:t>
            </a:r>
            <a:r>
              <a:rPr lang="pt-PT" dirty="0"/>
              <a:t> slides</a:t>
            </a:r>
            <a:endParaRPr lang="en-US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F4BC0285-E0AF-62AE-50E6-209E1ACA26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401" y="537587"/>
            <a:ext cx="6561311" cy="6320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52002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88546-AE17-1B51-0CD1-C7C24DA77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A7DE831A-DE4A-BCF4-13C9-F3EE4528E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41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113F2541-EED0-E215-9A24-A517B069EFDE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dirty="0">
                <a:solidFill>
                  <a:schemeClr val="bg1"/>
                </a:solidFill>
              </a:rPr>
              <a:t>Multivariate statistical analysis – Multivariate Normal distribution</a:t>
            </a:r>
            <a:endParaRPr lang="en-US" sz="2800" dirty="0">
              <a:solidFill>
                <a:schemeClr val="bg1"/>
              </a:solidFill>
              <a:latin typeface="Calibri Light"/>
              <a:ea typeface="Arrus BT Roman"/>
              <a:cs typeface="Arrus BT Roman"/>
            </a:endParaRPr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9AEEFB28-CBEE-143D-7478-E704DAA5DD69}"/>
              </a:ext>
            </a:extLst>
          </p:cNvPr>
          <p:cNvGrpSpPr/>
          <p:nvPr/>
        </p:nvGrpSpPr>
        <p:grpSpPr>
          <a:xfrm>
            <a:off x="4361543" y="590386"/>
            <a:ext cx="7576930" cy="2987701"/>
            <a:chOff x="3578473" y="583760"/>
            <a:chExt cx="7775327" cy="3111156"/>
          </a:xfrm>
        </p:grpSpPr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D8E3CC9F-A1BF-62F1-BB16-43B18554181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578473" y="597405"/>
              <a:ext cx="3863304" cy="3083865"/>
            </a:xfrm>
            <a:prstGeom prst="rect">
              <a:avLst/>
            </a:prstGeom>
          </p:spPr>
        </p:pic>
        <p:pic>
          <p:nvPicPr>
            <p:cNvPr id="3" name="Imagem 2">
              <a:extLst>
                <a:ext uri="{FF2B5EF4-FFF2-40B4-BE49-F238E27FC236}">
                  <a16:creationId xmlns:a16="http://schemas.microsoft.com/office/drawing/2014/main" id="{2A70F4CB-3D41-B0C9-4532-C4874E1CBD6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490496" y="583760"/>
              <a:ext cx="3863304" cy="3111156"/>
            </a:xfrm>
            <a:prstGeom prst="rect">
              <a:avLst/>
            </a:prstGeom>
          </p:spPr>
        </p:pic>
      </p:grp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6C4CAA67-0E45-3826-D323-01F0C2302021}"/>
              </a:ext>
            </a:extLst>
          </p:cNvPr>
          <p:cNvGrpSpPr/>
          <p:nvPr/>
        </p:nvGrpSpPr>
        <p:grpSpPr>
          <a:xfrm>
            <a:off x="4454906" y="3578087"/>
            <a:ext cx="7437680" cy="2914442"/>
            <a:chOff x="2429071" y="3681270"/>
            <a:chExt cx="7262920" cy="2957011"/>
          </a:xfrm>
        </p:grpSpPr>
        <p:pic>
          <p:nvPicPr>
            <p:cNvPr id="9" name="Imagem 8">
              <a:extLst>
                <a:ext uri="{FF2B5EF4-FFF2-40B4-BE49-F238E27FC236}">
                  <a16:creationId xmlns:a16="http://schemas.microsoft.com/office/drawing/2014/main" id="{51ECE812-A577-9C2E-67B6-0CBEEC6CDD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429071" y="3724147"/>
              <a:ext cx="3644269" cy="2914134"/>
            </a:xfrm>
            <a:prstGeom prst="rect">
              <a:avLst/>
            </a:prstGeom>
          </p:spPr>
        </p:pic>
        <p:pic>
          <p:nvPicPr>
            <p:cNvPr id="11" name="Imagem 10">
              <a:extLst>
                <a:ext uri="{FF2B5EF4-FFF2-40B4-BE49-F238E27FC236}">
                  <a16:creationId xmlns:a16="http://schemas.microsoft.com/office/drawing/2014/main" id="{60F03047-3381-A6EE-5B6B-7C9FF6B15CF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073340" y="3681270"/>
              <a:ext cx="3618651" cy="2914135"/>
            </a:xfrm>
            <a:prstGeom prst="rect">
              <a:avLst/>
            </a:prstGeom>
          </p:spPr>
        </p:pic>
      </p:grpSp>
      <p:pic>
        <p:nvPicPr>
          <p:cNvPr id="6" name="Imagem 5">
            <a:extLst>
              <a:ext uri="{FF2B5EF4-FFF2-40B4-BE49-F238E27FC236}">
                <a16:creationId xmlns:a16="http://schemas.microsoft.com/office/drawing/2014/main" id="{C2B6062B-226D-BE90-587C-DB25796DC76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49736"/>
          <a:stretch>
            <a:fillRect/>
          </a:stretch>
        </p:blipFill>
        <p:spPr>
          <a:xfrm>
            <a:off x="386794" y="821850"/>
            <a:ext cx="3849728" cy="923886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5BC22371-446C-EB06-7F3C-E0A2FBC18C8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61067"/>
          <a:stretch>
            <a:fillRect/>
          </a:stretch>
        </p:blipFill>
        <p:spPr>
          <a:xfrm>
            <a:off x="386794" y="3743739"/>
            <a:ext cx="3849728" cy="715618"/>
          </a:xfrm>
          <a:prstGeom prst="rect">
            <a:avLst/>
          </a:prstGeom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A5226F48-0833-0183-B8F7-E10501D137A4}"/>
              </a:ext>
            </a:extLst>
          </p:cNvPr>
          <p:cNvSpPr txBox="1"/>
          <p:nvPr/>
        </p:nvSpPr>
        <p:spPr>
          <a:xfrm>
            <a:off x="0" y="4879023"/>
            <a:ext cx="44549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 err="1"/>
              <a:t>Increasing</a:t>
            </a:r>
            <a:r>
              <a:rPr lang="pt-PT" dirty="0"/>
              <a:t> </a:t>
            </a:r>
            <a:r>
              <a:rPr lang="pt-PT" dirty="0" err="1"/>
              <a:t>the</a:t>
            </a:r>
            <a:r>
              <a:rPr lang="pt-PT" dirty="0"/>
              <a:t> diagonal </a:t>
            </a:r>
            <a:r>
              <a:rPr lang="pt-PT" dirty="0" err="1"/>
              <a:t>elements</a:t>
            </a:r>
            <a:r>
              <a:rPr lang="pt-PT" dirty="0"/>
              <a:t> </a:t>
            </a:r>
            <a:r>
              <a:rPr lang="pt-PT" dirty="0" err="1"/>
              <a:t>of</a:t>
            </a:r>
            <a:r>
              <a:rPr lang="pt-PT" dirty="0"/>
              <a:t> </a:t>
            </a:r>
            <a:r>
              <a:rPr lang="pt-PT" dirty="0" err="1"/>
              <a:t>the</a:t>
            </a:r>
            <a:r>
              <a:rPr lang="pt-PT" dirty="0"/>
              <a:t> </a:t>
            </a:r>
            <a:r>
              <a:rPr lang="pt-PT" dirty="0" err="1"/>
              <a:t>covariance</a:t>
            </a:r>
            <a:r>
              <a:rPr lang="pt-PT" dirty="0"/>
              <a:t> </a:t>
            </a:r>
            <a:r>
              <a:rPr lang="pt-PT" dirty="0" err="1"/>
              <a:t>matrix</a:t>
            </a:r>
            <a:r>
              <a:rPr lang="pt-PT" dirty="0"/>
              <a:t> “spreads” </a:t>
            </a:r>
            <a:r>
              <a:rPr lang="pt-PT" dirty="0" err="1"/>
              <a:t>the</a:t>
            </a:r>
            <a:r>
              <a:rPr lang="pt-PT" dirty="0"/>
              <a:t>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/>
              <a:t>Data </a:t>
            </a:r>
            <a:r>
              <a:rPr lang="pt-PT" dirty="0" err="1"/>
              <a:t>is</a:t>
            </a:r>
            <a:r>
              <a:rPr lang="pt-PT" dirty="0"/>
              <a:t> </a:t>
            </a:r>
            <a:r>
              <a:rPr lang="pt-PT" dirty="0" err="1"/>
              <a:t>still</a:t>
            </a:r>
            <a:r>
              <a:rPr lang="pt-PT" dirty="0"/>
              <a:t> </a:t>
            </a:r>
            <a:r>
              <a:rPr lang="pt-PT" dirty="0" err="1"/>
              <a:t>uncorrelated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02390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43A3F0-2375-519A-DF02-81F1C9B03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EB377444-5595-C9A5-A580-3D66B7FA3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42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45F6996B-2434-F7A6-F742-ED8DAB5BBB4B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dirty="0">
                <a:solidFill>
                  <a:schemeClr val="bg1"/>
                </a:solidFill>
              </a:rPr>
              <a:t>Multivariate statistical analysis – Multivariate Normal distribution</a:t>
            </a:r>
            <a:endParaRPr lang="en-US" sz="2800" dirty="0">
              <a:solidFill>
                <a:schemeClr val="bg1"/>
              </a:solidFill>
              <a:latin typeface="Calibri Light"/>
              <a:ea typeface="Arrus BT Roman"/>
              <a:cs typeface="Arrus BT Roman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2C34A793-CBC1-F64A-2099-11C1A011D3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2503"/>
          <a:stretch>
            <a:fillRect/>
          </a:stretch>
        </p:blipFill>
        <p:spPr>
          <a:xfrm>
            <a:off x="86395" y="1095071"/>
            <a:ext cx="4038950" cy="1191812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DC8765F5-04B0-D91D-EF90-B369E99EDD5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9979" r="28964" b="-606"/>
          <a:stretch>
            <a:fillRect/>
          </a:stretch>
        </p:blipFill>
        <p:spPr>
          <a:xfrm>
            <a:off x="255088" y="3732764"/>
            <a:ext cx="3684104" cy="815178"/>
          </a:xfrm>
          <a:prstGeom prst="rect">
            <a:avLst/>
          </a:prstGeom>
        </p:spPr>
      </p:pic>
      <p:grpSp>
        <p:nvGrpSpPr>
          <p:cNvPr id="13" name="Agrupar 12">
            <a:extLst>
              <a:ext uri="{FF2B5EF4-FFF2-40B4-BE49-F238E27FC236}">
                <a16:creationId xmlns:a16="http://schemas.microsoft.com/office/drawing/2014/main" id="{53629E17-FA54-41D2-EEAD-224A5C456486}"/>
              </a:ext>
            </a:extLst>
          </p:cNvPr>
          <p:cNvGrpSpPr/>
          <p:nvPr/>
        </p:nvGrpSpPr>
        <p:grpSpPr>
          <a:xfrm>
            <a:off x="4125345" y="508690"/>
            <a:ext cx="7909207" cy="3224074"/>
            <a:chOff x="4191605" y="578543"/>
            <a:chExt cx="7909207" cy="3224074"/>
          </a:xfrm>
        </p:grpSpPr>
        <p:pic>
          <p:nvPicPr>
            <p:cNvPr id="9" name="Imagem 8">
              <a:extLst>
                <a:ext uri="{FF2B5EF4-FFF2-40B4-BE49-F238E27FC236}">
                  <a16:creationId xmlns:a16="http://schemas.microsoft.com/office/drawing/2014/main" id="{56AB437D-60D8-8D0C-5668-F7A4C0F8D5A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191605" y="578543"/>
              <a:ext cx="4038950" cy="3224074"/>
            </a:xfrm>
            <a:prstGeom prst="rect">
              <a:avLst/>
            </a:prstGeom>
          </p:spPr>
        </p:pic>
        <p:pic>
          <p:nvPicPr>
            <p:cNvPr id="11" name="Imagem 10">
              <a:extLst>
                <a:ext uri="{FF2B5EF4-FFF2-40B4-BE49-F238E27FC236}">
                  <a16:creationId xmlns:a16="http://schemas.microsoft.com/office/drawing/2014/main" id="{CBCA4BE4-39EA-3C59-DCC4-B5FF77D8B6B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230555" y="578543"/>
              <a:ext cx="3870257" cy="3116756"/>
            </a:xfrm>
            <a:prstGeom prst="rect">
              <a:avLst/>
            </a:prstGeom>
          </p:spPr>
        </p:pic>
      </p:grpSp>
      <p:grpSp>
        <p:nvGrpSpPr>
          <p:cNvPr id="20" name="Agrupar 19">
            <a:extLst>
              <a:ext uri="{FF2B5EF4-FFF2-40B4-BE49-F238E27FC236}">
                <a16:creationId xmlns:a16="http://schemas.microsoft.com/office/drawing/2014/main" id="{7F540145-1EEB-C3C9-D798-6EBCC4C33C82}"/>
              </a:ext>
            </a:extLst>
          </p:cNvPr>
          <p:cNvGrpSpPr/>
          <p:nvPr/>
        </p:nvGrpSpPr>
        <p:grpSpPr>
          <a:xfrm>
            <a:off x="4282789" y="3634002"/>
            <a:ext cx="7751763" cy="3125815"/>
            <a:chOff x="4282789" y="3634002"/>
            <a:chExt cx="7751763" cy="3125815"/>
          </a:xfrm>
        </p:grpSpPr>
        <p:pic>
          <p:nvPicPr>
            <p:cNvPr id="17" name="Imagem 16">
              <a:extLst>
                <a:ext uri="{FF2B5EF4-FFF2-40B4-BE49-F238E27FC236}">
                  <a16:creationId xmlns:a16="http://schemas.microsoft.com/office/drawing/2014/main" id="{DA6D1871-1D5C-3F2D-9CC2-A5C70CB1E7D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282789" y="3634002"/>
              <a:ext cx="3870256" cy="3089415"/>
            </a:xfrm>
            <a:prstGeom prst="rect">
              <a:avLst/>
            </a:prstGeom>
          </p:spPr>
        </p:pic>
        <p:pic>
          <p:nvPicPr>
            <p:cNvPr id="19" name="Imagem 18">
              <a:extLst>
                <a:ext uri="{FF2B5EF4-FFF2-40B4-BE49-F238E27FC236}">
                  <a16:creationId xmlns:a16="http://schemas.microsoft.com/office/drawing/2014/main" id="{70CD806B-3875-926C-BCB9-24EF9AD8018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153046" y="3634002"/>
              <a:ext cx="3881506" cy="3125815"/>
            </a:xfrm>
            <a:prstGeom prst="rect">
              <a:avLst/>
            </a:prstGeom>
          </p:spPr>
        </p:pic>
      </p:grp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5A09AAE7-45BA-CA01-F152-EC31184EEC95}"/>
              </a:ext>
            </a:extLst>
          </p:cNvPr>
          <p:cNvSpPr txBox="1"/>
          <p:nvPr/>
        </p:nvSpPr>
        <p:spPr>
          <a:xfrm>
            <a:off x="0" y="4879023"/>
            <a:ext cx="44549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 err="1"/>
              <a:t>Changing</a:t>
            </a:r>
            <a:r>
              <a:rPr lang="pt-PT" dirty="0"/>
              <a:t> </a:t>
            </a:r>
            <a:r>
              <a:rPr lang="pt-PT" dirty="0" err="1"/>
              <a:t>the</a:t>
            </a:r>
            <a:r>
              <a:rPr lang="pt-PT" dirty="0"/>
              <a:t> </a:t>
            </a:r>
            <a:r>
              <a:rPr lang="pt-PT" dirty="0" err="1"/>
              <a:t>off</a:t>
            </a:r>
            <a:r>
              <a:rPr lang="pt-PT" dirty="0"/>
              <a:t>-diagonal </a:t>
            </a:r>
            <a:r>
              <a:rPr lang="pt-PT" dirty="0" err="1"/>
              <a:t>elements</a:t>
            </a:r>
            <a:r>
              <a:rPr lang="pt-PT" dirty="0"/>
              <a:t> “</a:t>
            </a:r>
            <a:r>
              <a:rPr lang="en-US" dirty="0"/>
              <a:t>manipulates” the correlation direction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98101290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022DF-B9B2-AD3F-D546-56912FF7C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273BD7-AE5F-8CF8-7166-78D9AE0E97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7057" y="2432947"/>
            <a:ext cx="9597886" cy="1992106"/>
          </a:xfrm>
          <a:solidFill>
            <a:schemeClr val="tx2">
              <a:lumMod val="50000"/>
              <a:lumOff val="50000"/>
            </a:schemeClr>
          </a:solidFill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chemeClr val="bg1"/>
                </a:solidFill>
              </a:rPr>
              <a:t>Part 4:</a:t>
            </a:r>
            <a:br>
              <a:rPr lang="en-US" sz="4800" b="1" dirty="0">
                <a:solidFill>
                  <a:schemeClr val="bg1"/>
                </a:solidFill>
              </a:rPr>
            </a:br>
            <a:r>
              <a:rPr lang="en-US" sz="4800" b="1" dirty="0">
                <a:solidFill>
                  <a:schemeClr val="bg1"/>
                </a:solidFill>
              </a:rPr>
              <a:t>Principal Component Analysis and applications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8" name="Marcador de Posição do Número do Diapositivo 7">
            <a:extLst>
              <a:ext uri="{FF2B5EF4-FFF2-40B4-BE49-F238E27FC236}">
                <a16:creationId xmlns:a16="http://schemas.microsoft.com/office/drawing/2014/main" id="{BE2655E9-0B11-C080-EB99-0FAAF9117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43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685330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DBC21-CD89-E64E-9CE0-A7909BF1A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C229EFB3-C9E1-DAF2-DDCD-CE72E6BDE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44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22796735-1AB7-B06B-2AD7-9262272A56C5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PT" sz="2800" b="1" i="0" u="none" strike="noStrike" kern="1200" cap="none" spc="0" baseline="0" dirty="0" err="1">
                <a:solidFill>
                  <a:schemeClr val="bg1"/>
                </a:solidFill>
                <a:uFillTx/>
                <a:latin typeface="Calibri Light"/>
                <a:ea typeface="Arrus BT Roman"/>
                <a:cs typeface="Arrus BT Roman"/>
              </a:rPr>
              <a:t>Advanced</a:t>
            </a:r>
            <a:r>
              <a:rPr lang="pt-PT" sz="2800" b="1" i="0" u="none" strike="noStrike" kern="1200" cap="none" spc="0" baseline="0" dirty="0">
                <a:solidFill>
                  <a:schemeClr val="bg1"/>
                </a:solidFill>
                <a:uFillTx/>
                <a:latin typeface="Calibri Light"/>
                <a:ea typeface="Arrus BT Roman"/>
                <a:cs typeface="Arrus BT Roman"/>
              </a:rPr>
              <a:t> </a:t>
            </a:r>
            <a:r>
              <a:rPr lang="pt-PT" sz="2800" b="1" i="0" u="none" strike="noStrike" kern="1200" cap="none" spc="0" baseline="0" dirty="0" err="1">
                <a:solidFill>
                  <a:schemeClr val="bg1"/>
                </a:solidFill>
                <a:uFillTx/>
                <a:latin typeface="Calibri Light"/>
                <a:ea typeface="Arrus BT Roman"/>
                <a:cs typeface="Arrus BT Roman"/>
              </a:rPr>
              <a:t>correlation</a:t>
            </a:r>
            <a:r>
              <a:rPr lang="pt-PT" sz="2800" b="1" i="0" u="none" strike="noStrike" kern="1200" cap="none" spc="0" baseline="0" dirty="0">
                <a:solidFill>
                  <a:schemeClr val="bg1"/>
                </a:solidFill>
                <a:uFillTx/>
                <a:latin typeface="Calibri Light"/>
                <a:ea typeface="Arrus BT Roman"/>
                <a:cs typeface="Arrus BT Roman"/>
              </a:rPr>
              <a:t> </a:t>
            </a:r>
            <a:r>
              <a:rPr lang="pt-PT" sz="2800" b="1" i="0" u="none" strike="noStrike" kern="1200" cap="none" spc="0" baseline="0" dirty="0" err="1">
                <a:solidFill>
                  <a:schemeClr val="bg1"/>
                </a:solidFill>
                <a:uFillTx/>
                <a:latin typeface="Calibri Light"/>
                <a:ea typeface="Arrus BT Roman"/>
                <a:cs typeface="Arrus BT Roman"/>
              </a:rPr>
              <a:t>plots</a:t>
            </a:r>
            <a:r>
              <a:rPr lang="pt-PT" sz="2800" b="1" i="0" u="none" strike="noStrike" kern="1200" cap="none" spc="0" baseline="0" dirty="0">
                <a:solidFill>
                  <a:schemeClr val="bg1"/>
                </a:solidFill>
                <a:uFillTx/>
                <a:latin typeface="Calibri Light"/>
                <a:ea typeface="Arrus BT Roman"/>
                <a:cs typeface="Arrus BT Roman"/>
              </a:rPr>
              <a:t> </a:t>
            </a:r>
            <a:r>
              <a:rPr lang="pt-PT" sz="2800" b="1" i="0" u="none" strike="noStrike" kern="1200" cap="none" spc="0" baseline="0" dirty="0" err="1">
                <a:solidFill>
                  <a:schemeClr val="bg1"/>
                </a:solidFill>
                <a:uFillTx/>
                <a:latin typeface="Calibri Light"/>
                <a:ea typeface="Arrus BT Roman"/>
                <a:cs typeface="Arrus BT Roman"/>
              </a:rPr>
              <a:t>with</a:t>
            </a:r>
            <a:r>
              <a:rPr lang="pt-PT" sz="2800" b="1" i="0" u="none" strike="noStrike" kern="1200" cap="none" spc="0" baseline="0" dirty="0">
                <a:solidFill>
                  <a:schemeClr val="bg1"/>
                </a:solidFill>
                <a:uFillTx/>
                <a:latin typeface="Calibri Light"/>
                <a:ea typeface="Arrus BT Roman"/>
                <a:cs typeface="Arrus BT Roman"/>
              </a:rPr>
              <a:t> Pandas </a:t>
            </a:r>
            <a:r>
              <a:rPr lang="pt-PT" sz="2800" b="1" i="0" u="none" strike="noStrike" kern="1200" cap="none" spc="0" baseline="0" dirty="0" err="1">
                <a:solidFill>
                  <a:schemeClr val="bg1"/>
                </a:solidFill>
                <a:uFillTx/>
                <a:latin typeface="Calibri Light"/>
                <a:ea typeface="Arrus BT Roman"/>
                <a:cs typeface="Arrus BT Roman"/>
              </a:rPr>
              <a:t>and</a:t>
            </a:r>
            <a:r>
              <a:rPr lang="pt-PT" sz="2800" b="1" i="0" u="none" strike="noStrike" kern="1200" cap="none" spc="0" baseline="0" dirty="0">
                <a:solidFill>
                  <a:schemeClr val="bg1"/>
                </a:solidFill>
                <a:uFillTx/>
                <a:latin typeface="Calibri Light"/>
                <a:ea typeface="Arrus BT Roman"/>
                <a:cs typeface="Arrus BT Roman"/>
              </a:rPr>
              <a:t> </a:t>
            </a:r>
            <a:r>
              <a:rPr lang="pt-PT" sz="2800" b="1" i="0" u="none" strike="noStrike" kern="1200" cap="none" spc="0" baseline="0" dirty="0" err="1">
                <a:solidFill>
                  <a:schemeClr val="bg1"/>
                </a:solidFill>
                <a:uFillTx/>
                <a:latin typeface="Calibri Light"/>
                <a:ea typeface="Arrus BT Roman"/>
                <a:cs typeface="Arrus BT Roman"/>
              </a:rPr>
              <a:t>Seaborn</a:t>
            </a:r>
            <a:endParaRPr lang="en-US" sz="2800" b="1" i="0" u="none" strike="noStrike" kern="1200" cap="none" spc="0" baseline="0" dirty="0">
              <a:solidFill>
                <a:schemeClr val="bg1"/>
              </a:solidFill>
              <a:uFillTx/>
              <a:latin typeface="Calibri Light"/>
              <a:ea typeface="Arrus BT Roman"/>
              <a:cs typeface="Arrus BT Roman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EA3334B2-2379-3AAB-4C43-30C2CF899E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8286" y="471336"/>
            <a:ext cx="6175514" cy="6175514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70FAD826-C85A-B735-32AF-682DB6000E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17" y="2290706"/>
            <a:ext cx="4830417" cy="2109756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D6A4BF76-4209-9694-5F30-BD43C686930F}"/>
              </a:ext>
            </a:extLst>
          </p:cNvPr>
          <p:cNvSpPr txBox="1"/>
          <p:nvPr/>
        </p:nvSpPr>
        <p:spPr>
          <a:xfrm>
            <a:off x="0" y="689927"/>
            <a:ext cx="49364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 err="1"/>
              <a:t>Seaborn</a:t>
            </a:r>
            <a:r>
              <a:rPr lang="pt-PT" dirty="0"/>
              <a:t> can </a:t>
            </a:r>
            <a:r>
              <a:rPr lang="pt-PT" dirty="0" err="1"/>
              <a:t>be</a:t>
            </a:r>
            <a:r>
              <a:rPr lang="pt-PT" dirty="0"/>
              <a:t> </a:t>
            </a:r>
            <a:r>
              <a:rPr lang="pt-PT" dirty="0" err="1"/>
              <a:t>used</a:t>
            </a:r>
            <a:r>
              <a:rPr lang="pt-PT" dirty="0"/>
              <a:t> to </a:t>
            </a:r>
            <a:r>
              <a:rPr lang="pt-PT" dirty="0" err="1"/>
              <a:t>view</a:t>
            </a:r>
            <a:r>
              <a:rPr lang="pt-PT" dirty="0"/>
              <a:t> </a:t>
            </a:r>
            <a:r>
              <a:rPr lang="pt-PT" dirty="0" err="1"/>
              <a:t>pairwise</a:t>
            </a:r>
            <a:r>
              <a:rPr lang="pt-PT" dirty="0"/>
              <a:t> </a:t>
            </a:r>
            <a:r>
              <a:rPr lang="pt-PT" dirty="0" err="1"/>
              <a:t>correlation</a:t>
            </a:r>
            <a:r>
              <a:rPr lang="pt-PT" dirty="0"/>
              <a:t> </a:t>
            </a:r>
            <a:r>
              <a:rPr lang="pt-PT" dirty="0" err="1"/>
              <a:t>plots</a:t>
            </a:r>
            <a:r>
              <a:rPr lang="pt-PT" dirty="0"/>
              <a:t> </a:t>
            </a:r>
            <a:r>
              <a:rPr lang="pt-PT" dirty="0" err="1"/>
              <a:t>from</a:t>
            </a:r>
            <a:r>
              <a:rPr lang="pt-PT" dirty="0"/>
              <a:t> data – 1 </a:t>
            </a:r>
            <a:r>
              <a:rPr lang="pt-PT" dirty="0" err="1"/>
              <a:t>line</a:t>
            </a:r>
            <a:r>
              <a:rPr lang="pt-PT" dirty="0"/>
              <a:t> </a:t>
            </a:r>
            <a:r>
              <a:rPr lang="pt-PT" dirty="0" err="1"/>
              <a:t>of</a:t>
            </a:r>
            <a:r>
              <a:rPr lang="pt-PT" dirty="0"/>
              <a:t> </a:t>
            </a:r>
            <a:r>
              <a:rPr lang="pt-PT" dirty="0" err="1"/>
              <a:t>code</a:t>
            </a:r>
            <a:endParaRPr lang="pt-PT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b="1" dirty="0" err="1"/>
              <a:t>Integrates</a:t>
            </a:r>
            <a:r>
              <a:rPr lang="pt-PT" b="1" dirty="0"/>
              <a:t> </a:t>
            </a:r>
            <a:r>
              <a:rPr lang="pt-PT" b="1" dirty="0" err="1"/>
              <a:t>well</a:t>
            </a:r>
            <a:r>
              <a:rPr lang="pt-PT" b="1" dirty="0"/>
              <a:t> </a:t>
            </a:r>
            <a:r>
              <a:rPr lang="pt-PT" b="1" dirty="0" err="1"/>
              <a:t>with</a:t>
            </a:r>
            <a:r>
              <a:rPr lang="pt-PT" b="1" dirty="0"/>
              <a:t> Pandas </a:t>
            </a:r>
            <a:r>
              <a:rPr lang="pt-PT" b="1" dirty="0" err="1"/>
              <a:t>dataframes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77690575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32383-7F60-F35B-E680-88039FD58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CB3B52A5-3F40-9832-148C-65FFCA95F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45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04EE4E68-2FDB-67A8-0448-F9F8F2795262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PT" sz="2800" b="1" i="0" u="none" strike="noStrike" kern="1200" cap="none" spc="0" baseline="0" dirty="0" err="1">
                <a:solidFill>
                  <a:schemeClr val="bg1"/>
                </a:solidFill>
                <a:uFillTx/>
                <a:latin typeface="Calibri Light"/>
                <a:ea typeface="Arrus BT Roman"/>
                <a:cs typeface="Arrus BT Roman"/>
              </a:rPr>
              <a:t>How</a:t>
            </a:r>
            <a:r>
              <a:rPr lang="pt-PT" sz="2800" b="1" i="0" u="none" strike="noStrike" kern="1200" cap="none" spc="0" baseline="0" dirty="0">
                <a:solidFill>
                  <a:schemeClr val="bg1"/>
                </a:solidFill>
                <a:uFillTx/>
                <a:latin typeface="Calibri Light"/>
                <a:ea typeface="Arrus BT Roman"/>
                <a:cs typeface="Arrus BT Roman"/>
              </a:rPr>
              <a:t> to </a:t>
            </a:r>
            <a:r>
              <a:rPr lang="pt-PT" sz="2800" b="1" i="0" u="none" strike="noStrike" kern="1200" cap="none" spc="0" baseline="0" dirty="0" err="1">
                <a:solidFill>
                  <a:schemeClr val="bg1"/>
                </a:solidFill>
                <a:uFillTx/>
                <a:latin typeface="Calibri Light"/>
                <a:ea typeface="Arrus BT Roman"/>
                <a:cs typeface="Arrus BT Roman"/>
              </a:rPr>
              <a:t>see</a:t>
            </a:r>
            <a:r>
              <a:rPr lang="pt-PT" sz="2800" b="1" i="0" u="none" strike="noStrike" kern="1200" cap="none" spc="0" baseline="0" dirty="0">
                <a:solidFill>
                  <a:schemeClr val="bg1"/>
                </a:solidFill>
                <a:uFillTx/>
                <a:latin typeface="Calibri Light"/>
                <a:ea typeface="Arrus BT Roman"/>
                <a:cs typeface="Arrus BT Roman"/>
              </a:rPr>
              <a:t> </a:t>
            </a:r>
            <a:r>
              <a:rPr lang="pt-PT" sz="2800" b="1" i="0" u="none" strike="noStrike" kern="1200" cap="none" spc="0" baseline="0" dirty="0" err="1">
                <a:solidFill>
                  <a:schemeClr val="bg1"/>
                </a:solidFill>
                <a:uFillTx/>
                <a:latin typeface="Calibri Light"/>
                <a:ea typeface="Arrus BT Roman"/>
                <a:cs typeface="Arrus BT Roman"/>
              </a:rPr>
              <a:t>correlation</a:t>
            </a:r>
            <a:r>
              <a:rPr lang="pt-PT" sz="2800" b="1" i="0" u="none" strike="noStrike" kern="1200" cap="none" spc="0" baseline="0" dirty="0">
                <a:solidFill>
                  <a:schemeClr val="bg1"/>
                </a:solidFill>
                <a:uFillTx/>
                <a:latin typeface="Calibri Light"/>
                <a:ea typeface="Arrus BT Roman"/>
                <a:cs typeface="Arrus BT Roman"/>
              </a:rPr>
              <a:t> in </a:t>
            </a:r>
            <a:r>
              <a:rPr lang="pt-PT" sz="2800" b="1" i="0" u="none" strike="noStrike" kern="1200" cap="none" spc="0" baseline="0" dirty="0" err="1">
                <a:solidFill>
                  <a:schemeClr val="bg1"/>
                </a:solidFill>
                <a:uFillTx/>
                <a:latin typeface="Calibri Light"/>
                <a:ea typeface="Arrus BT Roman"/>
                <a:cs typeface="Arrus BT Roman"/>
              </a:rPr>
              <a:t>high</a:t>
            </a:r>
            <a:r>
              <a:rPr lang="pt-PT" sz="2800" b="1" i="0" u="none" strike="noStrike" kern="1200" cap="none" spc="0" baseline="0" dirty="0">
                <a:solidFill>
                  <a:schemeClr val="bg1"/>
                </a:solidFill>
                <a:uFillTx/>
                <a:latin typeface="Calibri Light"/>
                <a:ea typeface="Arrus BT Roman"/>
                <a:cs typeface="Arrus BT Roman"/>
              </a:rPr>
              <a:t> </a:t>
            </a:r>
            <a:r>
              <a:rPr lang="pt-PT" sz="2800" b="1" i="0" u="none" strike="noStrike" kern="1200" cap="none" spc="0" baseline="0" dirty="0" err="1">
                <a:solidFill>
                  <a:schemeClr val="bg1"/>
                </a:solidFill>
                <a:uFillTx/>
                <a:latin typeface="Calibri Light"/>
                <a:ea typeface="Arrus BT Roman"/>
                <a:cs typeface="Arrus BT Roman"/>
              </a:rPr>
              <a:t>dimensions</a:t>
            </a:r>
            <a:r>
              <a:rPr lang="pt-PT" sz="2800" b="1" i="0" u="none" strike="noStrike" kern="1200" cap="none" spc="0" baseline="0" dirty="0">
                <a:solidFill>
                  <a:schemeClr val="bg1"/>
                </a:solidFill>
                <a:uFillTx/>
                <a:latin typeface="Calibri Light"/>
                <a:ea typeface="Arrus BT Roman"/>
                <a:cs typeface="Arrus BT Roman"/>
              </a:rPr>
              <a:t>?</a:t>
            </a:r>
            <a:endParaRPr lang="en-US" sz="2800" b="1" i="0" u="none" strike="noStrike" kern="1200" cap="none" spc="0" baseline="0" dirty="0">
              <a:solidFill>
                <a:schemeClr val="bg1"/>
              </a:solidFill>
              <a:uFillTx/>
              <a:latin typeface="Calibri Light"/>
              <a:ea typeface="Arrus BT Roman"/>
              <a:cs typeface="Arrus BT Roman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46FF7FE7-4BDC-7637-7F9B-75CD68C8D815}"/>
              </a:ext>
            </a:extLst>
          </p:cNvPr>
          <p:cNvSpPr txBox="1"/>
          <p:nvPr/>
        </p:nvSpPr>
        <p:spPr>
          <a:xfrm>
            <a:off x="31115" y="1230980"/>
            <a:ext cx="6840931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000" dirty="0" err="1"/>
              <a:t>We</a:t>
            </a:r>
            <a:r>
              <a:rPr lang="pt-PT" sz="2000" dirty="0"/>
              <a:t> can </a:t>
            </a:r>
            <a:r>
              <a:rPr lang="pt-PT" sz="2000" dirty="0" err="1"/>
              <a:t>visually</a:t>
            </a:r>
            <a:r>
              <a:rPr lang="pt-PT" sz="2000" dirty="0"/>
              <a:t> </a:t>
            </a:r>
            <a:r>
              <a:rPr lang="pt-PT" sz="2000" dirty="0" err="1"/>
              <a:t>assess</a:t>
            </a:r>
            <a:r>
              <a:rPr lang="pt-PT" sz="2000" dirty="0"/>
              <a:t> </a:t>
            </a:r>
            <a:r>
              <a:rPr lang="pt-PT" sz="2000" dirty="0" err="1"/>
              <a:t>correlation</a:t>
            </a:r>
            <a:r>
              <a:rPr lang="pt-PT" sz="2000" dirty="0"/>
              <a:t> </a:t>
            </a:r>
            <a:r>
              <a:rPr lang="pt-PT" sz="2000" dirty="0" err="1"/>
              <a:t>between</a:t>
            </a:r>
            <a:r>
              <a:rPr lang="pt-PT" sz="2000" dirty="0"/>
              <a:t> </a:t>
            </a:r>
            <a:r>
              <a:rPr lang="pt-PT" sz="2000" b="1" dirty="0" err="1"/>
              <a:t>pairs</a:t>
            </a:r>
            <a:r>
              <a:rPr lang="pt-PT" sz="2000" b="1" dirty="0"/>
              <a:t> </a:t>
            </a:r>
            <a:r>
              <a:rPr lang="pt-PT" sz="2000" b="1" dirty="0" err="1"/>
              <a:t>of</a:t>
            </a:r>
            <a:r>
              <a:rPr lang="pt-PT" sz="2000" b="1" dirty="0"/>
              <a:t> </a:t>
            </a:r>
            <a:r>
              <a:rPr lang="pt-PT" sz="2000" b="1" dirty="0" err="1"/>
              <a:t>variables</a:t>
            </a:r>
            <a:r>
              <a:rPr lang="pt-PT" sz="2000" b="1" dirty="0"/>
              <a:t> </a:t>
            </a:r>
            <a:r>
              <a:rPr lang="pt-PT" sz="2000" dirty="0"/>
              <a:t>to </a:t>
            </a:r>
            <a:r>
              <a:rPr lang="pt-PT" sz="2000" dirty="0" err="1"/>
              <a:t>detect</a:t>
            </a:r>
            <a:r>
              <a:rPr lang="pt-PT" sz="2000" dirty="0"/>
              <a:t> </a:t>
            </a:r>
            <a:r>
              <a:rPr lang="pt-PT" sz="2000" dirty="0" err="1"/>
              <a:t>patterns</a:t>
            </a:r>
            <a:endParaRPr lang="pt-PT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000" dirty="0" err="1"/>
              <a:t>What</a:t>
            </a:r>
            <a:r>
              <a:rPr lang="pt-PT" sz="2000" dirty="0"/>
              <a:t> </a:t>
            </a:r>
            <a:r>
              <a:rPr lang="pt-PT" sz="2000" dirty="0" err="1"/>
              <a:t>if</a:t>
            </a:r>
            <a:r>
              <a:rPr lang="pt-PT" sz="2000" dirty="0"/>
              <a:t> </a:t>
            </a:r>
            <a:r>
              <a:rPr lang="pt-PT" sz="2000" dirty="0" err="1"/>
              <a:t>we</a:t>
            </a:r>
            <a:r>
              <a:rPr lang="pt-PT" sz="2000" dirty="0"/>
              <a:t> </a:t>
            </a:r>
            <a:r>
              <a:rPr lang="pt-PT" sz="2000" dirty="0" err="1"/>
              <a:t>have</a:t>
            </a:r>
            <a:r>
              <a:rPr lang="pt-PT" sz="2000" dirty="0"/>
              <a:t> </a:t>
            </a:r>
            <a:r>
              <a:rPr lang="pt-PT" sz="2000" dirty="0" err="1"/>
              <a:t>many</a:t>
            </a:r>
            <a:r>
              <a:rPr lang="pt-PT" sz="2000" dirty="0"/>
              <a:t> </a:t>
            </a:r>
            <a:r>
              <a:rPr lang="pt-PT" sz="2000" dirty="0" err="1"/>
              <a:t>variables</a:t>
            </a:r>
            <a:r>
              <a:rPr lang="pt-PT" sz="2000" dirty="0"/>
              <a:t>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000" b="1" dirty="0" err="1"/>
              <a:t>Motivating</a:t>
            </a:r>
            <a:r>
              <a:rPr lang="pt-PT" sz="2000" b="1" dirty="0"/>
              <a:t> </a:t>
            </a:r>
            <a:r>
              <a:rPr lang="pt-PT" sz="2000" b="1" dirty="0" err="1"/>
              <a:t>example</a:t>
            </a:r>
            <a:r>
              <a:rPr lang="pt-PT" sz="2000" b="1" dirty="0"/>
              <a:t>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PT" sz="2000" dirty="0"/>
              <a:t>VIS-NIR </a:t>
            </a:r>
            <a:r>
              <a:rPr lang="pt-PT" sz="2000" dirty="0" err="1"/>
              <a:t>spectroscopic</a:t>
            </a:r>
            <a:r>
              <a:rPr lang="pt-PT" sz="2000" dirty="0"/>
              <a:t> data </a:t>
            </a:r>
            <a:r>
              <a:rPr lang="pt-PT" sz="2000" dirty="0" err="1"/>
              <a:t>of</a:t>
            </a:r>
            <a:r>
              <a:rPr lang="pt-PT" sz="2000" dirty="0"/>
              <a:t> </a:t>
            </a:r>
            <a:r>
              <a:rPr lang="pt-PT" sz="2000" dirty="0" err="1"/>
              <a:t>beer</a:t>
            </a:r>
            <a:r>
              <a:rPr lang="pt-PT" sz="2000" dirty="0"/>
              <a:t> samples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PT" sz="2000" dirty="0"/>
              <a:t>926 </a:t>
            </a:r>
            <a:r>
              <a:rPr lang="pt-PT" sz="2000" dirty="0" err="1"/>
              <a:t>absorbance</a:t>
            </a:r>
            <a:r>
              <a:rPr lang="pt-PT" sz="2000" dirty="0"/>
              <a:t> </a:t>
            </a:r>
            <a:r>
              <a:rPr lang="pt-PT" sz="2000" dirty="0" err="1"/>
              <a:t>measurements</a:t>
            </a:r>
            <a:r>
              <a:rPr lang="pt-PT" sz="2000" dirty="0"/>
              <a:t> </a:t>
            </a:r>
            <a:r>
              <a:rPr lang="pt-PT" sz="2000" dirty="0" err="1"/>
              <a:t>at</a:t>
            </a:r>
            <a:r>
              <a:rPr lang="pt-PT" sz="2000" dirty="0"/>
              <a:t> </a:t>
            </a:r>
            <a:r>
              <a:rPr lang="pt-PT" sz="2000" dirty="0" err="1"/>
              <a:t>each</a:t>
            </a:r>
            <a:r>
              <a:rPr lang="pt-PT" sz="2000" dirty="0"/>
              <a:t> </a:t>
            </a:r>
            <a:r>
              <a:rPr lang="pt-PT" sz="2000" dirty="0" err="1"/>
              <a:t>wavelength</a:t>
            </a:r>
            <a:r>
              <a:rPr lang="pt-PT" sz="2000" dirty="0"/>
              <a:t> – 926 </a:t>
            </a:r>
            <a:r>
              <a:rPr lang="pt-PT" sz="2000" dirty="0" err="1"/>
              <a:t>variables</a:t>
            </a:r>
            <a:endParaRPr lang="pt-PT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000" dirty="0" err="1"/>
              <a:t>How</a:t>
            </a:r>
            <a:r>
              <a:rPr lang="pt-PT" sz="2000" dirty="0"/>
              <a:t> do </a:t>
            </a:r>
            <a:r>
              <a:rPr lang="pt-PT" sz="2000" dirty="0" err="1"/>
              <a:t>we</a:t>
            </a:r>
            <a:r>
              <a:rPr lang="pt-PT" sz="2000" dirty="0"/>
              <a:t> </a:t>
            </a:r>
            <a:r>
              <a:rPr lang="pt-PT" sz="2000" dirty="0" err="1"/>
              <a:t>assess</a:t>
            </a:r>
            <a:r>
              <a:rPr lang="pt-PT" sz="2000" dirty="0"/>
              <a:t> </a:t>
            </a:r>
            <a:r>
              <a:rPr lang="pt-PT" sz="2000" dirty="0" err="1"/>
              <a:t>correlation</a:t>
            </a:r>
            <a:r>
              <a:rPr lang="pt-PT" sz="2000" dirty="0"/>
              <a:t> </a:t>
            </a:r>
            <a:r>
              <a:rPr lang="pt-PT" sz="2000" dirty="0" err="1"/>
              <a:t>between</a:t>
            </a:r>
            <a:r>
              <a:rPr lang="pt-PT" sz="2000" dirty="0"/>
              <a:t> </a:t>
            </a:r>
            <a:r>
              <a:rPr lang="pt-PT" sz="2000" dirty="0" err="1"/>
              <a:t>measurements</a:t>
            </a:r>
            <a:r>
              <a:rPr lang="pt-PT" sz="2000" dirty="0"/>
              <a:t> </a:t>
            </a:r>
            <a:r>
              <a:rPr lang="pt-PT" sz="2000" dirty="0" err="1"/>
              <a:t>at</a:t>
            </a:r>
            <a:r>
              <a:rPr lang="pt-PT" sz="2000" dirty="0"/>
              <a:t> </a:t>
            </a:r>
            <a:r>
              <a:rPr lang="pt-PT" sz="2000" dirty="0" err="1"/>
              <a:t>each</a:t>
            </a:r>
            <a:r>
              <a:rPr lang="pt-PT" sz="2000" dirty="0"/>
              <a:t> </a:t>
            </a:r>
            <a:r>
              <a:rPr lang="pt-PT" sz="2000" dirty="0" err="1"/>
              <a:t>wavelength</a:t>
            </a:r>
            <a:r>
              <a:rPr lang="pt-PT" sz="2000" dirty="0"/>
              <a:t>?</a:t>
            </a:r>
          </a:p>
        </p:txBody>
      </p:sp>
      <p:grpSp>
        <p:nvGrpSpPr>
          <p:cNvPr id="22" name="Agrupar 21">
            <a:extLst>
              <a:ext uri="{FF2B5EF4-FFF2-40B4-BE49-F238E27FC236}">
                <a16:creationId xmlns:a16="http://schemas.microsoft.com/office/drawing/2014/main" id="{83B2B35F-363B-AD87-9579-A29ABA9D50A7}"/>
              </a:ext>
            </a:extLst>
          </p:cNvPr>
          <p:cNvGrpSpPr/>
          <p:nvPr/>
        </p:nvGrpSpPr>
        <p:grpSpPr>
          <a:xfrm>
            <a:off x="6965676" y="1083292"/>
            <a:ext cx="5059016" cy="4524315"/>
            <a:chOff x="6460436" y="981756"/>
            <a:chExt cx="4713385" cy="4242819"/>
          </a:xfrm>
        </p:grpSpPr>
        <p:pic>
          <p:nvPicPr>
            <p:cNvPr id="2" name="Imagem 1">
              <a:extLst>
                <a:ext uri="{FF2B5EF4-FFF2-40B4-BE49-F238E27FC236}">
                  <a16:creationId xmlns:a16="http://schemas.microsoft.com/office/drawing/2014/main" id="{DA2DB7E6-6C78-DBE2-C618-B23AF8CD25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60436" y="1633425"/>
              <a:ext cx="4713385" cy="3591150"/>
            </a:xfrm>
            <a:prstGeom prst="rect">
              <a:avLst/>
            </a:prstGeom>
          </p:spPr>
        </p:pic>
        <p:cxnSp>
          <p:nvCxnSpPr>
            <p:cNvPr id="9" name="Conexão reta unidirecional 8">
              <a:extLst>
                <a:ext uri="{FF2B5EF4-FFF2-40B4-BE49-F238E27FC236}">
                  <a16:creationId xmlns:a16="http://schemas.microsoft.com/office/drawing/2014/main" id="{C4996880-0EAA-403C-8E27-BA5D3B2D573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49548" y="1220675"/>
              <a:ext cx="0" cy="2821238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exão reta unidirecional 10">
              <a:extLst>
                <a:ext uri="{FF2B5EF4-FFF2-40B4-BE49-F238E27FC236}">
                  <a16:creationId xmlns:a16="http://schemas.microsoft.com/office/drawing/2014/main" id="{5079F254-E346-97CA-3D0B-9B79012B2265}"/>
                </a:ext>
              </a:extLst>
            </p:cNvPr>
            <p:cNvCxnSpPr/>
            <p:nvPr/>
          </p:nvCxnSpPr>
          <p:spPr>
            <a:xfrm flipV="1">
              <a:off x="7394713" y="1220675"/>
              <a:ext cx="0" cy="2622456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xão reta unidirecional 12">
              <a:extLst>
                <a:ext uri="{FF2B5EF4-FFF2-40B4-BE49-F238E27FC236}">
                  <a16:creationId xmlns:a16="http://schemas.microsoft.com/office/drawing/2014/main" id="{836FB825-486B-DC88-EE7C-079D1B70AAA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66783" y="1282705"/>
              <a:ext cx="0" cy="70143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4C573C85-4C60-91CD-0C5B-A99F0DA06E84}"/>
                </a:ext>
              </a:extLst>
            </p:cNvPr>
            <p:cNvSpPr txBox="1"/>
            <p:nvPr/>
          </p:nvSpPr>
          <p:spPr>
            <a:xfrm>
              <a:off x="6975082" y="981756"/>
              <a:ext cx="37768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>
                  <a:solidFill>
                    <a:srgbClr val="FF0000"/>
                  </a:solidFill>
                </a:rPr>
                <a:t>X1</a:t>
              </a:r>
              <a:endParaRPr lang="en-US" sz="1200" dirty="0">
                <a:solidFill>
                  <a:srgbClr val="FF0000"/>
                </a:solidFill>
              </a:endParaRPr>
            </a:p>
          </p:txBody>
        </p:sp>
        <p:sp>
          <p:nvSpPr>
            <p:cNvPr id="20" name="CaixaDeTexto 19">
              <a:extLst>
                <a:ext uri="{FF2B5EF4-FFF2-40B4-BE49-F238E27FC236}">
                  <a16:creationId xmlns:a16="http://schemas.microsoft.com/office/drawing/2014/main" id="{0FD209F7-E84B-72A4-A87D-9B5248629D98}"/>
                </a:ext>
              </a:extLst>
            </p:cNvPr>
            <p:cNvSpPr txBox="1"/>
            <p:nvPr/>
          </p:nvSpPr>
          <p:spPr>
            <a:xfrm>
              <a:off x="7205871" y="981756"/>
              <a:ext cx="46713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>
                  <a:solidFill>
                    <a:srgbClr val="FF0000"/>
                  </a:solidFill>
                </a:rPr>
                <a:t>X10</a:t>
              </a:r>
              <a:endParaRPr lang="en-US" sz="1200" dirty="0">
                <a:solidFill>
                  <a:srgbClr val="FF0000"/>
                </a:solidFill>
              </a:endParaRPr>
            </a:p>
          </p:txBody>
        </p:sp>
        <p:sp>
          <p:nvSpPr>
            <p:cNvPr id="21" name="CaixaDeTexto 20">
              <a:extLst>
                <a:ext uri="{FF2B5EF4-FFF2-40B4-BE49-F238E27FC236}">
                  <a16:creationId xmlns:a16="http://schemas.microsoft.com/office/drawing/2014/main" id="{200F426B-719F-B121-F4EC-CE011DEA4F9C}"/>
                </a:ext>
              </a:extLst>
            </p:cNvPr>
            <p:cNvSpPr txBox="1"/>
            <p:nvPr/>
          </p:nvSpPr>
          <p:spPr>
            <a:xfrm>
              <a:off x="10633213" y="981756"/>
              <a:ext cx="54060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>
                  <a:solidFill>
                    <a:srgbClr val="FF0000"/>
                  </a:solidFill>
                </a:rPr>
                <a:t>X926</a:t>
              </a:r>
              <a:endParaRPr lang="en-US" sz="1200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2497104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066C67-A703-B3ED-E041-EF38D927E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57864D41-5A55-45AA-A533-2078389BC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46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15679920-8DE9-E289-CDCC-9248694119DC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How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to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see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correlation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in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high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dimensions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?</a:t>
            </a:r>
            <a:endParaRPr lang="en-US" sz="2800" b="1" dirty="0">
              <a:solidFill>
                <a:schemeClr val="bg1"/>
              </a:solidFill>
              <a:latin typeface="Calibri Light"/>
              <a:ea typeface="Arrus BT Roman"/>
              <a:cs typeface="Arrus BT Roman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9C33DA8-5516-8867-F5D3-9FED04404EC1}"/>
              </a:ext>
            </a:extLst>
          </p:cNvPr>
          <p:cNvSpPr txBox="1"/>
          <p:nvPr/>
        </p:nvSpPr>
        <p:spPr>
          <a:xfrm>
            <a:off x="0" y="607888"/>
            <a:ext cx="12192000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000" dirty="0" err="1"/>
              <a:t>Consider</a:t>
            </a:r>
            <a:r>
              <a:rPr lang="pt-PT" sz="2000" dirty="0"/>
              <a:t> a case </a:t>
            </a:r>
            <a:r>
              <a:rPr lang="pt-PT" sz="2000" dirty="0" err="1"/>
              <a:t>of</a:t>
            </a:r>
            <a:r>
              <a:rPr lang="pt-PT" sz="2000" dirty="0"/>
              <a:t> 2 </a:t>
            </a:r>
            <a:r>
              <a:rPr lang="pt-PT" sz="2000" dirty="0" err="1"/>
              <a:t>correlated</a:t>
            </a:r>
            <a:r>
              <a:rPr lang="pt-PT" sz="2000" dirty="0"/>
              <a:t> </a:t>
            </a:r>
            <a:r>
              <a:rPr lang="pt-PT" sz="2000" dirty="0" err="1"/>
              <a:t>variables</a:t>
            </a:r>
            <a:endParaRPr lang="pt-PT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000" dirty="0"/>
              <a:t>Can </a:t>
            </a:r>
            <a:r>
              <a:rPr lang="pt-PT" sz="2000" dirty="0" err="1"/>
              <a:t>we</a:t>
            </a:r>
            <a:r>
              <a:rPr lang="pt-PT" sz="2000" dirty="0"/>
              <a:t> </a:t>
            </a:r>
            <a:r>
              <a:rPr lang="pt-PT" sz="2000" dirty="0" err="1"/>
              <a:t>find</a:t>
            </a:r>
            <a:r>
              <a:rPr lang="pt-PT" sz="2000" dirty="0"/>
              <a:t> a </a:t>
            </a:r>
            <a:r>
              <a:rPr lang="pt-PT" sz="2000" dirty="0" err="1"/>
              <a:t>subset</a:t>
            </a:r>
            <a:r>
              <a:rPr lang="pt-PT" sz="2000" dirty="0"/>
              <a:t> </a:t>
            </a:r>
            <a:r>
              <a:rPr lang="pt-PT" sz="2000" dirty="0" err="1"/>
              <a:t>of</a:t>
            </a:r>
            <a:r>
              <a:rPr lang="pt-PT" sz="2000" dirty="0"/>
              <a:t> </a:t>
            </a:r>
            <a:r>
              <a:rPr lang="pt-PT" sz="2000" b="1" dirty="0" err="1"/>
              <a:t>uncorrelated</a:t>
            </a:r>
            <a:r>
              <a:rPr lang="pt-PT" sz="2000" dirty="0"/>
              <a:t> </a:t>
            </a:r>
            <a:r>
              <a:rPr lang="pt-PT" sz="2000" b="1" dirty="0" err="1"/>
              <a:t>projections</a:t>
            </a:r>
            <a:r>
              <a:rPr lang="pt-PT" sz="2000" dirty="0"/>
              <a:t> (</a:t>
            </a:r>
            <a:r>
              <a:rPr lang="pt-PT" sz="2000" b="1" dirty="0" err="1"/>
              <a:t>orthogonal</a:t>
            </a:r>
            <a:r>
              <a:rPr lang="pt-PT" sz="2000" b="1" dirty="0"/>
              <a:t> </a:t>
            </a:r>
            <a:r>
              <a:rPr lang="pt-PT" sz="2000" b="1" dirty="0" err="1"/>
              <a:t>variables</a:t>
            </a:r>
            <a:r>
              <a:rPr lang="pt-PT" sz="2000" dirty="0"/>
              <a:t>) </a:t>
            </a:r>
            <a:r>
              <a:rPr lang="pt-PT" sz="2000" dirty="0" err="1"/>
              <a:t>that</a:t>
            </a:r>
            <a:r>
              <a:rPr lang="pt-PT" sz="2000" dirty="0"/>
              <a:t> capture </a:t>
            </a:r>
            <a:r>
              <a:rPr lang="pt-PT" sz="2000" dirty="0" err="1"/>
              <a:t>the</a:t>
            </a:r>
            <a:r>
              <a:rPr lang="pt-PT" sz="2000" dirty="0"/>
              <a:t> data </a:t>
            </a:r>
            <a:r>
              <a:rPr lang="pt-PT" sz="2000" dirty="0" err="1"/>
              <a:t>variability</a:t>
            </a:r>
            <a:r>
              <a:rPr lang="pt-PT" sz="2000" dirty="0"/>
              <a:t> 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2000" dirty="0"/>
          </a:p>
          <a:p>
            <a:endParaRPr lang="pt-PT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000" b="1" dirty="0" err="1"/>
              <a:t>Solution</a:t>
            </a:r>
            <a:r>
              <a:rPr lang="pt-PT" sz="2000" b="1" dirty="0"/>
              <a:t>: </a:t>
            </a:r>
            <a:r>
              <a:rPr lang="pt-PT" sz="2000" dirty="0"/>
              <a:t>Principal </a:t>
            </a:r>
            <a:r>
              <a:rPr lang="pt-PT" sz="2000" dirty="0" err="1"/>
              <a:t>Component</a:t>
            </a:r>
            <a:r>
              <a:rPr lang="pt-PT" sz="2000" dirty="0"/>
              <a:t> </a:t>
            </a:r>
            <a:r>
              <a:rPr lang="pt-PT" sz="2000" dirty="0" err="1"/>
              <a:t>Analysis</a:t>
            </a:r>
            <a:endParaRPr lang="pt-PT" sz="2000" dirty="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3C3F9474-DF49-0B57-7C54-AA25B6694D9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707"/>
          <a:stretch>
            <a:fillRect/>
          </a:stretch>
        </p:blipFill>
        <p:spPr>
          <a:xfrm>
            <a:off x="107012" y="1897988"/>
            <a:ext cx="5500975" cy="4177198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5554C4F2-301C-7FD4-E74B-A050D05FAD9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707"/>
          <a:stretch>
            <a:fillRect/>
          </a:stretch>
        </p:blipFill>
        <p:spPr>
          <a:xfrm>
            <a:off x="5883965" y="1833580"/>
            <a:ext cx="5585794" cy="4241606"/>
          </a:xfrm>
          <a:prstGeom prst="rect">
            <a:avLst/>
          </a:prstGeom>
        </p:spPr>
      </p:pic>
      <p:grpSp>
        <p:nvGrpSpPr>
          <p:cNvPr id="13" name="Agrupar 12">
            <a:extLst>
              <a:ext uri="{FF2B5EF4-FFF2-40B4-BE49-F238E27FC236}">
                <a16:creationId xmlns:a16="http://schemas.microsoft.com/office/drawing/2014/main" id="{346E7568-BA69-0BBE-4689-195E0F2C8BBA}"/>
              </a:ext>
            </a:extLst>
          </p:cNvPr>
          <p:cNvGrpSpPr/>
          <p:nvPr/>
        </p:nvGrpSpPr>
        <p:grpSpPr>
          <a:xfrm>
            <a:off x="8045727" y="3293165"/>
            <a:ext cx="1275521" cy="583095"/>
            <a:chOff x="8193157" y="2955235"/>
            <a:chExt cx="1275521" cy="583095"/>
          </a:xfrm>
        </p:grpSpPr>
        <p:cxnSp>
          <p:nvCxnSpPr>
            <p:cNvPr id="9" name="Conexão reta unidirecional 8">
              <a:extLst>
                <a:ext uri="{FF2B5EF4-FFF2-40B4-BE49-F238E27FC236}">
                  <a16:creationId xmlns:a16="http://schemas.microsoft.com/office/drawing/2014/main" id="{47ED033A-AB0E-C0B6-302C-D1C564DC550E}"/>
                </a:ext>
              </a:extLst>
            </p:cNvPr>
            <p:cNvCxnSpPr/>
            <p:nvPr/>
          </p:nvCxnSpPr>
          <p:spPr>
            <a:xfrm flipV="1">
              <a:off x="9071113" y="3074504"/>
              <a:ext cx="397565" cy="463826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exão reta unidirecional 9">
              <a:extLst>
                <a:ext uri="{FF2B5EF4-FFF2-40B4-BE49-F238E27FC236}">
                  <a16:creationId xmlns:a16="http://schemas.microsoft.com/office/drawing/2014/main" id="{716DB12F-2751-10DF-DBF4-1DF51637786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193157" y="2955235"/>
              <a:ext cx="877956" cy="583095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9502980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FACAD-695A-2B3C-871F-8EF47A7D1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71B2B06A-25F8-A5A6-1FD0-6EE1615C5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47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EA9E1509-A191-9E2D-DC6E-C7EDDD8E1CD5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Principal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Component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Analysis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-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introduction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</a:t>
            </a:r>
            <a:endParaRPr lang="en-US" sz="2800" b="1" dirty="0">
              <a:solidFill>
                <a:schemeClr val="bg1"/>
              </a:solidFill>
              <a:latin typeface="Calibri Light"/>
              <a:ea typeface="Arrus BT Roman"/>
              <a:cs typeface="Arrus BT Roman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BB2D704-B229-A019-0AA2-6E0403FEC69C}"/>
              </a:ext>
            </a:extLst>
          </p:cNvPr>
          <p:cNvSpPr txBox="1"/>
          <p:nvPr/>
        </p:nvSpPr>
        <p:spPr>
          <a:xfrm>
            <a:off x="4" y="577413"/>
            <a:ext cx="1219199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000" dirty="0"/>
              <a:t>PCA </a:t>
            </a:r>
            <a:r>
              <a:rPr lang="pt-PT" sz="2000" dirty="0" err="1"/>
              <a:t>projects</a:t>
            </a:r>
            <a:r>
              <a:rPr lang="pt-PT" sz="2000" dirty="0"/>
              <a:t> </a:t>
            </a:r>
            <a:r>
              <a:rPr lang="pt-PT" sz="2000" dirty="0" err="1"/>
              <a:t>the</a:t>
            </a:r>
            <a:r>
              <a:rPr lang="pt-PT" sz="2000" dirty="0"/>
              <a:t> data </a:t>
            </a:r>
            <a:r>
              <a:rPr lang="pt-PT" sz="2000" dirty="0" err="1"/>
              <a:t>into</a:t>
            </a:r>
            <a:r>
              <a:rPr lang="pt-PT" sz="2000" dirty="0"/>
              <a:t> a </a:t>
            </a:r>
            <a:r>
              <a:rPr lang="pt-PT" sz="2000" b="1" dirty="0" err="1"/>
              <a:t>lower</a:t>
            </a:r>
            <a:r>
              <a:rPr lang="pt-PT" sz="2000" b="1" dirty="0"/>
              <a:t> dimensional </a:t>
            </a:r>
            <a:r>
              <a:rPr lang="pt-PT" sz="2000" dirty="0" err="1"/>
              <a:t>latent</a:t>
            </a:r>
            <a:r>
              <a:rPr lang="pt-PT" sz="2000" dirty="0"/>
              <a:t> </a:t>
            </a:r>
            <a:r>
              <a:rPr lang="pt-PT" sz="2000" dirty="0" err="1"/>
              <a:t>variable</a:t>
            </a:r>
            <a:r>
              <a:rPr lang="pt-PT" sz="2000" dirty="0"/>
              <a:t> </a:t>
            </a:r>
            <a:r>
              <a:rPr lang="pt-PT" sz="2000" dirty="0" err="1"/>
              <a:t>space</a:t>
            </a:r>
            <a:r>
              <a:rPr lang="pt-PT" sz="2000" dirty="0"/>
              <a:t> – </a:t>
            </a:r>
            <a:r>
              <a:rPr lang="pt-PT" sz="2000" b="1" dirty="0"/>
              <a:t>Principal </a:t>
            </a:r>
            <a:r>
              <a:rPr lang="pt-PT" sz="2000" b="1" dirty="0" err="1"/>
              <a:t>Components</a:t>
            </a:r>
            <a:r>
              <a:rPr lang="pt-PT" sz="2000" b="1" dirty="0"/>
              <a:t> (PC)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000" dirty="0" err="1"/>
              <a:t>The</a:t>
            </a:r>
            <a:r>
              <a:rPr lang="pt-PT" sz="2000" dirty="0"/>
              <a:t> </a:t>
            </a:r>
            <a:r>
              <a:rPr lang="pt-PT" sz="2000" dirty="0" err="1"/>
              <a:t>covariance</a:t>
            </a:r>
            <a:r>
              <a:rPr lang="pt-PT" sz="2000" dirty="0"/>
              <a:t> </a:t>
            </a:r>
            <a:r>
              <a:rPr lang="pt-PT" sz="2000" dirty="0" err="1"/>
              <a:t>matrix</a:t>
            </a:r>
            <a:r>
              <a:rPr lang="pt-PT" sz="2000" dirty="0"/>
              <a:t> (</a:t>
            </a:r>
            <a:r>
              <a:rPr lang="pt-PT" sz="2000" dirty="0" err="1"/>
              <a:t>which</a:t>
            </a:r>
            <a:r>
              <a:rPr lang="pt-PT" sz="2000" dirty="0"/>
              <a:t> </a:t>
            </a:r>
            <a:r>
              <a:rPr lang="pt-PT" sz="2000" dirty="0" err="1"/>
              <a:t>gives</a:t>
            </a:r>
            <a:r>
              <a:rPr lang="pt-PT" sz="2000" dirty="0"/>
              <a:t> </a:t>
            </a:r>
            <a:r>
              <a:rPr lang="pt-PT" sz="2000" dirty="0" err="1"/>
              <a:t>the</a:t>
            </a:r>
            <a:r>
              <a:rPr lang="pt-PT" sz="2000" dirty="0"/>
              <a:t> </a:t>
            </a:r>
            <a:r>
              <a:rPr lang="pt-PT" sz="2000" dirty="0" err="1"/>
              <a:t>correlation</a:t>
            </a:r>
            <a:r>
              <a:rPr lang="pt-PT" sz="2000" dirty="0"/>
              <a:t>) </a:t>
            </a:r>
            <a:r>
              <a:rPr lang="pt-PT" sz="2000" dirty="0" err="1"/>
              <a:t>is</a:t>
            </a:r>
            <a:r>
              <a:rPr lang="pt-PT" sz="2000" dirty="0"/>
              <a:t> </a:t>
            </a:r>
            <a:r>
              <a:rPr lang="pt-PT" sz="2000" dirty="0" err="1"/>
              <a:t>decomposed</a:t>
            </a:r>
            <a:r>
              <a:rPr lang="pt-PT" sz="2000" dirty="0"/>
              <a:t> </a:t>
            </a:r>
            <a:r>
              <a:rPr lang="pt-PT" sz="2000" dirty="0" err="1"/>
              <a:t>using</a:t>
            </a:r>
            <a:r>
              <a:rPr lang="pt-PT" sz="2000" dirty="0"/>
              <a:t> linear </a:t>
            </a:r>
            <a:r>
              <a:rPr lang="pt-PT" sz="2000" dirty="0" err="1"/>
              <a:t>algebra</a:t>
            </a:r>
            <a:r>
              <a:rPr lang="pt-PT" sz="2000" dirty="0"/>
              <a:t> </a:t>
            </a:r>
            <a:r>
              <a:rPr lang="pt-PT" sz="2000" dirty="0" err="1"/>
              <a:t>techniques</a:t>
            </a:r>
            <a:endParaRPr lang="pt-PT" sz="2000" dirty="0"/>
          </a:p>
          <a:p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000" dirty="0" err="1"/>
              <a:t>Components</a:t>
            </a:r>
            <a:r>
              <a:rPr lang="pt-PT" sz="2000" dirty="0"/>
              <a:t> are </a:t>
            </a:r>
            <a:r>
              <a:rPr lang="pt-PT" sz="2000" b="1" dirty="0" err="1"/>
              <a:t>uncorrelated</a:t>
            </a:r>
            <a:r>
              <a:rPr lang="pt-PT" sz="2000" b="1" dirty="0"/>
              <a:t> </a:t>
            </a:r>
            <a:r>
              <a:rPr lang="pt-PT" sz="2000" b="1" dirty="0" err="1"/>
              <a:t>ordered</a:t>
            </a:r>
            <a:r>
              <a:rPr lang="pt-PT" sz="2000" b="1" dirty="0"/>
              <a:t> </a:t>
            </a:r>
            <a:r>
              <a:rPr lang="pt-PT" sz="2000" b="1" dirty="0" err="1"/>
              <a:t>based</a:t>
            </a:r>
            <a:r>
              <a:rPr lang="pt-PT" sz="2000" b="1" dirty="0"/>
              <a:t> </a:t>
            </a:r>
            <a:r>
              <a:rPr lang="pt-PT" sz="2000" b="1" dirty="0" err="1"/>
              <a:t>on</a:t>
            </a:r>
            <a:r>
              <a:rPr lang="pt-PT" sz="2000" b="1" dirty="0"/>
              <a:t> </a:t>
            </a:r>
            <a:r>
              <a:rPr lang="pt-PT" sz="2000" b="1" dirty="0" err="1"/>
              <a:t>explained</a:t>
            </a:r>
            <a:r>
              <a:rPr lang="pt-PT" sz="2000" b="1" dirty="0"/>
              <a:t> </a:t>
            </a:r>
            <a:r>
              <a:rPr lang="pt-PT" sz="2000" b="1" dirty="0" err="1"/>
              <a:t>variability</a:t>
            </a:r>
            <a:r>
              <a:rPr lang="pt-PT" sz="2000" dirty="0"/>
              <a:t>: PC 1, PC 2, …</a:t>
            </a:r>
          </a:p>
          <a:p>
            <a:endParaRPr lang="pt-PT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000" dirty="0" err="1"/>
              <a:t>We</a:t>
            </a:r>
            <a:r>
              <a:rPr lang="pt-PT" sz="2000" dirty="0"/>
              <a:t> can </a:t>
            </a:r>
            <a:r>
              <a:rPr lang="pt-PT" sz="2000" dirty="0" err="1"/>
              <a:t>have</a:t>
            </a:r>
            <a:r>
              <a:rPr lang="pt-PT" sz="2000" dirty="0"/>
              <a:t> as </a:t>
            </a:r>
            <a:r>
              <a:rPr lang="pt-PT" sz="2000" dirty="0" err="1"/>
              <a:t>many</a:t>
            </a:r>
            <a:r>
              <a:rPr lang="pt-PT" sz="2000" dirty="0"/>
              <a:t> </a:t>
            </a:r>
            <a:r>
              <a:rPr lang="pt-PT" sz="2000" dirty="0" err="1"/>
              <a:t>PCs</a:t>
            </a:r>
            <a:r>
              <a:rPr lang="pt-PT" sz="2000" dirty="0"/>
              <a:t> as </a:t>
            </a:r>
            <a:r>
              <a:rPr lang="pt-PT" sz="2000" dirty="0" err="1"/>
              <a:t>variables</a:t>
            </a:r>
            <a:r>
              <a:rPr lang="pt-PT" sz="2000" dirty="0"/>
              <a:t> – </a:t>
            </a:r>
            <a:r>
              <a:rPr lang="pt-PT" sz="2000" i="1" dirty="0" err="1"/>
              <a:t>but</a:t>
            </a:r>
            <a:r>
              <a:rPr lang="pt-PT" sz="2000" i="1" dirty="0"/>
              <a:t> </a:t>
            </a:r>
            <a:r>
              <a:rPr lang="pt-PT" sz="2000" i="1" dirty="0" err="1"/>
              <a:t>we</a:t>
            </a:r>
            <a:r>
              <a:rPr lang="pt-PT" sz="2000" i="1" dirty="0"/>
              <a:t> </a:t>
            </a:r>
            <a:r>
              <a:rPr lang="pt-PT" sz="2000" i="1" dirty="0" err="1"/>
              <a:t>want</a:t>
            </a:r>
            <a:r>
              <a:rPr lang="pt-PT" sz="2000" i="1" dirty="0"/>
              <a:t> a </a:t>
            </a:r>
            <a:r>
              <a:rPr lang="pt-PT" sz="2000" i="1" dirty="0" err="1"/>
              <a:t>low</a:t>
            </a:r>
            <a:r>
              <a:rPr lang="pt-PT" sz="2000" i="1" dirty="0"/>
              <a:t> </a:t>
            </a:r>
            <a:r>
              <a:rPr lang="pt-PT" sz="2000" i="1" dirty="0" err="1"/>
              <a:t>number</a:t>
            </a:r>
            <a:r>
              <a:rPr lang="pt-PT" sz="2000" i="1" dirty="0"/>
              <a:t> </a:t>
            </a:r>
            <a:r>
              <a:rPr lang="pt-PT" sz="2000" i="1" dirty="0" err="1"/>
              <a:t>of</a:t>
            </a:r>
            <a:r>
              <a:rPr lang="pt-PT" sz="2000" i="1" dirty="0"/>
              <a:t> </a:t>
            </a:r>
            <a:r>
              <a:rPr lang="pt-PT" sz="2000" i="1" dirty="0" err="1"/>
              <a:t>PCs</a:t>
            </a:r>
            <a:r>
              <a:rPr lang="pt-PT" sz="2000" i="1" dirty="0"/>
              <a:t> for </a:t>
            </a:r>
            <a:r>
              <a:rPr lang="pt-PT" sz="2000" i="1" dirty="0" err="1"/>
              <a:t>dimensionality</a:t>
            </a:r>
            <a:r>
              <a:rPr lang="pt-PT" sz="2000" i="1" dirty="0"/>
              <a:t> </a:t>
            </a:r>
            <a:r>
              <a:rPr lang="pt-PT" sz="2000" i="1" dirty="0" err="1"/>
              <a:t>reduction</a:t>
            </a:r>
            <a:endParaRPr lang="pt-PT" sz="2000" i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2000" i="1" dirty="0"/>
          </a:p>
        </p:txBody>
      </p: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B6120EFC-256C-553D-7F09-31E810B753C9}"/>
              </a:ext>
            </a:extLst>
          </p:cNvPr>
          <p:cNvGrpSpPr/>
          <p:nvPr/>
        </p:nvGrpSpPr>
        <p:grpSpPr>
          <a:xfrm>
            <a:off x="1626002" y="2840106"/>
            <a:ext cx="8645019" cy="3881369"/>
            <a:chOff x="1466975" y="2620673"/>
            <a:chExt cx="8645019" cy="3881369"/>
          </a:xfrm>
        </p:grpSpPr>
        <p:pic>
          <p:nvPicPr>
            <p:cNvPr id="3" name="Imagem 2">
              <a:extLst>
                <a:ext uri="{FF2B5EF4-FFF2-40B4-BE49-F238E27FC236}">
                  <a16:creationId xmlns:a16="http://schemas.microsoft.com/office/drawing/2014/main" id="{091EC791-8683-A4AD-0C84-2CC1F9487B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66975" y="3150579"/>
              <a:ext cx="8177998" cy="2509057"/>
            </a:xfrm>
            <a:prstGeom prst="rect">
              <a:avLst/>
            </a:prstGeom>
          </p:spPr>
        </p:pic>
        <p:sp>
          <p:nvSpPr>
            <p:cNvPr id="6" name="Chaveta à esquerda 5">
              <a:extLst>
                <a:ext uri="{FF2B5EF4-FFF2-40B4-BE49-F238E27FC236}">
                  <a16:creationId xmlns:a16="http://schemas.microsoft.com/office/drawing/2014/main" id="{2A7AC7C3-1214-70CB-D23A-F0147953D42E}"/>
                </a:ext>
              </a:extLst>
            </p:cNvPr>
            <p:cNvSpPr/>
            <p:nvPr/>
          </p:nvSpPr>
          <p:spPr>
            <a:xfrm rot="16200000">
              <a:off x="5350778" y="4276137"/>
              <a:ext cx="483257" cy="3250256"/>
            </a:xfrm>
            <a:prstGeom prst="lef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AD694829-06E8-495F-0EF2-E6390A7CCAA4}"/>
                </a:ext>
              </a:extLst>
            </p:cNvPr>
            <p:cNvSpPr txBox="1"/>
            <p:nvPr/>
          </p:nvSpPr>
          <p:spPr>
            <a:xfrm>
              <a:off x="4485901" y="6132710"/>
              <a:ext cx="23764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dirty="0" err="1"/>
                <a:t>Structured</a:t>
              </a:r>
              <a:r>
                <a:rPr lang="pt-PT" dirty="0"/>
                <a:t> </a:t>
              </a:r>
              <a:r>
                <a:rPr lang="pt-PT" dirty="0" err="1"/>
                <a:t>variability</a:t>
              </a:r>
              <a:endParaRPr lang="en-US" dirty="0"/>
            </a:p>
          </p:txBody>
        </p:sp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A070DCD3-BFA4-DE8D-BCDA-DD97B938D001}"/>
                </a:ext>
              </a:extLst>
            </p:cNvPr>
            <p:cNvSpPr txBox="1"/>
            <p:nvPr/>
          </p:nvSpPr>
          <p:spPr>
            <a:xfrm>
              <a:off x="7558260" y="6128503"/>
              <a:ext cx="25537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dirty="0" err="1"/>
                <a:t>Unstructured</a:t>
              </a:r>
              <a:r>
                <a:rPr lang="pt-PT" dirty="0"/>
                <a:t> </a:t>
              </a:r>
              <a:r>
                <a:rPr lang="pt-PT" dirty="0" err="1"/>
                <a:t>variability</a:t>
              </a:r>
              <a:endParaRPr lang="en-US" dirty="0"/>
            </a:p>
          </p:txBody>
        </p:sp>
        <p:sp>
          <p:nvSpPr>
            <p:cNvPr id="10" name="CaixaDeTexto 9">
              <a:extLst>
                <a:ext uri="{FF2B5EF4-FFF2-40B4-BE49-F238E27FC236}">
                  <a16:creationId xmlns:a16="http://schemas.microsoft.com/office/drawing/2014/main" id="{F47191A0-DFEF-4E65-E25B-700B63628EC0}"/>
                </a:ext>
              </a:extLst>
            </p:cNvPr>
            <p:cNvSpPr txBox="1"/>
            <p:nvPr/>
          </p:nvSpPr>
          <p:spPr>
            <a:xfrm>
              <a:off x="4919183" y="4164089"/>
              <a:ext cx="219923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dirty="0"/>
                <a:t>M – </a:t>
              </a:r>
              <a:r>
                <a:rPr lang="pt-PT" dirty="0" err="1"/>
                <a:t>number</a:t>
              </a:r>
              <a:r>
                <a:rPr lang="pt-PT" dirty="0"/>
                <a:t> </a:t>
              </a:r>
              <a:r>
                <a:rPr lang="pt-PT" dirty="0" err="1"/>
                <a:t>of</a:t>
              </a:r>
              <a:r>
                <a:rPr lang="pt-PT" dirty="0"/>
                <a:t> </a:t>
              </a:r>
              <a:r>
                <a:rPr lang="pt-PT" dirty="0" err="1"/>
                <a:t>PCs</a:t>
              </a:r>
              <a:r>
                <a:rPr lang="pt-PT" dirty="0"/>
                <a:t> (</a:t>
              </a:r>
              <a:r>
                <a:rPr lang="pt-PT" dirty="0" err="1"/>
                <a:t>or</a:t>
              </a:r>
              <a:r>
                <a:rPr lang="pt-PT" dirty="0"/>
                <a:t> </a:t>
              </a:r>
              <a:r>
                <a:rPr lang="pt-PT" dirty="0" err="1"/>
                <a:t>latent</a:t>
              </a:r>
              <a:r>
                <a:rPr lang="pt-PT" dirty="0"/>
                <a:t> </a:t>
              </a:r>
              <a:r>
                <a:rPr lang="pt-PT" dirty="0" err="1"/>
                <a:t>variables</a:t>
              </a:r>
              <a:r>
                <a:rPr lang="pt-PT" dirty="0"/>
                <a:t>)</a:t>
              </a:r>
              <a:endParaRPr lang="en-US" dirty="0"/>
            </a:p>
          </p:txBody>
        </p:sp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55DE0281-85BE-0091-D281-E042A3DA7811}"/>
                </a:ext>
              </a:extLst>
            </p:cNvPr>
            <p:cNvSpPr txBox="1"/>
            <p:nvPr/>
          </p:nvSpPr>
          <p:spPr>
            <a:xfrm>
              <a:off x="2281586" y="2620673"/>
              <a:ext cx="678511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2800" b="1" dirty="0"/>
                <a:t>Data =  Scores x </a:t>
              </a:r>
              <a:r>
                <a:rPr lang="pt-PT" sz="2800" b="1" dirty="0" err="1"/>
                <a:t>Loadings</a:t>
              </a:r>
              <a:r>
                <a:rPr lang="pt-PT" sz="2800" b="1" dirty="0"/>
                <a:t> + </a:t>
              </a:r>
              <a:r>
                <a:rPr lang="pt-PT" sz="2800" b="1" dirty="0" err="1"/>
                <a:t>Residuals</a:t>
              </a:r>
              <a:endParaRPr lang="en-US" sz="28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99458286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D7B2B7-C2B2-0FC1-53E5-17DD6BFA2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771A4D44-4E5B-EEBA-2192-14F184DD7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48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51FA1F30-D249-FCE8-47E9-0A872BBE99C6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Principal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Component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Analysis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–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suggested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steps</a:t>
            </a:r>
            <a:endParaRPr lang="en-US" sz="2800" b="1" dirty="0">
              <a:solidFill>
                <a:schemeClr val="bg1"/>
              </a:solidFill>
              <a:latin typeface="Calibri Light"/>
              <a:ea typeface="Arrus BT Roman"/>
              <a:cs typeface="Arrus BT Roman"/>
            </a:endParaRPr>
          </a:p>
        </p:txBody>
      </p:sp>
      <p:graphicFrame>
        <p:nvGraphicFramePr>
          <p:cNvPr id="3" name="Diagrama 2">
            <a:extLst>
              <a:ext uri="{FF2B5EF4-FFF2-40B4-BE49-F238E27FC236}">
                <a16:creationId xmlns:a16="http://schemas.microsoft.com/office/drawing/2014/main" id="{875E6353-993A-8B91-01E6-A10BAFAA75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39889328"/>
              </p:ext>
            </p:extLst>
          </p:nvPr>
        </p:nvGraphicFramePr>
        <p:xfrm>
          <a:off x="2031998" y="88018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2055935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F344B1-E4C4-4DA5-0223-06B3F9209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1A0EB388-25FB-2E74-00D1-2F2DAC792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49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19219F47-DE37-FA0F-04FD-70B1A5F189B0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Principal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Component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Analysis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–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application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to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spectroscopic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data </a:t>
            </a:r>
            <a:endParaRPr lang="en-US" sz="2800" b="1" dirty="0">
              <a:solidFill>
                <a:schemeClr val="bg1"/>
              </a:solidFill>
              <a:latin typeface="Calibri Light"/>
              <a:ea typeface="Arrus BT Roman"/>
              <a:cs typeface="Arrus BT Roman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ABED7BC7-C87E-286B-3C66-3D6EA2C742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246" y="2861938"/>
            <a:ext cx="4826028" cy="3676974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1F3B162-C8AD-3D4F-14D1-FFB55A30CA7A}"/>
              </a:ext>
            </a:extLst>
          </p:cNvPr>
          <p:cNvSpPr txBox="1"/>
          <p:nvPr/>
        </p:nvSpPr>
        <p:spPr>
          <a:xfrm>
            <a:off x="0" y="471335"/>
            <a:ext cx="12191996" cy="23381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/>
              <a:t>PCA </a:t>
            </a:r>
            <a:r>
              <a:rPr lang="pt-PT" dirty="0" err="1"/>
              <a:t>is</a:t>
            </a:r>
            <a:r>
              <a:rPr lang="pt-PT" dirty="0"/>
              <a:t> </a:t>
            </a:r>
            <a:r>
              <a:rPr lang="pt-PT" dirty="0" err="1"/>
              <a:t>sensitive</a:t>
            </a:r>
            <a:r>
              <a:rPr lang="pt-PT" dirty="0"/>
              <a:t> to </a:t>
            </a:r>
            <a:r>
              <a:rPr lang="pt-PT" dirty="0" err="1"/>
              <a:t>the</a:t>
            </a:r>
            <a:r>
              <a:rPr lang="pt-PT" dirty="0"/>
              <a:t> </a:t>
            </a:r>
            <a:r>
              <a:rPr lang="pt-PT" dirty="0" err="1"/>
              <a:t>differences</a:t>
            </a:r>
            <a:r>
              <a:rPr lang="pt-PT" dirty="0"/>
              <a:t> in </a:t>
            </a:r>
            <a:r>
              <a:rPr lang="pt-PT" dirty="0" err="1"/>
              <a:t>scale</a:t>
            </a:r>
            <a:r>
              <a:rPr lang="pt-PT" dirty="0"/>
              <a:t> </a:t>
            </a:r>
            <a:r>
              <a:rPr lang="pt-PT" dirty="0" err="1"/>
              <a:t>between</a:t>
            </a:r>
            <a:r>
              <a:rPr lang="pt-PT" dirty="0"/>
              <a:t> </a:t>
            </a:r>
            <a:r>
              <a:rPr lang="pt-PT" dirty="0" err="1"/>
              <a:t>variables</a:t>
            </a:r>
            <a:endParaRPr lang="pt-PT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 err="1"/>
              <a:t>Tipically</a:t>
            </a:r>
            <a:r>
              <a:rPr lang="pt-PT" dirty="0"/>
              <a:t> for non-</a:t>
            </a:r>
            <a:r>
              <a:rPr lang="pt-PT" dirty="0" err="1"/>
              <a:t>sequential</a:t>
            </a:r>
            <a:r>
              <a:rPr lang="pt-PT" dirty="0"/>
              <a:t> </a:t>
            </a:r>
            <a:r>
              <a:rPr lang="pt-PT" dirty="0" err="1"/>
              <a:t>process</a:t>
            </a:r>
            <a:r>
              <a:rPr lang="pt-PT" dirty="0"/>
              <a:t> data </a:t>
            </a:r>
            <a:r>
              <a:rPr lang="pt-PT" dirty="0" err="1"/>
              <a:t>we</a:t>
            </a:r>
            <a:r>
              <a:rPr lang="pt-PT" dirty="0"/>
              <a:t> </a:t>
            </a:r>
            <a:r>
              <a:rPr lang="pt-PT" dirty="0" err="1"/>
              <a:t>apply</a:t>
            </a:r>
            <a:r>
              <a:rPr lang="pt-PT" dirty="0"/>
              <a:t> </a:t>
            </a:r>
            <a:r>
              <a:rPr lang="pt-PT" b="1" dirty="0" err="1"/>
              <a:t>autoscaling</a:t>
            </a:r>
            <a:r>
              <a:rPr lang="pt-PT" dirty="0"/>
              <a:t> – </a:t>
            </a:r>
            <a:r>
              <a:rPr lang="pt-PT" dirty="0" err="1"/>
              <a:t>subtract</a:t>
            </a:r>
            <a:r>
              <a:rPr lang="pt-PT" dirty="0"/>
              <a:t> </a:t>
            </a:r>
            <a:r>
              <a:rPr lang="pt-PT" dirty="0" err="1"/>
              <a:t>mean</a:t>
            </a:r>
            <a:r>
              <a:rPr lang="pt-PT" dirty="0"/>
              <a:t>, divide </a:t>
            </a:r>
            <a:r>
              <a:rPr lang="pt-PT" dirty="0" err="1"/>
              <a:t>by</a:t>
            </a:r>
            <a:r>
              <a:rPr lang="pt-PT" dirty="0"/>
              <a:t> standard </a:t>
            </a:r>
            <a:r>
              <a:rPr lang="pt-PT" dirty="0" err="1"/>
              <a:t>deviation</a:t>
            </a:r>
            <a:endParaRPr lang="pt-PT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/>
              <a:t>For </a:t>
            </a:r>
            <a:r>
              <a:rPr lang="pt-PT" dirty="0" err="1"/>
              <a:t>spectroscopic</a:t>
            </a:r>
            <a:r>
              <a:rPr lang="pt-PT" dirty="0"/>
              <a:t> data, </a:t>
            </a:r>
            <a:r>
              <a:rPr lang="pt-PT" b="1" dirty="0" err="1"/>
              <a:t>mean</a:t>
            </a:r>
            <a:r>
              <a:rPr lang="pt-PT" b="1" dirty="0"/>
              <a:t> </a:t>
            </a:r>
            <a:r>
              <a:rPr lang="pt-PT" b="1" dirty="0" err="1"/>
              <a:t>centering</a:t>
            </a:r>
            <a:r>
              <a:rPr lang="pt-PT" b="1" dirty="0"/>
              <a:t> </a:t>
            </a:r>
            <a:r>
              <a:rPr lang="pt-PT" dirty="0" err="1"/>
              <a:t>is</a:t>
            </a:r>
            <a:r>
              <a:rPr lang="pt-PT" dirty="0"/>
              <a:t> </a:t>
            </a:r>
            <a:r>
              <a:rPr lang="pt-PT" dirty="0" err="1"/>
              <a:t>reccomended</a:t>
            </a:r>
            <a:r>
              <a:rPr lang="pt-PT" dirty="0"/>
              <a:t> – </a:t>
            </a:r>
            <a:r>
              <a:rPr lang="pt-PT" dirty="0" err="1"/>
              <a:t>each</a:t>
            </a:r>
            <a:r>
              <a:rPr lang="pt-PT" dirty="0"/>
              <a:t> individual </a:t>
            </a:r>
            <a:r>
              <a:rPr lang="pt-PT" dirty="0" err="1"/>
              <a:t>spectra</a:t>
            </a:r>
            <a:r>
              <a:rPr lang="pt-PT" dirty="0"/>
              <a:t> </a:t>
            </a:r>
            <a:r>
              <a:rPr lang="pt-PT" dirty="0" err="1"/>
              <a:t>is</a:t>
            </a:r>
            <a:r>
              <a:rPr lang="pt-PT" dirty="0"/>
              <a:t> </a:t>
            </a:r>
            <a:r>
              <a:rPr lang="pt-PT" dirty="0" err="1"/>
              <a:t>divided</a:t>
            </a:r>
            <a:r>
              <a:rPr lang="pt-PT" dirty="0"/>
              <a:t> </a:t>
            </a:r>
            <a:r>
              <a:rPr lang="pt-PT" dirty="0" err="1"/>
              <a:t>by</a:t>
            </a:r>
            <a:r>
              <a:rPr lang="pt-PT" dirty="0"/>
              <a:t> </a:t>
            </a:r>
            <a:r>
              <a:rPr lang="pt-PT" dirty="0" err="1"/>
              <a:t>the</a:t>
            </a:r>
            <a:r>
              <a:rPr lang="pt-PT" dirty="0"/>
              <a:t> </a:t>
            </a:r>
            <a:r>
              <a:rPr lang="pt-PT" dirty="0" err="1"/>
              <a:t>mean</a:t>
            </a:r>
            <a:r>
              <a:rPr lang="pt-PT" dirty="0"/>
              <a:t> </a:t>
            </a:r>
            <a:r>
              <a:rPr lang="pt-PT" dirty="0" err="1"/>
              <a:t>spectra</a:t>
            </a:r>
            <a:endParaRPr lang="pt-PT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B12676B1-8932-1A04-16AE-B9F4C81DF1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0238" y="2861938"/>
            <a:ext cx="4826029" cy="3606997"/>
          </a:xfrm>
          <a:prstGeom prst="rect">
            <a:avLst/>
          </a:prstGeom>
        </p:spPr>
      </p:pic>
      <p:sp>
        <p:nvSpPr>
          <p:cNvPr id="2" name="Seta: Para a Direita 1">
            <a:extLst>
              <a:ext uri="{FF2B5EF4-FFF2-40B4-BE49-F238E27FC236}">
                <a16:creationId xmlns:a16="http://schemas.microsoft.com/office/drawing/2014/main" id="{C610DF0D-267D-EB9C-8FD2-F3891674BCC1}"/>
              </a:ext>
            </a:extLst>
          </p:cNvPr>
          <p:cNvSpPr/>
          <p:nvPr/>
        </p:nvSpPr>
        <p:spPr>
          <a:xfrm>
            <a:off x="5246669" y="4048541"/>
            <a:ext cx="1823569" cy="828259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B371937D-BFA3-C35E-1839-446F0F240E44}"/>
              </a:ext>
            </a:extLst>
          </p:cNvPr>
          <p:cNvSpPr txBox="1"/>
          <p:nvPr/>
        </p:nvSpPr>
        <p:spPr>
          <a:xfrm>
            <a:off x="5324061" y="3167271"/>
            <a:ext cx="15438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2400" b="1" dirty="0" err="1"/>
              <a:t>Mean</a:t>
            </a:r>
            <a:r>
              <a:rPr lang="pt-PT" sz="2400" b="1" dirty="0"/>
              <a:t> </a:t>
            </a:r>
            <a:r>
              <a:rPr lang="pt-PT" sz="2400" b="1" dirty="0" err="1"/>
              <a:t>centering</a:t>
            </a:r>
            <a:endParaRPr lang="en-US" sz="2400" b="1" dirty="0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B1DB0AAD-B8F7-B388-4952-F4F5382E72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2274" y="1366867"/>
            <a:ext cx="3534177" cy="1080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92124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7323B4-8DA2-1A8B-43A5-39D7D7966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9A35CB30-8A40-4C6F-D6C9-7E69D4D6C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50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D940F4B0-72FA-D62E-4401-CFED17740E37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Principal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Component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Analysis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–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application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to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spectroscopic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data </a:t>
            </a:r>
            <a:endParaRPr lang="en-US" sz="2800" b="1" dirty="0">
              <a:solidFill>
                <a:schemeClr val="bg1"/>
              </a:solidFill>
              <a:latin typeface="Calibri Light"/>
              <a:ea typeface="Arrus BT Roman"/>
              <a:cs typeface="Arrus BT Roman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39F85EF-87E5-C209-0EDA-F2D4A58F2C13}"/>
              </a:ext>
            </a:extLst>
          </p:cNvPr>
          <p:cNvSpPr txBox="1"/>
          <p:nvPr/>
        </p:nvSpPr>
        <p:spPr>
          <a:xfrm>
            <a:off x="-4" y="596655"/>
            <a:ext cx="12192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/>
              <a:t>PCA </a:t>
            </a:r>
            <a:r>
              <a:rPr lang="pt-PT" dirty="0" err="1"/>
              <a:t>effectively</a:t>
            </a:r>
            <a:r>
              <a:rPr lang="pt-PT" dirty="0"/>
              <a:t> </a:t>
            </a:r>
            <a:r>
              <a:rPr lang="pt-PT" dirty="0" err="1"/>
              <a:t>reduces</a:t>
            </a:r>
            <a:r>
              <a:rPr lang="pt-PT" dirty="0"/>
              <a:t> </a:t>
            </a:r>
            <a:r>
              <a:rPr lang="pt-PT" dirty="0" err="1"/>
              <a:t>the</a:t>
            </a:r>
            <a:r>
              <a:rPr lang="pt-PT" dirty="0"/>
              <a:t> </a:t>
            </a:r>
            <a:r>
              <a:rPr lang="pt-PT" dirty="0" err="1"/>
              <a:t>dimension</a:t>
            </a:r>
            <a:r>
              <a:rPr lang="pt-PT" dirty="0"/>
              <a:t> </a:t>
            </a:r>
            <a:r>
              <a:rPr lang="pt-PT" dirty="0" err="1"/>
              <a:t>of</a:t>
            </a:r>
            <a:r>
              <a:rPr lang="pt-PT" dirty="0"/>
              <a:t> </a:t>
            </a:r>
            <a:r>
              <a:rPr lang="pt-PT" dirty="0" err="1"/>
              <a:t>the</a:t>
            </a:r>
            <a:r>
              <a:rPr lang="pt-PT" dirty="0"/>
              <a:t> data </a:t>
            </a:r>
            <a:r>
              <a:rPr lang="pt-PT" dirty="0" err="1"/>
              <a:t>under</a:t>
            </a:r>
            <a:r>
              <a:rPr lang="pt-PT" dirty="0"/>
              <a:t> </a:t>
            </a:r>
            <a:r>
              <a:rPr lang="pt-PT" dirty="0" err="1"/>
              <a:t>analysis</a:t>
            </a:r>
            <a:r>
              <a:rPr lang="pt-PT" dirty="0"/>
              <a:t> (900 </a:t>
            </a:r>
            <a:r>
              <a:rPr lang="pt-PT" dirty="0" err="1"/>
              <a:t>variables</a:t>
            </a:r>
            <a:r>
              <a:rPr lang="pt-PT" dirty="0"/>
              <a:t> to 1-2 </a:t>
            </a:r>
            <a:r>
              <a:rPr lang="pt-PT" dirty="0" err="1"/>
              <a:t>latent</a:t>
            </a:r>
            <a:r>
              <a:rPr lang="pt-PT" dirty="0"/>
              <a:t> </a:t>
            </a:r>
            <a:r>
              <a:rPr lang="pt-PT" dirty="0" err="1"/>
              <a:t>variables</a:t>
            </a:r>
            <a:r>
              <a:rPr lang="pt-PT" dirty="0"/>
              <a:t>)</a:t>
            </a:r>
          </a:p>
          <a:p>
            <a:endParaRPr lang="pt-P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 err="1"/>
              <a:t>The</a:t>
            </a:r>
            <a:r>
              <a:rPr lang="pt-PT" dirty="0"/>
              <a:t> </a:t>
            </a:r>
            <a:r>
              <a:rPr lang="pt-PT" dirty="0" err="1"/>
              <a:t>correlation</a:t>
            </a:r>
            <a:r>
              <a:rPr lang="pt-PT" dirty="0"/>
              <a:t> in </a:t>
            </a:r>
            <a:r>
              <a:rPr lang="pt-PT" dirty="0" err="1"/>
              <a:t>the</a:t>
            </a:r>
            <a:r>
              <a:rPr lang="pt-PT" dirty="0"/>
              <a:t> </a:t>
            </a:r>
            <a:r>
              <a:rPr lang="pt-PT" dirty="0" err="1"/>
              <a:t>beer</a:t>
            </a:r>
            <a:r>
              <a:rPr lang="pt-PT" dirty="0"/>
              <a:t> </a:t>
            </a:r>
            <a:r>
              <a:rPr lang="pt-PT" dirty="0" err="1"/>
              <a:t>spectra</a:t>
            </a:r>
            <a:r>
              <a:rPr lang="pt-PT" dirty="0"/>
              <a:t> </a:t>
            </a:r>
            <a:r>
              <a:rPr lang="pt-PT" dirty="0" err="1"/>
              <a:t>is</a:t>
            </a:r>
            <a:r>
              <a:rPr lang="pt-PT" dirty="0"/>
              <a:t> </a:t>
            </a:r>
            <a:r>
              <a:rPr lang="pt-PT" b="1" dirty="0" err="1"/>
              <a:t>inherently</a:t>
            </a:r>
            <a:r>
              <a:rPr lang="pt-PT" b="1" dirty="0"/>
              <a:t> </a:t>
            </a:r>
            <a:r>
              <a:rPr lang="pt-PT" b="1" dirty="0" err="1"/>
              <a:t>lower</a:t>
            </a:r>
            <a:r>
              <a:rPr lang="pt-PT" b="1" dirty="0"/>
              <a:t> dimensional – </a:t>
            </a:r>
            <a:r>
              <a:rPr lang="pt-PT" dirty="0"/>
              <a:t>1 </a:t>
            </a:r>
            <a:r>
              <a:rPr lang="pt-PT" dirty="0" err="1"/>
              <a:t>component</a:t>
            </a:r>
            <a:r>
              <a:rPr lang="pt-PT" dirty="0"/>
              <a:t> </a:t>
            </a:r>
            <a:r>
              <a:rPr lang="pt-PT" dirty="0" err="1"/>
              <a:t>explains</a:t>
            </a:r>
            <a:r>
              <a:rPr lang="pt-PT" dirty="0"/>
              <a:t> 92% </a:t>
            </a:r>
            <a:r>
              <a:rPr lang="pt-PT" dirty="0" err="1"/>
              <a:t>of</a:t>
            </a:r>
            <a:r>
              <a:rPr lang="pt-PT" dirty="0"/>
              <a:t> data </a:t>
            </a:r>
            <a:r>
              <a:rPr lang="pt-PT" dirty="0" err="1"/>
              <a:t>variability</a:t>
            </a:r>
            <a:r>
              <a:rPr lang="pt-PT" dirty="0"/>
              <a:t> 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251FE663-50BC-48B5-1232-B502F185A6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1322" y="1811124"/>
            <a:ext cx="6260997" cy="4203812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F180B339-C087-9BD6-1D91-B90B3A3E4D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13" y="1811124"/>
            <a:ext cx="5691809" cy="4254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491708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D1334-7FE1-382D-A1CA-5103EFCEB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05811734-315A-6DB6-9727-096CA2007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51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365A5581-C4B6-DED6-9EC4-227BE1B94E91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Principal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Component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Analysis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–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application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to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spectroscopic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data </a:t>
            </a:r>
            <a:endParaRPr lang="en-US" sz="2800" b="1" dirty="0">
              <a:solidFill>
                <a:schemeClr val="bg1"/>
              </a:solidFill>
              <a:latin typeface="Calibri Light"/>
              <a:ea typeface="Arrus BT Roman"/>
              <a:cs typeface="Arrus BT Roman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A3423E1-0A31-93E2-39A3-0DF5303516C2}"/>
              </a:ext>
            </a:extLst>
          </p:cNvPr>
          <p:cNvSpPr txBox="1"/>
          <p:nvPr/>
        </p:nvSpPr>
        <p:spPr>
          <a:xfrm>
            <a:off x="0" y="479338"/>
            <a:ext cx="12192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 err="1"/>
              <a:t>How</a:t>
            </a:r>
            <a:r>
              <a:rPr lang="pt-PT" dirty="0"/>
              <a:t> to </a:t>
            </a:r>
            <a:r>
              <a:rPr lang="pt-PT" dirty="0" err="1"/>
              <a:t>choose</a:t>
            </a:r>
            <a:r>
              <a:rPr lang="pt-PT" dirty="0"/>
              <a:t> </a:t>
            </a:r>
            <a:r>
              <a:rPr lang="pt-PT" dirty="0" err="1"/>
              <a:t>number</a:t>
            </a:r>
            <a:r>
              <a:rPr lang="pt-PT" dirty="0"/>
              <a:t> </a:t>
            </a:r>
            <a:r>
              <a:rPr lang="pt-PT" dirty="0" err="1"/>
              <a:t>of</a:t>
            </a:r>
            <a:r>
              <a:rPr lang="pt-PT" dirty="0"/>
              <a:t> principal </a:t>
            </a:r>
            <a:r>
              <a:rPr lang="pt-PT" dirty="0" err="1"/>
              <a:t>components</a:t>
            </a:r>
            <a:r>
              <a:rPr lang="pt-PT" dirty="0"/>
              <a:t>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PT" dirty="0"/>
              <a:t>For </a:t>
            </a:r>
            <a:r>
              <a:rPr lang="pt-PT" dirty="0" err="1"/>
              <a:t>spectroscopic</a:t>
            </a:r>
            <a:r>
              <a:rPr lang="pt-PT" dirty="0"/>
              <a:t> data - visual </a:t>
            </a:r>
            <a:r>
              <a:rPr lang="pt-PT" dirty="0" err="1"/>
              <a:t>inspection</a:t>
            </a:r>
            <a:r>
              <a:rPr lang="pt-PT" dirty="0"/>
              <a:t> </a:t>
            </a:r>
            <a:r>
              <a:rPr lang="pt-PT" dirty="0" err="1"/>
              <a:t>of</a:t>
            </a:r>
            <a:r>
              <a:rPr lang="pt-PT" dirty="0"/>
              <a:t> </a:t>
            </a:r>
            <a:r>
              <a:rPr lang="pt-PT" dirty="0" err="1"/>
              <a:t>latent</a:t>
            </a:r>
            <a:r>
              <a:rPr lang="pt-PT" dirty="0"/>
              <a:t> </a:t>
            </a:r>
            <a:r>
              <a:rPr lang="pt-PT" dirty="0" err="1"/>
              <a:t>variable</a:t>
            </a:r>
            <a:r>
              <a:rPr lang="pt-PT" dirty="0"/>
              <a:t> </a:t>
            </a:r>
            <a:r>
              <a:rPr lang="pt-PT" dirty="0" err="1"/>
              <a:t>loading</a:t>
            </a:r>
            <a:r>
              <a:rPr lang="pt-PT" dirty="0"/>
              <a:t> </a:t>
            </a:r>
            <a:r>
              <a:rPr lang="pt-PT" dirty="0" err="1"/>
              <a:t>vectors</a:t>
            </a:r>
            <a:endParaRPr lang="pt-PT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pt-PT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PT" b="1" dirty="0" err="1"/>
              <a:t>Explained</a:t>
            </a:r>
            <a:r>
              <a:rPr lang="pt-PT" b="1" dirty="0"/>
              <a:t> </a:t>
            </a:r>
            <a:r>
              <a:rPr lang="pt-PT" b="1" dirty="0" err="1"/>
              <a:t>variability</a:t>
            </a:r>
            <a:r>
              <a:rPr lang="pt-PT" b="1" dirty="0"/>
              <a:t>: </a:t>
            </a:r>
            <a:r>
              <a:rPr lang="pt-PT" dirty="0"/>
              <a:t>90%, 95% </a:t>
            </a:r>
            <a:r>
              <a:rPr lang="pt-PT" i="1" dirty="0">
                <a:solidFill>
                  <a:srgbClr val="FF0000"/>
                </a:solidFill>
              </a:rPr>
              <a:t>- </a:t>
            </a:r>
            <a:r>
              <a:rPr lang="pt-PT" b="1" i="1" dirty="0" err="1">
                <a:solidFill>
                  <a:srgbClr val="FF0000"/>
                </a:solidFill>
              </a:rPr>
              <a:t>Warning</a:t>
            </a:r>
            <a:r>
              <a:rPr lang="pt-PT" b="1" i="1" dirty="0">
                <a:solidFill>
                  <a:srgbClr val="FF0000"/>
                </a:solidFill>
              </a:rPr>
              <a:t>:</a:t>
            </a:r>
            <a:r>
              <a:rPr lang="pt-PT" i="1" dirty="0">
                <a:solidFill>
                  <a:srgbClr val="FF0000"/>
                </a:solidFill>
              </a:rPr>
              <a:t> </a:t>
            </a:r>
            <a:r>
              <a:rPr lang="pt-PT" i="1" dirty="0" err="1">
                <a:solidFill>
                  <a:srgbClr val="FF0000"/>
                </a:solidFill>
              </a:rPr>
              <a:t>we</a:t>
            </a:r>
            <a:r>
              <a:rPr lang="pt-PT" i="1" dirty="0">
                <a:solidFill>
                  <a:srgbClr val="FF0000"/>
                </a:solidFill>
              </a:rPr>
              <a:t> do </a:t>
            </a:r>
            <a:r>
              <a:rPr lang="pt-PT" i="1" dirty="0" err="1">
                <a:solidFill>
                  <a:srgbClr val="FF0000"/>
                </a:solidFill>
              </a:rPr>
              <a:t>not</a:t>
            </a:r>
            <a:r>
              <a:rPr lang="pt-PT" i="1" dirty="0">
                <a:solidFill>
                  <a:srgbClr val="FF0000"/>
                </a:solidFill>
              </a:rPr>
              <a:t> </a:t>
            </a:r>
            <a:r>
              <a:rPr lang="pt-PT" i="1" dirty="0" err="1">
                <a:solidFill>
                  <a:srgbClr val="FF0000"/>
                </a:solidFill>
              </a:rPr>
              <a:t>want</a:t>
            </a:r>
            <a:r>
              <a:rPr lang="pt-PT" i="1" dirty="0">
                <a:solidFill>
                  <a:srgbClr val="FF0000"/>
                </a:solidFill>
              </a:rPr>
              <a:t> to capture too </a:t>
            </a:r>
            <a:r>
              <a:rPr lang="pt-PT" i="1" dirty="0" err="1">
                <a:solidFill>
                  <a:srgbClr val="FF0000"/>
                </a:solidFill>
              </a:rPr>
              <a:t>much</a:t>
            </a:r>
            <a:r>
              <a:rPr lang="pt-PT" i="1" dirty="0">
                <a:solidFill>
                  <a:srgbClr val="FF0000"/>
                </a:solidFill>
              </a:rPr>
              <a:t> </a:t>
            </a:r>
            <a:r>
              <a:rPr lang="pt-PT" i="1" dirty="0" err="1">
                <a:solidFill>
                  <a:srgbClr val="FF0000"/>
                </a:solidFill>
              </a:rPr>
              <a:t>variability</a:t>
            </a:r>
            <a:r>
              <a:rPr lang="pt-PT" i="1" dirty="0">
                <a:solidFill>
                  <a:srgbClr val="FF0000"/>
                </a:solidFill>
              </a:rPr>
              <a:t> </a:t>
            </a:r>
            <a:r>
              <a:rPr lang="pt-PT" i="1" dirty="0" err="1">
                <a:solidFill>
                  <a:srgbClr val="FF0000"/>
                </a:solidFill>
              </a:rPr>
              <a:t>when</a:t>
            </a:r>
            <a:r>
              <a:rPr lang="pt-PT" i="1" dirty="0">
                <a:solidFill>
                  <a:srgbClr val="FF0000"/>
                </a:solidFill>
              </a:rPr>
              <a:t> data </a:t>
            </a:r>
            <a:r>
              <a:rPr lang="pt-PT" i="1" dirty="0" err="1">
                <a:solidFill>
                  <a:srgbClr val="FF0000"/>
                </a:solidFill>
              </a:rPr>
              <a:t>has</a:t>
            </a:r>
            <a:r>
              <a:rPr lang="pt-PT" i="1" dirty="0">
                <a:solidFill>
                  <a:srgbClr val="FF0000"/>
                </a:solidFill>
              </a:rPr>
              <a:t> noise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pt-PT" b="1" i="1" dirty="0">
              <a:solidFill>
                <a:srgbClr val="FF000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PT" b="1" dirty="0" err="1"/>
              <a:t>Kaiser’s</a:t>
            </a:r>
            <a:r>
              <a:rPr lang="pt-PT" b="1" dirty="0"/>
              <a:t> </a:t>
            </a:r>
            <a:r>
              <a:rPr lang="pt-PT" b="1" dirty="0" err="1"/>
              <a:t>criteria</a:t>
            </a:r>
            <a:r>
              <a:rPr lang="pt-PT" b="1" dirty="0"/>
              <a:t> </a:t>
            </a:r>
            <a:r>
              <a:rPr lang="pt-PT" b="1" dirty="0" err="1"/>
              <a:t>or</a:t>
            </a:r>
            <a:r>
              <a:rPr lang="pt-PT" b="1" dirty="0"/>
              <a:t> </a:t>
            </a:r>
            <a:r>
              <a:rPr lang="pt-PT" b="1" dirty="0" err="1"/>
              <a:t>knee</a:t>
            </a:r>
            <a:r>
              <a:rPr lang="pt-PT" b="1" dirty="0"/>
              <a:t> </a:t>
            </a:r>
            <a:r>
              <a:rPr lang="pt-PT" b="1" dirty="0" err="1"/>
              <a:t>criteria</a:t>
            </a:r>
            <a:endParaRPr lang="pt-PT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pt-PT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PT" dirty="0" err="1"/>
              <a:t>Parallel</a:t>
            </a:r>
            <a:r>
              <a:rPr lang="pt-PT" dirty="0"/>
              <a:t> </a:t>
            </a:r>
            <a:r>
              <a:rPr lang="pt-PT" dirty="0" err="1"/>
              <a:t>analysis</a:t>
            </a:r>
            <a:endParaRPr lang="pt-PT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01AE52CF-CE5B-801A-C4BB-F6328BE752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90884"/>
            <a:ext cx="6002582" cy="4030305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14EAC34F-E0A5-1AA7-4882-622A0C9357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0739" y="2809701"/>
            <a:ext cx="5565058" cy="3857784"/>
          </a:xfrm>
          <a:prstGeom prst="rect">
            <a:avLst/>
          </a:prstGeom>
        </p:spPr>
      </p:pic>
      <p:cxnSp>
        <p:nvCxnSpPr>
          <p:cNvPr id="8" name="Conexão reta unidirecional 7">
            <a:extLst>
              <a:ext uri="{FF2B5EF4-FFF2-40B4-BE49-F238E27FC236}">
                <a16:creationId xmlns:a16="http://schemas.microsoft.com/office/drawing/2014/main" id="{531656CB-8729-5A0B-B6A4-AC041572F6D7}"/>
              </a:ext>
            </a:extLst>
          </p:cNvPr>
          <p:cNvCxnSpPr>
            <a:cxnSpLocks/>
          </p:cNvCxnSpPr>
          <p:nvPr/>
        </p:nvCxnSpPr>
        <p:spPr>
          <a:xfrm flipH="1">
            <a:off x="7928428" y="4509307"/>
            <a:ext cx="1073426" cy="1384853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aixaDeTexto 9">
            <a:extLst>
              <a:ext uri="{FF2B5EF4-FFF2-40B4-BE49-F238E27FC236}">
                <a16:creationId xmlns:a16="http://schemas.microsoft.com/office/drawing/2014/main" id="{E1D74A3C-2FD7-7C5D-0377-383B866855FE}"/>
              </a:ext>
            </a:extLst>
          </p:cNvPr>
          <p:cNvSpPr txBox="1"/>
          <p:nvPr/>
        </p:nvSpPr>
        <p:spPr>
          <a:xfrm>
            <a:off x="9054864" y="4172919"/>
            <a:ext cx="20968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dirty="0" err="1"/>
              <a:t>Knee</a:t>
            </a:r>
            <a:r>
              <a:rPr lang="pt-PT" dirty="0"/>
              <a:t> </a:t>
            </a:r>
            <a:r>
              <a:rPr lang="pt-PT" dirty="0" err="1"/>
              <a:t>criteria</a:t>
            </a:r>
            <a:r>
              <a:rPr lang="pt-PT" dirty="0"/>
              <a:t> leads to </a:t>
            </a:r>
            <a:r>
              <a:rPr lang="pt-PT" dirty="0" err="1"/>
              <a:t>selecting</a:t>
            </a:r>
            <a:r>
              <a:rPr lang="pt-PT" dirty="0"/>
              <a:t> 2 </a:t>
            </a:r>
            <a:r>
              <a:rPr lang="pt-PT" dirty="0" err="1"/>
              <a:t>components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765834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B67E09-70F6-F2FE-E6B1-0C91EA3F9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31B303D2-E536-26C2-D1F2-9F743C7A6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52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D738960B-746B-FAAE-8570-CC204E7B4FC9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Principal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Component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Analysis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–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loading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plots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</a:t>
            </a:r>
            <a:endParaRPr lang="en-US" sz="2800" b="1" dirty="0">
              <a:solidFill>
                <a:schemeClr val="bg1"/>
              </a:solidFill>
              <a:latin typeface="Calibri Light"/>
              <a:ea typeface="Arrus BT Roman"/>
              <a:cs typeface="Arrus BT Roman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5F476D5-0C64-CAAB-8388-34A574D88DFD}"/>
              </a:ext>
            </a:extLst>
          </p:cNvPr>
          <p:cNvSpPr txBox="1"/>
          <p:nvPr/>
        </p:nvSpPr>
        <p:spPr>
          <a:xfrm>
            <a:off x="0" y="1497051"/>
            <a:ext cx="6168891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000" dirty="0"/>
              <a:t>PCA </a:t>
            </a:r>
            <a:r>
              <a:rPr lang="pt-PT" sz="2000" dirty="0" err="1"/>
              <a:t>loadings</a:t>
            </a:r>
            <a:r>
              <a:rPr lang="pt-PT" sz="2000" dirty="0"/>
              <a:t> </a:t>
            </a:r>
            <a:r>
              <a:rPr lang="pt-PT" sz="2000" dirty="0" err="1"/>
              <a:t>provide</a:t>
            </a:r>
            <a:r>
              <a:rPr lang="pt-PT" sz="2000" dirty="0"/>
              <a:t> insights </a:t>
            </a:r>
            <a:r>
              <a:rPr lang="pt-PT" sz="2000" dirty="0" err="1"/>
              <a:t>into</a:t>
            </a:r>
            <a:r>
              <a:rPr lang="pt-PT" sz="2000" dirty="0"/>
              <a:t> </a:t>
            </a:r>
            <a:r>
              <a:rPr lang="pt-PT" sz="2000" b="1" dirty="0" err="1"/>
              <a:t>relationship</a:t>
            </a:r>
            <a:r>
              <a:rPr lang="pt-PT" sz="2000" b="1" dirty="0"/>
              <a:t> </a:t>
            </a:r>
            <a:r>
              <a:rPr lang="pt-PT" sz="2000" b="1" dirty="0" err="1"/>
              <a:t>between</a:t>
            </a:r>
            <a:r>
              <a:rPr lang="pt-PT" sz="2000" b="1" dirty="0"/>
              <a:t> </a:t>
            </a:r>
            <a:r>
              <a:rPr lang="pt-PT" sz="2000" b="1" dirty="0" err="1"/>
              <a:t>different</a:t>
            </a:r>
            <a:r>
              <a:rPr lang="pt-PT" sz="2000" b="1" dirty="0"/>
              <a:t> </a:t>
            </a:r>
            <a:r>
              <a:rPr lang="pt-PT" sz="2000" b="1" dirty="0" err="1"/>
              <a:t>variables</a:t>
            </a:r>
            <a:endParaRPr lang="pt-PT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000" dirty="0" err="1"/>
              <a:t>Variables</a:t>
            </a:r>
            <a:r>
              <a:rPr lang="pt-PT" sz="2000" dirty="0"/>
              <a:t> </a:t>
            </a:r>
            <a:r>
              <a:rPr lang="pt-PT" sz="2000" dirty="0" err="1"/>
              <a:t>with</a:t>
            </a:r>
            <a:r>
              <a:rPr lang="pt-PT" sz="2000" dirty="0"/>
              <a:t> </a:t>
            </a:r>
            <a:r>
              <a:rPr lang="pt-PT" sz="2000" dirty="0" err="1"/>
              <a:t>loadings</a:t>
            </a:r>
            <a:r>
              <a:rPr lang="pt-PT" sz="2000" dirty="0"/>
              <a:t> </a:t>
            </a:r>
            <a:r>
              <a:rPr lang="pt-PT" sz="2000" dirty="0" err="1"/>
              <a:t>very</a:t>
            </a:r>
            <a:r>
              <a:rPr lang="pt-PT" sz="2000" dirty="0"/>
              <a:t> </a:t>
            </a:r>
            <a:r>
              <a:rPr lang="pt-PT" sz="2000" dirty="0" err="1"/>
              <a:t>different</a:t>
            </a:r>
            <a:r>
              <a:rPr lang="pt-PT" sz="2000" dirty="0"/>
              <a:t> </a:t>
            </a:r>
            <a:r>
              <a:rPr lang="pt-PT" sz="2000" dirty="0" err="1"/>
              <a:t>from</a:t>
            </a:r>
            <a:r>
              <a:rPr lang="pt-PT" sz="2000" dirty="0"/>
              <a:t> zero are </a:t>
            </a:r>
            <a:r>
              <a:rPr lang="pt-PT" sz="2000" dirty="0" err="1"/>
              <a:t>important</a:t>
            </a:r>
            <a:r>
              <a:rPr lang="pt-PT" sz="2000" dirty="0"/>
              <a:t> for </a:t>
            </a:r>
            <a:r>
              <a:rPr lang="pt-PT" sz="2000" dirty="0" err="1"/>
              <a:t>the</a:t>
            </a:r>
            <a:r>
              <a:rPr lang="pt-PT" sz="2000" dirty="0"/>
              <a:t> PCA </a:t>
            </a:r>
            <a:r>
              <a:rPr lang="pt-PT" sz="2000" dirty="0" err="1"/>
              <a:t>model</a:t>
            </a:r>
            <a:endParaRPr lang="pt-PT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000" dirty="0"/>
              <a:t>For </a:t>
            </a:r>
            <a:r>
              <a:rPr lang="pt-PT" sz="2000" dirty="0" err="1"/>
              <a:t>spectroscopic</a:t>
            </a:r>
            <a:r>
              <a:rPr lang="pt-PT" sz="2000" dirty="0"/>
              <a:t> data, </a:t>
            </a:r>
            <a:r>
              <a:rPr lang="pt-PT" sz="2000" dirty="0" err="1"/>
              <a:t>we</a:t>
            </a:r>
            <a:r>
              <a:rPr lang="pt-PT" sz="2000" dirty="0"/>
              <a:t> can </a:t>
            </a:r>
            <a:r>
              <a:rPr lang="pt-PT" sz="2000" dirty="0" err="1"/>
              <a:t>plot</a:t>
            </a:r>
            <a:r>
              <a:rPr lang="pt-PT" sz="2000" dirty="0"/>
              <a:t> </a:t>
            </a:r>
            <a:r>
              <a:rPr lang="pt-PT" sz="2000" dirty="0" err="1"/>
              <a:t>the</a:t>
            </a:r>
            <a:r>
              <a:rPr lang="pt-PT" sz="2000" dirty="0"/>
              <a:t> </a:t>
            </a:r>
            <a:r>
              <a:rPr lang="pt-PT" sz="2000" dirty="0" err="1"/>
              <a:t>loadings</a:t>
            </a:r>
            <a:r>
              <a:rPr lang="pt-PT" sz="2000" dirty="0"/>
              <a:t> for </a:t>
            </a:r>
            <a:r>
              <a:rPr lang="pt-PT" sz="2000" dirty="0" err="1"/>
              <a:t>each</a:t>
            </a:r>
            <a:r>
              <a:rPr lang="pt-PT" sz="2000" dirty="0"/>
              <a:t> PC as a </a:t>
            </a:r>
            <a:r>
              <a:rPr lang="pt-PT" sz="2000" dirty="0" err="1"/>
              <a:t>function</a:t>
            </a:r>
            <a:r>
              <a:rPr lang="pt-PT" sz="2000" dirty="0"/>
              <a:t> </a:t>
            </a:r>
            <a:r>
              <a:rPr lang="pt-PT" sz="2000" dirty="0" err="1"/>
              <a:t>of</a:t>
            </a:r>
            <a:r>
              <a:rPr lang="pt-PT" sz="2000" dirty="0"/>
              <a:t> </a:t>
            </a:r>
            <a:r>
              <a:rPr lang="pt-PT" sz="2000" dirty="0" err="1"/>
              <a:t>the</a:t>
            </a:r>
            <a:r>
              <a:rPr lang="pt-PT" sz="2000" dirty="0"/>
              <a:t> </a:t>
            </a:r>
            <a:r>
              <a:rPr lang="pt-PT" sz="2000" dirty="0" err="1"/>
              <a:t>wavelength</a:t>
            </a:r>
            <a:endParaRPr lang="pt-PT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000" dirty="0"/>
              <a:t> </a:t>
            </a:r>
            <a:r>
              <a:rPr lang="pt-PT" sz="2000" dirty="0" err="1"/>
              <a:t>Loadings</a:t>
            </a:r>
            <a:r>
              <a:rPr lang="pt-PT" sz="2000" dirty="0"/>
              <a:t> </a:t>
            </a:r>
            <a:r>
              <a:rPr lang="pt-PT" sz="2000" dirty="0" err="1"/>
              <a:t>give</a:t>
            </a:r>
            <a:r>
              <a:rPr lang="pt-PT" sz="2000" dirty="0"/>
              <a:t> </a:t>
            </a:r>
            <a:r>
              <a:rPr lang="pt-PT" sz="2000" dirty="0" err="1"/>
              <a:t>interpretation</a:t>
            </a:r>
            <a:r>
              <a:rPr lang="pt-PT" sz="2000" dirty="0"/>
              <a:t> </a:t>
            </a:r>
            <a:r>
              <a:rPr lang="pt-PT" sz="2000" dirty="0" err="1"/>
              <a:t>of</a:t>
            </a:r>
            <a:r>
              <a:rPr lang="pt-PT" sz="2000" dirty="0"/>
              <a:t> </a:t>
            </a:r>
            <a:r>
              <a:rPr lang="pt-PT" sz="2000" dirty="0" err="1"/>
              <a:t>the</a:t>
            </a:r>
            <a:r>
              <a:rPr lang="pt-PT" sz="2000" dirty="0"/>
              <a:t> </a:t>
            </a:r>
            <a:r>
              <a:rPr lang="pt-PT" sz="2000" dirty="0" err="1"/>
              <a:t>functional</a:t>
            </a:r>
            <a:r>
              <a:rPr lang="pt-PT" sz="2000" dirty="0"/>
              <a:t> </a:t>
            </a:r>
            <a:r>
              <a:rPr lang="pt-PT" sz="2000" dirty="0" err="1"/>
              <a:t>patterns</a:t>
            </a:r>
            <a:r>
              <a:rPr lang="pt-PT" sz="2000" dirty="0"/>
              <a:t> in </a:t>
            </a:r>
            <a:r>
              <a:rPr lang="pt-PT" sz="2000" dirty="0" err="1"/>
              <a:t>the</a:t>
            </a:r>
            <a:r>
              <a:rPr lang="pt-PT" sz="2000" dirty="0"/>
              <a:t> </a:t>
            </a:r>
            <a:r>
              <a:rPr lang="pt-PT" sz="2000" dirty="0" err="1"/>
              <a:t>spectra</a:t>
            </a:r>
            <a:endParaRPr lang="pt-PT" sz="2000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F079AB4D-AAA1-DA64-7765-A4F4984BED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8891" y="919083"/>
            <a:ext cx="6023109" cy="4633812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9157509D-D22C-3D86-5329-6EB214E8E929}"/>
              </a:ext>
            </a:extLst>
          </p:cNvPr>
          <p:cNvSpPr/>
          <p:nvPr/>
        </p:nvSpPr>
        <p:spPr>
          <a:xfrm>
            <a:off x="9554817" y="3021497"/>
            <a:ext cx="2507972" cy="101379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C39CF69D-C32B-0A13-4577-6F1551C399EC}"/>
              </a:ext>
            </a:extLst>
          </p:cNvPr>
          <p:cNvSpPr txBox="1"/>
          <p:nvPr/>
        </p:nvSpPr>
        <p:spPr>
          <a:xfrm>
            <a:off x="9452116" y="4207565"/>
            <a:ext cx="25079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1600" dirty="0" err="1"/>
              <a:t>This</a:t>
            </a:r>
            <a:r>
              <a:rPr lang="pt-PT" sz="1600" dirty="0"/>
              <a:t> </a:t>
            </a:r>
            <a:r>
              <a:rPr lang="pt-PT" sz="1600" dirty="0" err="1"/>
              <a:t>region</a:t>
            </a:r>
            <a:r>
              <a:rPr lang="pt-PT" sz="1600" dirty="0"/>
              <a:t> </a:t>
            </a:r>
            <a:r>
              <a:rPr lang="pt-PT" sz="1600" dirty="0" err="1"/>
              <a:t>is</a:t>
            </a:r>
            <a:r>
              <a:rPr lang="pt-PT" sz="1600" dirty="0"/>
              <a:t> </a:t>
            </a:r>
            <a:r>
              <a:rPr lang="pt-PT" sz="1600" dirty="0" err="1"/>
              <a:t>not</a:t>
            </a:r>
            <a:r>
              <a:rPr lang="pt-PT" sz="1600" dirty="0"/>
              <a:t> </a:t>
            </a:r>
            <a:r>
              <a:rPr lang="pt-PT" sz="1600" dirty="0" err="1"/>
              <a:t>important</a:t>
            </a:r>
            <a:r>
              <a:rPr lang="pt-PT" sz="1600" dirty="0"/>
              <a:t> for </a:t>
            </a:r>
            <a:r>
              <a:rPr lang="pt-PT" sz="1600" dirty="0" err="1"/>
              <a:t>the</a:t>
            </a:r>
            <a:r>
              <a:rPr lang="pt-PT" sz="1600" dirty="0"/>
              <a:t> </a:t>
            </a:r>
            <a:r>
              <a:rPr lang="pt-PT" sz="1600" dirty="0" err="1"/>
              <a:t>correlation</a:t>
            </a:r>
            <a:r>
              <a:rPr lang="pt-PT" sz="1600" dirty="0"/>
              <a:t> in </a:t>
            </a:r>
            <a:r>
              <a:rPr lang="pt-PT" sz="1600" dirty="0" err="1"/>
              <a:t>the</a:t>
            </a:r>
            <a:r>
              <a:rPr lang="pt-PT" sz="1600" dirty="0"/>
              <a:t> data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64565378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740A1-CD81-4E91-AF43-49E0DBBDD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6FE072D0-132C-4C33-30B4-C2D40E0AB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53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E11E0900-ED9A-5C77-E2EB-7C8A323A6E68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Principal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Component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Analysis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– score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plots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</a:t>
            </a:r>
            <a:endParaRPr lang="en-US" sz="2800" b="1" dirty="0">
              <a:solidFill>
                <a:schemeClr val="bg1"/>
              </a:solidFill>
              <a:latin typeface="Calibri Light"/>
              <a:ea typeface="Arrus BT Roman"/>
              <a:cs typeface="Arrus BT Roman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E3E597-CA13-2636-43F2-CC64E2081C90}"/>
              </a:ext>
            </a:extLst>
          </p:cNvPr>
          <p:cNvSpPr txBox="1"/>
          <p:nvPr/>
        </p:nvSpPr>
        <p:spPr>
          <a:xfrm>
            <a:off x="27277" y="1149853"/>
            <a:ext cx="5604633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000" dirty="0"/>
              <a:t>PCA scores </a:t>
            </a:r>
            <a:r>
              <a:rPr lang="pt-PT" sz="2000" dirty="0" err="1"/>
              <a:t>give</a:t>
            </a:r>
            <a:r>
              <a:rPr lang="pt-PT" sz="2000" dirty="0"/>
              <a:t> </a:t>
            </a:r>
            <a:r>
              <a:rPr lang="pt-PT" sz="2000" dirty="0" err="1"/>
              <a:t>intuition</a:t>
            </a:r>
            <a:r>
              <a:rPr lang="pt-PT" sz="2000" dirty="0"/>
              <a:t> </a:t>
            </a:r>
            <a:r>
              <a:rPr lang="pt-PT" sz="2000" dirty="0" err="1"/>
              <a:t>on</a:t>
            </a:r>
            <a:r>
              <a:rPr lang="pt-PT" sz="2000" dirty="0"/>
              <a:t> </a:t>
            </a:r>
            <a:r>
              <a:rPr lang="pt-PT" sz="2000" dirty="0" err="1"/>
              <a:t>the</a:t>
            </a:r>
            <a:r>
              <a:rPr lang="pt-PT" sz="2000" dirty="0"/>
              <a:t> </a:t>
            </a:r>
            <a:r>
              <a:rPr lang="pt-PT" sz="2000" b="1" dirty="0" err="1"/>
              <a:t>relationship</a:t>
            </a:r>
            <a:r>
              <a:rPr lang="pt-PT" sz="2000" b="1" dirty="0"/>
              <a:t> </a:t>
            </a:r>
            <a:r>
              <a:rPr lang="pt-PT" sz="2000" b="1" dirty="0" err="1"/>
              <a:t>between</a:t>
            </a:r>
            <a:r>
              <a:rPr lang="pt-PT" sz="2000" b="1" dirty="0"/>
              <a:t> </a:t>
            </a:r>
            <a:r>
              <a:rPr lang="pt-PT" sz="2000" b="1" dirty="0" err="1"/>
              <a:t>observations</a:t>
            </a:r>
            <a:r>
              <a:rPr lang="pt-PT" sz="2000" b="1" dirty="0"/>
              <a:t>/samples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000" dirty="0" err="1"/>
              <a:t>This</a:t>
            </a:r>
            <a:r>
              <a:rPr lang="pt-PT" sz="2000" dirty="0"/>
              <a:t> can </a:t>
            </a:r>
            <a:r>
              <a:rPr lang="pt-PT" sz="2000" dirty="0" err="1"/>
              <a:t>be</a:t>
            </a:r>
            <a:r>
              <a:rPr lang="pt-PT" sz="2000" dirty="0"/>
              <a:t> </a:t>
            </a:r>
            <a:r>
              <a:rPr lang="pt-PT" sz="2000" dirty="0" err="1"/>
              <a:t>useful</a:t>
            </a:r>
            <a:r>
              <a:rPr lang="pt-PT" sz="2000" dirty="0"/>
              <a:t> to capture </a:t>
            </a:r>
            <a:r>
              <a:rPr lang="pt-PT" sz="2000" dirty="0" err="1"/>
              <a:t>patterns</a:t>
            </a:r>
            <a:r>
              <a:rPr lang="pt-PT" sz="2000" dirty="0"/>
              <a:t> </a:t>
            </a:r>
            <a:r>
              <a:rPr lang="pt-PT" sz="2000" dirty="0" err="1"/>
              <a:t>between</a:t>
            </a:r>
            <a:r>
              <a:rPr lang="pt-PT" sz="2000" dirty="0"/>
              <a:t> </a:t>
            </a:r>
            <a:r>
              <a:rPr lang="pt-PT" sz="2000" dirty="0" err="1"/>
              <a:t>observations</a:t>
            </a:r>
            <a:r>
              <a:rPr lang="pt-PT" sz="2000" dirty="0"/>
              <a:t> </a:t>
            </a:r>
            <a:r>
              <a:rPr lang="pt-PT" sz="2000" dirty="0" err="1"/>
              <a:t>or</a:t>
            </a:r>
            <a:r>
              <a:rPr lang="pt-PT" sz="2000" dirty="0"/>
              <a:t> </a:t>
            </a:r>
            <a:r>
              <a:rPr lang="pt-PT" sz="2000" dirty="0" err="1"/>
              <a:t>detect</a:t>
            </a:r>
            <a:r>
              <a:rPr lang="pt-PT" sz="2000" dirty="0"/>
              <a:t> </a:t>
            </a:r>
            <a:r>
              <a:rPr lang="pt-PT" sz="2000" dirty="0" err="1"/>
              <a:t>outliers</a:t>
            </a:r>
            <a:endParaRPr lang="pt-PT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000" b="1" dirty="0" err="1"/>
              <a:t>Important</a:t>
            </a:r>
            <a:r>
              <a:rPr lang="pt-PT" sz="2000" b="1" dirty="0"/>
              <a:t> notes: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2000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PT" sz="2000" dirty="0"/>
              <a:t>Score </a:t>
            </a:r>
            <a:r>
              <a:rPr lang="pt-PT" sz="2000" dirty="0" err="1"/>
              <a:t>analysis</a:t>
            </a:r>
            <a:r>
              <a:rPr lang="pt-PT" sz="2000" dirty="0"/>
              <a:t> </a:t>
            </a:r>
            <a:r>
              <a:rPr lang="pt-PT" sz="2000" dirty="0" err="1"/>
              <a:t>is</a:t>
            </a:r>
            <a:r>
              <a:rPr lang="pt-PT" sz="2000" dirty="0"/>
              <a:t> </a:t>
            </a:r>
            <a:r>
              <a:rPr lang="pt-PT" sz="2000" dirty="0" err="1"/>
              <a:t>only</a:t>
            </a:r>
            <a:r>
              <a:rPr lang="pt-PT" sz="2000" dirty="0"/>
              <a:t> </a:t>
            </a:r>
            <a:r>
              <a:rPr lang="pt-PT" sz="2000" dirty="0" err="1"/>
              <a:t>relevant</a:t>
            </a:r>
            <a:r>
              <a:rPr lang="pt-PT" sz="2000" dirty="0"/>
              <a:t> </a:t>
            </a:r>
            <a:r>
              <a:rPr lang="pt-PT" sz="2000" dirty="0" err="1"/>
              <a:t>if</a:t>
            </a:r>
            <a:r>
              <a:rPr lang="pt-PT" sz="2000" dirty="0"/>
              <a:t> </a:t>
            </a:r>
            <a:r>
              <a:rPr lang="pt-PT" sz="2000" dirty="0" err="1"/>
              <a:t>PCs</a:t>
            </a:r>
            <a:r>
              <a:rPr lang="pt-PT" sz="2000" dirty="0"/>
              <a:t> capture a </a:t>
            </a:r>
            <a:r>
              <a:rPr lang="pt-PT" sz="2000" dirty="0" err="1"/>
              <a:t>large</a:t>
            </a:r>
            <a:r>
              <a:rPr lang="pt-PT" sz="2000" dirty="0"/>
              <a:t> </a:t>
            </a:r>
            <a:r>
              <a:rPr lang="pt-PT" sz="2000" dirty="0" err="1"/>
              <a:t>portion</a:t>
            </a:r>
            <a:r>
              <a:rPr lang="pt-PT" sz="2000" dirty="0"/>
              <a:t> </a:t>
            </a:r>
            <a:r>
              <a:rPr lang="pt-PT" sz="2000" dirty="0" err="1"/>
              <a:t>of</a:t>
            </a:r>
            <a:r>
              <a:rPr lang="pt-PT" sz="2000" dirty="0"/>
              <a:t> </a:t>
            </a:r>
            <a:r>
              <a:rPr lang="pt-PT" sz="2000" dirty="0" err="1"/>
              <a:t>variability</a:t>
            </a:r>
            <a:endParaRPr lang="pt-PT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PT" sz="2000" dirty="0"/>
              <a:t>too </a:t>
            </a:r>
            <a:r>
              <a:rPr lang="pt-PT" sz="2000" dirty="0" err="1"/>
              <a:t>strong</a:t>
            </a:r>
            <a:r>
              <a:rPr lang="pt-PT" sz="2000" dirty="0"/>
              <a:t> </a:t>
            </a:r>
            <a:r>
              <a:rPr lang="pt-PT" sz="2000" dirty="0" err="1"/>
              <a:t>outliers</a:t>
            </a:r>
            <a:r>
              <a:rPr lang="pt-PT" sz="2000" dirty="0"/>
              <a:t> (</a:t>
            </a:r>
            <a:r>
              <a:rPr lang="pt-PT" sz="2000" dirty="0" err="1"/>
              <a:t>distant</a:t>
            </a:r>
            <a:r>
              <a:rPr lang="pt-PT" sz="2000" dirty="0"/>
              <a:t> </a:t>
            </a:r>
            <a:r>
              <a:rPr lang="pt-PT" sz="2000" dirty="0" err="1"/>
              <a:t>from</a:t>
            </a:r>
            <a:r>
              <a:rPr lang="pt-PT" sz="2000" dirty="0"/>
              <a:t> </a:t>
            </a:r>
            <a:r>
              <a:rPr lang="pt-PT" sz="2000" dirty="0" err="1"/>
              <a:t>origin</a:t>
            </a:r>
            <a:r>
              <a:rPr lang="pt-PT" sz="2000" dirty="0"/>
              <a:t>) can </a:t>
            </a:r>
            <a:r>
              <a:rPr lang="pt-PT" sz="2000" dirty="0" err="1"/>
              <a:t>distort</a:t>
            </a:r>
            <a:r>
              <a:rPr lang="pt-PT" sz="2000" dirty="0"/>
              <a:t> PCA </a:t>
            </a:r>
            <a:r>
              <a:rPr lang="pt-PT" sz="2000" dirty="0" err="1"/>
              <a:t>and</a:t>
            </a:r>
            <a:r>
              <a:rPr lang="pt-PT" sz="2000" dirty="0"/>
              <a:t> </a:t>
            </a:r>
            <a:r>
              <a:rPr lang="pt-PT" sz="2000" dirty="0" err="1"/>
              <a:t>subsequent</a:t>
            </a:r>
            <a:r>
              <a:rPr lang="pt-PT" sz="2000" dirty="0"/>
              <a:t> </a:t>
            </a:r>
            <a:r>
              <a:rPr lang="pt-PT" sz="2000" dirty="0" err="1"/>
              <a:t>conclusions</a:t>
            </a:r>
            <a:endParaRPr lang="en-US" sz="2000" dirty="0"/>
          </a:p>
        </p:txBody>
      </p: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6DD18079-8C5C-4DF4-FC24-ED874D8797BD}"/>
              </a:ext>
            </a:extLst>
          </p:cNvPr>
          <p:cNvGrpSpPr/>
          <p:nvPr/>
        </p:nvGrpSpPr>
        <p:grpSpPr>
          <a:xfrm>
            <a:off x="5539308" y="966419"/>
            <a:ext cx="6652692" cy="5070290"/>
            <a:chOff x="1767651" y="2000640"/>
            <a:chExt cx="7051849" cy="6212298"/>
          </a:xfrm>
        </p:grpSpPr>
        <p:grpSp>
          <p:nvGrpSpPr>
            <p:cNvPr id="20" name="Agrupar 19">
              <a:extLst>
                <a:ext uri="{FF2B5EF4-FFF2-40B4-BE49-F238E27FC236}">
                  <a16:creationId xmlns:a16="http://schemas.microsoft.com/office/drawing/2014/main" id="{63101C14-6BF5-852D-E3C8-D80EC4B23F5A}"/>
                </a:ext>
              </a:extLst>
            </p:cNvPr>
            <p:cNvGrpSpPr/>
            <p:nvPr/>
          </p:nvGrpSpPr>
          <p:grpSpPr>
            <a:xfrm>
              <a:off x="1767651" y="2000640"/>
              <a:ext cx="7051849" cy="6212298"/>
              <a:chOff x="2867582" y="1602342"/>
              <a:chExt cx="7051849" cy="6212298"/>
            </a:xfrm>
          </p:grpSpPr>
          <p:grpSp>
            <p:nvGrpSpPr>
              <p:cNvPr id="19" name="Agrupar 18">
                <a:extLst>
                  <a:ext uri="{FF2B5EF4-FFF2-40B4-BE49-F238E27FC236}">
                    <a16:creationId xmlns:a16="http://schemas.microsoft.com/office/drawing/2014/main" id="{3DA8CF0A-BC7B-152B-516F-96D53770F01F}"/>
                  </a:ext>
                </a:extLst>
              </p:cNvPr>
              <p:cNvGrpSpPr/>
              <p:nvPr/>
            </p:nvGrpSpPr>
            <p:grpSpPr>
              <a:xfrm>
                <a:off x="2867582" y="1602342"/>
                <a:ext cx="7051849" cy="6212298"/>
                <a:chOff x="2867582" y="1602342"/>
                <a:chExt cx="7051849" cy="6212298"/>
              </a:xfrm>
            </p:grpSpPr>
            <p:grpSp>
              <p:nvGrpSpPr>
                <p:cNvPr id="14" name="Agrupar 13">
                  <a:extLst>
                    <a:ext uri="{FF2B5EF4-FFF2-40B4-BE49-F238E27FC236}">
                      <a16:creationId xmlns:a16="http://schemas.microsoft.com/office/drawing/2014/main" id="{B716D3D5-1402-AD74-A6C9-80C99D5A8ECD}"/>
                    </a:ext>
                  </a:extLst>
                </p:cNvPr>
                <p:cNvGrpSpPr/>
                <p:nvPr/>
              </p:nvGrpSpPr>
              <p:grpSpPr>
                <a:xfrm>
                  <a:off x="3445026" y="1602342"/>
                  <a:ext cx="6225540" cy="4754008"/>
                  <a:chOff x="3814236" y="1785940"/>
                  <a:chExt cx="5864951" cy="4580958"/>
                </a:xfrm>
              </p:grpSpPr>
              <p:pic>
                <p:nvPicPr>
                  <p:cNvPr id="7" name="Imagem 6">
                    <a:extLst>
                      <a:ext uri="{FF2B5EF4-FFF2-40B4-BE49-F238E27FC236}">
                        <a16:creationId xmlns:a16="http://schemas.microsoft.com/office/drawing/2014/main" id="{98C7675E-68DA-85C8-85BA-1E406CA88C9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3814236" y="1785940"/>
                    <a:ext cx="5864951" cy="4580958"/>
                  </a:xfrm>
                  <a:prstGeom prst="rect">
                    <a:avLst/>
                  </a:prstGeom>
                </p:spPr>
              </p:pic>
              <p:cxnSp>
                <p:nvCxnSpPr>
                  <p:cNvPr id="10" name="Conexão reta 9">
                    <a:extLst>
                      <a:ext uri="{FF2B5EF4-FFF2-40B4-BE49-F238E27FC236}">
                        <a16:creationId xmlns:a16="http://schemas.microsoft.com/office/drawing/2014/main" id="{84A60033-58DD-6254-5880-D8272D7865FB}"/>
                      </a:ext>
                    </a:extLst>
                  </p:cNvPr>
                  <p:cNvCxnSpPr/>
                  <p:nvPr/>
                </p:nvCxnSpPr>
                <p:spPr>
                  <a:xfrm>
                    <a:off x="4440003" y="3606021"/>
                    <a:ext cx="5181600" cy="0"/>
                  </a:xfrm>
                  <a:prstGeom prst="line">
                    <a:avLst/>
                  </a:prstGeom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" name="Conexão reta 10">
                    <a:extLst>
                      <a:ext uri="{FF2B5EF4-FFF2-40B4-BE49-F238E27FC236}">
                        <a16:creationId xmlns:a16="http://schemas.microsoft.com/office/drawing/2014/main" id="{E7BF60E1-CD26-B92F-5AB1-3329D50E27D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592941" y="2002509"/>
                    <a:ext cx="0" cy="3869635"/>
                  </a:xfrm>
                  <a:prstGeom prst="line">
                    <a:avLst/>
                  </a:prstGeom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7" name="Conexão reta unidirecional 16">
                  <a:extLst>
                    <a:ext uri="{FF2B5EF4-FFF2-40B4-BE49-F238E27FC236}">
                      <a16:creationId xmlns:a16="http://schemas.microsoft.com/office/drawing/2014/main" id="{FD43F2BD-2F60-BEFD-9939-258B2D1E5D17}"/>
                    </a:ext>
                  </a:extLst>
                </p:cNvPr>
                <p:cNvCxnSpPr>
                  <a:cxnSpLocks/>
                  <a:stCxn id="15" idx="2"/>
                </p:cNvCxnSpPr>
                <p:nvPr/>
              </p:nvCxnSpPr>
              <p:spPr>
                <a:xfrm flipH="1">
                  <a:off x="7194089" y="4438397"/>
                  <a:ext cx="1332951" cy="2244946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8" name="CaixaDeTexto 17">
                  <a:extLst>
                    <a:ext uri="{FF2B5EF4-FFF2-40B4-BE49-F238E27FC236}">
                      <a16:creationId xmlns:a16="http://schemas.microsoft.com/office/drawing/2014/main" id="{B33710E8-C416-5BC7-8F99-3057EB3A7FD7}"/>
                    </a:ext>
                  </a:extLst>
                </p:cNvPr>
                <p:cNvSpPr txBox="1"/>
                <p:nvPr/>
              </p:nvSpPr>
              <p:spPr>
                <a:xfrm>
                  <a:off x="2867582" y="6683344"/>
                  <a:ext cx="7051849" cy="113129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pt-PT" dirty="0"/>
                    <a:t>Scores </a:t>
                  </a:r>
                  <a:r>
                    <a:rPr lang="pt-PT" dirty="0" err="1"/>
                    <a:t>indicate</a:t>
                  </a:r>
                  <a:r>
                    <a:rPr lang="pt-PT" dirty="0"/>
                    <a:t> </a:t>
                  </a:r>
                  <a:r>
                    <a:rPr lang="pt-PT" dirty="0" err="1"/>
                    <a:t>these</a:t>
                  </a:r>
                  <a:r>
                    <a:rPr lang="pt-PT" dirty="0"/>
                    <a:t> </a:t>
                  </a:r>
                  <a:r>
                    <a:rPr lang="pt-PT" dirty="0" err="1"/>
                    <a:t>observations</a:t>
                  </a:r>
                  <a:r>
                    <a:rPr lang="pt-PT" dirty="0"/>
                    <a:t> are </a:t>
                  </a:r>
                  <a:r>
                    <a:rPr lang="pt-PT" dirty="0" err="1"/>
                    <a:t>very</a:t>
                  </a:r>
                  <a:r>
                    <a:rPr lang="pt-PT" dirty="0"/>
                    <a:t> </a:t>
                  </a:r>
                  <a:r>
                    <a:rPr lang="pt-PT" dirty="0" err="1"/>
                    <a:t>different</a:t>
                  </a:r>
                  <a:r>
                    <a:rPr lang="pt-PT" dirty="0"/>
                    <a:t> </a:t>
                  </a:r>
                  <a:r>
                    <a:rPr lang="pt-PT" dirty="0" err="1"/>
                    <a:t>from</a:t>
                  </a:r>
                  <a:r>
                    <a:rPr lang="pt-PT" dirty="0"/>
                    <a:t> </a:t>
                  </a:r>
                  <a:r>
                    <a:rPr lang="pt-PT" dirty="0" err="1"/>
                    <a:t>others</a:t>
                  </a:r>
                  <a:endParaRPr lang="pt-PT" dirty="0"/>
                </a:p>
                <a:p>
                  <a:pPr algn="ctr"/>
                  <a:endParaRPr lang="pt-PT" dirty="0"/>
                </a:p>
                <a:p>
                  <a:pPr algn="ctr"/>
                  <a:r>
                    <a:rPr lang="pt-PT" dirty="0" err="1"/>
                    <a:t>They</a:t>
                  </a:r>
                  <a:r>
                    <a:rPr lang="pt-PT" dirty="0"/>
                    <a:t> can </a:t>
                  </a:r>
                  <a:r>
                    <a:rPr lang="pt-PT" dirty="0" err="1"/>
                    <a:t>be</a:t>
                  </a:r>
                  <a:r>
                    <a:rPr lang="pt-PT" dirty="0"/>
                    <a:t> </a:t>
                  </a:r>
                  <a:r>
                    <a:rPr lang="pt-PT" dirty="0" err="1"/>
                    <a:t>thought</a:t>
                  </a:r>
                  <a:r>
                    <a:rPr lang="pt-PT" dirty="0"/>
                    <a:t> </a:t>
                  </a:r>
                  <a:r>
                    <a:rPr lang="pt-PT" dirty="0" err="1"/>
                    <a:t>of</a:t>
                  </a:r>
                  <a:r>
                    <a:rPr lang="pt-PT" dirty="0"/>
                    <a:t> “</a:t>
                  </a:r>
                  <a:r>
                    <a:rPr lang="pt-PT" dirty="0" err="1"/>
                    <a:t>moderate</a:t>
                  </a:r>
                  <a:r>
                    <a:rPr lang="pt-PT" dirty="0"/>
                    <a:t>” </a:t>
                  </a:r>
                  <a:r>
                    <a:rPr lang="pt-PT" dirty="0" err="1"/>
                    <a:t>outliers</a:t>
                  </a:r>
                  <a:endParaRPr lang="en-US" dirty="0"/>
                </a:p>
              </p:txBody>
            </p:sp>
          </p:grp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BBDF1369-BC8C-33BA-7A84-3B5282700186}"/>
                  </a:ext>
                </a:extLst>
              </p:cNvPr>
              <p:cNvSpPr/>
              <p:nvPr/>
            </p:nvSpPr>
            <p:spPr>
              <a:xfrm rot="20139683">
                <a:off x="8504205" y="2376251"/>
                <a:ext cx="513862" cy="3881365"/>
              </a:xfrm>
              <a:prstGeom prst="ellipse">
                <a:avLst/>
              </a:prstGeom>
              <a:noFill/>
              <a:ln>
                <a:solidFill>
                  <a:schemeClr val="tx2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1" name="CaixaDeTexto 20">
              <a:extLst>
                <a:ext uri="{FF2B5EF4-FFF2-40B4-BE49-F238E27FC236}">
                  <a16:creationId xmlns:a16="http://schemas.microsoft.com/office/drawing/2014/main" id="{E7D05FD9-2F16-1568-DBE8-02EE2121F704}"/>
                </a:ext>
              </a:extLst>
            </p:cNvPr>
            <p:cNvSpPr txBox="1"/>
            <p:nvPr/>
          </p:nvSpPr>
          <p:spPr>
            <a:xfrm>
              <a:off x="4233159" y="4497727"/>
              <a:ext cx="2624536" cy="7919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dirty="0" err="1"/>
                <a:t>Observations</a:t>
              </a:r>
              <a:r>
                <a:rPr lang="pt-PT" dirty="0"/>
                <a:t> are </a:t>
              </a:r>
              <a:r>
                <a:rPr lang="pt-PT" dirty="0" err="1"/>
                <a:t>closely</a:t>
              </a:r>
              <a:r>
                <a:rPr lang="pt-PT" dirty="0"/>
                <a:t> </a:t>
              </a:r>
              <a:r>
                <a:rPr lang="pt-PT" dirty="0" err="1"/>
                <a:t>related</a:t>
              </a:r>
              <a:r>
                <a:rPr lang="pt-PT" dirty="0"/>
                <a:t> (similar)</a:t>
              </a:r>
              <a:endParaRPr lang="en-US" dirty="0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30CEF32F-E011-DD1F-256F-19D7281A0623}"/>
                </a:ext>
              </a:extLst>
            </p:cNvPr>
            <p:cNvSpPr/>
            <p:nvPr/>
          </p:nvSpPr>
          <p:spPr>
            <a:xfrm rot="2191913">
              <a:off x="3340960" y="2846226"/>
              <a:ext cx="1402739" cy="2384111"/>
            </a:xfrm>
            <a:prstGeom prst="ellipse">
              <a:avLst/>
            </a:prstGeom>
            <a:noFill/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7224200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897B6D-41C0-CD79-3D46-258AE85F2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E290C67A-7D4C-55AC-BC61-499904800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54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676413BB-E562-2B97-E938-F83E392D625A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Principal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Component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Analysis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– score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plots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</a:t>
            </a:r>
            <a:endParaRPr lang="en-US" sz="2800" b="1" dirty="0">
              <a:solidFill>
                <a:schemeClr val="bg1"/>
              </a:solidFill>
              <a:latin typeface="Calibri Light"/>
              <a:ea typeface="Arrus BT Roman"/>
              <a:cs typeface="Arrus BT Roman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4FB23479-D760-2F17-A393-FFF898293AD8}"/>
              </a:ext>
            </a:extLst>
          </p:cNvPr>
          <p:cNvSpPr txBox="1"/>
          <p:nvPr/>
        </p:nvSpPr>
        <p:spPr>
          <a:xfrm>
            <a:off x="0" y="537990"/>
            <a:ext cx="1197912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 err="1"/>
              <a:t>Based</a:t>
            </a:r>
            <a:r>
              <a:rPr lang="pt-PT" dirty="0"/>
              <a:t> </a:t>
            </a:r>
            <a:r>
              <a:rPr lang="pt-PT" dirty="0" err="1"/>
              <a:t>on</a:t>
            </a:r>
            <a:r>
              <a:rPr lang="pt-PT" dirty="0"/>
              <a:t> score </a:t>
            </a:r>
            <a:r>
              <a:rPr lang="pt-PT" dirty="0" err="1"/>
              <a:t>plot</a:t>
            </a:r>
            <a:r>
              <a:rPr lang="pt-PT" dirty="0"/>
              <a:t>, </a:t>
            </a:r>
            <a:r>
              <a:rPr lang="pt-PT" dirty="0" err="1"/>
              <a:t>we</a:t>
            </a:r>
            <a:r>
              <a:rPr lang="pt-PT" dirty="0"/>
              <a:t> can </a:t>
            </a:r>
            <a:r>
              <a:rPr lang="pt-PT" dirty="0" err="1"/>
              <a:t>identify</a:t>
            </a:r>
            <a:r>
              <a:rPr lang="pt-PT" dirty="0"/>
              <a:t> 3 </a:t>
            </a:r>
            <a:r>
              <a:rPr lang="pt-PT" dirty="0" err="1"/>
              <a:t>spectras</a:t>
            </a:r>
            <a:r>
              <a:rPr lang="pt-PT" dirty="0"/>
              <a:t> </a:t>
            </a:r>
            <a:r>
              <a:rPr lang="pt-PT" dirty="0" err="1"/>
              <a:t>that</a:t>
            </a:r>
            <a:r>
              <a:rPr lang="pt-PT" dirty="0"/>
              <a:t> are “</a:t>
            </a:r>
            <a:r>
              <a:rPr lang="pt-PT" dirty="0" err="1"/>
              <a:t>different</a:t>
            </a:r>
            <a:r>
              <a:rPr lang="pt-PT" dirty="0"/>
              <a:t>” </a:t>
            </a:r>
            <a:r>
              <a:rPr lang="pt-PT" dirty="0" err="1"/>
              <a:t>from</a:t>
            </a:r>
            <a:r>
              <a:rPr lang="pt-PT" dirty="0"/>
              <a:t> </a:t>
            </a:r>
            <a:r>
              <a:rPr lang="pt-PT" dirty="0" err="1"/>
              <a:t>the</a:t>
            </a:r>
            <a:r>
              <a:rPr lang="pt-PT" dirty="0"/>
              <a:t> </a:t>
            </a:r>
            <a:r>
              <a:rPr lang="pt-PT" dirty="0" err="1"/>
              <a:t>rest</a:t>
            </a:r>
            <a:endParaRPr lang="pt-PT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 err="1"/>
              <a:t>Plotting</a:t>
            </a:r>
            <a:r>
              <a:rPr lang="pt-PT" dirty="0"/>
              <a:t> </a:t>
            </a:r>
            <a:r>
              <a:rPr lang="pt-PT" dirty="0" err="1"/>
              <a:t>these</a:t>
            </a:r>
            <a:r>
              <a:rPr lang="pt-PT" dirty="0"/>
              <a:t> </a:t>
            </a:r>
            <a:r>
              <a:rPr lang="pt-PT" dirty="0" err="1"/>
              <a:t>observation</a:t>
            </a:r>
            <a:r>
              <a:rPr lang="pt-PT" dirty="0"/>
              <a:t> </a:t>
            </a:r>
            <a:r>
              <a:rPr lang="pt-PT" dirty="0" err="1"/>
              <a:t>reveals</a:t>
            </a:r>
            <a:r>
              <a:rPr lang="pt-PT" dirty="0"/>
              <a:t> a </a:t>
            </a:r>
            <a:r>
              <a:rPr lang="pt-PT" dirty="0" err="1"/>
              <a:t>different</a:t>
            </a:r>
            <a:r>
              <a:rPr lang="pt-PT" dirty="0"/>
              <a:t> </a:t>
            </a:r>
            <a:r>
              <a:rPr lang="pt-PT" dirty="0" err="1"/>
              <a:t>pattern</a:t>
            </a:r>
            <a:r>
              <a:rPr lang="pt-PT" dirty="0"/>
              <a:t> – a </a:t>
            </a:r>
            <a:r>
              <a:rPr lang="pt-PT" dirty="0" err="1"/>
              <a:t>larger</a:t>
            </a:r>
            <a:r>
              <a:rPr lang="pt-PT" dirty="0"/>
              <a:t> </a:t>
            </a:r>
            <a:r>
              <a:rPr lang="pt-PT" dirty="0" err="1"/>
              <a:t>peak</a:t>
            </a:r>
            <a:r>
              <a:rPr lang="pt-PT" dirty="0"/>
              <a:t> </a:t>
            </a:r>
            <a:r>
              <a:rPr lang="pt-PT" dirty="0" err="1"/>
              <a:t>and</a:t>
            </a:r>
            <a:r>
              <a:rPr lang="pt-PT" dirty="0"/>
              <a:t> offset in </a:t>
            </a:r>
            <a:r>
              <a:rPr lang="pt-PT" dirty="0" err="1"/>
              <a:t>the</a:t>
            </a:r>
            <a:r>
              <a:rPr lang="pt-PT" dirty="0"/>
              <a:t> </a:t>
            </a:r>
            <a:r>
              <a:rPr lang="pt-PT" dirty="0" err="1"/>
              <a:t>initial</a:t>
            </a:r>
            <a:r>
              <a:rPr lang="pt-PT" dirty="0"/>
              <a:t> </a:t>
            </a:r>
            <a:r>
              <a:rPr lang="pt-PT" dirty="0" err="1"/>
              <a:t>wavelengths</a:t>
            </a:r>
            <a:endParaRPr lang="pt-PT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 err="1"/>
              <a:t>This</a:t>
            </a:r>
            <a:r>
              <a:rPr lang="pt-PT" dirty="0"/>
              <a:t> can </a:t>
            </a:r>
            <a:r>
              <a:rPr lang="pt-PT" dirty="0" err="1"/>
              <a:t>be</a:t>
            </a:r>
            <a:r>
              <a:rPr lang="pt-PT" dirty="0"/>
              <a:t> </a:t>
            </a:r>
            <a:r>
              <a:rPr lang="pt-PT" dirty="0" err="1"/>
              <a:t>used</a:t>
            </a:r>
            <a:r>
              <a:rPr lang="pt-PT" dirty="0"/>
              <a:t> for </a:t>
            </a:r>
            <a:r>
              <a:rPr lang="pt-PT" dirty="0" err="1"/>
              <a:t>dividing</a:t>
            </a:r>
            <a:r>
              <a:rPr lang="pt-PT" dirty="0"/>
              <a:t> data </a:t>
            </a:r>
            <a:r>
              <a:rPr lang="pt-PT" dirty="0" err="1"/>
              <a:t>into</a:t>
            </a:r>
            <a:r>
              <a:rPr lang="pt-PT" dirty="0"/>
              <a:t> </a:t>
            </a:r>
            <a:r>
              <a:rPr lang="pt-PT" b="1" dirty="0"/>
              <a:t>“classes/clusters” </a:t>
            </a:r>
            <a:r>
              <a:rPr lang="pt-PT" dirty="0" err="1"/>
              <a:t>or</a:t>
            </a:r>
            <a:r>
              <a:rPr lang="pt-PT" dirty="0"/>
              <a:t> to </a:t>
            </a:r>
            <a:r>
              <a:rPr lang="pt-PT" b="1" dirty="0"/>
              <a:t>remove </a:t>
            </a:r>
            <a:r>
              <a:rPr lang="pt-PT" b="1" dirty="0" err="1"/>
              <a:t>outliers</a:t>
            </a:r>
            <a:r>
              <a:rPr lang="pt-PT" b="1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 err="1"/>
              <a:t>This</a:t>
            </a:r>
            <a:r>
              <a:rPr lang="pt-PT" dirty="0"/>
              <a:t> shows </a:t>
            </a:r>
            <a:r>
              <a:rPr lang="pt-PT" dirty="0" err="1"/>
              <a:t>the</a:t>
            </a:r>
            <a:r>
              <a:rPr lang="pt-PT" dirty="0"/>
              <a:t> </a:t>
            </a:r>
            <a:r>
              <a:rPr lang="pt-PT" dirty="0" err="1"/>
              <a:t>power</a:t>
            </a:r>
            <a:r>
              <a:rPr lang="pt-PT" dirty="0"/>
              <a:t> </a:t>
            </a:r>
            <a:r>
              <a:rPr lang="pt-PT" dirty="0" err="1"/>
              <a:t>of</a:t>
            </a:r>
            <a:r>
              <a:rPr lang="pt-PT" dirty="0"/>
              <a:t> </a:t>
            </a:r>
            <a:r>
              <a:rPr lang="pt-PT" b="1" dirty="0"/>
              <a:t>PCA for </a:t>
            </a:r>
            <a:r>
              <a:rPr lang="pt-PT" b="1" dirty="0" err="1"/>
              <a:t>pattern</a:t>
            </a:r>
            <a:r>
              <a:rPr lang="pt-PT" b="1" dirty="0"/>
              <a:t> </a:t>
            </a:r>
            <a:r>
              <a:rPr lang="pt-PT" b="1" dirty="0" err="1"/>
              <a:t>analysis</a:t>
            </a:r>
            <a:r>
              <a:rPr lang="pt-PT" b="1" dirty="0"/>
              <a:t> </a:t>
            </a:r>
            <a:r>
              <a:rPr lang="pt-PT" b="1" dirty="0" err="1"/>
              <a:t>and</a:t>
            </a:r>
            <a:r>
              <a:rPr lang="pt-PT" b="1" dirty="0"/>
              <a:t> </a:t>
            </a:r>
            <a:r>
              <a:rPr lang="pt-PT" b="1" dirty="0" err="1"/>
              <a:t>recognition</a:t>
            </a:r>
            <a:endParaRPr lang="en-US" b="1" dirty="0"/>
          </a:p>
        </p:txBody>
      </p: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7C4C2AE3-241D-57A6-76E1-02A2BCAB771C}"/>
              </a:ext>
            </a:extLst>
          </p:cNvPr>
          <p:cNvGrpSpPr/>
          <p:nvPr/>
        </p:nvGrpSpPr>
        <p:grpSpPr>
          <a:xfrm>
            <a:off x="245382" y="2957726"/>
            <a:ext cx="11733740" cy="3107627"/>
            <a:chOff x="29817" y="2917970"/>
            <a:chExt cx="11733740" cy="3107627"/>
          </a:xfrm>
        </p:grpSpPr>
        <p:pic>
          <p:nvPicPr>
            <p:cNvPr id="13" name="Imagem 12">
              <a:extLst>
                <a:ext uri="{FF2B5EF4-FFF2-40B4-BE49-F238E27FC236}">
                  <a16:creationId xmlns:a16="http://schemas.microsoft.com/office/drawing/2014/main" id="{D6743D14-07FC-86A3-0C67-0F8E6232F5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994370" y="2917970"/>
              <a:ext cx="3850271" cy="3089724"/>
            </a:xfrm>
            <a:prstGeom prst="rect">
              <a:avLst/>
            </a:prstGeom>
          </p:spPr>
        </p:pic>
        <p:grpSp>
          <p:nvGrpSpPr>
            <p:cNvPr id="12" name="Agrupar 11">
              <a:extLst>
                <a:ext uri="{FF2B5EF4-FFF2-40B4-BE49-F238E27FC236}">
                  <a16:creationId xmlns:a16="http://schemas.microsoft.com/office/drawing/2014/main" id="{C0222940-20FE-0C05-364F-D5E4556D2645}"/>
                </a:ext>
              </a:extLst>
            </p:cNvPr>
            <p:cNvGrpSpPr/>
            <p:nvPr/>
          </p:nvGrpSpPr>
          <p:grpSpPr>
            <a:xfrm>
              <a:off x="29817" y="2933000"/>
              <a:ext cx="3959418" cy="3092597"/>
              <a:chOff x="59634" y="2450439"/>
              <a:chExt cx="3959418" cy="3092597"/>
            </a:xfrm>
          </p:grpSpPr>
          <p:pic>
            <p:nvPicPr>
              <p:cNvPr id="2" name="Imagem 1">
                <a:extLst>
                  <a:ext uri="{FF2B5EF4-FFF2-40B4-BE49-F238E27FC236}">
                    <a16:creationId xmlns:a16="http://schemas.microsoft.com/office/drawing/2014/main" id="{5F7A2AD9-27E3-FAAF-4739-8EDC2B314AF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9634" y="2450439"/>
                <a:ext cx="3959418" cy="3092597"/>
              </a:xfrm>
              <a:prstGeom prst="rect">
                <a:avLst/>
              </a:prstGeom>
            </p:spPr>
          </p:pic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36192356-DD21-FEE4-2E0F-D1EA084AC4E9}"/>
                  </a:ext>
                </a:extLst>
              </p:cNvPr>
              <p:cNvSpPr/>
              <p:nvPr/>
            </p:nvSpPr>
            <p:spPr>
              <a:xfrm rot="19713227">
                <a:off x="3160180" y="2916292"/>
                <a:ext cx="587150" cy="2579901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14" name="Imagem 13">
              <a:extLst>
                <a:ext uri="{FF2B5EF4-FFF2-40B4-BE49-F238E27FC236}">
                  <a16:creationId xmlns:a16="http://schemas.microsoft.com/office/drawing/2014/main" id="{3950E7C2-0F58-24DC-08B3-CB467D2AF79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844641" y="2931686"/>
              <a:ext cx="3918916" cy="308496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3197750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9F1A24-3EC6-0A31-6657-B89FDC2C9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40DCA39A-F256-852B-0A3F-2CB994C12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55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DC7CA11A-9824-FCB0-9A90-93C1A6D481F4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Principal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Component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Analysis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using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Scikit-learn</a:t>
            </a:r>
            <a:endParaRPr lang="en-US" sz="2800" b="1" dirty="0">
              <a:solidFill>
                <a:schemeClr val="bg1"/>
              </a:solidFill>
              <a:latin typeface="Calibri Light"/>
              <a:ea typeface="Arrus BT Roman"/>
              <a:cs typeface="Arrus BT Roman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C2E5DD88-1A27-6237-0C0B-E856FB9D10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687" y="557420"/>
            <a:ext cx="4837043" cy="3295277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A72C2791-4936-8C7D-2265-5D13BBAEAA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9207" y="577203"/>
            <a:ext cx="4032178" cy="3072136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2BF339DE-0CB4-8611-5B33-DF4398B101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687" y="4224878"/>
            <a:ext cx="4854600" cy="2075702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13BBD764-8BFC-0987-65F5-FE1BAC1799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0981" y="3649339"/>
            <a:ext cx="4110404" cy="3072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99535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2DB570-40A7-9F6A-C238-CCD2137AB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m 18">
            <a:extLst>
              <a:ext uri="{FF2B5EF4-FFF2-40B4-BE49-F238E27FC236}">
                <a16:creationId xmlns:a16="http://schemas.microsoft.com/office/drawing/2014/main" id="{B9C81AC4-302F-C22D-BE02-F6D9FECD9A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879" y="585082"/>
            <a:ext cx="5034145" cy="3164926"/>
          </a:xfrm>
          <a:prstGeom prst="rect">
            <a:avLst/>
          </a:prstGeom>
        </p:spPr>
      </p:pic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5698930B-E303-D981-3CE8-EFCC29D90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56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67CD96D9-C75E-66E9-1275-DC884F8249D4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Principal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Component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Analysis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using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Scikit-learn</a:t>
            </a:r>
            <a:endParaRPr lang="en-US" sz="2800" b="1" dirty="0">
              <a:solidFill>
                <a:schemeClr val="bg1"/>
              </a:solidFill>
              <a:latin typeface="Calibri Light"/>
              <a:ea typeface="Arrus BT Roman"/>
              <a:cs typeface="Arrus BT Roman"/>
            </a:endParaRP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4CA4B120-7A32-77E5-1DA4-878AAE27BD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306" y="3985991"/>
            <a:ext cx="5197290" cy="2552921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BA14CAF0-F5BC-348B-A06E-5FE6A5DAB7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7300" y="525621"/>
            <a:ext cx="4646280" cy="3119645"/>
          </a:xfrm>
          <a:prstGeom prst="rect">
            <a:avLst/>
          </a:prstGeom>
        </p:spPr>
      </p:pic>
      <p:sp>
        <p:nvSpPr>
          <p:cNvPr id="14" name="Seta: Para a Direita 13">
            <a:extLst>
              <a:ext uri="{FF2B5EF4-FFF2-40B4-BE49-F238E27FC236}">
                <a16:creationId xmlns:a16="http://schemas.microsoft.com/office/drawing/2014/main" id="{12AE5DC9-C3B1-C9DA-7EF0-2ED53BA87992}"/>
              </a:ext>
            </a:extLst>
          </p:cNvPr>
          <p:cNvSpPr/>
          <p:nvPr/>
        </p:nvSpPr>
        <p:spPr>
          <a:xfrm rot="10800000">
            <a:off x="2007705" y="848139"/>
            <a:ext cx="708991" cy="278295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58FFF072-B662-69EF-CD60-552767495F8B}"/>
              </a:ext>
            </a:extLst>
          </p:cNvPr>
          <p:cNvSpPr txBox="1"/>
          <p:nvPr/>
        </p:nvSpPr>
        <p:spPr>
          <a:xfrm>
            <a:off x="2802835" y="525621"/>
            <a:ext cx="25649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dirty="0" err="1">
                <a:solidFill>
                  <a:srgbClr val="FF0000"/>
                </a:solidFill>
              </a:rPr>
              <a:t>Scikit-learn</a:t>
            </a:r>
            <a:r>
              <a:rPr lang="pt-PT" dirty="0">
                <a:solidFill>
                  <a:srgbClr val="FF0000"/>
                </a:solidFill>
              </a:rPr>
              <a:t> </a:t>
            </a:r>
            <a:r>
              <a:rPr lang="pt-PT" dirty="0" err="1">
                <a:solidFill>
                  <a:srgbClr val="FF0000"/>
                </a:solidFill>
              </a:rPr>
              <a:t>auto-selects</a:t>
            </a:r>
            <a:r>
              <a:rPr lang="pt-PT" dirty="0">
                <a:solidFill>
                  <a:srgbClr val="FF0000"/>
                </a:solidFill>
              </a:rPr>
              <a:t> a </a:t>
            </a:r>
            <a:r>
              <a:rPr lang="pt-PT" dirty="0" err="1">
                <a:solidFill>
                  <a:srgbClr val="FF0000"/>
                </a:solidFill>
              </a:rPr>
              <a:t>large</a:t>
            </a:r>
            <a:r>
              <a:rPr lang="pt-PT" dirty="0">
                <a:solidFill>
                  <a:srgbClr val="FF0000"/>
                </a:solidFill>
              </a:rPr>
              <a:t> </a:t>
            </a:r>
            <a:r>
              <a:rPr lang="pt-PT" dirty="0" err="1">
                <a:solidFill>
                  <a:srgbClr val="FF0000"/>
                </a:solidFill>
              </a:rPr>
              <a:t>number</a:t>
            </a:r>
            <a:r>
              <a:rPr lang="pt-PT" dirty="0">
                <a:solidFill>
                  <a:srgbClr val="FF0000"/>
                </a:solidFill>
              </a:rPr>
              <a:t> </a:t>
            </a:r>
            <a:r>
              <a:rPr lang="pt-PT" dirty="0" err="1">
                <a:solidFill>
                  <a:srgbClr val="FF0000"/>
                </a:solidFill>
              </a:rPr>
              <a:t>of</a:t>
            </a:r>
            <a:r>
              <a:rPr lang="pt-PT" dirty="0">
                <a:solidFill>
                  <a:srgbClr val="FF0000"/>
                </a:solidFill>
              </a:rPr>
              <a:t> </a:t>
            </a:r>
            <a:r>
              <a:rPr lang="pt-PT" dirty="0" err="1">
                <a:solidFill>
                  <a:srgbClr val="FF0000"/>
                </a:solidFill>
              </a:rPr>
              <a:t>PCs</a:t>
            </a:r>
            <a:r>
              <a:rPr lang="pt-PT" dirty="0">
                <a:solidFill>
                  <a:srgbClr val="FF0000"/>
                </a:solidFill>
              </a:rPr>
              <a:t> (</a:t>
            </a:r>
            <a:r>
              <a:rPr lang="pt-PT" dirty="0" err="1">
                <a:solidFill>
                  <a:srgbClr val="FF0000"/>
                </a:solidFill>
              </a:rPr>
              <a:t>if</a:t>
            </a:r>
            <a:r>
              <a:rPr lang="pt-PT" dirty="0">
                <a:solidFill>
                  <a:srgbClr val="FF0000"/>
                </a:solidFill>
              </a:rPr>
              <a:t> </a:t>
            </a:r>
            <a:r>
              <a:rPr lang="pt-PT" dirty="0" err="1">
                <a:solidFill>
                  <a:srgbClr val="FF0000"/>
                </a:solidFill>
              </a:rPr>
              <a:t>not</a:t>
            </a:r>
            <a:r>
              <a:rPr lang="pt-PT" dirty="0">
                <a:solidFill>
                  <a:srgbClr val="FF0000"/>
                </a:solidFill>
              </a:rPr>
              <a:t> </a:t>
            </a:r>
            <a:r>
              <a:rPr lang="pt-PT" dirty="0" err="1">
                <a:solidFill>
                  <a:srgbClr val="FF0000"/>
                </a:solidFill>
              </a:rPr>
              <a:t>specified</a:t>
            </a:r>
            <a:r>
              <a:rPr lang="pt-PT" dirty="0">
                <a:solidFill>
                  <a:srgbClr val="FF0000"/>
                </a:solidFill>
              </a:rPr>
              <a:t>)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DC086B08-4AEB-2E5F-D2DE-27B580D729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7300" y="3690372"/>
            <a:ext cx="4538509" cy="3146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76054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D5EE1-19D6-F3C1-A6FE-10A98D6C0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6D65777C-4899-4AC6-D549-9CCB2B831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57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BA1E3E78-AB99-FDDE-54E0-9394B0C159ED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Principal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Component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Analysis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–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loading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plots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</a:t>
            </a:r>
            <a:endParaRPr lang="en-US" sz="2800" b="1" dirty="0">
              <a:solidFill>
                <a:schemeClr val="bg1"/>
              </a:solidFill>
              <a:latin typeface="Calibri Light"/>
              <a:ea typeface="Arrus BT Roman"/>
              <a:cs typeface="Arrus BT Roman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E75E5CB9-A346-A350-B18D-D96A9B20B4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0499" y="1153450"/>
            <a:ext cx="5711501" cy="439408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30C222F7-037A-D5BD-606E-02A74E542C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958" y="1383868"/>
            <a:ext cx="6256338" cy="3459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19954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A712F3-17B4-7512-51FB-71BFA10CA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7934B344-4B22-A217-82EC-6748B8035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58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0D5EA855-528A-00D9-3D93-74F8C70FD1FA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Principal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Component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Analysis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– score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plots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</a:t>
            </a:r>
            <a:endParaRPr lang="en-US" sz="2800" b="1" dirty="0">
              <a:solidFill>
                <a:schemeClr val="bg1"/>
              </a:solidFill>
              <a:latin typeface="Calibri Light"/>
              <a:ea typeface="Arrus BT Roman"/>
              <a:cs typeface="Arrus BT Roman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800AB36C-98A3-15A1-FB1E-0CD060E463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6064" y="1383868"/>
            <a:ext cx="4782107" cy="3735177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BEA3C791-5566-31CE-53CA-50EBF5CC92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904" y="1302894"/>
            <a:ext cx="6505555" cy="3897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40615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A4BDE-45DA-7A6C-A10B-AB0CA9763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433E105B-BD17-02B6-FE32-805D2C692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59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D383BC24-311C-3FE2-044C-F4D505EC86DB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Principal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Component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Analysis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– score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plots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</a:t>
            </a:r>
            <a:endParaRPr lang="en-US" sz="2800" b="1" dirty="0">
              <a:solidFill>
                <a:schemeClr val="bg1"/>
              </a:solidFill>
              <a:latin typeface="Calibri Light"/>
              <a:ea typeface="Arrus BT Roman"/>
              <a:cs typeface="Arrus BT Roman"/>
            </a:endParaRP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5AFCE45F-F737-313F-B999-EDC154437F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7864" y="471336"/>
            <a:ext cx="3850271" cy="3089724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B11CDF9B-742D-6135-D707-96A17A5E36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541" y="3561060"/>
            <a:ext cx="3918916" cy="3084960"/>
          </a:xfrm>
          <a:prstGeom prst="rect">
            <a:avLst/>
          </a:prstGeom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96870ED3-749A-C1EC-FCA7-0D2838E841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788" y="838671"/>
            <a:ext cx="5312410" cy="5444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26961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aixaDeTexto 11">
            <a:extLst>
              <a:ext uri="{FF2B5EF4-FFF2-40B4-BE49-F238E27FC236}">
                <a16:creationId xmlns:a16="http://schemas.microsoft.com/office/drawing/2014/main" id="{C963D542-4491-B0D8-77C0-550101C612AE}"/>
              </a:ext>
            </a:extLst>
          </p:cNvPr>
          <p:cNvSpPr txBox="1"/>
          <p:nvPr/>
        </p:nvSpPr>
        <p:spPr>
          <a:xfrm>
            <a:off x="1062754" y="420877"/>
            <a:ext cx="1006649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2800" b="1" dirty="0" err="1"/>
              <a:t>CInTech</a:t>
            </a:r>
            <a:r>
              <a:rPr lang="pt-PT" sz="2800" b="1" dirty="0"/>
              <a:t>: Polo Tecnológico de Inovação, Translação e Industrialização de Medicamentos Injetáveis Complexos</a:t>
            </a:r>
          </a:p>
          <a:p>
            <a:pPr algn="ctr"/>
            <a:r>
              <a:rPr lang="pt-PT" sz="2000" dirty="0"/>
              <a:t>Projeto nº 30 – Referência 7131</a:t>
            </a:r>
          </a:p>
          <a:p>
            <a:pPr algn="ctr"/>
            <a:r>
              <a:rPr lang="pt-PT" sz="2000" dirty="0"/>
              <a:t>(Código do projeto: C644865576-00000005)</a:t>
            </a: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4787D1A3-13F5-E7E6-2152-9F4D81124F34}"/>
              </a:ext>
            </a:extLst>
          </p:cNvPr>
          <p:cNvGrpSpPr/>
          <p:nvPr/>
        </p:nvGrpSpPr>
        <p:grpSpPr>
          <a:xfrm>
            <a:off x="2416697" y="2438400"/>
            <a:ext cx="7757878" cy="1298663"/>
            <a:chOff x="2416697" y="2438400"/>
            <a:chExt cx="7757878" cy="1298663"/>
          </a:xfrm>
        </p:grpSpPr>
        <p:pic>
          <p:nvPicPr>
            <p:cNvPr id="5" name="Imagem 4" descr="Uma imagem com texto, captura de ecrã, Tipo de letra, Gráficos&#10;&#10;Descrição gerada automaticamente">
              <a:extLst>
                <a:ext uri="{FF2B5EF4-FFF2-40B4-BE49-F238E27FC236}">
                  <a16:creationId xmlns:a16="http://schemas.microsoft.com/office/drawing/2014/main" id="{5FADB310-CD41-AFCE-BCC9-3790B446ECF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22117" y="2758276"/>
              <a:ext cx="6052458" cy="873677"/>
            </a:xfrm>
            <a:prstGeom prst="rect">
              <a:avLst/>
            </a:prstGeom>
          </p:spPr>
        </p:pic>
        <p:pic>
          <p:nvPicPr>
            <p:cNvPr id="14" name="Imagem 13" descr="Uma imagem com Gráficos, design gráfico, Tipo de letra, captura de ecrã&#10;&#10;Descrição gerada automaticamente">
              <a:extLst>
                <a:ext uri="{FF2B5EF4-FFF2-40B4-BE49-F238E27FC236}">
                  <a16:creationId xmlns:a16="http://schemas.microsoft.com/office/drawing/2014/main" id="{033CE8B3-B1B0-C7CC-EE64-03736F37135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16697" y="2438400"/>
              <a:ext cx="1453727" cy="1298663"/>
            </a:xfrm>
            <a:prstGeom prst="rect">
              <a:avLst/>
            </a:prstGeom>
          </p:spPr>
        </p:pic>
      </p:grpSp>
      <p:sp>
        <p:nvSpPr>
          <p:cNvPr id="2" name="CaixaDeTexto 1">
            <a:extLst>
              <a:ext uri="{FF2B5EF4-FFF2-40B4-BE49-F238E27FC236}">
                <a16:creationId xmlns:a16="http://schemas.microsoft.com/office/drawing/2014/main" id="{589AAAFC-ADF4-E9A8-BB0D-3ADEBF8FE112}"/>
              </a:ext>
            </a:extLst>
          </p:cNvPr>
          <p:cNvSpPr txBox="1"/>
          <p:nvPr/>
        </p:nvSpPr>
        <p:spPr>
          <a:xfrm>
            <a:off x="829452" y="4345577"/>
            <a:ext cx="10239928" cy="83099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pt-PT" sz="1600" dirty="0"/>
              <a:t>Projeto </a:t>
            </a:r>
            <a:r>
              <a:rPr lang="pt-PT" sz="1600" dirty="0" err="1"/>
              <a:t>Cintech</a:t>
            </a:r>
            <a:r>
              <a:rPr lang="pt-PT" sz="1600" dirty="0"/>
              <a:t> com a referência 7131 financiado pelo PRR - Plano de Recuperação e Resiliência e pelos Fundos Europeus </a:t>
            </a:r>
            <a:r>
              <a:rPr lang="pt-PT" sz="1600" dirty="0" err="1"/>
              <a:t>Next</a:t>
            </a:r>
            <a:r>
              <a:rPr lang="pt-PT" sz="1600" dirty="0"/>
              <a:t> </a:t>
            </a:r>
            <a:r>
              <a:rPr lang="pt-PT" sz="1600" dirty="0" err="1"/>
              <a:t>Generation</a:t>
            </a:r>
            <a:r>
              <a:rPr lang="pt-PT" sz="1600" dirty="0"/>
              <a:t> EU, na sequência do AVISO N.º 02/C05-i01/2022, Componente 5 – Capitalização e Inovação Empresarial - Agendas Mobilizadoras para a Inovação Empresarial</a:t>
            </a:r>
            <a:endParaRPr lang="en-GB" sz="1600" dirty="0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9FDB118B-C0BB-BE4A-3749-722BEA6E2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60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776633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1352</TotalTime>
  <Words>2153</Words>
  <Application>Microsoft Office PowerPoint</Application>
  <PresentationFormat>Ecrã Panorâmico</PresentationFormat>
  <Paragraphs>405</Paragraphs>
  <Slides>60</Slides>
  <Notes>1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60</vt:i4>
      </vt:variant>
    </vt:vector>
  </HeadingPairs>
  <TitlesOfParts>
    <vt:vector size="66" baseType="lpstr">
      <vt:lpstr>Aptos</vt:lpstr>
      <vt:lpstr>Aptos Display</vt:lpstr>
      <vt:lpstr>Arial</vt:lpstr>
      <vt:lpstr>Arrus BT Roman</vt:lpstr>
      <vt:lpstr>Calibri Light</vt:lpstr>
      <vt:lpstr>Tema do Office</vt:lpstr>
      <vt:lpstr>AI &amp; ML for Process Analytical Technology using Python  Day 2:  Exploratory data analysis and visualization</vt:lpstr>
      <vt:lpstr>Apresentação do PowerPoint</vt:lpstr>
      <vt:lpstr>Apresentação do PowerPoint</vt:lpstr>
      <vt:lpstr>Part 1: Univariate statistical analysis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Part 2: Data analysis and manipulation with Pandas 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Part 3: Multivariate statistical analysis 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Part 4: Principal Component Analysis and applications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Marco Reis</dc:creator>
  <cp:lastModifiedBy>2013149768</cp:lastModifiedBy>
  <cp:revision>46</cp:revision>
  <dcterms:created xsi:type="dcterms:W3CDTF">2024-10-03T14:59:30Z</dcterms:created>
  <dcterms:modified xsi:type="dcterms:W3CDTF">2025-06-23T21:28:29Z</dcterms:modified>
</cp:coreProperties>
</file>