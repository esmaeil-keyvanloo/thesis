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2"/>
  </p:notesMasterIdLst>
  <p:handoutMasterIdLst>
    <p:handoutMasterId r:id="rId73"/>
  </p:handoutMasterIdLst>
  <p:sldIdLst>
    <p:sldId id="258" r:id="rId2"/>
    <p:sldId id="386" r:id="rId3"/>
    <p:sldId id="353" r:id="rId4"/>
    <p:sldId id="354" r:id="rId5"/>
    <p:sldId id="401" r:id="rId6"/>
    <p:sldId id="457" r:id="rId7"/>
    <p:sldId id="272" r:id="rId8"/>
    <p:sldId id="368" r:id="rId9"/>
    <p:sldId id="460" r:id="rId10"/>
    <p:sldId id="342" r:id="rId11"/>
    <p:sldId id="370" r:id="rId12"/>
    <p:sldId id="371" r:id="rId13"/>
    <p:sldId id="390" r:id="rId14"/>
    <p:sldId id="376" r:id="rId15"/>
    <p:sldId id="373" r:id="rId16"/>
    <p:sldId id="375" r:id="rId17"/>
    <p:sldId id="410" r:id="rId18"/>
    <p:sldId id="372" r:id="rId19"/>
    <p:sldId id="394" r:id="rId20"/>
    <p:sldId id="392" r:id="rId21"/>
    <p:sldId id="377" r:id="rId22"/>
    <p:sldId id="411" r:id="rId23"/>
    <p:sldId id="378" r:id="rId24"/>
    <p:sldId id="414" r:id="rId25"/>
    <p:sldId id="379" r:id="rId26"/>
    <p:sldId id="380" r:id="rId27"/>
    <p:sldId id="396" r:id="rId28"/>
    <p:sldId id="412" r:id="rId29"/>
    <p:sldId id="459" r:id="rId30"/>
    <p:sldId id="304" r:id="rId31"/>
    <p:sldId id="381" r:id="rId32"/>
    <p:sldId id="434" r:id="rId33"/>
    <p:sldId id="346" r:id="rId34"/>
    <p:sldId id="435" r:id="rId35"/>
    <p:sldId id="389" r:id="rId36"/>
    <p:sldId id="416" r:id="rId37"/>
    <p:sldId id="350" r:id="rId38"/>
    <p:sldId id="436" r:id="rId39"/>
    <p:sldId id="458" r:id="rId40"/>
    <p:sldId id="409" r:id="rId41"/>
    <p:sldId id="455" r:id="rId42"/>
    <p:sldId id="427" r:id="rId43"/>
    <p:sldId id="438" r:id="rId44"/>
    <p:sldId id="437" r:id="rId45"/>
    <p:sldId id="441" r:id="rId46"/>
    <p:sldId id="422" r:id="rId47"/>
    <p:sldId id="388" r:id="rId48"/>
    <p:sldId id="451" r:id="rId49"/>
    <p:sldId id="453" r:id="rId50"/>
    <p:sldId id="454" r:id="rId51"/>
    <p:sldId id="442" r:id="rId52"/>
    <p:sldId id="336" r:id="rId53"/>
    <p:sldId id="443" r:id="rId54"/>
    <p:sldId id="444" r:id="rId55"/>
    <p:sldId id="445" r:id="rId56"/>
    <p:sldId id="398" r:id="rId57"/>
    <p:sldId id="446" r:id="rId58"/>
    <p:sldId id="447" r:id="rId59"/>
    <p:sldId id="404" r:id="rId60"/>
    <p:sldId id="449" r:id="rId61"/>
    <p:sldId id="456" r:id="rId62"/>
    <p:sldId id="432" r:id="rId63"/>
    <p:sldId id="433" r:id="rId64"/>
    <p:sldId id="405" r:id="rId65"/>
    <p:sldId id="402" r:id="rId66"/>
    <p:sldId id="407" r:id="rId67"/>
    <p:sldId id="450" r:id="rId68"/>
    <p:sldId id="421" r:id="rId69"/>
    <p:sldId id="335" r:id="rId70"/>
    <p:sldId id="256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B36F7D-A3BA-4840-A5C1-572FCB60E0BE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CD82DFE-2F40-4E49-8542-46B05A7A8F72}">
      <dgm:prSet phldrT="[Texto]" custT="1"/>
      <dgm:spPr/>
      <dgm:t>
        <a:bodyPr/>
        <a:lstStyle/>
        <a:p>
          <a:r>
            <a:rPr lang="pt-PT" sz="2800" dirty="0"/>
            <a:t>Data </a:t>
          </a:r>
          <a:r>
            <a:rPr lang="pt-PT" sz="2800" dirty="0" err="1"/>
            <a:t>collection</a:t>
          </a:r>
          <a:r>
            <a:rPr lang="pt-PT" sz="2800" dirty="0"/>
            <a:t> </a:t>
          </a:r>
          <a:r>
            <a:rPr lang="pt-PT" sz="2800" dirty="0" err="1"/>
            <a:t>and</a:t>
          </a:r>
          <a:r>
            <a:rPr lang="pt-PT" sz="2800" dirty="0"/>
            <a:t> </a:t>
          </a:r>
          <a:r>
            <a:rPr lang="pt-PT" sz="2800" dirty="0" err="1"/>
            <a:t>acquisition</a:t>
          </a:r>
          <a:endParaRPr lang="en-US" sz="2800" dirty="0"/>
        </a:p>
      </dgm:t>
    </dgm:pt>
    <dgm:pt modelId="{1EF2FC94-51B6-4BD7-AC1A-F5BC5CE763BB}" type="parTrans" cxnId="{A89FDC1B-2413-478D-A21C-86D4F9899E3F}">
      <dgm:prSet/>
      <dgm:spPr/>
      <dgm:t>
        <a:bodyPr/>
        <a:lstStyle/>
        <a:p>
          <a:endParaRPr lang="en-US" sz="2000"/>
        </a:p>
      </dgm:t>
    </dgm:pt>
    <dgm:pt modelId="{8C8CE1A8-530E-41AE-A1C3-15FEEA709BDA}" type="sibTrans" cxnId="{A89FDC1B-2413-478D-A21C-86D4F9899E3F}">
      <dgm:prSet/>
      <dgm:spPr/>
      <dgm:t>
        <a:bodyPr/>
        <a:lstStyle/>
        <a:p>
          <a:endParaRPr lang="en-US" sz="2000"/>
        </a:p>
      </dgm:t>
    </dgm:pt>
    <dgm:pt modelId="{1FE76FDA-08A1-4D3C-84CB-0D5DBC3EA481}">
      <dgm:prSet phldrT="[Texto]" custT="1"/>
      <dgm:spPr/>
      <dgm:t>
        <a:bodyPr/>
        <a:lstStyle/>
        <a:p>
          <a:r>
            <a:rPr lang="pt-PT" sz="1800" dirty="0"/>
            <a:t>Excel </a:t>
          </a:r>
          <a:r>
            <a:rPr lang="pt-PT" sz="1800" dirty="0" err="1"/>
            <a:t>spreadsheets</a:t>
          </a:r>
          <a:r>
            <a:rPr lang="pt-PT" sz="1800" dirty="0"/>
            <a:t>, .</a:t>
          </a:r>
          <a:r>
            <a:rPr lang="pt-PT" sz="1800" dirty="0" err="1"/>
            <a:t>csv</a:t>
          </a:r>
          <a:r>
            <a:rPr lang="pt-PT" sz="1800" dirty="0"/>
            <a:t> files</a:t>
          </a:r>
          <a:endParaRPr lang="en-US" sz="1800" dirty="0"/>
        </a:p>
      </dgm:t>
    </dgm:pt>
    <dgm:pt modelId="{196A1682-8369-443E-BE21-362AA8AFA018}" type="parTrans" cxnId="{9D1FE8CB-6C55-4211-B82D-6A9381BEA5BB}">
      <dgm:prSet/>
      <dgm:spPr/>
      <dgm:t>
        <a:bodyPr/>
        <a:lstStyle/>
        <a:p>
          <a:endParaRPr lang="en-US" sz="2000"/>
        </a:p>
      </dgm:t>
    </dgm:pt>
    <dgm:pt modelId="{D91338E8-521F-42A7-9704-9FD8C796CD62}" type="sibTrans" cxnId="{9D1FE8CB-6C55-4211-B82D-6A9381BEA5BB}">
      <dgm:prSet/>
      <dgm:spPr/>
      <dgm:t>
        <a:bodyPr/>
        <a:lstStyle/>
        <a:p>
          <a:endParaRPr lang="en-US" sz="2000"/>
        </a:p>
      </dgm:t>
    </dgm:pt>
    <dgm:pt modelId="{EB930552-F37D-4CF0-8A73-1E44101062CB}">
      <dgm:prSet phldrT="[Texto]" custT="1"/>
      <dgm:spPr/>
      <dgm:t>
        <a:bodyPr/>
        <a:lstStyle/>
        <a:p>
          <a:r>
            <a:rPr lang="pt-PT" sz="1800" dirty="0"/>
            <a:t>SQL </a:t>
          </a:r>
          <a:r>
            <a:rPr lang="pt-PT" sz="1800" dirty="0" err="1"/>
            <a:t>databases</a:t>
          </a:r>
          <a:r>
            <a:rPr lang="pt-PT" sz="1800" dirty="0"/>
            <a:t>/</a:t>
          </a:r>
          <a:r>
            <a:rPr lang="pt-PT" sz="1800" dirty="0" err="1"/>
            <a:t>historians</a:t>
          </a:r>
          <a:endParaRPr lang="en-US" sz="1800" dirty="0"/>
        </a:p>
      </dgm:t>
    </dgm:pt>
    <dgm:pt modelId="{F9203EBF-5938-4CB8-8DFF-160821E3DC9D}" type="parTrans" cxnId="{146DC983-9CDE-4A8E-B508-08C63E8750AE}">
      <dgm:prSet/>
      <dgm:spPr/>
      <dgm:t>
        <a:bodyPr/>
        <a:lstStyle/>
        <a:p>
          <a:endParaRPr lang="en-US" sz="2000"/>
        </a:p>
      </dgm:t>
    </dgm:pt>
    <dgm:pt modelId="{F2C8AA02-6605-4668-8FDB-3CF608AECC22}" type="sibTrans" cxnId="{146DC983-9CDE-4A8E-B508-08C63E8750AE}">
      <dgm:prSet/>
      <dgm:spPr/>
      <dgm:t>
        <a:bodyPr/>
        <a:lstStyle/>
        <a:p>
          <a:endParaRPr lang="en-US" sz="2000"/>
        </a:p>
      </dgm:t>
    </dgm:pt>
    <dgm:pt modelId="{76277B7E-F3DF-4860-A334-025268DB9BA8}">
      <dgm:prSet phldrT="[Texto]" custT="1"/>
      <dgm:spPr/>
      <dgm:t>
        <a:bodyPr/>
        <a:lstStyle/>
        <a:p>
          <a:r>
            <a:rPr lang="pt-PT" sz="2800" dirty="0" err="1"/>
            <a:t>Extract</a:t>
          </a:r>
          <a:r>
            <a:rPr lang="pt-PT" sz="2800" dirty="0"/>
            <a:t> data </a:t>
          </a:r>
          <a:r>
            <a:rPr lang="pt-PT" sz="2800" dirty="0" err="1"/>
            <a:t>from</a:t>
          </a:r>
          <a:r>
            <a:rPr lang="pt-PT" sz="2800" dirty="0"/>
            <a:t> </a:t>
          </a:r>
          <a:r>
            <a:rPr lang="pt-PT" sz="2800" dirty="0" err="1"/>
            <a:t>databases</a:t>
          </a:r>
          <a:endParaRPr lang="en-US" sz="2800" dirty="0"/>
        </a:p>
      </dgm:t>
    </dgm:pt>
    <dgm:pt modelId="{A704885E-37A9-43B9-8246-7AAFD1604C13}" type="parTrans" cxnId="{2980C1B1-2543-43F7-8CF6-F19CA451AA22}">
      <dgm:prSet/>
      <dgm:spPr/>
      <dgm:t>
        <a:bodyPr/>
        <a:lstStyle/>
        <a:p>
          <a:endParaRPr lang="en-US" sz="2000"/>
        </a:p>
      </dgm:t>
    </dgm:pt>
    <dgm:pt modelId="{1A1621B1-9B61-40CC-B71A-20A1CC7E4B76}" type="sibTrans" cxnId="{2980C1B1-2543-43F7-8CF6-F19CA451AA22}">
      <dgm:prSet/>
      <dgm:spPr/>
      <dgm:t>
        <a:bodyPr/>
        <a:lstStyle/>
        <a:p>
          <a:endParaRPr lang="en-US" sz="2000"/>
        </a:p>
      </dgm:t>
    </dgm:pt>
    <dgm:pt modelId="{792C94F3-D873-473C-982C-8C0A96A2EBFF}">
      <dgm:prSet phldrT="[Texto]" custT="1"/>
      <dgm:spPr/>
      <dgm:t>
        <a:bodyPr/>
        <a:lstStyle/>
        <a:p>
          <a:r>
            <a:rPr lang="pt-PT" sz="1800" dirty="0" err="1"/>
            <a:t>Extract</a:t>
          </a:r>
          <a:r>
            <a:rPr lang="pt-PT" sz="1800" dirty="0"/>
            <a:t> data </a:t>
          </a:r>
          <a:r>
            <a:rPr lang="pt-PT" sz="1800" dirty="0" err="1"/>
            <a:t>from</a:t>
          </a:r>
          <a:r>
            <a:rPr lang="pt-PT" sz="1800" dirty="0"/>
            <a:t> </a:t>
          </a:r>
          <a:r>
            <a:rPr lang="pt-PT" sz="1800" dirty="0" err="1"/>
            <a:t>databases</a:t>
          </a:r>
          <a:r>
            <a:rPr lang="pt-PT" sz="1800" dirty="0"/>
            <a:t> </a:t>
          </a:r>
          <a:r>
            <a:rPr lang="pt-PT" sz="1800" dirty="0" err="1"/>
            <a:t>or</a:t>
          </a:r>
          <a:r>
            <a:rPr lang="pt-PT" sz="1800" dirty="0"/>
            <a:t> </a:t>
          </a:r>
          <a:r>
            <a:rPr lang="pt-PT" sz="1800" dirty="0" err="1"/>
            <a:t>spreadsheets</a:t>
          </a:r>
          <a:endParaRPr lang="en-US" sz="1800" dirty="0"/>
        </a:p>
      </dgm:t>
    </dgm:pt>
    <dgm:pt modelId="{2D4FA0DA-9140-4CB3-9A26-580E6232FC61}" type="parTrans" cxnId="{FA6F506C-4F70-40D0-8E9A-D5AC9B394B69}">
      <dgm:prSet/>
      <dgm:spPr/>
      <dgm:t>
        <a:bodyPr/>
        <a:lstStyle/>
        <a:p>
          <a:endParaRPr lang="en-US" sz="2000"/>
        </a:p>
      </dgm:t>
    </dgm:pt>
    <dgm:pt modelId="{2C859F66-5BAC-4289-8882-CD02895D2FA2}" type="sibTrans" cxnId="{FA6F506C-4F70-40D0-8E9A-D5AC9B394B69}">
      <dgm:prSet/>
      <dgm:spPr/>
      <dgm:t>
        <a:bodyPr/>
        <a:lstStyle/>
        <a:p>
          <a:endParaRPr lang="en-US" sz="2000"/>
        </a:p>
      </dgm:t>
    </dgm:pt>
    <dgm:pt modelId="{97B5BDCE-8871-4D34-9ED5-BA8E377CDB18}">
      <dgm:prSet phldrT="[Texto]" custT="1"/>
      <dgm:spPr/>
      <dgm:t>
        <a:bodyPr/>
        <a:lstStyle/>
        <a:p>
          <a:r>
            <a:rPr lang="pt-PT" sz="2800" dirty="0"/>
            <a:t>Data </a:t>
          </a:r>
          <a:r>
            <a:rPr lang="pt-PT" sz="2800" dirty="0" err="1"/>
            <a:t>storage</a:t>
          </a:r>
          <a:endParaRPr lang="en-US" sz="2800" dirty="0"/>
        </a:p>
      </dgm:t>
    </dgm:pt>
    <dgm:pt modelId="{717A8A55-75BB-4489-86E9-C1B51FA076C4}" type="sibTrans" cxnId="{E2A2ED93-A0AE-4F3F-BDF3-563428C430E1}">
      <dgm:prSet/>
      <dgm:spPr/>
      <dgm:t>
        <a:bodyPr/>
        <a:lstStyle/>
        <a:p>
          <a:endParaRPr lang="en-US" sz="2000"/>
        </a:p>
      </dgm:t>
    </dgm:pt>
    <dgm:pt modelId="{0BBF0555-472B-4B5A-B456-494BE731C75A}" type="parTrans" cxnId="{E2A2ED93-A0AE-4F3F-BDF3-563428C430E1}">
      <dgm:prSet/>
      <dgm:spPr/>
      <dgm:t>
        <a:bodyPr/>
        <a:lstStyle/>
        <a:p>
          <a:endParaRPr lang="en-US" sz="2000"/>
        </a:p>
      </dgm:t>
    </dgm:pt>
    <dgm:pt modelId="{4A3AF55B-C06E-406F-8111-7AD53FEAA965}">
      <dgm:prSet phldrT="[Texto]" custT="1"/>
      <dgm:spPr/>
      <dgm:t>
        <a:bodyPr/>
        <a:lstStyle/>
        <a:p>
          <a:r>
            <a:rPr lang="pt-PT" sz="1800" dirty="0"/>
            <a:t>On-line </a:t>
          </a:r>
          <a:r>
            <a:rPr lang="pt-PT" sz="1800" dirty="0" err="1"/>
            <a:t>sensors</a:t>
          </a:r>
          <a:r>
            <a:rPr lang="pt-PT" sz="1800" dirty="0"/>
            <a:t> </a:t>
          </a:r>
          <a:r>
            <a:rPr lang="pt-PT" sz="1800" dirty="0" err="1"/>
            <a:t>or</a:t>
          </a:r>
          <a:r>
            <a:rPr lang="pt-PT" sz="1800" dirty="0"/>
            <a:t> off-line </a:t>
          </a:r>
          <a:r>
            <a:rPr lang="pt-PT" sz="1800" dirty="0" err="1"/>
            <a:t>laboratory</a:t>
          </a:r>
          <a:r>
            <a:rPr lang="pt-PT" sz="1800" dirty="0"/>
            <a:t> </a:t>
          </a:r>
          <a:r>
            <a:rPr lang="pt-PT" sz="1800" dirty="0" err="1"/>
            <a:t>analysis</a:t>
          </a:r>
          <a:endParaRPr lang="en-US" sz="1800" dirty="0"/>
        </a:p>
      </dgm:t>
    </dgm:pt>
    <dgm:pt modelId="{AE7D051A-6A77-47A9-AA78-3FC36E647616}" type="sibTrans" cxnId="{A4642D7A-2536-4B1B-B657-1A3A27F9D68D}">
      <dgm:prSet/>
      <dgm:spPr/>
      <dgm:t>
        <a:bodyPr/>
        <a:lstStyle/>
        <a:p>
          <a:endParaRPr lang="en-US" sz="2000"/>
        </a:p>
      </dgm:t>
    </dgm:pt>
    <dgm:pt modelId="{A8A21BD7-2303-47EB-B4F5-5D3282778415}" type="parTrans" cxnId="{A4642D7A-2536-4B1B-B657-1A3A27F9D68D}">
      <dgm:prSet/>
      <dgm:spPr/>
      <dgm:t>
        <a:bodyPr/>
        <a:lstStyle/>
        <a:p>
          <a:endParaRPr lang="en-US" sz="2000"/>
        </a:p>
      </dgm:t>
    </dgm:pt>
    <dgm:pt modelId="{2686B6B7-9295-4CE5-A010-2134C3CAAA6E}">
      <dgm:prSet phldrT="[Texto]" custT="1"/>
      <dgm:spPr/>
      <dgm:t>
        <a:bodyPr/>
        <a:lstStyle/>
        <a:p>
          <a:r>
            <a:rPr lang="pt-PT" sz="1800" dirty="0" err="1"/>
            <a:t>Experiments</a:t>
          </a:r>
          <a:endParaRPr lang="en-US" sz="1800" dirty="0"/>
        </a:p>
      </dgm:t>
    </dgm:pt>
    <dgm:pt modelId="{4975B00F-0C19-424C-BE43-F2FB9C5925AB}" type="parTrans" cxnId="{DD39FF38-05AC-40F7-8E0B-2B6584F65BE3}">
      <dgm:prSet/>
      <dgm:spPr/>
      <dgm:t>
        <a:bodyPr/>
        <a:lstStyle/>
        <a:p>
          <a:endParaRPr lang="en-US" sz="2000"/>
        </a:p>
      </dgm:t>
    </dgm:pt>
    <dgm:pt modelId="{A18F565D-A3BC-4DAF-ADFD-D0DDEBB21201}" type="sibTrans" cxnId="{DD39FF38-05AC-40F7-8E0B-2B6584F65BE3}">
      <dgm:prSet/>
      <dgm:spPr/>
      <dgm:t>
        <a:bodyPr/>
        <a:lstStyle/>
        <a:p>
          <a:endParaRPr lang="en-US" sz="2000"/>
        </a:p>
      </dgm:t>
    </dgm:pt>
    <dgm:pt modelId="{2BB74883-5CE6-46C4-943A-F1EAE7E25E4F}">
      <dgm:prSet phldrT="[Texto]" custT="1"/>
      <dgm:spPr/>
      <dgm:t>
        <a:bodyPr/>
        <a:lstStyle/>
        <a:p>
          <a:r>
            <a:rPr lang="pt-PT" sz="1800" dirty="0" err="1"/>
            <a:t>Transform</a:t>
          </a:r>
          <a:r>
            <a:rPr lang="pt-PT" sz="1800" dirty="0"/>
            <a:t> </a:t>
          </a:r>
          <a:r>
            <a:rPr lang="pt-PT" sz="1800" dirty="0" err="1"/>
            <a:t>or</a:t>
          </a:r>
          <a:r>
            <a:rPr lang="pt-PT" sz="1800" dirty="0"/>
            <a:t> </a:t>
          </a:r>
          <a:r>
            <a:rPr lang="pt-PT" sz="1800" dirty="0" err="1"/>
            <a:t>clean</a:t>
          </a:r>
          <a:r>
            <a:rPr lang="pt-PT" sz="1800" dirty="0"/>
            <a:t> data for </a:t>
          </a:r>
          <a:r>
            <a:rPr lang="pt-PT" sz="1800" dirty="0" err="1"/>
            <a:t>analysis</a:t>
          </a:r>
          <a:endParaRPr lang="en-US" sz="1800" dirty="0"/>
        </a:p>
      </dgm:t>
    </dgm:pt>
    <dgm:pt modelId="{60E25FF4-1630-4D36-9E3D-F8379B6AD96A}" type="sibTrans" cxnId="{6B8054CD-A3DB-4644-9F9A-B4B257F533A6}">
      <dgm:prSet/>
      <dgm:spPr/>
      <dgm:t>
        <a:bodyPr/>
        <a:lstStyle/>
        <a:p>
          <a:endParaRPr lang="en-US" sz="2000"/>
        </a:p>
      </dgm:t>
    </dgm:pt>
    <dgm:pt modelId="{897DFB86-80D5-48CF-9949-1543D90F3526}" type="parTrans" cxnId="{6B8054CD-A3DB-4644-9F9A-B4B257F533A6}">
      <dgm:prSet/>
      <dgm:spPr/>
      <dgm:t>
        <a:bodyPr/>
        <a:lstStyle/>
        <a:p>
          <a:endParaRPr lang="en-US" sz="2000"/>
        </a:p>
      </dgm:t>
    </dgm:pt>
    <dgm:pt modelId="{B03E2F81-F70B-4F08-94EC-0F566A3399AA}">
      <dgm:prSet phldrT="[Texto]" custT="1"/>
      <dgm:spPr/>
      <dgm:t>
        <a:bodyPr/>
        <a:lstStyle/>
        <a:p>
          <a:r>
            <a:rPr lang="pt-PT" sz="2800" dirty="0" err="1"/>
            <a:t>Exploratory</a:t>
          </a:r>
          <a:r>
            <a:rPr lang="pt-PT" sz="2800" dirty="0"/>
            <a:t> data </a:t>
          </a:r>
          <a:r>
            <a:rPr lang="pt-PT" sz="2800" dirty="0" err="1"/>
            <a:t>analysis</a:t>
          </a:r>
          <a:endParaRPr lang="en-US" sz="2800" dirty="0"/>
        </a:p>
      </dgm:t>
    </dgm:pt>
    <dgm:pt modelId="{BCC17676-8D31-4575-BD50-F603861A8A3A}" type="parTrans" cxnId="{9F7698EE-847B-4F61-B85B-DE5295DFB8E7}">
      <dgm:prSet/>
      <dgm:spPr/>
      <dgm:t>
        <a:bodyPr/>
        <a:lstStyle/>
        <a:p>
          <a:endParaRPr lang="en-US" sz="2000"/>
        </a:p>
      </dgm:t>
    </dgm:pt>
    <dgm:pt modelId="{176BE1D1-FCBB-4565-BA9C-209192885E97}" type="sibTrans" cxnId="{9F7698EE-847B-4F61-B85B-DE5295DFB8E7}">
      <dgm:prSet/>
      <dgm:spPr/>
      <dgm:t>
        <a:bodyPr/>
        <a:lstStyle/>
        <a:p>
          <a:endParaRPr lang="en-US" sz="2000"/>
        </a:p>
      </dgm:t>
    </dgm:pt>
    <dgm:pt modelId="{9DF90C9A-A695-4829-B11E-3720F41EE511}">
      <dgm:prSet phldrT="[Texto]" custT="1"/>
      <dgm:spPr/>
      <dgm:t>
        <a:bodyPr/>
        <a:lstStyle/>
        <a:p>
          <a:r>
            <a:rPr lang="pt-PT" sz="1800" dirty="0" err="1"/>
            <a:t>Statistical</a:t>
          </a:r>
          <a:r>
            <a:rPr lang="pt-PT" sz="1800" dirty="0"/>
            <a:t> </a:t>
          </a:r>
          <a:r>
            <a:rPr lang="pt-PT" sz="1800" dirty="0" err="1"/>
            <a:t>analysis</a:t>
          </a:r>
          <a:r>
            <a:rPr lang="pt-PT" sz="1800" dirty="0"/>
            <a:t> (</a:t>
          </a:r>
          <a:r>
            <a:rPr lang="pt-PT" sz="1800" dirty="0" err="1"/>
            <a:t>univariate</a:t>
          </a:r>
          <a:r>
            <a:rPr lang="pt-PT" sz="1800" dirty="0"/>
            <a:t> </a:t>
          </a:r>
          <a:r>
            <a:rPr lang="pt-PT" sz="1800" dirty="0" err="1"/>
            <a:t>and</a:t>
          </a:r>
          <a:r>
            <a:rPr lang="pt-PT" sz="1800" dirty="0"/>
            <a:t> </a:t>
          </a:r>
          <a:r>
            <a:rPr lang="pt-PT" sz="1800" dirty="0" err="1"/>
            <a:t>multivariate</a:t>
          </a:r>
          <a:r>
            <a:rPr lang="pt-PT" sz="1400" dirty="0"/>
            <a:t>)</a:t>
          </a:r>
          <a:endParaRPr lang="en-US" sz="1400" dirty="0"/>
        </a:p>
      </dgm:t>
    </dgm:pt>
    <dgm:pt modelId="{34206754-0F11-41D2-9504-C023693E5DEA}" type="parTrans" cxnId="{0DFFC3F0-999C-49BB-A459-8A4550DBADDB}">
      <dgm:prSet/>
      <dgm:spPr/>
      <dgm:t>
        <a:bodyPr/>
        <a:lstStyle/>
        <a:p>
          <a:endParaRPr lang="en-US" sz="2000"/>
        </a:p>
      </dgm:t>
    </dgm:pt>
    <dgm:pt modelId="{0CA9A3D4-FADF-4D60-8F02-0761650026D1}" type="sibTrans" cxnId="{0DFFC3F0-999C-49BB-A459-8A4550DBADDB}">
      <dgm:prSet/>
      <dgm:spPr/>
      <dgm:t>
        <a:bodyPr/>
        <a:lstStyle/>
        <a:p>
          <a:endParaRPr lang="en-US" sz="2000"/>
        </a:p>
      </dgm:t>
    </dgm:pt>
    <dgm:pt modelId="{03C579C0-03D7-4092-83DC-088FC1CBBB8B}">
      <dgm:prSet phldrT="[Texto]" custT="1"/>
      <dgm:spPr/>
      <dgm:t>
        <a:bodyPr/>
        <a:lstStyle/>
        <a:p>
          <a:r>
            <a:rPr lang="pt-PT" sz="1800" dirty="0"/>
            <a:t>Data </a:t>
          </a:r>
          <a:r>
            <a:rPr lang="pt-PT" sz="1800" dirty="0" err="1"/>
            <a:t>visualization</a:t>
          </a:r>
          <a:endParaRPr lang="en-US" sz="1800" dirty="0"/>
        </a:p>
      </dgm:t>
    </dgm:pt>
    <dgm:pt modelId="{CF380840-A200-4D09-9714-CC8A52597AE8}" type="parTrans" cxnId="{9D23285A-C71A-4F7F-BB6C-C468FC228F29}">
      <dgm:prSet/>
      <dgm:spPr/>
      <dgm:t>
        <a:bodyPr/>
        <a:lstStyle/>
        <a:p>
          <a:endParaRPr lang="en-US" sz="2000"/>
        </a:p>
      </dgm:t>
    </dgm:pt>
    <dgm:pt modelId="{B3CF39B8-221E-4D41-8B5B-5C3459DE9102}" type="sibTrans" cxnId="{9D23285A-C71A-4F7F-BB6C-C468FC228F29}">
      <dgm:prSet/>
      <dgm:spPr/>
      <dgm:t>
        <a:bodyPr/>
        <a:lstStyle/>
        <a:p>
          <a:endParaRPr lang="en-US" sz="2000"/>
        </a:p>
      </dgm:t>
    </dgm:pt>
    <dgm:pt modelId="{BD421D91-E292-4D36-ADA8-785C3D120241}">
      <dgm:prSet phldrT="[Texto]" custT="1"/>
      <dgm:spPr/>
      <dgm:t>
        <a:bodyPr/>
        <a:lstStyle/>
        <a:p>
          <a:r>
            <a:rPr lang="pt-PT" sz="2800" dirty="0"/>
            <a:t>Define </a:t>
          </a:r>
          <a:r>
            <a:rPr lang="pt-PT" sz="2800" dirty="0" err="1"/>
            <a:t>goals</a:t>
          </a:r>
          <a:r>
            <a:rPr lang="pt-PT" sz="2800" dirty="0"/>
            <a:t> </a:t>
          </a:r>
          <a:r>
            <a:rPr lang="pt-PT" sz="2800" dirty="0" err="1"/>
            <a:t>and</a:t>
          </a:r>
          <a:r>
            <a:rPr lang="pt-PT" sz="2800" dirty="0"/>
            <a:t> </a:t>
          </a:r>
          <a:r>
            <a:rPr lang="pt-PT" sz="2800" dirty="0" err="1"/>
            <a:t>hypothesis</a:t>
          </a:r>
          <a:endParaRPr lang="en-US" sz="2800" dirty="0"/>
        </a:p>
      </dgm:t>
    </dgm:pt>
    <dgm:pt modelId="{B0FFE945-1049-4BE6-8CC3-1AD47A03F8FE}" type="parTrans" cxnId="{8054DB19-C873-4172-9F9A-9C3B7444B8CB}">
      <dgm:prSet/>
      <dgm:spPr/>
      <dgm:t>
        <a:bodyPr/>
        <a:lstStyle/>
        <a:p>
          <a:endParaRPr lang="en-US" sz="2000"/>
        </a:p>
      </dgm:t>
    </dgm:pt>
    <dgm:pt modelId="{D35F5C6C-14CE-4CC3-9956-EC0CC13F6BF2}" type="sibTrans" cxnId="{8054DB19-C873-4172-9F9A-9C3B7444B8CB}">
      <dgm:prSet/>
      <dgm:spPr/>
      <dgm:t>
        <a:bodyPr/>
        <a:lstStyle/>
        <a:p>
          <a:endParaRPr lang="en-US" sz="2000"/>
        </a:p>
      </dgm:t>
    </dgm:pt>
    <dgm:pt modelId="{11943B2E-0233-4F9A-A66F-1E6AC5A96998}">
      <dgm:prSet phldrT="[Texto]" custT="1"/>
      <dgm:spPr/>
      <dgm:t>
        <a:bodyPr/>
        <a:lstStyle/>
        <a:p>
          <a:r>
            <a:rPr lang="pt-PT" sz="1800" dirty="0" err="1"/>
            <a:t>What</a:t>
          </a:r>
          <a:r>
            <a:rPr lang="pt-PT" sz="1800" dirty="0"/>
            <a:t> to </a:t>
          </a:r>
          <a:r>
            <a:rPr lang="pt-PT" sz="1800" dirty="0" err="1"/>
            <a:t>want</a:t>
          </a:r>
          <a:r>
            <a:rPr lang="pt-PT" sz="1800" dirty="0"/>
            <a:t> to </a:t>
          </a:r>
          <a:r>
            <a:rPr lang="pt-PT" sz="1800" dirty="0" err="1"/>
            <a:t>predict</a:t>
          </a:r>
          <a:r>
            <a:rPr lang="pt-PT" sz="1800" dirty="0"/>
            <a:t>? </a:t>
          </a:r>
          <a:endParaRPr lang="en-US" sz="1800" dirty="0"/>
        </a:p>
      </dgm:t>
    </dgm:pt>
    <dgm:pt modelId="{E89D023B-E72C-4631-AF63-C79712FC2F44}" type="parTrans" cxnId="{6FC322C5-CA79-4986-8E09-F74038814D7E}">
      <dgm:prSet/>
      <dgm:spPr/>
      <dgm:t>
        <a:bodyPr/>
        <a:lstStyle/>
        <a:p>
          <a:endParaRPr lang="en-US" sz="2000"/>
        </a:p>
      </dgm:t>
    </dgm:pt>
    <dgm:pt modelId="{C35B3AD3-2B96-48E0-9623-0F065C36BF9D}" type="sibTrans" cxnId="{6FC322C5-CA79-4986-8E09-F74038814D7E}">
      <dgm:prSet/>
      <dgm:spPr/>
      <dgm:t>
        <a:bodyPr/>
        <a:lstStyle/>
        <a:p>
          <a:endParaRPr lang="en-US" sz="2000"/>
        </a:p>
      </dgm:t>
    </dgm:pt>
    <dgm:pt modelId="{54570D7B-1AA4-4464-90FE-5D29D50117F7}">
      <dgm:prSet phldrT="[Texto]" custT="1"/>
      <dgm:spPr/>
      <dgm:t>
        <a:bodyPr/>
        <a:lstStyle/>
        <a:p>
          <a:r>
            <a:rPr lang="pt-PT" sz="1800" dirty="0" err="1"/>
            <a:t>What</a:t>
          </a:r>
          <a:r>
            <a:rPr lang="pt-PT" sz="1800" dirty="0"/>
            <a:t> to use for </a:t>
          </a:r>
          <a:r>
            <a:rPr lang="pt-PT" sz="1800" dirty="0" err="1"/>
            <a:t>prediction</a:t>
          </a:r>
          <a:r>
            <a:rPr lang="pt-PT" sz="1800" dirty="0"/>
            <a:t>?</a:t>
          </a:r>
          <a:endParaRPr lang="en-US" sz="1800" dirty="0"/>
        </a:p>
      </dgm:t>
    </dgm:pt>
    <dgm:pt modelId="{EE8452DE-2D75-4656-8918-47FEF84B5851}" type="parTrans" cxnId="{3C952A8C-53D9-4EF2-A01F-AE79FA991338}">
      <dgm:prSet/>
      <dgm:spPr/>
      <dgm:t>
        <a:bodyPr/>
        <a:lstStyle/>
        <a:p>
          <a:endParaRPr lang="en-US" sz="2000"/>
        </a:p>
      </dgm:t>
    </dgm:pt>
    <dgm:pt modelId="{DA1CC178-38F0-4E40-8350-D8A6855EFCF8}" type="sibTrans" cxnId="{3C952A8C-53D9-4EF2-A01F-AE79FA991338}">
      <dgm:prSet/>
      <dgm:spPr/>
      <dgm:t>
        <a:bodyPr/>
        <a:lstStyle/>
        <a:p>
          <a:endParaRPr lang="en-US" sz="2000"/>
        </a:p>
      </dgm:t>
    </dgm:pt>
    <dgm:pt modelId="{90030DA2-7C34-442C-A7EE-E34B0868420B}">
      <dgm:prSet phldrT="[Texto]" custT="1"/>
      <dgm:spPr/>
      <dgm:t>
        <a:bodyPr/>
        <a:lstStyle/>
        <a:p>
          <a:r>
            <a:rPr lang="pt-PT" sz="2800" dirty="0" err="1"/>
            <a:t>Build</a:t>
          </a:r>
          <a:r>
            <a:rPr lang="pt-PT" sz="2800" dirty="0"/>
            <a:t> </a:t>
          </a:r>
          <a:r>
            <a:rPr lang="pt-PT" sz="2800" dirty="0" err="1"/>
            <a:t>models</a:t>
          </a:r>
          <a:endParaRPr lang="en-US" sz="2800" dirty="0"/>
        </a:p>
      </dgm:t>
    </dgm:pt>
    <dgm:pt modelId="{CB7FA5D4-82BE-4647-9106-604DFF42A705}" type="parTrans" cxnId="{19BC2BB4-A24C-4394-9FD3-28F6AE2A2D7C}">
      <dgm:prSet/>
      <dgm:spPr/>
      <dgm:t>
        <a:bodyPr/>
        <a:lstStyle/>
        <a:p>
          <a:endParaRPr lang="en-US" sz="2000"/>
        </a:p>
      </dgm:t>
    </dgm:pt>
    <dgm:pt modelId="{69333F31-6814-48D0-BE40-207F4A4C4B62}" type="sibTrans" cxnId="{19BC2BB4-A24C-4394-9FD3-28F6AE2A2D7C}">
      <dgm:prSet/>
      <dgm:spPr/>
      <dgm:t>
        <a:bodyPr/>
        <a:lstStyle/>
        <a:p>
          <a:endParaRPr lang="en-US" sz="2000"/>
        </a:p>
      </dgm:t>
    </dgm:pt>
    <dgm:pt modelId="{D278D99C-D022-4C70-986C-13102F932E3D}">
      <dgm:prSet phldrT="[Texto]" custT="1"/>
      <dgm:spPr/>
      <dgm:t>
        <a:bodyPr/>
        <a:lstStyle/>
        <a:p>
          <a:r>
            <a:rPr lang="pt-PT" sz="2800" dirty="0" err="1"/>
            <a:t>Decision</a:t>
          </a:r>
          <a:r>
            <a:rPr lang="pt-PT" sz="2800" dirty="0"/>
            <a:t> </a:t>
          </a:r>
          <a:r>
            <a:rPr lang="pt-PT" sz="2800" dirty="0" err="1"/>
            <a:t>making</a:t>
          </a:r>
          <a:endParaRPr lang="en-US" sz="2800" dirty="0"/>
        </a:p>
      </dgm:t>
    </dgm:pt>
    <dgm:pt modelId="{D70EE287-4FA5-48BC-9F24-3F561B6E9A3E}" type="parTrans" cxnId="{47D22824-B874-4314-A1F5-ED66F8DB7686}">
      <dgm:prSet/>
      <dgm:spPr/>
      <dgm:t>
        <a:bodyPr/>
        <a:lstStyle/>
        <a:p>
          <a:endParaRPr lang="en-US" sz="2000"/>
        </a:p>
      </dgm:t>
    </dgm:pt>
    <dgm:pt modelId="{30913A22-C5EB-44CF-9E82-ADA26B00EBE5}" type="sibTrans" cxnId="{47D22824-B874-4314-A1F5-ED66F8DB7686}">
      <dgm:prSet/>
      <dgm:spPr/>
      <dgm:t>
        <a:bodyPr/>
        <a:lstStyle/>
        <a:p>
          <a:endParaRPr lang="en-US" sz="2000"/>
        </a:p>
      </dgm:t>
    </dgm:pt>
    <dgm:pt modelId="{89F72407-8E3F-4BDD-A764-B96CEF7A01EE}">
      <dgm:prSet phldrT="[Texto]" custT="1"/>
      <dgm:spPr/>
      <dgm:t>
        <a:bodyPr/>
        <a:lstStyle/>
        <a:p>
          <a:r>
            <a:rPr lang="pt-PT" sz="1800" dirty="0"/>
            <a:t>Define </a:t>
          </a:r>
          <a:r>
            <a:rPr lang="pt-PT" sz="1800" dirty="0" err="1"/>
            <a:t>modeling</a:t>
          </a:r>
          <a:r>
            <a:rPr lang="pt-PT" sz="1800" dirty="0"/>
            <a:t> </a:t>
          </a:r>
          <a:r>
            <a:rPr lang="pt-PT" sz="1800" dirty="0" err="1"/>
            <a:t>hypothesis</a:t>
          </a:r>
          <a:endParaRPr lang="en-US" sz="1800" dirty="0"/>
        </a:p>
      </dgm:t>
    </dgm:pt>
    <dgm:pt modelId="{23B4747F-0F97-43D7-BE1B-1F0B66514AC9}" type="parTrans" cxnId="{5EFCABDA-A42A-496C-9E08-D3FDDDD0F567}">
      <dgm:prSet/>
      <dgm:spPr/>
      <dgm:t>
        <a:bodyPr/>
        <a:lstStyle/>
        <a:p>
          <a:endParaRPr lang="en-US"/>
        </a:p>
      </dgm:t>
    </dgm:pt>
    <dgm:pt modelId="{2F9361B6-F311-457A-9EB6-58FF403B59F0}" type="sibTrans" cxnId="{5EFCABDA-A42A-496C-9E08-D3FDDDD0F567}">
      <dgm:prSet/>
      <dgm:spPr/>
      <dgm:t>
        <a:bodyPr/>
        <a:lstStyle/>
        <a:p>
          <a:endParaRPr lang="en-US"/>
        </a:p>
      </dgm:t>
    </dgm:pt>
    <dgm:pt modelId="{10B5F738-9F7F-4ECA-A147-963846D78B45}">
      <dgm:prSet phldrT="[Texto]" custT="1"/>
      <dgm:spPr/>
      <dgm:t>
        <a:bodyPr/>
        <a:lstStyle/>
        <a:p>
          <a:r>
            <a:rPr lang="pt-PT" sz="1800" dirty="0"/>
            <a:t>Is </a:t>
          </a:r>
          <a:r>
            <a:rPr lang="pt-PT" sz="1800" dirty="0" err="1"/>
            <a:t>the</a:t>
          </a:r>
          <a:r>
            <a:rPr lang="pt-PT" sz="1800" dirty="0"/>
            <a:t> </a:t>
          </a:r>
          <a:r>
            <a:rPr lang="pt-PT" sz="1800" dirty="0" err="1"/>
            <a:t>model</a:t>
          </a:r>
          <a:r>
            <a:rPr lang="pt-PT" sz="1800" dirty="0"/>
            <a:t> </a:t>
          </a:r>
          <a:r>
            <a:rPr lang="pt-PT" sz="1800" dirty="0" err="1"/>
            <a:t>good</a:t>
          </a:r>
          <a:r>
            <a:rPr lang="pt-PT" sz="1800" dirty="0"/>
            <a:t> for </a:t>
          </a:r>
          <a:r>
            <a:rPr lang="pt-PT" sz="1800" dirty="0" err="1"/>
            <a:t>our</a:t>
          </a:r>
          <a:r>
            <a:rPr lang="pt-PT" sz="1800" dirty="0"/>
            <a:t> </a:t>
          </a:r>
          <a:r>
            <a:rPr lang="pt-PT" sz="1800" dirty="0" err="1"/>
            <a:t>goals</a:t>
          </a:r>
          <a:r>
            <a:rPr lang="pt-PT" sz="1800" dirty="0"/>
            <a:t>?</a:t>
          </a:r>
          <a:endParaRPr lang="en-US" sz="1800" dirty="0"/>
        </a:p>
      </dgm:t>
    </dgm:pt>
    <dgm:pt modelId="{3F7EE0CD-3503-433A-9AD6-E5AD84794A5D}" type="parTrans" cxnId="{3FFE3311-01C7-4F02-9A9A-00FD1F149285}">
      <dgm:prSet/>
      <dgm:spPr/>
      <dgm:t>
        <a:bodyPr/>
        <a:lstStyle/>
        <a:p>
          <a:endParaRPr lang="en-US"/>
        </a:p>
      </dgm:t>
    </dgm:pt>
    <dgm:pt modelId="{63D5C009-70B5-400C-BFCE-6635EB7668EA}" type="sibTrans" cxnId="{3FFE3311-01C7-4F02-9A9A-00FD1F149285}">
      <dgm:prSet/>
      <dgm:spPr/>
      <dgm:t>
        <a:bodyPr/>
        <a:lstStyle/>
        <a:p>
          <a:endParaRPr lang="en-US"/>
        </a:p>
      </dgm:t>
    </dgm:pt>
    <dgm:pt modelId="{1F286245-D2CE-4689-B525-5974823026F4}" type="pres">
      <dgm:prSet presAssocID="{BAB36F7D-A3BA-4840-A5C1-572FCB60E0BE}" presName="Name0" presStyleCnt="0">
        <dgm:presLayoutVars>
          <dgm:dir/>
          <dgm:animLvl val="lvl"/>
          <dgm:resizeHandles val="exact"/>
        </dgm:presLayoutVars>
      </dgm:prSet>
      <dgm:spPr/>
    </dgm:pt>
    <dgm:pt modelId="{39A3DEE3-5E18-418E-BD09-FDCD33BA3D76}" type="pres">
      <dgm:prSet presAssocID="{3CD82DFE-2F40-4E49-8542-46B05A7A8F72}" presName="linNode" presStyleCnt="0"/>
      <dgm:spPr/>
    </dgm:pt>
    <dgm:pt modelId="{7800AB58-CAE7-4CF8-9C86-C3438897C8D2}" type="pres">
      <dgm:prSet presAssocID="{3CD82DFE-2F40-4E49-8542-46B05A7A8F72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147F6A5E-9EE3-4821-8CD9-FF5D4C2C7195}" type="pres">
      <dgm:prSet presAssocID="{3CD82DFE-2F40-4E49-8542-46B05A7A8F72}" presName="descendantText" presStyleLbl="alignAccFollowNode1" presStyleIdx="0" presStyleCnt="7">
        <dgm:presLayoutVars>
          <dgm:bulletEnabled val="1"/>
        </dgm:presLayoutVars>
      </dgm:prSet>
      <dgm:spPr/>
    </dgm:pt>
    <dgm:pt modelId="{9BED911C-7347-4911-9F54-8EE7D436D598}" type="pres">
      <dgm:prSet presAssocID="{8C8CE1A8-530E-41AE-A1C3-15FEEA709BDA}" presName="sp" presStyleCnt="0"/>
      <dgm:spPr/>
    </dgm:pt>
    <dgm:pt modelId="{FA11961F-4BE0-4278-B23E-FCB6095E89A1}" type="pres">
      <dgm:prSet presAssocID="{97B5BDCE-8871-4D34-9ED5-BA8E377CDB18}" presName="linNode" presStyleCnt="0"/>
      <dgm:spPr/>
    </dgm:pt>
    <dgm:pt modelId="{7E587D8A-6235-4644-ACA4-27925E0C4639}" type="pres">
      <dgm:prSet presAssocID="{97B5BDCE-8871-4D34-9ED5-BA8E377CDB18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8A5F9279-2FBD-4BAF-A9DE-6821E25B4054}" type="pres">
      <dgm:prSet presAssocID="{97B5BDCE-8871-4D34-9ED5-BA8E377CDB18}" presName="descendantText" presStyleLbl="alignAccFollowNode1" presStyleIdx="1" presStyleCnt="7">
        <dgm:presLayoutVars>
          <dgm:bulletEnabled val="1"/>
        </dgm:presLayoutVars>
      </dgm:prSet>
      <dgm:spPr/>
    </dgm:pt>
    <dgm:pt modelId="{33E9A406-0A9E-4752-889D-383E29819635}" type="pres">
      <dgm:prSet presAssocID="{717A8A55-75BB-4489-86E9-C1B51FA076C4}" presName="sp" presStyleCnt="0"/>
      <dgm:spPr/>
    </dgm:pt>
    <dgm:pt modelId="{27B4A4C5-14CA-437A-996D-495A420058CA}" type="pres">
      <dgm:prSet presAssocID="{76277B7E-F3DF-4860-A334-025268DB9BA8}" presName="linNode" presStyleCnt="0"/>
      <dgm:spPr/>
    </dgm:pt>
    <dgm:pt modelId="{E324597F-A74F-41D2-A028-E8A64BDEF1D5}" type="pres">
      <dgm:prSet presAssocID="{76277B7E-F3DF-4860-A334-025268DB9BA8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A37AF600-DBEA-4964-9184-DD44E8827743}" type="pres">
      <dgm:prSet presAssocID="{76277B7E-F3DF-4860-A334-025268DB9BA8}" presName="descendantText" presStyleLbl="alignAccFollowNode1" presStyleIdx="2" presStyleCnt="7">
        <dgm:presLayoutVars>
          <dgm:bulletEnabled val="1"/>
        </dgm:presLayoutVars>
      </dgm:prSet>
      <dgm:spPr/>
    </dgm:pt>
    <dgm:pt modelId="{9FA5A708-3202-4198-A8D0-97D243F60E37}" type="pres">
      <dgm:prSet presAssocID="{1A1621B1-9B61-40CC-B71A-20A1CC7E4B76}" presName="sp" presStyleCnt="0"/>
      <dgm:spPr/>
    </dgm:pt>
    <dgm:pt modelId="{A60CC4F4-8A2D-41F1-8687-1F3915641C88}" type="pres">
      <dgm:prSet presAssocID="{B03E2F81-F70B-4F08-94EC-0F566A3399AA}" presName="linNode" presStyleCnt="0"/>
      <dgm:spPr/>
    </dgm:pt>
    <dgm:pt modelId="{E691E0F2-698E-4C59-B6B9-D6898E32DE1F}" type="pres">
      <dgm:prSet presAssocID="{B03E2F81-F70B-4F08-94EC-0F566A3399AA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9F5486F8-6ED6-4FC0-94CB-158E6588E3AB}" type="pres">
      <dgm:prSet presAssocID="{B03E2F81-F70B-4F08-94EC-0F566A3399AA}" presName="descendantText" presStyleLbl="alignAccFollowNode1" presStyleIdx="3" presStyleCnt="7">
        <dgm:presLayoutVars>
          <dgm:bulletEnabled val="1"/>
        </dgm:presLayoutVars>
      </dgm:prSet>
      <dgm:spPr/>
    </dgm:pt>
    <dgm:pt modelId="{1D00764B-FF91-42D9-9CF4-2A31B91C2D07}" type="pres">
      <dgm:prSet presAssocID="{176BE1D1-FCBB-4565-BA9C-209192885E97}" presName="sp" presStyleCnt="0"/>
      <dgm:spPr/>
    </dgm:pt>
    <dgm:pt modelId="{EDCE6849-E18A-4EA3-A332-6CDA7D13B67F}" type="pres">
      <dgm:prSet presAssocID="{BD421D91-E292-4D36-ADA8-785C3D120241}" presName="linNode" presStyleCnt="0"/>
      <dgm:spPr/>
    </dgm:pt>
    <dgm:pt modelId="{53D420D7-8CC0-4CBC-BA75-A9CD5C41EE3C}" type="pres">
      <dgm:prSet presAssocID="{BD421D91-E292-4D36-ADA8-785C3D120241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29126A74-AE6E-4CB0-9EED-B53C335F144A}" type="pres">
      <dgm:prSet presAssocID="{BD421D91-E292-4D36-ADA8-785C3D120241}" presName="descendantText" presStyleLbl="alignAccFollowNode1" presStyleIdx="4" presStyleCnt="7" custLinFactNeighborY="1914">
        <dgm:presLayoutVars>
          <dgm:bulletEnabled val="1"/>
        </dgm:presLayoutVars>
      </dgm:prSet>
      <dgm:spPr/>
    </dgm:pt>
    <dgm:pt modelId="{681DD990-8424-48BD-86E3-42E397D1E18B}" type="pres">
      <dgm:prSet presAssocID="{D35F5C6C-14CE-4CC3-9956-EC0CC13F6BF2}" presName="sp" presStyleCnt="0"/>
      <dgm:spPr/>
    </dgm:pt>
    <dgm:pt modelId="{98C9C1BF-380C-451E-90D0-CE3D527E8E7A}" type="pres">
      <dgm:prSet presAssocID="{90030DA2-7C34-442C-A7EE-E34B0868420B}" presName="linNode" presStyleCnt="0"/>
      <dgm:spPr/>
    </dgm:pt>
    <dgm:pt modelId="{F9390EFB-83AD-411F-B322-069841ECDBA0}" type="pres">
      <dgm:prSet presAssocID="{90030DA2-7C34-442C-A7EE-E34B0868420B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2EC26013-5BA5-4B9B-A77A-351309C56DDF}" type="pres">
      <dgm:prSet presAssocID="{90030DA2-7C34-442C-A7EE-E34B0868420B}" presName="descendantText" presStyleLbl="alignAccFollowNode1" presStyleIdx="5" presStyleCnt="7">
        <dgm:presLayoutVars>
          <dgm:bulletEnabled val="1"/>
        </dgm:presLayoutVars>
      </dgm:prSet>
      <dgm:spPr/>
    </dgm:pt>
    <dgm:pt modelId="{3E314BAF-7AC3-4D58-8C2B-1C05C2C925E8}" type="pres">
      <dgm:prSet presAssocID="{69333F31-6814-48D0-BE40-207F4A4C4B62}" presName="sp" presStyleCnt="0"/>
      <dgm:spPr/>
    </dgm:pt>
    <dgm:pt modelId="{A88A4C33-4474-4455-BB35-AED516CDED3A}" type="pres">
      <dgm:prSet presAssocID="{D278D99C-D022-4C70-986C-13102F932E3D}" presName="linNode" presStyleCnt="0"/>
      <dgm:spPr/>
    </dgm:pt>
    <dgm:pt modelId="{3668BFCD-4099-463A-9CF2-3C3F6A71584A}" type="pres">
      <dgm:prSet presAssocID="{D278D99C-D022-4C70-986C-13102F932E3D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22F2CF04-1F9C-4314-B8D8-DD3367C3FBFF}" type="pres">
      <dgm:prSet presAssocID="{D278D99C-D022-4C70-986C-13102F932E3D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D98AB10C-F14C-4CD5-BF2F-7793066C7F68}" type="presOf" srcId="{BD421D91-E292-4D36-ADA8-785C3D120241}" destId="{53D420D7-8CC0-4CBC-BA75-A9CD5C41EE3C}" srcOrd="0" destOrd="0" presId="urn:microsoft.com/office/officeart/2005/8/layout/vList5"/>
    <dgm:cxn modelId="{3C965F0D-A7C9-4348-A3B0-99F30BE57F24}" type="presOf" srcId="{BAB36F7D-A3BA-4840-A5C1-572FCB60E0BE}" destId="{1F286245-D2CE-4689-B525-5974823026F4}" srcOrd="0" destOrd="0" presId="urn:microsoft.com/office/officeart/2005/8/layout/vList5"/>
    <dgm:cxn modelId="{3FFE3311-01C7-4F02-9A9A-00FD1F149285}" srcId="{D278D99C-D022-4C70-986C-13102F932E3D}" destId="{10B5F738-9F7F-4ECA-A147-963846D78B45}" srcOrd="0" destOrd="0" parTransId="{3F7EE0CD-3503-433A-9AD6-E5AD84794A5D}" sibTransId="{63D5C009-70B5-400C-BFCE-6635EB7668EA}"/>
    <dgm:cxn modelId="{1C3ACC19-5EBC-4CD6-BD4A-D8F2F67B08C9}" type="presOf" srcId="{D278D99C-D022-4C70-986C-13102F932E3D}" destId="{3668BFCD-4099-463A-9CF2-3C3F6A71584A}" srcOrd="0" destOrd="0" presId="urn:microsoft.com/office/officeart/2005/8/layout/vList5"/>
    <dgm:cxn modelId="{8054DB19-C873-4172-9F9A-9C3B7444B8CB}" srcId="{BAB36F7D-A3BA-4840-A5C1-572FCB60E0BE}" destId="{BD421D91-E292-4D36-ADA8-785C3D120241}" srcOrd="4" destOrd="0" parTransId="{B0FFE945-1049-4BE6-8CC3-1AD47A03F8FE}" sibTransId="{D35F5C6C-14CE-4CC3-9956-EC0CC13F6BF2}"/>
    <dgm:cxn modelId="{A89FDC1B-2413-478D-A21C-86D4F9899E3F}" srcId="{BAB36F7D-A3BA-4840-A5C1-572FCB60E0BE}" destId="{3CD82DFE-2F40-4E49-8542-46B05A7A8F72}" srcOrd="0" destOrd="0" parTransId="{1EF2FC94-51B6-4BD7-AC1A-F5BC5CE763BB}" sibTransId="{8C8CE1A8-530E-41AE-A1C3-15FEEA709BDA}"/>
    <dgm:cxn modelId="{47D22824-B874-4314-A1F5-ED66F8DB7686}" srcId="{BAB36F7D-A3BA-4840-A5C1-572FCB60E0BE}" destId="{D278D99C-D022-4C70-986C-13102F932E3D}" srcOrd="6" destOrd="0" parTransId="{D70EE287-4FA5-48BC-9F24-3F561B6E9A3E}" sibTransId="{30913A22-C5EB-44CF-9E82-ADA26B00EBE5}"/>
    <dgm:cxn modelId="{DDF4F634-EB04-45AA-8607-F411417E2878}" type="presOf" srcId="{76277B7E-F3DF-4860-A334-025268DB9BA8}" destId="{E324597F-A74F-41D2-A028-E8A64BDEF1D5}" srcOrd="0" destOrd="0" presId="urn:microsoft.com/office/officeart/2005/8/layout/vList5"/>
    <dgm:cxn modelId="{DD39FF38-05AC-40F7-8E0B-2B6584F65BE3}" srcId="{3CD82DFE-2F40-4E49-8542-46B05A7A8F72}" destId="{2686B6B7-9295-4CE5-A010-2134C3CAAA6E}" srcOrd="1" destOrd="0" parTransId="{4975B00F-0C19-424C-BE43-F2FB9C5925AB}" sibTransId="{A18F565D-A3BC-4DAF-ADFD-D0DDEBB21201}"/>
    <dgm:cxn modelId="{8D254B3D-1828-48D9-AA1D-AA806195F972}" type="presOf" srcId="{B03E2F81-F70B-4F08-94EC-0F566A3399AA}" destId="{E691E0F2-698E-4C59-B6B9-D6898E32DE1F}" srcOrd="0" destOrd="0" presId="urn:microsoft.com/office/officeart/2005/8/layout/vList5"/>
    <dgm:cxn modelId="{8FAD293E-CFB5-4927-A121-353A3F682D95}" type="presOf" srcId="{90030DA2-7C34-442C-A7EE-E34B0868420B}" destId="{F9390EFB-83AD-411F-B322-069841ECDBA0}" srcOrd="0" destOrd="0" presId="urn:microsoft.com/office/officeart/2005/8/layout/vList5"/>
    <dgm:cxn modelId="{779F3642-0459-46BD-935A-375338124D77}" type="presOf" srcId="{89F72407-8E3F-4BDD-A764-B96CEF7A01EE}" destId="{2EC26013-5BA5-4B9B-A77A-351309C56DDF}" srcOrd="0" destOrd="0" presId="urn:microsoft.com/office/officeart/2005/8/layout/vList5"/>
    <dgm:cxn modelId="{1BDA7963-9C4C-47DF-8518-CC22FB6DF3D1}" type="presOf" srcId="{3CD82DFE-2F40-4E49-8542-46B05A7A8F72}" destId="{7800AB58-CAE7-4CF8-9C86-C3438897C8D2}" srcOrd="0" destOrd="0" presId="urn:microsoft.com/office/officeart/2005/8/layout/vList5"/>
    <dgm:cxn modelId="{DD3CD763-9A96-465A-B587-17D085135ABE}" type="presOf" srcId="{54570D7B-1AA4-4464-90FE-5D29D50117F7}" destId="{29126A74-AE6E-4CB0-9EED-B53C335F144A}" srcOrd="0" destOrd="1" presId="urn:microsoft.com/office/officeart/2005/8/layout/vList5"/>
    <dgm:cxn modelId="{FA6F506C-4F70-40D0-8E9A-D5AC9B394B69}" srcId="{76277B7E-F3DF-4860-A334-025268DB9BA8}" destId="{792C94F3-D873-473C-982C-8C0A96A2EBFF}" srcOrd="0" destOrd="0" parTransId="{2D4FA0DA-9140-4CB3-9A26-580E6232FC61}" sibTransId="{2C859F66-5BAC-4289-8882-CD02895D2FA2}"/>
    <dgm:cxn modelId="{96E6C955-62B4-4B1A-99C1-9B6C150D173D}" type="presOf" srcId="{9DF90C9A-A695-4829-B11E-3720F41EE511}" destId="{9F5486F8-6ED6-4FC0-94CB-158E6588E3AB}" srcOrd="0" destOrd="1" presId="urn:microsoft.com/office/officeart/2005/8/layout/vList5"/>
    <dgm:cxn modelId="{5E83FC57-4D95-49FE-B183-ED463BDE0D63}" type="presOf" srcId="{4A3AF55B-C06E-406F-8111-7AD53FEAA965}" destId="{147F6A5E-9EE3-4821-8CD9-FF5D4C2C7195}" srcOrd="0" destOrd="0" presId="urn:microsoft.com/office/officeart/2005/8/layout/vList5"/>
    <dgm:cxn modelId="{9D23285A-C71A-4F7F-BB6C-C468FC228F29}" srcId="{B03E2F81-F70B-4F08-94EC-0F566A3399AA}" destId="{03C579C0-03D7-4092-83DC-088FC1CBBB8B}" srcOrd="0" destOrd="0" parTransId="{CF380840-A200-4D09-9714-CC8A52597AE8}" sibTransId="{B3CF39B8-221E-4D41-8B5B-5C3459DE9102}"/>
    <dgm:cxn modelId="{A4642D7A-2536-4B1B-B657-1A3A27F9D68D}" srcId="{3CD82DFE-2F40-4E49-8542-46B05A7A8F72}" destId="{4A3AF55B-C06E-406F-8111-7AD53FEAA965}" srcOrd="0" destOrd="0" parTransId="{A8A21BD7-2303-47EB-B4F5-5D3282778415}" sibTransId="{AE7D051A-6A77-47A9-AA78-3FC36E647616}"/>
    <dgm:cxn modelId="{146DC983-9CDE-4A8E-B508-08C63E8750AE}" srcId="{97B5BDCE-8871-4D34-9ED5-BA8E377CDB18}" destId="{EB930552-F37D-4CF0-8A73-1E44101062CB}" srcOrd="1" destOrd="0" parTransId="{F9203EBF-5938-4CB8-8DFF-160821E3DC9D}" sibTransId="{F2C8AA02-6605-4668-8FDB-3CF608AECC22}"/>
    <dgm:cxn modelId="{3C952A8C-53D9-4EF2-A01F-AE79FA991338}" srcId="{BD421D91-E292-4D36-ADA8-785C3D120241}" destId="{54570D7B-1AA4-4464-90FE-5D29D50117F7}" srcOrd="1" destOrd="0" parTransId="{EE8452DE-2D75-4656-8918-47FEF84B5851}" sibTransId="{DA1CC178-38F0-4E40-8350-D8A6855EFCF8}"/>
    <dgm:cxn modelId="{E2A2ED93-A0AE-4F3F-BDF3-563428C430E1}" srcId="{BAB36F7D-A3BA-4840-A5C1-572FCB60E0BE}" destId="{97B5BDCE-8871-4D34-9ED5-BA8E377CDB18}" srcOrd="1" destOrd="0" parTransId="{0BBF0555-472B-4B5A-B456-494BE731C75A}" sibTransId="{717A8A55-75BB-4489-86E9-C1B51FA076C4}"/>
    <dgm:cxn modelId="{D2831095-2A7F-43EB-8596-18DDDE387AB6}" type="presOf" srcId="{EB930552-F37D-4CF0-8A73-1E44101062CB}" destId="{8A5F9279-2FBD-4BAF-A9DE-6821E25B4054}" srcOrd="0" destOrd="1" presId="urn:microsoft.com/office/officeart/2005/8/layout/vList5"/>
    <dgm:cxn modelId="{EC3643A4-AEFB-4EC9-BFAD-3E6735FA2EEF}" type="presOf" srcId="{10B5F738-9F7F-4ECA-A147-963846D78B45}" destId="{22F2CF04-1F9C-4314-B8D8-DD3367C3FBFF}" srcOrd="0" destOrd="0" presId="urn:microsoft.com/office/officeart/2005/8/layout/vList5"/>
    <dgm:cxn modelId="{BF1A8AA6-6A24-44D2-8A5B-3113C74450FD}" type="presOf" srcId="{2686B6B7-9295-4CE5-A010-2134C3CAAA6E}" destId="{147F6A5E-9EE3-4821-8CD9-FF5D4C2C7195}" srcOrd="0" destOrd="1" presId="urn:microsoft.com/office/officeart/2005/8/layout/vList5"/>
    <dgm:cxn modelId="{2980C1B1-2543-43F7-8CF6-F19CA451AA22}" srcId="{BAB36F7D-A3BA-4840-A5C1-572FCB60E0BE}" destId="{76277B7E-F3DF-4860-A334-025268DB9BA8}" srcOrd="2" destOrd="0" parTransId="{A704885E-37A9-43B9-8246-7AAFD1604C13}" sibTransId="{1A1621B1-9B61-40CC-B71A-20A1CC7E4B76}"/>
    <dgm:cxn modelId="{19BC2BB4-A24C-4394-9FD3-28F6AE2A2D7C}" srcId="{BAB36F7D-A3BA-4840-A5C1-572FCB60E0BE}" destId="{90030DA2-7C34-442C-A7EE-E34B0868420B}" srcOrd="5" destOrd="0" parTransId="{CB7FA5D4-82BE-4647-9106-604DFF42A705}" sibTransId="{69333F31-6814-48D0-BE40-207F4A4C4B62}"/>
    <dgm:cxn modelId="{3A36C2BA-C4CB-4C8B-A991-3BAD375B1E9F}" type="presOf" srcId="{11943B2E-0233-4F9A-A66F-1E6AC5A96998}" destId="{29126A74-AE6E-4CB0-9EED-B53C335F144A}" srcOrd="0" destOrd="0" presId="urn:microsoft.com/office/officeart/2005/8/layout/vList5"/>
    <dgm:cxn modelId="{6FC322C5-CA79-4986-8E09-F74038814D7E}" srcId="{BD421D91-E292-4D36-ADA8-785C3D120241}" destId="{11943B2E-0233-4F9A-A66F-1E6AC5A96998}" srcOrd="0" destOrd="0" parTransId="{E89D023B-E72C-4631-AF63-C79712FC2F44}" sibTransId="{C35B3AD3-2B96-48E0-9623-0F065C36BF9D}"/>
    <dgm:cxn modelId="{D80562C7-1E4F-4145-B30E-CA25DA0CE0DA}" type="presOf" srcId="{1FE76FDA-08A1-4D3C-84CB-0D5DBC3EA481}" destId="{8A5F9279-2FBD-4BAF-A9DE-6821E25B4054}" srcOrd="0" destOrd="0" presId="urn:microsoft.com/office/officeart/2005/8/layout/vList5"/>
    <dgm:cxn modelId="{9D1FE8CB-6C55-4211-B82D-6A9381BEA5BB}" srcId="{97B5BDCE-8871-4D34-9ED5-BA8E377CDB18}" destId="{1FE76FDA-08A1-4D3C-84CB-0D5DBC3EA481}" srcOrd="0" destOrd="0" parTransId="{196A1682-8369-443E-BE21-362AA8AFA018}" sibTransId="{D91338E8-521F-42A7-9704-9FD8C796CD62}"/>
    <dgm:cxn modelId="{6B8054CD-A3DB-4644-9F9A-B4B257F533A6}" srcId="{76277B7E-F3DF-4860-A334-025268DB9BA8}" destId="{2BB74883-5CE6-46C4-943A-F1EAE7E25E4F}" srcOrd="1" destOrd="0" parTransId="{897DFB86-80D5-48CF-9949-1543D90F3526}" sibTransId="{60E25FF4-1630-4D36-9E3D-F8379B6AD96A}"/>
    <dgm:cxn modelId="{797A2AD0-41A8-4E01-B83D-08A45EC4149B}" type="presOf" srcId="{792C94F3-D873-473C-982C-8C0A96A2EBFF}" destId="{A37AF600-DBEA-4964-9184-DD44E8827743}" srcOrd="0" destOrd="0" presId="urn:microsoft.com/office/officeart/2005/8/layout/vList5"/>
    <dgm:cxn modelId="{5EFCABDA-A42A-496C-9E08-D3FDDDD0F567}" srcId="{90030DA2-7C34-442C-A7EE-E34B0868420B}" destId="{89F72407-8E3F-4BDD-A764-B96CEF7A01EE}" srcOrd="0" destOrd="0" parTransId="{23B4747F-0F97-43D7-BE1B-1F0B66514AC9}" sibTransId="{2F9361B6-F311-457A-9EB6-58FF403B59F0}"/>
    <dgm:cxn modelId="{D2823CDD-3D77-47F0-B6C4-10786F189511}" type="presOf" srcId="{2BB74883-5CE6-46C4-943A-F1EAE7E25E4F}" destId="{A37AF600-DBEA-4964-9184-DD44E8827743}" srcOrd="0" destOrd="1" presId="urn:microsoft.com/office/officeart/2005/8/layout/vList5"/>
    <dgm:cxn modelId="{6B9AFDED-8213-4202-A956-E5989B303ADF}" type="presOf" srcId="{97B5BDCE-8871-4D34-9ED5-BA8E377CDB18}" destId="{7E587D8A-6235-4644-ACA4-27925E0C4639}" srcOrd="0" destOrd="0" presId="urn:microsoft.com/office/officeart/2005/8/layout/vList5"/>
    <dgm:cxn modelId="{9F7698EE-847B-4F61-B85B-DE5295DFB8E7}" srcId="{BAB36F7D-A3BA-4840-A5C1-572FCB60E0BE}" destId="{B03E2F81-F70B-4F08-94EC-0F566A3399AA}" srcOrd="3" destOrd="0" parTransId="{BCC17676-8D31-4575-BD50-F603861A8A3A}" sibTransId="{176BE1D1-FCBB-4565-BA9C-209192885E97}"/>
    <dgm:cxn modelId="{4B7BE1EF-45BC-45DE-8AF1-75948A4AF431}" type="presOf" srcId="{03C579C0-03D7-4092-83DC-088FC1CBBB8B}" destId="{9F5486F8-6ED6-4FC0-94CB-158E6588E3AB}" srcOrd="0" destOrd="0" presId="urn:microsoft.com/office/officeart/2005/8/layout/vList5"/>
    <dgm:cxn modelId="{0DFFC3F0-999C-49BB-A459-8A4550DBADDB}" srcId="{B03E2F81-F70B-4F08-94EC-0F566A3399AA}" destId="{9DF90C9A-A695-4829-B11E-3720F41EE511}" srcOrd="1" destOrd="0" parTransId="{34206754-0F11-41D2-9504-C023693E5DEA}" sibTransId="{0CA9A3D4-FADF-4D60-8F02-0761650026D1}"/>
    <dgm:cxn modelId="{7C9FDC30-DFCB-46E5-89CC-230C382DBA8C}" type="presParOf" srcId="{1F286245-D2CE-4689-B525-5974823026F4}" destId="{39A3DEE3-5E18-418E-BD09-FDCD33BA3D76}" srcOrd="0" destOrd="0" presId="urn:microsoft.com/office/officeart/2005/8/layout/vList5"/>
    <dgm:cxn modelId="{A9CCB71F-4EA0-48A0-875C-5E25EC8547B9}" type="presParOf" srcId="{39A3DEE3-5E18-418E-BD09-FDCD33BA3D76}" destId="{7800AB58-CAE7-4CF8-9C86-C3438897C8D2}" srcOrd="0" destOrd="0" presId="urn:microsoft.com/office/officeart/2005/8/layout/vList5"/>
    <dgm:cxn modelId="{8A29955D-28C9-4653-8976-08C68324057C}" type="presParOf" srcId="{39A3DEE3-5E18-418E-BD09-FDCD33BA3D76}" destId="{147F6A5E-9EE3-4821-8CD9-FF5D4C2C7195}" srcOrd="1" destOrd="0" presId="urn:microsoft.com/office/officeart/2005/8/layout/vList5"/>
    <dgm:cxn modelId="{4408C661-83BC-4AB1-B144-E209F6C6B417}" type="presParOf" srcId="{1F286245-D2CE-4689-B525-5974823026F4}" destId="{9BED911C-7347-4911-9F54-8EE7D436D598}" srcOrd="1" destOrd="0" presId="urn:microsoft.com/office/officeart/2005/8/layout/vList5"/>
    <dgm:cxn modelId="{693226B9-1132-4BDF-ABB2-52B034145E2F}" type="presParOf" srcId="{1F286245-D2CE-4689-B525-5974823026F4}" destId="{FA11961F-4BE0-4278-B23E-FCB6095E89A1}" srcOrd="2" destOrd="0" presId="urn:microsoft.com/office/officeart/2005/8/layout/vList5"/>
    <dgm:cxn modelId="{68D63F7C-53B9-4D3D-991B-BE6956DB1E31}" type="presParOf" srcId="{FA11961F-4BE0-4278-B23E-FCB6095E89A1}" destId="{7E587D8A-6235-4644-ACA4-27925E0C4639}" srcOrd="0" destOrd="0" presId="urn:microsoft.com/office/officeart/2005/8/layout/vList5"/>
    <dgm:cxn modelId="{669F4D2E-C691-4B66-A742-4AE94C9909C1}" type="presParOf" srcId="{FA11961F-4BE0-4278-B23E-FCB6095E89A1}" destId="{8A5F9279-2FBD-4BAF-A9DE-6821E25B4054}" srcOrd="1" destOrd="0" presId="urn:microsoft.com/office/officeart/2005/8/layout/vList5"/>
    <dgm:cxn modelId="{3559C458-3DA2-4F6C-8A7F-A466D09BBE73}" type="presParOf" srcId="{1F286245-D2CE-4689-B525-5974823026F4}" destId="{33E9A406-0A9E-4752-889D-383E29819635}" srcOrd="3" destOrd="0" presId="urn:microsoft.com/office/officeart/2005/8/layout/vList5"/>
    <dgm:cxn modelId="{F8039F7A-8132-46CD-B004-B5AE838AD28D}" type="presParOf" srcId="{1F286245-D2CE-4689-B525-5974823026F4}" destId="{27B4A4C5-14CA-437A-996D-495A420058CA}" srcOrd="4" destOrd="0" presId="urn:microsoft.com/office/officeart/2005/8/layout/vList5"/>
    <dgm:cxn modelId="{99043872-FBB9-4B10-B893-B01DFAA54723}" type="presParOf" srcId="{27B4A4C5-14CA-437A-996D-495A420058CA}" destId="{E324597F-A74F-41D2-A028-E8A64BDEF1D5}" srcOrd="0" destOrd="0" presId="urn:microsoft.com/office/officeart/2005/8/layout/vList5"/>
    <dgm:cxn modelId="{5BBDD83B-2591-489C-9ED1-24F10E55DCA0}" type="presParOf" srcId="{27B4A4C5-14CA-437A-996D-495A420058CA}" destId="{A37AF600-DBEA-4964-9184-DD44E8827743}" srcOrd="1" destOrd="0" presId="urn:microsoft.com/office/officeart/2005/8/layout/vList5"/>
    <dgm:cxn modelId="{0C3008B5-6D2F-4CBD-9B39-7B62186ACA9F}" type="presParOf" srcId="{1F286245-D2CE-4689-B525-5974823026F4}" destId="{9FA5A708-3202-4198-A8D0-97D243F60E37}" srcOrd="5" destOrd="0" presId="urn:microsoft.com/office/officeart/2005/8/layout/vList5"/>
    <dgm:cxn modelId="{9755C443-99E5-4CCF-88BD-18E872FBB612}" type="presParOf" srcId="{1F286245-D2CE-4689-B525-5974823026F4}" destId="{A60CC4F4-8A2D-41F1-8687-1F3915641C88}" srcOrd="6" destOrd="0" presId="urn:microsoft.com/office/officeart/2005/8/layout/vList5"/>
    <dgm:cxn modelId="{D3A62DA9-866F-4FF1-B88A-283C09C926C4}" type="presParOf" srcId="{A60CC4F4-8A2D-41F1-8687-1F3915641C88}" destId="{E691E0F2-698E-4C59-B6B9-D6898E32DE1F}" srcOrd="0" destOrd="0" presId="urn:microsoft.com/office/officeart/2005/8/layout/vList5"/>
    <dgm:cxn modelId="{EA2F536D-1AFC-4C9A-A0D5-C79D3E775999}" type="presParOf" srcId="{A60CC4F4-8A2D-41F1-8687-1F3915641C88}" destId="{9F5486F8-6ED6-4FC0-94CB-158E6588E3AB}" srcOrd="1" destOrd="0" presId="urn:microsoft.com/office/officeart/2005/8/layout/vList5"/>
    <dgm:cxn modelId="{8857A48C-2788-46D8-9652-22CA31EE29BA}" type="presParOf" srcId="{1F286245-D2CE-4689-B525-5974823026F4}" destId="{1D00764B-FF91-42D9-9CF4-2A31B91C2D07}" srcOrd="7" destOrd="0" presId="urn:microsoft.com/office/officeart/2005/8/layout/vList5"/>
    <dgm:cxn modelId="{0311799E-8DA9-45AC-91A9-9619C9CF0B79}" type="presParOf" srcId="{1F286245-D2CE-4689-B525-5974823026F4}" destId="{EDCE6849-E18A-4EA3-A332-6CDA7D13B67F}" srcOrd="8" destOrd="0" presId="urn:microsoft.com/office/officeart/2005/8/layout/vList5"/>
    <dgm:cxn modelId="{688781C6-6A2F-4894-ABD6-59D50600DCC1}" type="presParOf" srcId="{EDCE6849-E18A-4EA3-A332-6CDA7D13B67F}" destId="{53D420D7-8CC0-4CBC-BA75-A9CD5C41EE3C}" srcOrd="0" destOrd="0" presId="urn:microsoft.com/office/officeart/2005/8/layout/vList5"/>
    <dgm:cxn modelId="{57DCDF78-6DDE-4542-A588-782CCFFA31BC}" type="presParOf" srcId="{EDCE6849-E18A-4EA3-A332-6CDA7D13B67F}" destId="{29126A74-AE6E-4CB0-9EED-B53C335F144A}" srcOrd="1" destOrd="0" presId="urn:microsoft.com/office/officeart/2005/8/layout/vList5"/>
    <dgm:cxn modelId="{0D60FD0F-45C4-4361-B80B-0926E5DA0ABA}" type="presParOf" srcId="{1F286245-D2CE-4689-B525-5974823026F4}" destId="{681DD990-8424-48BD-86E3-42E397D1E18B}" srcOrd="9" destOrd="0" presId="urn:microsoft.com/office/officeart/2005/8/layout/vList5"/>
    <dgm:cxn modelId="{61EAF145-629A-4551-A6CD-070408F77EC6}" type="presParOf" srcId="{1F286245-D2CE-4689-B525-5974823026F4}" destId="{98C9C1BF-380C-451E-90D0-CE3D527E8E7A}" srcOrd="10" destOrd="0" presId="urn:microsoft.com/office/officeart/2005/8/layout/vList5"/>
    <dgm:cxn modelId="{187F8796-49C5-42D4-A601-71EFAFA2E19D}" type="presParOf" srcId="{98C9C1BF-380C-451E-90D0-CE3D527E8E7A}" destId="{F9390EFB-83AD-411F-B322-069841ECDBA0}" srcOrd="0" destOrd="0" presId="urn:microsoft.com/office/officeart/2005/8/layout/vList5"/>
    <dgm:cxn modelId="{F100B81A-B7F1-4E0E-8ACF-F881DB466116}" type="presParOf" srcId="{98C9C1BF-380C-451E-90D0-CE3D527E8E7A}" destId="{2EC26013-5BA5-4B9B-A77A-351309C56DDF}" srcOrd="1" destOrd="0" presId="urn:microsoft.com/office/officeart/2005/8/layout/vList5"/>
    <dgm:cxn modelId="{C3EBF0AD-7091-48A8-A99A-77070155AF80}" type="presParOf" srcId="{1F286245-D2CE-4689-B525-5974823026F4}" destId="{3E314BAF-7AC3-4D58-8C2B-1C05C2C925E8}" srcOrd="11" destOrd="0" presId="urn:microsoft.com/office/officeart/2005/8/layout/vList5"/>
    <dgm:cxn modelId="{180DFBE9-9961-435E-A9F8-52DDA9C71B9C}" type="presParOf" srcId="{1F286245-D2CE-4689-B525-5974823026F4}" destId="{A88A4C33-4474-4455-BB35-AED516CDED3A}" srcOrd="12" destOrd="0" presId="urn:microsoft.com/office/officeart/2005/8/layout/vList5"/>
    <dgm:cxn modelId="{F978A069-291C-48A8-867A-C955B0DE0A8F}" type="presParOf" srcId="{A88A4C33-4474-4455-BB35-AED516CDED3A}" destId="{3668BFCD-4099-463A-9CF2-3C3F6A71584A}" srcOrd="0" destOrd="0" presId="urn:microsoft.com/office/officeart/2005/8/layout/vList5"/>
    <dgm:cxn modelId="{141B66F7-F1FD-45F0-90A0-18D81A4DC091}" type="presParOf" srcId="{A88A4C33-4474-4455-BB35-AED516CDED3A}" destId="{22F2CF04-1F9C-4314-B8D8-DD3367C3FBF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F6A5E-9EE3-4821-8CD9-FF5D4C2C7195}">
      <dsp:nvSpPr>
        <dsp:cNvPr id="0" name=""/>
        <dsp:cNvSpPr/>
      </dsp:nvSpPr>
      <dsp:spPr>
        <a:xfrm rot="5400000">
          <a:off x="5642211" y="-2367413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On-line </a:t>
          </a:r>
          <a:r>
            <a:rPr lang="pt-PT" sz="1800" kern="1200" dirty="0" err="1"/>
            <a:t>sensors</a:t>
          </a:r>
          <a:r>
            <a:rPr lang="pt-PT" sz="1800" kern="1200" dirty="0"/>
            <a:t> </a:t>
          </a:r>
          <a:r>
            <a:rPr lang="pt-PT" sz="1800" kern="1200" dirty="0" err="1"/>
            <a:t>or</a:t>
          </a:r>
          <a:r>
            <a:rPr lang="pt-PT" sz="1800" kern="1200" dirty="0"/>
            <a:t> off-line </a:t>
          </a:r>
          <a:r>
            <a:rPr lang="pt-PT" sz="1800" kern="1200" dirty="0" err="1"/>
            <a:t>laboratory</a:t>
          </a:r>
          <a:r>
            <a:rPr lang="pt-PT" sz="1800" kern="1200" dirty="0"/>
            <a:t> </a:t>
          </a:r>
          <a:r>
            <a:rPr lang="pt-PT" sz="1800" kern="1200" dirty="0" err="1"/>
            <a:t>analysis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Experiments</a:t>
          </a:r>
          <a:endParaRPr lang="en-US" sz="1800" kern="1200" dirty="0"/>
        </a:p>
      </dsp:txBody>
      <dsp:txXfrm rot="-5400000">
        <a:off x="3182112" y="128658"/>
        <a:ext cx="5621116" cy="664945"/>
      </dsp:txXfrm>
    </dsp:sp>
    <dsp:sp modelId="{7800AB58-CAE7-4CF8-9C86-C3438897C8D2}">
      <dsp:nvSpPr>
        <dsp:cNvPr id="0" name=""/>
        <dsp:cNvSpPr/>
      </dsp:nvSpPr>
      <dsp:spPr>
        <a:xfrm>
          <a:off x="0" y="574"/>
          <a:ext cx="3182112" cy="92111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Data </a:t>
          </a:r>
          <a:r>
            <a:rPr lang="pt-PT" sz="2800" kern="1200" dirty="0" err="1"/>
            <a:t>collection</a:t>
          </a:r>
          <a:r>
            <a:rPr lang="pt-PT" sz="2800" kern="1200" dirty="0"/>
            <a:t> </a:t>
          </a:r>
          <a:r>
            <a:rPr lang="pt-PT" sz="2800" kern="1200" dirty="0" err="1"/>
            <a:t>and</a:t>
          </a:r>
          <a:r>
            <a:rPr lang="pt-PT" sz="2800" kern="1200" dirty="0"/>
            <a:t> </a:t>
          </a:r>
          <a:r>
            <a:rPr lang="pt-PT" sz="2800" kern="1200" dirty="0" err="1"/>
            <a:t>acquisition</a:t>
          </a:r>
          <a:endParaRPr lang="en-US" sz="2800" kern="1200" dirty="0"/>
        </a:p>
      </dsp:txBody>
      <dsp:txXfrm>
        <a:off x="44965" y="45539"/>
        <a:ext cx="3092182" cy="831181"/>
      </dsp:txXfrm>
    </dsp:sp>
    <dsp:sp modelId="{8A5F9279-2FBD-4BAF-A9DE-6821E25B4054}">
      <dsp:nvSpPr>
        <dsp:cNvPr id="0" name=""/>
        <dsp:cNvSpPr/>
      </dsp:nvSpPr>
      <dsp:spPr>
        <a:xfrm rot="5400000">
          <a:off x="5642211" y="-1400246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842526"/>
            <a:satOff val="7451"/>
            <a:lumOff val="883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842526"/>
              <a:satOff val="7451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Excel </a:t>
          </a:r>
          <a:r>
            <a:rPr lang="pt-PT" sz="1800" kern="1200" dirty="0" err="1"/>
            <a:t>spreadsheets</a:t>
          </a:r>
          <a:r>
            <a:rPr lang="pt-PT" sz="1800" kern="1200" dirty="0"/>
            <a:t>, .</a:t>
          </a:r>
          <a:r>
            <a:rPr lang="pt-PT" sz="1800" kern="1200" dirty="0" err="1"/>
            <a:t>csv</a:t>
          </a:r>
          <a:r>
            <a:rPr lang="pt-PT" sz="1800" kern="1200" dirty="0"/>
            <a:t> files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SQL </a:t>
          </a:r>
          <a:r>
            <a:rPr lang="pt-PT" sz="1800" kern="1200" dirty="0" err="1"/>
            <a:t>databases</a:t>
          </a:r>
          <a:r>
            <a:rPr lang="pt-PT" sz="1800" kern="1200" dirty="0"/>
            <a:t>/</a:t>
          </a:r>
          <a:r>
            <a:rPr lang="pt-PT" sz="1800" kern="1200" dirty="0" err="1"/>
            <a:t>historians</a:t>
          </a:r>
          <a:endParaRPr lang="en-US" sz="1800" kern="1200" dirty="0"/>
        </a:p>
      </dsp:txBody>
      <dsp:txXfrm rot="-5400000">
        <a:off x="3182112" y="1095825"/>
        <a:ext cx="5621116" cy="664945"/>
      </dsp:txXfrm>
    </dsp:sp>
    <dsp:sp modelId="{7E587D8A-6235-4644-ACA4-27925E0C4639}">
      <dsp:nvSpPr>
        <dsp:cNvPr id="0" name=""/>
        <dsp:cNvSpPr/>
      </dsp:nvSpPr>
      <dsp:spPr>
        <a:xfrm>
          <a:off x="0" y="967741"/>
          <a:ext cx="3182112" cy="921111"/>
        </a:xfrm>
        <a:prstGeom prst="roundRect">
          <a:avLst/>
        </a:prstGeom>
        <a:solidFill>
          <a:schemeClr val="accent3">
            <a:hueOff val="686194"/>
            <a:satOff val="4119"/>
            <a:lumOff val="31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Data </a:t>
          </a:r>
          <a:r>
            <a:rPr lang="pt-PT" sz="2800" kern="1200" dirty="0" err="1"/>
            <a:t>storage</a:t>
          </a:r>
          <a:endParaRPr lang="en-US" sz="2800" kern="1200" dirty="0"/>
        </a:p>
      </dsp:txBody>
      <dsp:txXfrm>
        <a:off x="44965" y="1012706"/>
        <a:ext cx="3092182" cy="831181"/>
      </dsp:txXfrm>
    </dsp:sp>
    <dsp:sp modelId="{A37AF600-DBEA-4964-9184-DD44E8827743}">
      <dsp:nvSpPr>
        <dsp:cNvPr id="0" name=""/>
        <dsp:cNvSpPr/>
      </dsp:nvSpPr>
      <dsp:spPr>
        <a:xfrm rot="5400000">
          <a:off x="5642211" y="-433078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1685052"/>
            <a:satOff val="14902"/>
            <a:lumOff val="1765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1685052"/>
              <a:satOff val="14902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Extract</a:t>
          </a:r>
          <a:r>
            <a:rPr lang="pt-PT" sz="1800" kern="1200" dirty="0"/>
            <a:t> data </a:t>
          </a:r>
          <a:r>
            <a:rPr lang="pt-PT" sz="1800" kern="1200" dirty="0" err="1"/>
            <a:t>from</a:t>
          </a:r>
          <a:r>
            <a:rPr lang="pt-PT" sz="1800" kern="1200" dirty="0"/>
            <a:t> </a:t>
          </a:r>
          <a:r>
            <a:rPr lang="pt-PT" sz="1800" kern="1200" dirty="0" err="1"/>
            <a:t>databases</a:t>
          </a:r>
          <a:r>
            <a:rPr lang="pt-PT" sz="1800" kern="1200" dirty="0"/>
            <a:t> </a:t>
          </a:r>
          <a:r>
            <a:rPr lang="pt-PT" sz="1800" kern="1200" dirty="0" err="1"/>
            <a:t>or</a:t>
          </a:r>
          <a:r>
            <a:rPr lang="pt-PT" sz="1800" kern="1200" dirty="0"/>
            <a:t> </a:t>
          </a:r>
          <a:r>
            <a:rPr lang="pt-PT" sz="1800" kern="1200" dirty="0" err="1"/>
            <a:t>spreadsheets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Transform</a:t>
          </a:r>
          <a:r>
            <a:rPr lang="pt-PT" sz="1800" kern="1200" dirty="0"/>
            <a:t> </a:t>
          </a:r>
          <a:r>
            <a:rPr lang="pt-PT" sz="1800" kern="1200" dirty="0" err="1"/>
            <a:t>or</a:t>
          </a:r>
          <a:r>
            <a:rPr lang="pt-PT" sz="1800" kern="1200" dirty="0"/>
            <a:t> </a:t>
          </a:r>
          <a:r>
            <a:rPr lang="pt-PT" sz="1800" kern="1200" dirty="0" err="1"/>
            <a:t>clean</a:t>
          </a:r>
          <a:r>
            <a:rPr lang="pt-PT" sz="1800" kern="1200" dirty="0"/>
            <a:t> data for </a:t>
          </a:r>
          <a:r>
            <a:rPr lang="pt-PT" sz="1800" kern="1200" dirty="0" err="1"/>
            <a:t>analysis</a:t>
          </a:r>
          <a:endParaRPr lang="en-US" sz="1800" kern="1200" dirty="0"/>
        </a:p>
      </dsp:txBody>
      <dsp:txXfrm rot="-5400000">
        <a:off x="3182112" y="2062993"/>
        <a:ext cx="5621116" cy="664945"/>
      </dsp:txXfrm>
    </dsp:sp>
    <dsp:sp modelId="{E324597F-A74F-41D2-A028-E8A64BDEF1D5}">
      <dsp:nvSpPr>
        <dsp:cNvPr id="0" name=""/>
        <dsp:cNvSpPr/>
      </dsp:nvSpPr>
      <dsp:spPr>
        <a:xfrm>
          <a:off x="0" y="1934909"/>
          <a:ext cx="3182112" cy="921111"/>
        </a:xfrm>
        <a:prstGeom prst="roundRect">
          <a:avLst/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 err="1"/>
            <a:t>Extract</a:t>
          </a:r>
          <a:r>
            <a:rPr lang="pt-PT" sz="2800" kern="1200" dirty="0"/>
            <a:t> data </a:t>
          </a:r>
          <a:r>
            <a:rPr lang="pt-PT" sz="2800" kern="1200" dirty="0" err="1"/>
            <a:t>from</a:t>
          </a:r>
          <a:r>
            <a:rPr lang="pt-PT" sz="2800" kern="1200" dirty="0"/>
            <a:t> </a:t>
          </a:r>
          <a:r>
            <a:rPr lang="pt-PT" sz="2800" kern="1200" dirty="0" err="1"/>
            <a:t>databases</a:t>
          </a:r>
          <a:endParaRPr lang="en-US" sz="2800" kern="1200" dirty="0"/>
        </a:p>
      </dsp:txBody>
      <dsp:txXfrm>
        <a:off x="44965" y="1979874"/>
        <a:ext cx="3092182" cy="831181"/>
      </dsp:txXfrm>
    </dsp:sp>
    <dsp:sp modelId="{9F5486F8-6ED6-4FC0-94CB-158E6588E3AB}">
      <dsp:nvSpPr>
        <dsp:cNvPr id="0" name=""/>
        <dsp:cNvSpPr/>
      </dsp:nvSpPr>
      <dsp:spPr>
        <a:xfrm rot="5400000">
          <a:off x="5642211" y="534088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2527578"/>
            <a:satOff val="22352"/>
            <a:lumOff val="2648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2527578"/>
              <a:satOff val="22352"/>
              <a:lumOff val="26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Data </a:t>
          </a:r>
          <a:r>
            <a:rPr lang="pt-PT" sz="1800" kern="1200" dirty="0" err="1"/>
            <a:t>visualization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Statistical</a:t>
          </a:r>
          <a:r>
            <a:rPr lang="pt-PT" sz="1800" kern="1200" dirty="0"/>
            <a:t> </a:t>
          </a:r>
          <a:r>
            <a:rPr lang="pt-PT" sz="1800" kern="1200" dirty="0" err="1"/>
            <a:t>analysis</a:t>
          </a:r>
          <a:r>
            <a:rPr lang="pt-PT" sz="1800" kern="1200" dirty="0"/>
            <a:t> (</a:t>
          </a:r>
          <a:r>
            <a:rPr lang="pt-PT" sz="1800" kern="1200" dirty="0" err="1"/>
            <a:t>univariate</a:t>
          </a:r>
          <a:r>
            <a:rPr lang="pt-PT" sz="1800" kern="1200" dirty="0"/>
            <a:t> </a:t>
          </a:r>
          <a:r>
            <a:rPr lang="pt-PT" sz="1800" kern="1200" dirty="0" err="1"/>
            <a:t>and</a:t>
          </a:r>
          <a:r>
            <a:rPr lang="pt-PT" sz="1800" kern="1200" dirty="0"/>
            <a:t> </a:t>
          </a:r>
          <a:r>
            <a:rPr lang="pt-PT" sz="1800" kern="1200" dirty="0" err="1"/>
            <a:t>multivariate</a:t>
          </a:r>
          <a:r>
            <a:rPr lang="pt-PT" sz="1400" kern="1200" dirty="0"/>
            <a:t>)</a:t>
          </a:r>
          <a:endParaRPr lang="en-US" sz="1400" kern="1200" dirty="0"/>
        </a:p>
      </dsp:txBody>
      <dsp:txXfrm rot="-5400000">
        <a:off x="3182112" y="3030159"/>
        <a:ext cx="5621116" cy="664945"/>
      </dsp:txXfrm>
    </dsp:sp>
    <dsp:sp modelId="{E691E0F2-698E-4C59-B6B9-D6898E32DE1F}">
      <dsp:nvSpPr>
        <dsp:cNvPr id="0" name=""/>
        <dsp:cNvSpPr/>
      </dsp:nvSpPr>
      <dsp:spPr>
        <a:xfrm>
          <a:off x="0" y="2902076"/>
          <a:ext cx="3182112" cy="921111"/>
        </a:xfrm>
        <a:prstGeom prst="roundRect">
          <a:avLst/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 err="1"/>
            <a:t>Exploratory</a:t>
          </a:r>
          <a:r>
            <a:rPr lang="pt-PT" sz="2800" kern="1200" dirty="0"/>
            <a:t> data </a:t>
          </a:r>
          <a:r>
            <a:rPr lang="pt-PT" sz="2800" kern="1200" dirty="0" err="1"/>
            <a:t>analysis</a:t>
          </a:r>
          <a:endParaRPr lang="en-US" sz="2800" kern="1200" dirty="0"/>
        </a:p>
      </dsp:txBody>
      <dsp:txXfrm>
        <a:off x="44965" y="2947041"/>
        <a:ext cx="3092182" cy="831181"/>
      </dsp:txXfrm>
    </dsp:sp>
    <dsp:sp modelId="{29126A74-AE6E-4CB0-9EED-B53C335F144A}">
      <dsp:nvSpPr>
        <dsp:cNvPr id="0" name=""/>
        <dsp:cNvSpPr/>
      </dsp:nvSpPr>
      <dsp:spPr>
        <a:xfrm rot="5400000">
          <a:off x="5642211" y="1515359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3370104"/>
            <a:satOff val="29803"/>
            <a:lumOff val="353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3370104"/>
              <a:satOff val="29803"/>
              <a:lumOff val="35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What</a:t>
          </a:r>
          <a:r>
            <a:rPr lang="pt-PT" sz="1800" kern="1200" dirty="0"/>
            <a:t> to </a:t>
          </a:r>
          <a:r>
            <a:rPr lang="pt-PT" sz="1800" kern="1200" dirty="0" err="1"/>
            <a:t>want</a:t>
          </a:r>
          <a:r>
            <a:rPr lang="pt-PT" sz="1800" kern="1200" dirty="0"/>
            <a:t> to </a:t>
          </a:r>
          <a:r>
            <a:rPr lang="pt-PT" sz="1800" kern="1200" dirty="0" err="1"/>
            <a:t>predict</a:t>
          </a:r>
          <a:r>
            <a:rPr lang="pt-PT" sz="1800" kern="1200" dirty="0"/>
            <a:t>? 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 err="1"/>
            <a:t>What</a:t>
          </a:r>
          <a:r>
            <a:rPr lang="pt-PT" sz="1800" kern="1200" dirty="0"/>
            <a:t> to use for </a:t>
          </a:r>
          <a:r>
            <a:rPr lang="pt-PT" sz="1800" kern="1200" dirty="0" err="1"/>
            <a:t>prediction</a:t>
          </a:r>
          <a:r>
            <a:rPr lang="pt-PT" sz="1800" kern="1200" dirty="0"/>
            <a:t>?</a:t>
          </a:r>
          <a:endParaRPr lang="en-US" sz="1800" kern="1200" dirty="0"/>
        </a:p>
      </dsp:txBody>
      <dsp:txXfrm rot="-5400000">
        <a:off x="3182112" y="4011430"/>
        <a:ext cx="5621116" cy="664945"/>
      </dsp:txXfrm>
    </dsp:sp>
    <dsp:sp modelId="{53D420D7-8CC0-4CBC-BA75-A9CD5C41EE3C}">
      <dsp:nvSpPr>
        <dsp:cNvPr id="0" name=""/>
        <dsp:cNvSpPr/>
      </dsp:nvSpPr>
      <dsp:spPr>
        <a:xfrm>
          <a:off x="0" y="3869243"/>
          <a:ext cx="3182112" cy="921111"/>
        </a:xfrm>
        <a:prstGeom prst="roundRect">
          <a:avLst/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/>
            <a:t>Define </a:t>
          </a:r>
          <a:r>
            <a:rPr lang="pt-PT" sz="2800" kern="1200" dirty="0" err="1"/>
            <a:t>goals</a:t>
          </a:r>
          <a:r>
            <a:rPr lang="pt-PT" sz="2800" kern="1200" dirty="0"/>
            <a:t> </a:t>
          </a:r>
          <a:r>
            <a:rPr lang="pt-PT" sz="2800" kern="1200" dirty="0" err="1"/>
            <a:t>and</a:t>
          </a:r>
          <a:r>
            <a:rPr lang="pt-PT" sz="2800" kern="1200" dirty="0"/>
            <a:t> </a:t>
          </a:r>
          <a:r>
            <a:rPr lang="pt-PT" sz="2800" kern="1200" dirty="0" err="1"/>
            <a:t>hypothesis</a:t>
          </a:r>
          <a:endParaRPr lang="en-US" sz="2800" kern="1200" dirty="0"/>
        </a:p>
      </dsp:txBody>
      <dsp:txXfrm>
        <a:off x="44965" y="3914208"/>
        <a:ext cx="3092182" cy="831181"/>
      </dsp:txXfrm>
    </dsp:sp>
    <dsp:sp modelId="{2EC26013-5BA5-4B9B-A77A-351309C56DDF}">
      <dsp:nvSpPr>
        <dsp:cNvPr id="0" name=""/>
        <dsp:cNvSpPr/>
      </dsp:nvSpPr>
      <dsp:spPr>
        <a:xfrm rot="5400000">
          <a:off x="5642211" y="2468423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4212629"/>
            <a:satOff val="37254"/>
            <a:lumOff val="4413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4212629"/>
              <a:satOff val="37254"/>
              <a:lumOff val="44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Define </a:t>
          </a:r>
          <a:r>
            <a:rPr lang="pt-PT" sz="1800" kern="1200" dirty="0" err="1"/>
            <a:t>modeling</a:t>
          </a:r>
          <a:r>
            <a:rPr lang="pt-PT" sz="1800" kern="1200" dirty="0"/>
            <a:t> </a:t>
          </a:r>
          <a:r>
            <a:rPr lang="pt-PT" sz="1800" kern="1200" dirty="0" err="1"/>
            <a:t>hypothesis</a:t>
          </a:r>
          <a:endParaRPr lang="en-US" sz="1800" kern="1200" dirty="0"/>
        </a:p>
      </dsp:txBody>
      <dsp:txXfrm rot="-5400000">
        <a:off x="3182112" y="4964494"/>
        <a:ext cx="5621116" cy="664945"/>
      </dsp:txXfrm>
    </dsp:sp>
    <dsp:sp modelId="{F9390EFB-83AD-411F-B322-069841ECDBA0}">
      <dsp:nvSpPr>
        <dsp:cNvPr id="0" name=""/>
        <dsp:cNvSpPr/>
      </dsp:nvSpPr>
      <dsp:spPr>
        <a:xfrm>
          <a:off x="0" y="4836411"/>
          <a:ext cx="3182112" cy="921111"/>
        </a:xfrm>
        <a:prstGeom prst="roundRect">
          <a:avLst/>
        </a:prstGeom>
        <a:solidFill>
          <a:schemeClr val="accent3">
            <a:hueOff val="3430969"/>
            <a:satOff val="20593"/>
            <a:lumOff val="15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 err="1"/>
            <a:t>Build</a:t>
          </a:r>
          <a:r>
            <a:rPr lang="pt-PT" sz="2800" kern="1200" dirty="0"/>
            <a:t> </a:t>
          </a:r>
          <a:r>
            <a:rPr lang="pt-PT" sz="2800" kern="1200" dirty="0" err="1"/>
            <a:t>models</a:t>
          </a:r>
          <a:endParaRPr lang="en-US" sz="2800" kern="1200" dirty="0"/>
        </a:p>
      </dsp:txBody>
      <dsp:txXfrm>
        <a:off x="44965" y="4881376"/>
        <a:ext cx="3092182" cy="831181"/>
      </dsp:txXfrm>
    </dsp:sp>
    <dsp:sp modelId="{22F2CF04-1F9C-4314-B8D8-DD3367C3FBFF}">
      <dsp:nvSpPr>
        <dsp:cNvPr id="0" name=""/>
        <dsp:cNvSpPr/>
      </dsp:nvSpPr>
      <dsp:spPr>
        <a:xfrm rot="5400000">
          <a:off x="5642211" y="3435590"/>
          <a:ext cx="736889" cy="5657088"/>
        </a:xfrm>
        <a:prstGeom prst="round2SameRect">
          <a:avLst/>
        </a:prstGeom>
        <a:solidFill>
          <a:schemeClr val="accent3">
            <a:tint val="40000"/>
            <a:alpha val="90000"/>
            <a:hueOff val="5055155"/>
            <a:satOff val="44705"/>
            <a:lumOff val="5295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5055155"/>
              <a:satOff val="44705"/>
              <a:lumOff val="52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800" kern="1200" dirty="0"/>
            <a:t>Is </a:t>
          </a:r>
          <a:r>
            <a:rPr lang="pt-PT" sz="1800" kern="1200" dirty="0" err="1"/>
            <a:t>the</a:t>
          </a:r>
          <a:r>
            <a:rPr lang="pt-PT" sz="1800" kern="1200" dirty="0"/>
            <a:t> </a:t>
          </a:r>
          <a:r>
            <a:rPr lang="pt-PT" sz="1800" kern="1200" dirty="0" err="1"/>
            <a:t>model</a:t>
          </a:r>
          <a:r>
            <a:rPr lang="pt-PT" sz="1800" kern="1200" dirty="0"/>
            <a:t> </a:t>
          </a:r>
          <a:r>
            <a:rPr lang="pt-PT" sz="1800" kern="1200" dirty="0" err="1"/>
            <a:t>good</a:t>
          </a:r>
          <a:r>
            <a:rPr lang="pt-PT" sz="1800" kern="1200" dirty="0"/>
            <a:t> for </a:t>
          </a:r>
          <a:r>
            <a:rPr lang="pt-PT" sz="1800" kern="1200" dirty="0" err="1"/>
            <a:t>our</a:t>
          </a:r>
          <a:r>
            <a:rPr lang="pt-PT" sz="1800" kern="1200" dirty="0"/>
            <a:t> </a:t>
          </a:r>
          <a:r>
            <a:rPr lang="pt-PT" sz="1800" kern="1200" dirty="0" err="1"/>
            <a:t>goals</a:t>
          </a:r>
          <a:r>
            <a:rPr lang="pt-PT" sz="1800" kern="1200" dirty="0"/>
            <a:t>?</a:t>
          </a:r>
          <a:endParaRPr lang="en-US" sz="1800" kern="1200" dirty="0"/>
        </a:p>
      </dsp:txBody>
      <dsp:txXfrm rot="-5400000">
        <a:off x="3182112" y="5931661"/>
        <a:ext cx="5621116" cy="664945"/>
      </dsp:txXfrm>
    </dsp:sp>
    <dsp:sp modelId="{3668BFCD-4099-463A-9CF2-3C3F6A71584A}">
      <dsp:nvSpPr>
        <dsp:cNvPr id="0" name=""/>
        <dsp:cNvSpPr/>
      </dsp:nvSpPr>
      <dsp:spPr>
        <a:xfrm>
          <a:off x="0" y="5803578"/>
          <a:ext cx="3182112" cy="921111"/>
        </a:xfrm>
        <a:prstGeom prst="round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800" kern="1200" dirty="0" err="1"/>
            <a:t>Decision</a:t>
          </a:r>
          <a:r>
            <a:rPr lang="pt-PT" sz="2800" kern="1200" dirty="0"/>
            <a:t> </a:t>
          </a:r>
          <a:r>
            <a:rPr lang="pt-PT" sz="2800" kern="1200" dirty="0" err="1"/>
            <a:t>making</a:t>
          </a:r>
          <a:endParaRPr lang="en-US" sz="2800" kern="1200" dirty="0"/>
        </a:p>
      </dsp:txBody>
      <dsp:txXfrm>
        <a:off x="44965" y="5848543"/>
        <a:ext cx="3092182" cy="8311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1AAF8FC1-9F2E-6C7B-FA69-25E670D61F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F9532E8F-20B7-F499-3C1F-9E06E6F114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0E4DD-3AD8-40E4-B55D-89B4A297E84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57D8FE7-5924-AAF4-919A-FC4EA5A9BB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37ECCE5-91BB-D8DF-6D05-509E88987C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173A8-807E-42E6-8785-AA51FCBD7BD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746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8CBED-51F1-48DB-9A55-78DE040F7CE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D880E-8C57-437E-8E1C-97D6266E26B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613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06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49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RON - Research Octane Number (RON)</a:t>
            </a:r>
          </a:p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73AA95-130B-473B-B432-0B47D6FD1372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63519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9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26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880E-8C57-437E-8E1C-97D6266E26B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99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00BB3-C479-CFFA-E3BE-86DD5A3BB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0D1339-CBC4-8329-5ECA-CA1DE5550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4D44DD-F508-29DE-E4A9-85E07AB5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0C7CD-8BC1-42F3-842C-4839003408EF}" type="datetime1">
              <a:rPr lang="en-GB" smtClean="0"/>
              <a:t>24/06/2025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9CB4C4B-A1D4-5B92-CF66-D75B8258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13F3DD2-C0A5-24CB-4B54-AB5FE9B9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91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F2206-E45C-6177-0EAB-C9A058A6D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CBECCCC-378D-96CC-37E4-1B5D7D144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CF3316D-C11C-FE84-D9D3-FF931BC23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CDFFC-4030-43B9-906E-F3F07AD1496A}" type="datetime1">
              <a:rPr lang="en-GB" smtClean="0"/>
              <a:t>24/06/2025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55AF878-FBC4-2DA8-37B4-3856A73F9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7078B19-F938-49DC-CFFA-69AE0C3E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84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E62DD-EB14-97AD-FC2E-FF98B80E1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C765652-0F7D-6E22-D608-FBB689823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C6B5182-4C5F-CD4A-96CF-FFCE0306A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03FFA-2F7B-4AA4-97A5-B52B7E2822AE}" type="datetime1">
              <a:rPr lang="en-GB" smtClean="0"/>
              <a:t>24/06/2025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F32EAA8-8A19-9FF8-8BAA-309236DEC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EBA5C75-4C17-3564-AA11-8103219E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362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B8DE2-DBC5-1E03-01FB-5EF5AF66E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B05788D-6288-F654-3C11-1AEA0578C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B68A6D2-8A11-20B4-6460-C643D94AC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0465FB3-493B-67F1-909C-3452B5772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5D039-BF4C-4C11-8D56-18BEA6C26879}" type="datetime1">
              <a:rPr lang="en-GB" smtClean="0"/>
              <a:t>24/06/2025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1E2D59A-A014-D0A8-6DFE-6BE4C0350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387DD0A-BF9A-FBD4-9440-4A5B74EA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94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D6A4A-0CC8-5934-0F34-DDD2D5C20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D2ED13C-AED6-0A9B-36BA-1ECA39B5C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32DE41C-7E18-618A-3817-4CC66CD69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E921761-EF9A-AA7F-E174-92E7FA1DA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DC0D00E-91FD-9425-BF02-F998C2059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22F861B-ADE8-7A9B-FE29-7715DBDF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CE9BF-92B6-4F90-98C4-1B8619458DEF}" type="datetime1">
              <a:rPr lang="en-GB" smtClean="0"/>
              <a:t>24/06/2025</a:t>
            </a:fld>
            <a:endParaRPr lang="en-GB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0D2D1CF3-E8AC-94AC-2C8F-3ADDCA56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39763CD-F4A3-56DC-3EA8-F4151658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742DF-12E3-6E45-F14A-3A7E94EA8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8004750-EBB2-05B9-DA3A-3DDBBEBDE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0AE9-764D-422D-A1DF-711F63072813}" type="datetime1">
              <a:rPr lang="en-GB" smtClean="0"/>
              <a:t>24/06/2025</a:t>
            </a:fld>
            <a:endParaRPr lang="en-GB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82B1E75-6346-BA3E-BB37-57061E226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7FB403D-587E-466B-6CEC-3DFE004E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33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BE69D62F-BEF5-393F-6966-C31BD8CE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DE3C0-51A9-416C-8AFD-43FD55AB0D0A}" type="datetime1">
              <a:rPr lang="en-GB" smtClean="0"/>
              <a:t>24/06/2025</a:t>
            </a:fld>
            <a:endParaRPr lang="en-GB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0465B13-7A99-DA8D-616C-C8DDF1FD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E3649D4-4584-FD71-BA62-51281F2A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400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093C8-68C4-7F4E-1B7C-090A6AEF9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C935E8F-3B53-F2C0-AF33-FA5662C40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ED318A2-40D8-0F40-9AE1-50AEF0192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E7CB6A5-EE86-63B3-2869-6138B6EE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B5B8-87A6-4E83-97F4-A84C3D14875C}" type="datetime1">
              <a:rPr lang="en-GB" smtClean="0"/>
              <a:t>24/06/2025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0EDA002-1675-A781-2BFB-79D3EDD4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B9CA0135-3A90-9342-3C73-B2208A97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08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70059-4371-3359-221C-0BFBE522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140463F5-90F1-51E9-2E36-6EDC4466E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342B686-3C05-62D8-C4B9-E5BCF33A84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2CD70F5-7E8F-3529-09E8-7241BBC9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F55B-7F84-41DE-9EAE-A8AF2406E7D2}" type="datetime1">
              <a:rPr lang="en-GB" smtClean="0"/>
              <a:t>24/06/2025</a:t>
            </a:fld>
            <a:endParaRPr lang="en-GB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DABE4E4-71E3-DC0B-AB72-C1470C4B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3B28CB2-5D7B-F844-CD9E-BB625D07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283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11AC0-CE3D-95B0-ADCB-FB6C36CCD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FC5E8AE-B64C-6A61-5EDC-77AE63AD9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F9640B75-3F47-E3BA-821C-B4B7FE88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CB223-728D-473F-BA08-43A45F60008A}" type="datetime1">
              <a:rPr lang="en-GB" smtClean="0"/>
              <a:t>24/06/2025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C79F06F-80E3-9B66-F8B0-55D88D8C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C117FA1-8B9A-750F-D0A5-FEB09898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59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F3A304-DB17-40B3-2B45-D3769FAA2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DDBE9B4-5FEE-2281-2602-AC1F64373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B21326E-C601-4FEC-5E33-9B4A9422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B789-60F4-4D35-B4C8-B950BDF036DA}" type="datetime1">
              <a:rPr lang="en-GB" smtClean="0"/>
              <a:t>24/06/2025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4A24246-031C-7E51-D765-F8707906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E5D7FD9-0506-A672-0F59-33050BC6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74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43D8D235-D70E-8D82-1CCB-68BBCC14B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1628867-33A5-C096-E646-20324372C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AD54A2D-85B6-5CD8-DB13-7558A6205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8A5BF-0B07-4E35-B473-9065D65C7A5B}" type="datetime1">
              <a:rPr lang="en-GB" smtClean="0"/>
              <a:t>24/06/2025</a:t>
            </a:fld>
            <a:endParaRPr lang="en-GB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008C33A-BA85-894F-94D7-2CC5B7437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E085E3D-9A6A-DABB-46D1-C7DC2751E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C34FA-8BA3-450A-B660-F3EE90DBB46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96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nirpyresearch.com/" TargetMode="External"/><Relationship Id="rId2" Type="http://schemas.openxmlformats.org/officeDocument/2006/relationships/hyperlink" Target="https://chemometrics.readthedocs.io/en/stable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B6997-A69C-89E8-8715-3FE423D6D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111" y="461845"/>
            <a:ext cx="9097617" cy="3367048"/>
          </a:xfrm>
        </p:spPr>
        <p:txBody>
          <a:bodyPr>
            <a:normAutofit/>
          </a:bodyPr>
          <a:lstStyle/>
          <a:p>
            <a:r>
              <a:rPr lang="en-US" sz="53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AI &amp; ML for Process Analytical Technology using Python</a:t>
            </a:r>
            <a:br>
              <a:rPr lang="en-US" sz="5300" b="1" dirty="0"/>
            </a:br>
            <a:br>
              <a:rPr lang="en-US" b="1" dirty="0"/>
            </a:br>
            <a:r>
              <a:rPr lang="en-US" sz="3600" b="1" dirty="0"/>
              <a:t>Day 3: </a:t>
            </a:r>
            <a:br>
              <a:rPr lang="en-US" sz="3600" dirty="0"/>
            </a:br>
            <a:r>
              <a:rPr lang="en-US" sz="3600" dirty="0"/>
              <a:t>Modeling for PAT with Python</a:t>
            </a:r>
            <a:endParaRPr lang="en-US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C7A6CC-FE3E-B131-1E39-C42E70C7C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7191" y="3983203"/>
            <a:ext cx="9097617" cy="433249"/>
          </a:xfrm>
        </p:spPr>
        <p:txBody>
          <a:bodyPr/>
          <a:lstStyle/>
          <a:p>
            <a:r>
              <a:rPr lang="pt-PT" dirty="0"/>
              <a:t>João Coutinho</a:t>
            </a:r>
            <a:endParaRPr lang="en-US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31CCAB2-F5B4-8C99-886A-206FF6ECD252}"/>
              </a:ext>
            </a:extLst>
          </p:cNvPr>
          <p:cNvGrpSpPr/>
          <p:nvPr/>
        </p:nvGrpSpPr>
        <p:grpSpPr>
          <a:xfrm>
            <a:off x="2074597" y="5509516"/>
            <a:ext cx="7757878" cy="1298663"/>
            <a:chOff x="2416697" y="2438400"/>
            <a:chExt cx="7757878" cy="1298663"/>
          </a:xfrm>
        </p:grpSpPr>
        <p:pic>
          <p:nvPicPr>
            <p:cNvPr id="5" name="Imagem 4" descr="Uma imagem com texto, captura de ecrã, Tipo de letra, Gráficos&#10;&#10;Descrição gerada automaticamente">
              <a:extLst>
                <a:ext uri="{FF2B5EF4-FFF2-40B4-BE49-F238E27FC236}">
                  <a16:creationId xmlns:a16="http://schemas.microsoft.com/office/drawing/2014/main" id="{FFAC0DA0-D3BA-42AB-8696-4638CF433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2117" y="2758276"/>
              <a:ext cx="6052458" cy="873677"/>
            </a:xfrm>
            <a:prstGeom prst="rect">
              <a:avLst/>
            </a:prstGeom>
          </p:spPr>
        </p:pic>
        <p:pic>
          <p:nvPicPr>
            <p:cNvPr id="6" name="Imagem 5" descr="Uma imagem com Gráficos, design gráfico, Tipo de letra, captura de ecrã&#10;&#10;Descrição gerada automaticamente">
              <a:extLst>
                <a:ext uri="{FF2B5EF4-FFF2-40B4-BE49-F238E27FC236}">
                  <a16:creationId xmlns:a16="http://schemas.microsoft.com/office/drawing/2014/main" id="{4934A051-E67B-0D37-DC02-C05797C63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6697" y="2438400"/>
              <a:ext cx="1453727" cy="1298663"/>
            </a:xfrm>
            <a:prstGeom prst="rect">
              <a:avLst/>
            </a:prstGeom>
          </p:spPr>
        </p:pic>
      </p:grp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7FAA7737-05C6-697A-15A5-582FA4F6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</a:t>
            </a:fld>
            <a:endParaRPr lang="en-GB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4F9DDE-1EFC-F514-1EB4-221D65AD0AAB}"/>
              </a:ext>
            </a:extLst>
          </p:cNvPr>
          <p:cNvSpPr txBox="1"/>
          <p:nvPr/>
        </p:nvSpPr>
        <p:spPr>
          <a:xfrm>
            <a:off x="966673" y="4647742"/>
            <a:ext cx="100664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 err="1"/>
              <a:t>CInTech</a:t>
            </a:r>
            <a:r>
              <a:rPr lang="pt-PT" b="1" dirty="0"/>
              <a:t>: Polo Tecnológico de Inovação, Translação e Industrialização de Medicamentos Injetáveis Complexos</a:t>
            </a:r>
          </a:p>
          <a:p>
            <a:pPr algn="ctr"/>
            <a:r>
              <a:rPr lang="pt-PT" sz="1400" dirty="0"/>
              <a:t>Projeto nº 30 – Referência 7131, (Código do projeto: C644865576-00000005)</a:t>
            </a:r>
          </a:p>
        </p:txBody>
      </p:sp>
    </p:spTree>
    <p:extLst>
      <p:ext uri="{BB962C8B-B14F-4D97-AF65-F5344CB8AC3E}">
        <p14:creationId xmlns:p14="http://schemas.microsoft.com/office/powerpoint/2010/main" val="87432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5F775-AED0-2A48-00DA-E6712A070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2C164C2D-ABE9-45CF-55A4-A6A23CEAAC6F}"/>
              </a:ext>
            </a:extLst>
          </p:cNvPr>
          <p:cNvGraphicFramePr/>
          <p:nvPr/>
        </p:nvGraphicFramePr>
        <p:xfrm>
          <a:off x="2399071" y="66367"/>
          <a:ext cx="8839200" cy="6725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4ABB0DB2-9622-BD05-BC35-761653D1B04C}"/>
              </a:ext>
            </a:extLst>
          </p:cNvPr>
          <p:cNvSpPr/>
          <p:nvPr/>
        </p:nvSpPr>
        <p:spPr>
          <a:xfrm>
            <a:off x="1288028" y="4955464"/>
            <a:ext cx="980212" cy="640565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ACB997D0-F2CD-C897-014A-F18FBF975E43}"/>
              </a:ext>
            </a:extLst>
          </p:cNvPr>
          <p:cNvSpPr/>
          <p:nvPr/>
        </p:nvSpPr>
        <p:spPr>
          <a:xfrm>
            <a:off x="1288027" y="4115013"/>
            <a:ext cx="980212" cy="640565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24809F5-12D0-28B2-FCC9-C425F05A38C3}"/>
              </a:ext>
            </a:extLst>
          </p:cNvPr>
          <p:cNvSpPr txBox="1"/>
          <p:nvPr/>
        </p:nvSpPr>
        <p:spPr>
          <a:xfrm>
            <a:off x="97092" y="5002846"/>
            <a:ext cx="1234526" cy="54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 err="1"/>
              <a:t>Day</a:t>
            </a:r>
            <a:r>
              <a:rPr lang="pt-PT" sz="2800" dirty="0"/>
              <a:t> 3</a:t>
            </a:r>
            <a:endParaRPr lang="en-US" sz="28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AAA7B9C-D3DD-5617-D681-CB1EF8AC97E9}"/>
              </a:ext>
            </a:extLst>
          </p:cNvPr>
          <p:cNvSpPr txBox="1"/>
          <p:nvPr/>
        </p:nvSpPr>
        <p:spPr>
          <a:xfrm>
            <a:off x="97092" y="4163386"/>
            <a:ext cx="1234526" cy="54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 err="1"/>
              <a:t>Day</a:t>
            </a:r>
            <a:r>
              <a:rPr lang="pt-PT" sz="2800" dirty="0"/>
              <a:t> 3</a:t>
            </a:r>
            <a:endParaRPr lang="en-US" sz="2800" dirty="0"/>
          </a:p>
        </p:txBody>
      </p:sp>
      <p:sp>
        <p:nvSpPr>
          <p:cNvPr id="2" name="Seta: Para a Direita 1">
            <a:extLst>
              <a:ext uri="{FF2B5EF4-FFF2-40B4-BE49-F238E27FC236}">
                <a16:creationId xmlns:a16="http://schemas.microsoft.com/office/drawing/2014/main" id="{91410970-86CE-9E58-4453-268CEE56D162}"/>
              </a:ext>
            </a:extLst>
          </p:cNvPr>
          <p:cNvSpPr/>
          <p:nvPr/>
        </p:nvSpPr>
        <p:spPr>
          <a:xfrm>
            <a:off x="1288027" y="5894682"/>
            <a:ext cx="980212" cy="640565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7AF04AD-1783-3DDA-4958-77DE5641F8A0}"/>
              </a:ext>
            </a:extLst>
          </p:cNvPr>
          <p:cNvSpPr txBox="1"/>
          <p:nvPr/>
        </p:nvSpPr>
        <p:spPr>
          <a:xfrm>
            <a:off x="97091" y="5942064"/>
            <a:ext cx="1234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 err="1"/>
              <a:t>Day</a:t>
            </a:r>
            <a:r>
              <a:rPr lang="pt-PT" sz="2800" dirty="0"/>
              <a:t> 3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3041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35AB-24AE-E395-F555-1D10444A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B1B6E08-FB1A-3936-0E1E-0945D508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4E26A3F-29A6-2B6E-1E9A-C3D5D5E44EED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Day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3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overview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2B54D68-9037-C15A-92F8-A0D14F34FDCA}"/>
              </a:ext>
            </a:extLst>
          </p:cNvPr>
          <p:cNvSpPr txBox="1"/>
          <p:nvPr/>
        </p:nvSpPr>
        <p:spPr>
          <a:xfrm>
            <a:off x="-4" y="716957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 err="1"/>
              <a:t>Part</a:t>
            </a:r>
            <a:r>
              <a:rPr lang="pt-PT" sz="2000" b="1" dirty="0"/>
              <a:t> 1: </a:t>
            </a:r>
            <a:r>
              <a:rPr lang="pt-PT" sz="2000" b="1" dirty="0" err="1"/>
              <a:t>Introduction</a:t>
            </a:r>
            <a:r>
              <a:rPr lang="pt-PT" sz="2000" b="1" dirty="0"/>
              <a:t> to PAT</a:t>
            </a:r>
          </a:p>
          <a:p>
            <a:endParaRPr lang="pt-PT" sz="2000" b="1" dirty="0"/>
          </a:p>
          <a:p>
            <a:r>
              <a:rPr lang="pt-PT" sz="2000" b="1" dirty="0" err="1"/>
              <a:t>Part</a:t>
            </a:r>
            <a:r>
              <a:rPr lang="pt-PT" sz="2000" b="1" dirty="0"/>
              <a:t> 2: Linear </a:t>
            </a:r>
            <a:r>
              <a:rPr lang="pt-PT" sz="2000" b="1" dirty="0" err="1"/>
              <a:t>regression</a:t>
            </a:r>
            <a:r>
              <a:rPr lang="pt-PT" sz="2000" b="1" dirty="0"/>
              <a:t> </a:t>
            </a:r>
            <a:r>
              <a:rPr lang="pt-PT" sz="2000" b="1" dirty="0" err="1"/>
              <a:t>and</a:t>
            </a:r>
            <a:r>
              <a:rPr lang="pt-PT" sz="2000" b="1" dirty="0"/>
              <a:t> </a:t>
            </a:r>
            <a:r>
              <a:rPr lang="pt-PT" sz="2000" b="1" dirty="0" err="1"/>
              <a:t>introduction</a:t>
            </a:r>
            <a:r>
              <a:rPr lang="pt-PT" sz="2000" b="1" dirty="0"/>
              <a:t> to </a:t>
            </a:r>
            <a:r>
              <a:rPr lang="pt-PT" sz="2000" b="1" dirty="0" err="1"/>
              <a:t>scikit-learn</a:t>
            </a:r>
            <a:endParaRPr lang="pt-PT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Linear </a:t>
            </a:r>
            <a:r>
              <a:rPr lang="pt-PT" sz="2000" dirty="0" err="1"/>
              <a:t>regression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fit</a:t>
            </a:r>
            <a:r>
              <a:rPr lang="pt-PT" sz="2000" dirty="0"/>
              <a:t> </a:t>
            </a:r>
            <a:r>
              <a:rPr lang="pt-PT" sz="2000" dirty="0" err="1"/>
              <a:t>assessment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Introduction</a:t>
            </a:r>
            <a:r>
              <a:rPr lang="pt-PT" sz="2000" dirty="0"/>
              <a:t> to </a:t>
            </a:r>
            <a:r>
              <a:rPr lang="pt-PT" sz="2000" dirty="0" err="1"/>
              <a:t>scikit-learn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Linear </a:t>
            </a:r>
            <a:r>
              <a:rPr lang="pt-PT" sz="2000" dirty="0" err="1"/>
              <a:t>regression</a:t>
            </a:r>
            <a:r>
              <a:rPr lang="pt-PT" sz="2000" dirty="0"/>
              <a:t> </a:t>
            </a:r>
            <a:r>
              <a:rPr lang="pt-PT" sz="2000" dirty="0" err="1"/>
              <a:t>assumptions</a:t>
            </a:r>
            <a:endParaRPr lang="pt-PT" sz="2000" dirty="0"/>
          </a:p>
          <a:p>
            <a:pPr lvl="1"/>
            <a:endParaRPr lang="pt-PT" sz="2000" dirty="0"/>
          </a:p>
          <a:p>
            <a:r>
              <a:rPr lang="pt-PT" sz="2000" b="1" dirty="0" err="1"/>
              <a:t>Part</a:t>
            </a:r>
            <a:r>
              <a:rPr lang="pt-PT" sz="2000" b="1" dirty="0"/>
              <a:t> 3: </a:t>
            </a:r>
            <a:r>
              <a:rPr lang="en-US" sz="2000" b="1" dirty="0"/>
              <a:t>Spectroscopic data modeling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Penalized</a:t>
            </a:r>
            <a:r>
              <a:rPr lang="pt-PT" sz="2000" dirty="0"/>
              <a:t> linear </a:t>
            </a:r>
            <a:r>
              <a:rPr lang="pt-PT" sz="2000" dirty="0" err="1"/>
              <a:t>regression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latent</a:t>
            </a:r>
            <a:r>
              <a:rPr lang="pt-PT" sz="2000" dirty="0"/>
              <a:t> </a:t>
            </a:r>
            <a:r>
              <a:rPr lang="pt-PT" sz="2000" dirty="0" err="1"/>
              <a:t>variable</a:t>
            </a:r>
            <a:r>
              <a:rPr lang="pt-PT" sz="2000" dirty="0"/>
              <a:t> </a:t>
            </a:r>
            <a:r>
              <a:rPr lang="pt-PT" sz="2000" dirty="0" err="1"/>
              <a:t>methods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Feature</a:t>
            </a:r>
            <a:r>
              <a:rPr lang="pt-PT" sz="2000" dirty="0"/>
              <a:t> </a:t>
            </a:r>
            <a:r>
              <a:rPr lang="pt-PT" sz="2000" dirty="0" err="1"/>
              <a:t>importance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interpretation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Spectral</a:t>
            </a:r>
            <a:r>
              <a:rPr lang="pt-PT" sz="2000" dirty="0"/>
              <a:t> data </a:t>
            </a:r>
            <a:r>
              <a:rPr lang="pt-PT" sz="2000" dirty="0" err="1"/>
              <a:t>pre-processing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r>
              <a:rPr lang="pt-PT" sz="2000" b="1" dirty="0" err="1"/>
              <a:t>Part</a:t>
            </a:r>
            <a:r>
              <a:rPr lang="pt-PT" sz="2000" b="1" dirty="0"/>
              <a:t> 4: </a:t>
            </a:r>
            <a:r>
              <a:rPr lang="pt-PT" sz="2000" b="1" dirty="0" err="1"/>
              <a:t>Model</a:t>
            </a:r>
            <a:r>
              <a:rPr lang="pt-PT" sz="2000" b="1" dirty="0"/>
              <a:t> </a:t>
            </a:r>
            <a:r>
              <a:rPr lang="pt-PT" sz="2000" b="1" dirty="0" err="1"/>
              <a:t>tuning</a:t>
            </a:r>
            <a:r>
              <a:rPr lang="pt-PT" sz="2000" b="1" dirty="0"/>
              <a:t>, </a:t>
            </a:r>
            <a:r>
              <a:rPr lang="pt-PT" sz="2000" b="1" dirty="0" err="1"/>
              <a:t>assessment</a:t>
            </a:r>
            <a:r>
              <a:rPr lang="pt-PT" sz="2000" b="1" dirty="0"/>
              <a:t> </a:t>
            </a:r>
            <a:r>
              <a:rPr lang="pt-PT" sz="2000" b="1" dirty="0" err="1"/>
              <a:t>and</a:t>
            </a:r>
            <a:r>
              <a:rPr lang="pt-PT" sz="2000" b="1" dirty="0"/>
              <a:t> </a:t>
            </a:r>
            <a:r>
              <a:rPr lang="pt-PT" sz="2000" b="1" dirty="0" err="1"/>
              <a:t>validation</a:t>
            </a:r>
            <a:r>
              <a:rPr lang="pt-PT" sz="2000" b="1" dirty="0"/>
              <a:t> </a:t>
            </a:r>
            <a:r>
              <a:rPr lang="pt-PT" sz="2000" b="1" dirty="0" err="1"/>
              <a:t>with</a:t>
            </a:r>
            <a:r>
              <a:rPr lang="pt-PT" sz="2000" b="1" dirty="0"/>
              <a:t> </a:t>
            </a:r>
            <a:r>
              <a:rPr lang="pt-PT" sz="2000" b="1" dirty="0" err="1"/>
              <a:t>scikit-learn</a:t>
            </a:r>
            <a:endParaRPr lang="pt-PT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Training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testing</a:t>
            </a:r>
            <a:r>
              <a:rPr lang="pt-PT" sz="2000" dirty="0"/>
              <a:t> </a:t>
            </a:r>
            <a:r>
              <a:rPr lang="pt-PT" sz="2000" dirty="0" err="1"/>
              <a:t>datasets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Pre-processing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modeling</a:t>
            </a:r>
            <a:r>
              <a:rPr lang="pt-PT" sz="2000" dirty="0"/>
              <a:t> pipelines in </a:t>
            </a:r>
            <a:r>
              <a:rPr lang="pt-PT" sz="2000" dirty="0" err="1"/>
              <a:t>scikit-learn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Cross-</a:t>
            </a:r>
            <a:r>
              <a:rPr lang="pt-PT" sz="2000" dirty="0" err="1"/>
              <a:t>validation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hyper-parameter</a:t>
            </a:r>
            <a:r>
              <a:rPr lang="pt-PT" sz="2000" dirty="0"/>
              <a:t> </a:t>
            </a:r>
            <a:r>
              <a:rPr lang="pt-PT" sz="2000" dirty="0" err="1"/>
              <a:t>optimization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1478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B3BEE-119E-19A2-BC0F-6810E81D5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22FF-A273-F223-78E1-EF835677F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074" y="2552217"/>
            <a:ext cx="9385851" cy="1753566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1: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Introduction to PAT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2FDF187A-9CBB-E4B6-0368-4123B944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521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0" y="440349"/>
            <a:ext cx="12191996" cy="3229669"/>
          </a:xfrm>
        </p:spPr>
        <p:txBody>
          <a:bodyPr>
            <a:noAutofit/>
          </a:bodyPr>
          <a:lstStyle/>
          <a:p>
            <a:r>
              <a:rPr lang="en-US" sz="2000" dirty="0"/>
              <a:t>Soft sensors: </a:t>
            </a:r>
          </a:p>
          <a:p>
            <a:pPr marL="0" indent="0">
              <a:buNone/>
            </a:pPr>
            <a:r>
              <a:rPr lang="en-US" sz="2000" dirty="0"/>
              <a:t>	models used to predict variables based on auxiliary data from cheaper/faster sensors/instruments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On- or at-line Quality Prediction </a:t>
            </a:r>
            <a:r>
              <a:rPr lang="en-US" sz="2000" b="1" dirty="0"/>
              <a:t>(for operation, monitoring and control)</a:t>
            </a:r>
          </a:p>
          <a:p>
            <a:pPr lvl="1"/>
            <a:r>
              <a:rPr lang="en-US" sz="1800" dirty="0"/>
              <a:t>Oil and Gas</a:t>
            </a:r>
          </a:p>
          <a:p>
            <a:pPr lvl="1"/>
            <a:r>
              <a:rPr lang="en-US" sz="1800" dirty="0"/>
              <a:t>Food industry</a:t>
            </a:r>
          </a:p>
          <a:p>
            <a:pPr lvl="1"/>
            <a:r>
              <a:rPr lang="en-US" sz="1800" dirty="0"/>
              <a:t>Chemicals</a:t>
            </a:r>
          </a:p>
          <a:p>
            <a:pPr lvl="1"/>
            <a:r>
              <a:rPr lang="en-US" sz="1800" dirty="0"/>
              <a:t>Pharmaceutical 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4682A58-2F0E-4665-974B-F4D07060F04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Imagem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8691" y="5244556"/>
            <a:ext cx="1823269" cy="1458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094"/>
          <a:stretch>
            <a:fillRect/>
          </a:stretch>
        </p:blipFill>
        <p:spPr bwMode="auto">
          <a:xfrm>
            <a:off x="2288957" y="5330996"/>
            <a:ext cx="3113968" cy="139047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8407476" y="4238081"/>
            <a:ext cx="5826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pt-PT" altLang="pt-PT" sz="600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935363" y="4273006"/>
            <a:ext cx="1981200" cy="1057275"/>
          </a:xfrm>
          <a:prstGeom prst="rect">
            <a:avLst/>
          </a:prstGeom>
          <a:solidFill>
            <a:srgbClr val="66FF33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pt-PT" altLang="pt-PT" dirty="0" err="1">
                <a:latin typeface="Arial" charset="0"/>
              </a:rPr>
              <a:t>Easy</a:t>
            </a:r>
            <a:endParaRPr lang="pt-PT" altLang="pt-PT" dirty="0">
              <a:latin typeface="Arial" charset="0"/>
            </a:endParaRPr>
          </a:p>
          <a:p>
            <a:pPr algn="ctr" eaLnBrk="1" hangingPunct="1"/>
            <a:r>
              <a:rPr lang="pt-PT" altLang="pt-PT" dirty="0" err="1">
                <a:latin typeface="Arial" charset="0"/>
              </a:rPr>
              <a:t>Fast</a:t>
            </a:r>
            <a:endParaRPr lang="pt-PT" altLang="pt-PT" dirty="0">
              <a:latin typeface="Arial" charset="0"/>
            </a:endParaRPr>
          </a:p>
          <a:p>
            <a:pPr algn="ctr" eaLnBrk="1" hangingPunct="1"/>
            <a:r>
              <a:rPr lang="pt-PT" altLang="pt-PT" dirty="0" err="1">
                <a:latin typeface="Arial" charset="0"/>
              </a:rPr>
              <a:t>Inexpensive</a:t>
            </a:r>
            <a:endParaRPr lang="pt-PT" altLang="pt-PT" dirty="0">
              <a:latin typeface="Arial" charset="0"/>
            </a:endParaRPr>
          </a:p>
          <a:p>
            <a:pPr algn="ctr" eaLnBrk="1" hangingPunct="1"/>
            <a:r>
              <a:rPr lang="pt-PT" altLang="pt-PT" dirty="0" err="1">
                <a:latin typeface="Arial" charset="0"/>
              </a:rPr>
              <a:t>Robust</a:t>
            </a:r>
            <a:endParaRPr lang="pt-PT" altLang="pt-PT" dirty="0">
              <a:latin typeface="Arial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759776" y="4260306"/>
            <a:ext cx="1981200" cy="10572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pt-PT" altLang="pt-PT" dirty="0" err="1">
                <a:latin typeface="Arial" charset="0"/>
              </a:rPr>
              <a:t>Complex</a:t>
            </a:r>
            <a:endParaRPr lang="pt-PT" altLang="pt-PT" dirty="0">
              <a:latin typeface="Arial" charset="0"/>
            </a:endParaRPr>
          </a:p>
          <a:p>
            <a:pPr algn="ctr" eaLnBrk="1" hangingPunct="1"/>
            <a:r>
              <a:rPr lang="pt-PT" altLang="pt-PT" dirty="0">
                <a:latin typeface="Arial" charset="0"/>
              </a:rPr>
              <a:t>Time </a:t>
            </a:r>
            <a:r>
              <a:rPr lang="pt-PT" altLang="pt-PT" dirty="0" err="1">
                <a:latin typeface="Arial" charset="0"/>
              </a:rPr>
              <a:t>Consuming</a:t>
            </a:r>
            <a:endParaRPr lang="pt-PT" altLang="pt-PT" dirty="0">
              <a:latin typeface="Arial" charset="0"/>
            </a:endParaRPr>
          </a:p>
          <a:p>
            <a:pPr algn="ctr" eaLnBrk="1" hangingPunct="1"/>
            <a:r>
              <a:rPr lang="pt-PT" altLang="pt-PT" dirty="0" err="1">
                <a:latin typeface="Arial" charset="0"/>
              </a:rPr>
              <a:t>Expensive</a:t>
            </a:r>
            <a:endParaRPr lang="pt-PT" altLang="pt-PT" dirty="0">
              <a:latin typeface="Arial" charset="0"/>
            </a:endParaRPr>
          </a:p>
          <a:p>
            <a:pPr algn="ctr" eaLnBrk="1" hangingPunct="1"/>
            <a:r>
              <a:rPr lang="pt-PT" altLang="pt-PT" dirty="0" err="1">
                <a:latin typeface="Arial" charset="0"/>
              </a:rPr>
              <a:t>Uncertainty</a:t>
            </a:r>
            <a:endParaRPr lang="pt-PT" altLang="pt-PT" dirty="0">
              <a:latin typeface="Arial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599189" y="4417468"/>
            <a:ext cx="1476375" cy="7207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pt-PT" altLang="pt-PT" sz="2400" dirty="0">
                <a:solidFill>
                  <a:schemeClr val="bg1"/>
                </a:solidFill>
                <a:latin typeface="Arial" charset="0"/>
              </a:rPr>
              <a:t>MODEL</a:t>
            </a: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4914976" y="4777830"/>
            <a:ext cx="6842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7075564" y="4777830"/>
            <a:ext cx="684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3" name="CaixaDeTexto 12"/>
          <p:cNvSpPr txBox="1"/>
          <p:nvPr/>
        </p:nvSpPr>
        <p:spPr>
          <a:xfrm>
            <a:off x="1621448" y="3670734"/>
            <a:ext cx="4495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cap="all" dirty="0">
                <a:solidFill>
                  <a:srgbClr val="00B050"/>
                </a:solidFill>
              </a:rPr>
              <a:t>process analytical technology (PAT)</a:t>
            </a:r>
          </a:p>
          <a:p>
            <a:pPr algn="ctr"/>
            <a:r>
              <a:rPr lang="en-US" cap="all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SOFT SENSORS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7978658" y="3890974"/>
            <a:ext cx="1543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LABORATORY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8253986" y="5429001"/>
            <a:ext cx="12037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RON</a:t>
            </a:r>
          </a:p>
          <a:p>
            <a:r>
              <a:rPr lang="en-US" dirty="0"/>
              <a:t>FFA</a:t>
            </a:r>
          </a:p>
          <a:p>
            <a:r>
              <a:rPr lang="en-US" dirty="0"/>
              <a:t>Aromatics</a:t>
            </a:r>
          </a:p>
          <a:p>
            <a:r>
              <a:rPr lang="en-US" dirty="0"/>
              <a:t>…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DFCD9A52-89C0-AE41-EA83-6775C18A3D1C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Soft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sensors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Process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Analytical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Technology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693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8" grpId="1" animBg="1"/>
      <p:bldP spid="9" grpId="0" animBg="1"/>
      <p:bldP spid="9" grpId="1" animBg="1"/>
      <p:bldP spid="9" grpId="2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35" y="2720976"/>
            <a:ext cx="9231313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8844098" y="2759076"/>
            <a:ext cx="170752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pt-PT" altLang="pt-PT" u="sng" dirty="0">
                <a:latin typeface="Arial" charset="0"/>
              </a:rPr>
              <a:t>Sugar </a:t>
            </a:r>
            <a:r>
              <a:rPr lang="pt-PT" altLang="pt-PT" u="sng" dirty="0" err="1">
                <a:latin typeface="Arial" charset="0"/>
              </a:rPr>
              <a:t>content</a:t>
            </a:r>
            <a:r>
              <a:rPr lang="pt-PT" altLang="pt-PT" u="sng" dirty="0">
                <a:latin typeface="Arial" charset="0"/>
              </a:rPr>
              <a:t>(w%)</a:t>
            </a:r>
          </a:p>
          <a:p>
            <a:pPr algn="ctr" eaLnBrk="1" hangingPunct="1"/>
            <a:endParaRPr lang="pt-PT" altLang="pt-PT" u="sng" dirty="0">
              <a:latin typeface="Arial" charset="0"/>
            </a:endParaRPr>
          </a:p>
          <a:p>
            <a:pPr algn="ctr" eaLnBrk="1" hangingPunct="1"/>
            <a:endParaRPr lang="pt-PT" altLang="pt-PT" u="sng" dirty="0">
              <a:latin typeface="Arial" charset="0"/>
            </a:endParaRPr>
          </a:p>
          <a:p>
            <a:pPr algn="ctr" eaLnBrk="1" hangingPunct="1"/>
            <a:endParaRPr lang="pt-PT" altLang="pt-PT" u="sng" dirty="0">
              <a:latin typeface="Arial" charset="0"/>
            </a:endParaRPr>
          </a:p>
          <a:p>
            <a:pPr algn="ctr" eaLnBrk="1" hangingPunct="1"/>
            <a:endParaRPr lang="pt-PT" altLang="pt-PT" dirty="0">
              <a:latin typeface="Arial" charset="0"/>
            </a:endParaRPr>
          </a:p>
          <a:p>
            <a:pPr algn="ctr" eaLnBrk="1" hangingPunct="1"/>
            <a:r>
              <a:rPr lang="pt-PT" altLang="pt-PT" dirty="0">
                <a:latin typeface="Arial" charset="0"/>
              </a:rPr>
              <a:t>20.8</a:t>
            </a:r>
          </a:p>
          <a:p>
            <a:pPr algn="ctr" eaLnBrk="1" hangingPunct="1"/>
            <a:endParaRPr lang="pt-PT" altLang="pt-PT" dirty="0">
              <a:latin typeface="Arial" charset="0"/>
            </a:endParaRPr>
          </a:p>
          <a:p>
            <a:pPr algn="ctr" eaLnBrk="1" hangingPunct="1"/>
            <a:endParaRPr lang="pt-PT" altLang="pt-PT" dirty="0">
              <a:latin typeface="Arial" charset="0"/>
            </a:endParaRPr>
          </a:p>
          <a:p>
            <a:pPr algn="ctr" eaLnBrk="1" hangingPunct="1"/>
            <a:r>
              <a:rPr lang="pt-PT" altLang="pt-PT" dirty="0">
                <a:latin typeface="Arial" charset="0"/>
              </a:rPr>
              <a:t>14.2</a:t>
            </a:r>
          </a:p>
          <a:p>
            <a:pPr algn="ctr" eaLnBrk="1" hangingPunct="1"/>
            <a:r>
              <a:rPr lang="pt-PT" altLang="pt-PT" dirty="0">
                <a:latin typeface="Arial" charset="0"/>
              </a:rPr>
              <a:t>9.4</a:t>
            </a:r>
          </a:p>
          <a:p>
            <a:pPr algn="ctr" eaLnBrk="1" hangingPunct="1"/>
            <a:r>
              <a:rPr lang="pt-PT" altLang="pt-PT" dirty="0">
                <a:latin typeface="Arial" charset="0"/>
              </a:rPr>
              <a:t>7.5</a:t>
            </a:r>
          </a:p>
          <a:p>
            <a:pPr algn="ctr" eaLnBrk="1" hangingPunct="1"/>
            <a:r>
              <a:rPr lang="pt-PT" altLang="pt-PT" dirty="0">
                <a:latin typeface="Arial" charset="0"/>
              </a:rPr>
              <a:t>5.3</a:t>
            </a:r>
          </a:p>
          <a:p>
            <a:pPr algn="ctr" eaLnBrk="1" hangingPunct="1"/>
            <a:r>
              <a:rPr lang="pt-PT" altLang="pt-PT" dirty="0">
                <a:latin typeface="Arial" charset="0"/>
              </a:rPr>
              <a:t>4.1</a:t>
            </a:r>
          </a:p>
          <a:p>
            <a:pPr algn="ctr" eaLnBrk="1" hangingPunct="1"/>
            <a:endParaRPr lang="pt-PT" altLang="pt-PT" dirty="0">
              <a:latin typeface="Arial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800266" y="2360612"/>
            <a:ext cx="26132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pt-PT" altLang="pt-PT" sz="2000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NIR </a:t>
            </a:r>
            <a:r>
              <a:rPr lang="pt-PT" altLang="pt-PT" sz="2000" dirty="0" err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spectra</a:t>
            </a:r>
            <a:r>
              <a:rPr lang="pt-PT" altLang="pt-PT" sz="2000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altLang="pt-PT" sz="1200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(780-2500 </a:t>
            </a:r>
            <a:r>
              <a:rPr lang="pt-PT" altLang="pt-PT" sz="1200" dirty="0" err="1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nm</a:t>
            </a:r>
            <a:r>
              <a:rPr lang="pt-PT" altLang="pt-PT" sz="1200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370123" y="1979168"/>
            <a:ext cx="307181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r" eaLnBrk="1" hangingPunct="1"/>
            <a:r>
              <a:rPr lang="pt-PT" altLang="pt-PT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Laboratory</a:t>
            </a:r>
            <a:r>
              <a:rPr lang="pt-PT" altLang="pt-PT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altLang="pt-PT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pt-PT" altLang="pt-PT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eaLnBrk="1" hangingPunct="1"/>
            <a:r>
              <a:rPr lang="pt-PT" altLang="pt-PT" sz="20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Wet-chemistry</a:t>
            </a:r>
            <a:endParaRPr lang="pt-PT" altLang="pt-PT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9000486" y="4054475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9002073" y="4630737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9002073" y="4883150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9002073" y="5099050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9002073" y="5243512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9002073" y="5422900"/>
            <a:ext cx="3968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 flipV="1">
            <a:off x="6373172" y="3332162"/>
            <a:ext cx="0" cy="2700338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6223947" y="6032500"/>
            <a:ext cx="3762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el-GR" altLang="pt-PT" b="1">
                <a:cs typeface="Arial" charset="0"/>
              </a:rPr>
              <a:t>λ</a:t>
            </a:r>
            <a:r>
              <a:rPr lang="pt-PT" altLang="pt-PT" b="1">
                <a:cs typeface="Arial" charset="0"/>
              </a:rPr>
              <a:t>*</a:t>
            </a:r>
            <a:endParaRPr lang="el-GR" altLang="pt-PT" b="1">
              <a:cs typeface="Arial" charset="0"/>
            </a:endParaRPr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 flipV="1">
            <a:off x="6301735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 flipV="1">
            <a:off x="6228710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 flipV="1">
            <a:off x="6157272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 flipV="1">
            <a:off x="6446197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 flipV="1">
            <a:off x="6517635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 flipV="1">
            <a:off x="6733535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 flipV="1">
            <a:off x="6660510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 flipV="1">
            <a:off x="6589072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 flipV="1">
            <a:off x="6085835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 flipV="1">
            <a:off x="6012810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 flipV="1">
            <a:off x="5941372" y="3332162"/>
            <a:ext cx="0" cy="270033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PT"/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6771635" y="5130800"/>
            <a:ext cx="361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pt-PT" altLang="pt-PT">
                <a:latin typeface="Arial" charset="0"/>
              </a:rPr>
              <a:t>…</a:t>
            </a:r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5579422" y="5132387"/>
            <a:ext cx="361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/>
            <a:r>
              <a:rPr lang="pt-PT" altLang="pt-PT">
                <a:latin typeface="Arial" charset="0"/>
              </a:rPr>
              <a:t>…</a:t>
            </a:r>
          </a:p>
        </p:txBody>
      </p:sp>
      <p:pic>
        <p:nvPicPr>
          <p:cNvPr id="33" name="Picture 43" descr="Digitaliz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560" y="3081338"/>
            <a:ext cx="1116012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4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136" y="5673725"/>
            <a:ext cx="1392237" cy="104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Rectângulo 37"/>
          <p:cNvSpPr/>
          <p:nvPr/>
        </p:nvSpPr>
        <p:spPr>
          <a:xfrm>
            <a:off x="3924502" y="2759076"/>
            <a:ext cx="3028108" cy="1800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CaixaDeTexto 38"/>
          <p:cNvSpPr txBox="1"/>
          <p:nvPr/>
        </p:nvSpPr>
        <p:spPr>
          <a:xfrm>
            <a:off x="4642488" y="6251451"/>
            <a:ext cx="14881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PT" sz="1400" dirty="0" err="1"/>
              <a:t>Wavelength</a:t>
            </a:r>
            <a:r>
              <a:rPr lang="pt-PT" sz="1400" dirty="0"/>
              <a:t> (</a:t>
            </a:r>
            <a:r>
              <a:rPr lang="pt-PT" sz="1400" dirty="0" err="1"/>
              <a:t>nm</a:t>
            </a:r>
            <a:r>
              <a:rPr lang="pt-PT" sz="1400" dirty="0"/>
              <a:t>)</a:t>
            </a:r>
          </a:p>
        </p:txBody>
      </p:sp>
      <p:sp>
        <p:nvSpPr>
          <p:cNvPr id="2" name="Marcador de Posição do Número do Diapositivo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95A9F-4B8F-D545-88D7-B6AA9B8B8A34}" type="slidenum">
              <a:rPr kumimoji="1" lang="ko-KR" altLang="en-US" smtClean="0"/>
              <a:t>6</a:t>
            </a:fld>
            <a:endParaRPr kumimoji="1" lang="ko-KR" altLang="en-US"/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8DBE5BF7-BC91-E93D-53D3-347D29624D9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Application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: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Multivariate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Spectra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Calibration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9F791A9-2894-9BF4-3782-3E82A734356E}"/>
              </a:ext>
            </a:extLst>
          </p:cNvPr>
          <p:cNvSpPr txBox="1"/>
          <p:nvPr/>
        </p:nvSpPr>
        <p:spPr>
          <a:xfrm>
            <a:off x="-10165" y="803276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Tipically</a:t>
            </a:r>
            <a:r>
              <a:rPr lang="pt-PT" sz="2000" dirty="0"/>
              <a:t>, </a:t>
            </a:r>
            <a:r>
              <a:rPr lang="pt-PT" sz="2000" dirty="0" err="1"/>
              <a:t>we</a:t>
            </a:r>
            <a:r>
              <a:rPr lang="pt-PT" sz="2000" dirty="0"/>
              <a:t> look </a:t>
            </a:r>
            <a:r>
              <a:rPr lang="pt-PT" sz="2000" dirty="0" err="1"/>
              <a:t>at</a:t>
            </a:r>
            <a:r>
              <a:rPr lang="pt-PT" sz="2000" dirty="0"/>
              <a:t> individual </a:t>
            </a:r>
            <a:r>
              <a:rPr lang="pt-PT" sz="2000" dirty="0" err="1"/>
              <a:t>bands</a:t>
            </a:r>
            <a:r>
              <a:rPr lang="pt-PT" sz="2000" dirty="0"/>
              <a:t>/</a:t>
            </a:r>
            <a:r>
              <a:rPr lang="pt-PT" sz="2000" dirty="0" err="1"/>
              <a:t>frequencies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spectroscopic</a:t>
            </a:r>
            <a:r>
              <a:rPr lang="pt-PT" sz="2000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want</a:t>
            </a:r>
            <a:r>
              <a:rPr lang="pt-PT" sz="2000" dirty="0"/>
              <a:t> to use </a:t>
            </a:r>
            <a:r>
              <a:rPr lang="pt-PT" sz="2000" dirty="0" err="1"/>
              <a:t>all</a:t>
            </a:r>
            <a:r>
              <a:rPr lang="pt-PT" sz="2000" dirty="0"/>
              <a:t> </a:t>
            </a:r>
            <a:r>
              <a:rPr lang="pt-PT" sz="2000" dirty="0" err="1"/>
              <a:t>spectra</a:t>
            </a:r>
            <a:r>
              <a:rPr lang="pt-PT" sz="2000" dirty="0"/>
              <a:t> </a:t>
            </a:r>
            <a:r>
              <a:rPr lang="pt-PT" sz="2000" dirty="0" err="1"/>
              <a:t>bands</a:t>
            </a:r>
            <a:r>
              <a:rPr lang="pt-PT" sz="2000" dirty="0"/>
              <a:t> to </a:t>
            </a:r>
            <a:r>
              <a:rPr lang="pt-PT" sz="2000" dirty="0" err="1"/>
              <a:t>predict</a:t>
            </a:r>
            <a:r>
              <a:rPr lang="pt-PT" sz="2000" dirty="0"/>
              <a:t> a </a:t>
            </a:r>
            <a:r>
              <a:rPr lang="pt-PT" sz="2000" dirty="0" err="1"/>
              <a:t>given</a:t>
            </a:r>
            <a:r>
              <a:rPr lang="pt-PT" sz="2000" dirty="0"/>
              <a:t> </a:t>
            </a:r>
            <a:r>
              <a:rPr lang="pt-PT" sz="2000" dirty="0" err="1"/>
              <a:t>property</a:t>
            </a:r>
            <a:r>
              <a:rPr lang="pt-PT" sz="2000" dirty="0"/>
              <a:t> – </a:t>
            </a:r>
            <a:r>
              <a:rPr lang="pt-PT" sz="2000" dirty="0" err="1"/>
              <a:t>Multivariate</a:t>
            </a:r>
            <a:r>
              <a:rPr lang="pt-PT" sz="2000" dirty="0"/>
              <a:t> </a:t>
            </a:r>
            <a:r>
              <a:rPr lang="pt-PT" sz="2000" dirty="0" err="1"/>
              <a:t>Regression</a:t>
            </a:r>
            <a:r>
              <a:rPr lang="pt-PT" sz="2000" dirty="0"/>
              <a:t>/</a:t>
            </a:r>
            <a:r>
              <a:rPr lang="pt-PT" sz="2000" dirty="0" err="1"/>
              <a:t>Calibration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244107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8" grpId="0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96A24-91A0-6B44-48F1-BBE21127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8F517-90E7-245A-D80E-1EF6D2EE34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783" y="2602074"/>
            <a:ext cx="9508433" cy="1653852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2: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Linear regression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4E20BE70-A113-25FA-DD9A-9AB00E18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05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0FCAB-FE30-BB22-ED66-726DC91C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E4F469F-086E-EDD7-201C-289DB5CC9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05FA2FB-A3DC-571A-D689-F946B0BFD93E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Overview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of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data-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driven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C66EB2-81F2-3833-64F8-9B33349F7F27}"/>
              </a:ext>
            </a:extLst>
          </p:cNvPr>
          <p:cNvSpPr txBox="1"/>
          <p:nvPr/>
        </p:nvSpPr>
        <p:spPr>
          <a:xfrm>
            <a:off x="5" y="913523"/>
            <a:ext cx="12191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Until</a:t>
            </a:r>
            <a:r>
              <a:rPr lang="pt-PT" dirty="0"/>
              <a:t> </a:t>
            </a:r>
            <a:r>
              <a:rPr lang="pt-PT" dirty="0" err="1"/>
              <a:t>now</a:t>
            </a:r>
            <a:r>
              <a:rPr lang="pt-PT" dirty="0"/>
              <a:t>,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have</a:t>
            </a:r>
            <a:r>
              <a:rPr lang="pt-PT" dirty="0"/>
              <a:t> </a:t>
            </a:r>
            <a:r>
              <a:rPr lang="pt-PT" dirty="0" err="1"/>
              <a:t>looked</a:t>
            </a:r>
            <a:r>
              <a:rPr lang="pt-PT" dirty="0"/>
              <a:t> </a:t>
            </a:r>
            <a:r>
              <a:rPr lang="pt-PT" dirty="0" err="1"/>
              <a:t>at</a:t>
            </a:r>
            <a:r>
              <a:rPr lang="pt-PT" dirty="0"/>
              <a:t> </a:t>
            </a:r>
            <a:r>
              <a:rPr lang="pt-PT" dirty="0" err="1"/>
              <a:t>univariate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multivariate</a:t>
            </a:r>
            <a:r>
              <a:rPr lang="pt-PT" dirty="0"/>
              <a:t> </a:t>
            </a:r>
            <a:r>
              <a:rPr lang="pt-PT" b="1" dirty="0" err="1"/>
              <a:t>correlation</a:t>
            </a:r>
            <a:r>
              <a:rPr lang="pt-PT" b="1" dirty="0"/>
              <a:t>: </a:t>
            </a:r>
            <a:r>
              <a:rPr lang="pt-PT" i="1" dirty="0" err="1"/>
              <a:t>how</a:t>
            </a:r>
            <a:r>
              <a:rPr lang="pt-PT" i="1" dirty="0"/>
              <a:t> do </a:t>
            </a:r>
            <a:r>
              <a:rPr lang="pt-PT" i="1" dirty="0" err="1"/>
              <a:t>temperature</a:t>
            </a:r>
            <a:r>
              <a:rPr lang="pt-PT" i="1" dirty="0"/>
              <a:t> </a:t>
            </a:r>
            <a:r>
              <a:rPr lang="pt-PT" i="1" dirty="0" err="1"/>
              <a:t>and</a:t>
            </a:r>
            <a:r>
              <a:rPr lang="pt-PT" i="1" dirty="0"/>
              <a:t> </a:t>
            </a:r>
            <a:r>
              <a:rPr lang="pt-PT" i="1" dirty="0" err="1"/>
              <a:t>pressure</a:t>
            </a:r>
            <a:r>
              <a:rPr lang="pt-PT" i="1" dirty="0"/>
              <a:t> correlate?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Tipically</a:t>
            </a:r>
            <a:r>
              <a:rPr lang="pt-PT" dirty="0"/>
              <a:t>,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mainly</a:t>
            </a:r>
            <a:r>
              <a:rPr lang="pt-PT" dirty="0"/>
              <a:t> </a:t>
            </a:r>
            <a:r>
              <a:rPr lang="pt-PT" dirty="0" err="1"/>
              <a:t>insterested</a:t>
            </a:r>
            <a:r>
              <a:rPr lang="pt-PT" dirty="0"/>
              <a:t> in </a:t>
            </a:r>
            <a:r>
              <a:rPr lang="pt-PT" b="1" dirty="0" err="1"/>
              <a:t>prediction</a:t>
            </a:r>
            <a:r>
              <a:rPr lang="pt-PT" b="1" dirty="0"/>
              <a:t>: </a:t>
            </a:r>
            <a:r>
              <a:rPr lang="pt-PT" i="1" dirty="0"/>
              <a:t>for a </a:t>
            </a:r>
            <a:r>
              <a:rPr lang="pt-PT" i="1" dirty="0" err="1"/>
              <a:t>new</a:t>
            </a:r>
            <a:r>
              <a:rPr lang="pt-PT" i="1" dirty="0"/>
              <a:t> </a:t>
            </a:r>
            <a:r>
              <a:rPr lang="pt-PT" i="1" dirty="0" err="1"/>
              <a:t>temperature</a:t>
            </a:r>
            <a:r>
              <a:rPr lang="pt-PT" i="1" dirty="0"/>
              <a:t> </a:t>
            </a:r>
            <a:r>
              <a:rPr lang="pt-PT" i="1" dirty="0" err="1"/>
              <a:t>value</a:t>
            </a:r>
            <a:r>
              <a:rPr lang="pt-PT" i="1" dirty="0"/>
              <a:t> </a:t>
            </a:r>
            <a:r>
              <a:rPr lang="pt-PT" i="1" dirty="0" err="1"/>
              <a:t>of</a:t>
            </a:r>
            <a:r>
              <a:rPr lang="pt-PT" i="1" dirty="0"/>
              <a:t> X, </a:t>
            </a:r>
            <a:r>
              <a:rPr lang="pt-PT" i="1" dirty="0" err="1"/>
              <a:t>what</a:t>
            </a:r>
            <a:r>
              <a:rPr lang="pt-PT" i="1" dirty="0"/>
              <a:t> </a:t>
            </a:r>
            <a:r>
              <a:rPr lang="pt-PT" i="1" dirty="0" err="1"/>
              <a:t>is</a:t>
            </a:r>
            <a:r>
              <a:rPr lang="pt-PT" i="1" dirty="0"/>
              <a:t> </a:t>
            </a:r>
            <a:r>
              <a:rPr lang="pt-PT" i="1" dirty="0" err="1"/>
              <a:t>the</a:t>
            </a:r>
            <a:r>
              <a:rPr lang="pt-PT" i="1" dirty="0"/>
              <a:t> </a:t>
            </a:r>
            <a:r>
              <a:rPr lang="pt-PT" i="1" dirty="0" err="1"/>
              <a:t>pressure</a:t>
            </a:r>
            <a:r>
              <a:rPr lang="pt-PT" i="1" dirty="0"/>
              <a:t>?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7AF5373-9765-63EB-487F-B6187B2B94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18"/>
          <a:stretch>
            <a:fillRect/>
          </a:stretch>
        </p:blipFill>
        <p:spPr>
          <a:xfrm>
            <a:off x="648114" y="2855841"/>
            <a:ext cx="4288321" cy="322488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A5F021A-42A9-0C53-E50E-4FB1E6A0290F}"/>
              </a:ext>
            </a:extLst>
          </p:cNvPr>
          <p:cNvSpPr txBox="1"/>
          <p:nvPr/>
        </p:nvSpPr>
        <p:spPr>
          <a:xfrm>
            <a:off x="523460" y="2365513"/>
            <a:ext cx="5294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 err="1"/>
              <a:t>What</a:t>
            </a:r>
            <a:r>
              <a:rPr lang="pt-PT" sz="2000" b="1" dirty="0"/>
              <a:t> </a:t>
            </a:r>
            <a:r>
              <a:rPr lang="pt-PT" sz="2000" b="1" dirty="0" err="1"/>
              <a:t>is</a:t>
            </a:r>
            <a:r>
              <a:rPr lang="pt-PT" sz="2000" b="1" dirty="0"/>
              <a:t> </a:t>
            </a:r>
            <a:r>
              <a:rPr lang="pt-PT" sz="2000" b="1" dirty="0" err="1"/>
              <a:t>the</a:t>
            </a:r>
            <a:r>
              <a:rPr lang="pt-PT" sz="2000" b="1" dirty="0"/>
              <a:t> </a:t>
            </a:r>
            <a:r>
              <a:rPr lang="pt-PT" sz="2000" b="1" dirty="0" err="1"/>
              <a:t>correlation</a:t>
            </a:r>
            <a:r>
              <a:rPr lang="pt-PT" sz="2000" b="1" dirty="0"/>
              <a:t> </a:t>
            </a:r>
            <a:r>
              <a:rPr lang="pt-PT" sz="2000" b="1" dirty="0" err="1"/>
              <a:t>between</a:t>
            </a:r>
            <a:r>
              <a:rPr lang="pt-PT" sz="2000" b="1" dirty="0"/>
              <a:t> Y </a:t>
            </a:r>
            <a:r>
              <a:rPr lang="pt-PT" sz="2000" b="1" dirty="0" err="1"/>
              <a:t>and</a:t>
            </a:r>
            <a:r>
              <a:rPr lang="pt-PT" sz="2000" b="1" dirty="0"/>
              <a:t> X?</a:t>
            </a:r>
            <a:endParaRPr lang="en-US" sz="2000" b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80F5BFA-CCD3-ABEC-81C4-23B3BB05E920}"/>
              </a:ext>
            </a:extLst>
          </p:cNvPr>
          <p:cNvSpPr txBox="1"/>
          <p:nvPr/>
        </p:nvSpPr>
        <p:spPr>
          <a:xfrm>
            <a:off x="6818244" y="2365513"/>
            <a:ext cx="3902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 err="1"/>
              <a:t>How</a:t>
            </a:r>
            <a:r>
              <a:rPr lang="pt-PT" sz="2000" b="1" dirty="0"/>
              <a:t> can </a:t>
            </a:r>
            <a:r>
              <a:rPr lang="pt-PT" sz="2000" b="1" dirty="0" err="1"/>
              <a:t>we</a:t>
            </a:r>
            <a:r>
              <a:rPr lang="pt-PT" sz="2000" b="1" dirty="0"/>
              <a:t> use X to </a:t>
            </a:r>
            <a:r>
              <a:rPr lang="pt-PT" sz="2000" b="1" dirty="0" err="1"/>
              <a:t>predict</a:t>
            </a:r>
            <a:r>
              <a:rPr lang="pt-PT" sz="2000" b="1" dirty="0"/>
              <a:t> Y?</a:t>
            </a:r>
            <a:endParaRPr lang="en-US" sz="2000" b="1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1589FBF-C16E-9F83-5DE0-F4B70434C36C}"/>
              </a:ext>
            </a:extLst>
          </p:cNvPr>
          <p:cNvSpPr txBox="1"/>
          <p:nvPr/>
        </p:nvSpPr>
        <p:spPr>
          <a:xfrm>
            <a:off x="7946335" y="3705999"/>
            <a:ext cx="1818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dirty="0" err="1"/>
              <a:t>Prediction</a:t>
            </a:r>
            <a:endParaRPr lang="en-US" sz="280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019310E-A4F5-2837-8F82-2177671181CC}"/>
              </a:ext>
            </a:extLst>
          </p:cNvPr>
          <p:cNvSpPr txBox="1"/>
          <p:nvPr/>
        </p:nvSpPr>
        <p:spPr>
          <a:xfrm>
            <a:off x="6231835" y="3429000"/>
            <a:ext cx="11728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/>
              <a:t>New X</a:t>
            </a:r>
            <a:endParaRPr lang="en-US" sz="3200" dirty="0"/>
          </a:p>
        </p:txBody>
      </p: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F7C1988C-AF7C-433B-3C3C-2D5B09D29EDC}"/>
              </a:ext>
            </a:extLst>
          </p:cNvPr>
          <p:cNvCxnSpPr>
            <a:stCxn id="20" idx="3"/>
            <a:endCxn id="16" idx="1"/>
          </p:cNvCxnSpPr>
          <p:nvPr/>
        </p:nvCxnSpPr>
        <p:spPr>
          <a:xfrm>
            <a:off x="7404653" y="3967609"/>
            <a:ext cx="54168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B8760280-A41A-2287-015E-25B71486390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9765194" y="3967609"/>
            <a:ext cx="54168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D6184B0-5640-3162-1849-2AC9BC664FA6}"/>
              </a:ext>
            </a:extLst>
          </p:cNvPr>
          <p:cNvSpPr txBox="1"/>
          <p:nvPr/>
        </p:nvSpPr>
        <p:spPr>
          <a:xfrm>
            <a:off x="10227365" y="3483768"/>
            <a:ext cx="11728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200" dirty="0"/>
              <a:t>New Y?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59034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9BF4-5620-02D0-7370-E8F282F51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6E2F0DD-15CE-4C33-F679-C75D43DD6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38A366A-DF6F-ACAE-0303-EE364F1D763F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Overview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of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data-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driven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7FC972A-CFA6-6368-766B-AAE121B127E6}"/>
              </a:ext>
            </a:extLst>
          </p:cNvPr>
          <p:cNvSpPr txBox="1"/>
          <p:nvPr/>
        </p:nvSpPr>
        <p:spPr>
          <a:xfrm>
            <a:off x="5" y="644843"/>
            <a:ext cx="12191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In </a:t>
            </a:r>
            <a:r>
              <a:rPr lang="pt-PT" dirty="0" err="1"/>
              <a:t>this</a:t>
            </a:r>
            <a:r>
              <a:rPr lang="pt-PT" dirty="0"/>
              <a:t> workshop,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will</a:t>
            </a:r>
            <a:r>
              <a:rPr lang="pt-PT" dirty="0"/>
              <a:t> use a </a:t>
            </a:r>
            <a:r>
              <a:rPr lang="pt-PT" b="1" dirty="0" err="1"/>
              <a:t>statistical</a:t>
            </a:r>
            <a:r>
              <a:rPr lang="pt-PT" b="1" dirty="0"/>
              <a:t> data-</a:t>
            </a:r>
            <a:r>
              <a:rPr lang="pt-PT" b="1" dirty="0" err="1"/>
              <a:t>driven</a:t>
            </a:r>
            <a:r>
              <a:rPr lang="pt-PT" b="1" dirty="0"/>
              <a:t> </a:t>
            </a:r>
            <a:r>
              <a:rPr lang="pt-PT" b="1" dirty="0" err="1"/>
              <a:t>modeling</a:t>
            </a:r>
            <a:r>
              <a:rPr lang="pt-PT" dirty="0"/>
              <a:t> </a:t>
            </a:r>
            <a:r>
              <a:rPr lang="pt-PT" dirty="0" err="1"/>
              <a:t>approach</a:t>
            </a:r>
            <a:endParaRPr lang="pt-PT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FD96552-0009-1ADC-FAC5-9345A47232CB}"/>
              </a:ext>
            </a:extLst>
          </p:cNvPr>
          <p:cNvGrpSpPr/>
          <p:nvPr/>
        </p:nvGrpSpPr>
        <p:grpSpPr>
          <a:xfrm>
            <a:off x="6680527" y="1496844"/>
            <a:ext cx="5248605" cy="2009007"/>
            <a:chOff x="6536631" y="2680196"/>
            <a:chExt cx="5248605" cy="2009007"/>
          </a:xfrm>
        </p:grpSpPr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C5D65874-9F17-CB54-CAC1-30D65C19B6A8}"/>
                </a:ext>
              </a:extLst>
            </p:cNvPr>
            <p:cNvSpPr txBox="1"/>
            <p:nvPr/>
          </p:nvSpPr>
          <p:spPr>
            <a:xfrm>
              <a:off x="8211377" y="4042873"/>
              <a:ext cx="1696278" cy="64633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 err="1">
                  <a:solidFill>
                    <a:schemeClr val="bg1"/>
                  </a:solidFill>
                </a:rPr>
                <a:t>Mathematical</a:t>
              </a:r>
              <a:r>
                <a:rPr lang="pt-PT" dirty="0">
                  <a:solidFill>
                    <a:schemeClr val="bg1"/>
                  </a:solidFill>
                </a:rPr>
                <a:t> </a:t>
              </a:r>
              <a:r>
                <a:rPr lang="pt-PT" dirty="0" err="1">
                  <a:solidFill>
                    <a:schemeClr val="bg1"/>
                  </a:solidFill>
                </a:rPr>
                <a:t>model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F3787E95-9B55-B111-B1B9-58E8C953707F}"/>
                </a:ext>
              </a:extLst>
            </p:cNvPr>
            <p:cNvSpPr txBox="1"/>
            <p:nvPr/>
          </p:nvSpPr>
          <p:spPr>
            <a:xfrm>
              <a:off x="6536631" y="4139853"/>
              <a:ext cx="824134" cy="38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Inputs</a:t>
              </a:r>
              <a:endParaRPr lang="en-US" dirty="0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69FFD45E-3E66-64E0-A11B-B8E6427D1D04}"/>
                </a:ext>
              </a:extLst>
            </p:cNvPr>
            <p:cNvSpPr txBox="1"/>
            <p:nvPr/>
          </p:nvSpPr>
          <p:spPr>
            <a:xfrm>
              <a:off x="10701872" y="4150759"/>
              <a:ext cx="1083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Outputs</a:t>
              </a:r>
              <a:endParaRPr lang="en-US" dirty="0"/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418C2EFA-7752-7049-CF72-3B1C11FB3679}"/>
                </a:ext>
              </a:extLst>
            </p:cNvPr>
            <p:cNvSpPr txBox="1"/>
            <p:nvPr/>
          </p:nvSpPr>
          <p:spPr>
            <a:xfrm>
              <a:off x="8156352" y="2680196"/>
              <a:ext cx="18056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Prior </a:t>
              </a:r>
              <a:r>
                <a:rPr lang="pt-PT" dirty="0" err="1"/>
                <a:t>beliefs</a:t>
              </a:r>
              <a:r>
                <a:rPr lang="pt-PT" dirty="0"/>
                <a:t> </a:t>
              </a:r>
            </a:p>
            <a:p>
              <a:pPr algn="ctr"/>
              <a:r>
                <a:rPr lang="pt-PT" dirty="0" err="1"/>
                <a:t>and</a:t>
              </a:r>
              <a:r>
                <a:rPr lang="pt-PT" dirty="0"/>
                <a:t> </a:t>
              </a:r>
              <a:r>
                <a:rPr lang="pt-PT" dirty="0" err="1"/>
                <a:t>knowledge</a:t>
              </a:r>
              <a:endParaRPr lang="en-US" dirty="0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83467E7-68A6-2B4D-42E8-FF29C9DCCAC2}"/>
              </a:ext>
            </a:extLst>
          </p:cNvPr>
          <p:cNvGrpSpPr/>
          <p:nvPr/>
        </p:nvGrpSpPr>
        <p:grpSpPr>
          <a:xfrm>
            <a:off x="0" y="1496844"/>
            <a:ext cx="5248605" cy="2009008"/>
            <a:chOff x="6536631" y="2680196"/>
            <a:chExt cx="5248605" cy="2009008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3E70A209-B857-CC75-4DF4-8234363AA9C7}"/>
                </a:ext>
              </a:extLst>
            </p:cNvPr>
            <p:cNvSpPr txBox="1"/>
            <p:nvPr/>
          </p:nvSpPr>
          <p:spPr>
            <a:xfrm>
              <a:off x="8211377" y="4042873"/>
              <a:ext cx="1696278" cy="646331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>
                  <a:solidFill>
                    <a:schemeClr val="bg1"/>
                  </a:solidFill>
                </a:rPr>
                <a:t>Real </a:t>
              </a:r>
              <a:r>
                <a:rPr lang="pt-PT" dirty="0" err="1">
                  <a:solidFill>
                    <a:schemeClr val="bg1"/>
                  </a:solidFill>
                </a:rPr>
                <a:t>world</a:t>
              </a:r>
              <a:r>
                <a:rPr lang="pt-PT" dirty="0">
                  <a:solidFill>
                    <a:schemeClr val="bg1"/>
                  </a:solidFill>
                </a:rPr>
                <a:t> </a:t>
              </a:r>
              <a:r>
                <a:rPr lang="pt-PT" dirty="0" err="1">
                  <a:solidFill>
                    <a:schemeClr val="bg1"/>
                  </a:solidFill>
                </a:rPr>
                <a:t>system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0" name="Seta: Para a Direita 9">
              <a:extLst>
                <a:ext uri="{FF2B5EF4-FFF2-40B4-BE49-F238E27FC236}">
                  <a16:creationId xmlns:a16="http://schemas.microsoft.com/office/drawing/2014/main" id="{567B16F7-9851-9012-3A3E-0099C39F164F}"/>
                </a:ext>
              </a:extLst>
            </p:cNvPr>
            <p:cNvSpPr/>
            <p:nvPr/>
          </p:nvSpPr>
          <p:spPr>
            <a:xfrm>
              <a:off x="7415430" y="4102215"/>
              <a:ext cx="741281" cy="466420"/>
            </a:xfrm>
            <a:prstGeom prst="rightArrow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21BD2B56-3FD0-5169-989A-440FF0F4EEFB}"/>
                </a:ext>
              </a:extLst>
            </p:cNvPr>
            <p:cNvSpPr txBox="1"/>
            <p:nvPr/>
          </p:nvSpPr>
          <p:spPr>
            <a:xfrm>
              <a:off x="6536631" y="4139853"/>
              <a:ext cx="824134" cy="3802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Inputs</a:t>
              </a:r>
              <a:endParaRPr lang="en-US" dirty="0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6E3B34C-917D-E99D-0B45-18F37F23C619}"/>
                </a:ext>
              </a:extLst>
            </p:cNvPr>
            <p:cNvSpPr txBox="1"/>
            <p:nvPr/>
          </p:nvSpPr>
          <p:spPr>
            <a:xfrm>
              <a:off x="10701872" y="4150759"/>
              <a:ext cx="1083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Outputs</a:t>
              </a:r>
              <a:endParaRPr lang="en-US" dirty="0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3B64D4A5-E0C6-A916-F9D5-E8F6571FEAF8}"/>
                </a:ext>
              </a:extLst>
            </p:cNvPr>
            <p:cNvSpPr txBox="1"/>
            <p:nvPr/>
          </p:nvSpPr>
          <p:spPr>
            <a:xfrm>
              <a:off x="8156352" y="2680196"/>
              <a:ext cx="18056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Noise, </a:t>
              </a:r>
              <a:r>
                <a:rPr lang="pt-PT" dirty="0" err="1"/>
                <a:t>external</a:t>
              </a:r>
              <a:r>
                <a:rPr lang="pt-PT" dirty="0"/>
                <a:t> </a:t>
              </a:r>
              <a:r>
                <a:rPr lang="pt-PT" dirty="0" err="1"/>
                <a:t>disturbances</a:t>
              </a:r>
              <a:endParaRPr lang="en-US" dirty="0"/>
            </a:p>
          </p:txBody>
        </p:sp>
      </p:grpSp>
      <p:sp>
        <p:nvSpPr>
          <p:cNvPr id="17" name="Seta: Curvada para Baixo 16">
            <a:extLst>
              <a:ext uri="{FF2B5EF4-FFF2-40B4-BE49-F238E27FC236}">
                <a16:creationId xmlns:a16="http://schemas.microsoft.com/office/drawing/2014/main" id="{E22A866E-EAD4-3EC6-4F2F-F173F3984EFA}"/>
              </a:ext>
            </a:extLst>
          </p:cNvPr>
          <p:cNvSpPr/>
          <p:nvPr/>
        </p:nvSpPr>
        <p:spPr>
          <a:xfrm>
            <a:off x="3907897" y="1753498"/>
            <a:ext cx="4355172" cy="791274"/>
          </a:xfrm>
          <a:prstGeom prst="curvedDownArrow">
            <a:avLst>
              <a:gd name="adj1" fmla="val 25000"/>
              <a:gd name="adj2" fmla="val 113847"/>
              <a:gd name="adj3" fmla="val 25000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64C85387-515C-770C-A2F3-B9C3844D33FE}"/>
              </a:ext>
            </a:extLst>
          </p:cNvPr>
          <p:cNvSpPr/>
          <p:nvPr/>
        </p:nvSpPr>
        <p:spPr>
          <a:xfrm>
            <a:off x="3469763" y="2913410"/>
            <a:ext cx="741281" cy="4664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1BF717AB-B8E6-86A7-4E66-1ECECA76C22D}"/>
              </a:ext>
            </a:extLst>
          </p:cNvPr>
          <p:cNvSpPr/>
          <p:nvPr/>
        </p:nvSpPr>
        <p:spPr>
          <a:xfrm rot="5400000">
            <a:off x="2183549" y="2240644"/>
            <a:ext cx="741281" cy="4664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A5F8EC62-71D4-1556-73F2-610B248B1573}"/>
              </a:ext>
            </a:extLst>
          </p:cNvPr>
          <p:cNvSpPr/>
          <p:nvPr/>
        </p:nvSpPr>
        <p:spPr>
          <a:xfrm rot="5400000">
            <a:off x="8832413" y="2263148"/>
            <a:ext cx="741281" cy="4664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F8BB5B93-5967-4045-4EDA-09B6BC09DBC5}"/>
              </a:ext>
            </a:extLst>
          </p:cNvPr>
          <p:cNvSpPr/>
          <p:nvPr/>
        </p:nvSpPr>
        <p:spPr>
          <a:xfrm>
            <a:off x="7557597" y="2913410"/>
            <a:ext cx="741281" cy="4664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eta: Para a Direita 22">
            <a:extLst>
              <a:ext uri="{FF2B5EF4-FFF2-40B4-BE49-F238E27FC236}">
                <a16:creationId xmlns:a16="http://schemas.microsoft.com/office/drawing/2014/main" id="{8EEDF890-F916-4F58-8CEE-1C9F8717BE27}"/>
              </a:ext>
            </a:extLst>
          </p:cNvPr>
          <p:cNvSpPr/>
          <p:nvPr/>
        </p:nvSpPr>
        <p:spPr>
          <a:xfrm>
            <a:off x="10175199" y="2913410"/>
            <a:ext cx="741281" cy="46642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788A404-1040-3223-94DA-3573A8D6CB36}"/>
              </a:ext>
            </a:extLst>
          </p:cNvPr>
          <p:cNvSpPr txBox="1"/>
          <p:nvPr/>
        </p:nvSpPr>
        <p:spPr>
          <a:xfrm>
            <a:off x="5348683" y="1864164"/>
            <a:ext cx="1258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Modeling</a:t>
            </a:r>
            <a:endParaRPr lang="en-US" dirty="0"/>
          </a:p>
        </p:txBody>
      </p:sp>
      <p:pic>
        <p:nvPicPr>
          <p:cNvPr id="2" name="Picture 2" descr="Kyle Cranmer on X: &quot;Did you know that the celebrated ...">
            <a:extLst>
              <a:ext uri="{FF2B5EF4-FFF2-40B4-BE49-F238E27FC236}">
                <a16:creationId xmlns:a16="http://schemas.microsoft.com/office/drawing/2014/main" id="{9AC5CB91-E746-021A-F768-721115AD1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4489" y="4042410"/>
            <a:ext cx="3101419" cy="237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78E7058-47C4-D152-17CD-304AC73CBE66}"/>
              </a:ext>
            </a:extLst>
          </p:cNvPr>
          <p:cNvSpPr txBox="1"/>
          <p:nvPr/>
        </p:nvSpPr>
        <p:spPr>
          <a:xfrm>
            <a:off x="1" y="4728143"/>
            <a:ext cx="85609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 err="1"/>
              <a:t>Models</a:t>
            </a:r>
            <a:r>
              <a:rPr lang="pt-PT" sz="2000" b="1" dirty="0"/>
              <a:t> are </a:t>
            </a:r>
            <a:r>
              <a:rPr lang="pt-PT" sz="2000" b="1" dirty="0" err="1"/>
              <a:t>always</a:t>
            </a:r>
            <a:r>
              <a:rPr lang="pt-PT" sz="2000" b="1" dirty="0"/>
              <a:t> “</a:t>
            </a:r>
            <a:r>
              <a:rPr lang="pt-PT" sz="2000" b="1" dirty="0" err="1"/>
              <a:t>wrong</a:t>
            </a:r>
            <a:r>
              <a:rPr lang="pt-PT" sz="2000" b="1" dirty="0"/>
              <a:t>” –</a:t>
            </a:r>
            <a:r>
              <a:rPr lang="pt-PT" sz="2000" dirty="0"/>
              <a:t>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can’t</a:t>
            </a:r>
            <a:r>
              <a:rPr lang="pt-PT" sz="2000" dirty="0"/>
              <a:t> </a:t>
            </a:r>
            <a:r>
              <a:rPr lang="pt-PT" sz="2000" dirty="0" err="1"/>
              <a:t>perfectly</a:t>
            </a:r>
            <a:r>
              <a:rPr lang="pt-PT" sz="2000" dirty="0"/>
              <a:t> </a:t>
            </a:r>
            <a:r>
              <a:rPr lang="pt-PT" sz="2000" dirty="0" err="1"/>
              <a:t>predict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real </a:t>
            </a:r>
            <a:r>
              <a:rPr lang="pt-PT" sz="2000" dirty="0" err="1"/>
              <a:t>world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However</a:t>
            </a:r>
            <a:r>
              <a:rPr lang="pt-PT" sz="2000" dirty="0"/>
              <a:t>, </a:t>
            </a:r>
            <a:r>
              <a:rPr lang="pt-PT" sz="2000" dirty="0" err="1"/>
              <a:t>this</a:t>
            </a:r>
            <a:r>
              <a:rPr lang="pt-PT" sz="2000" dirty="0"/>
              <a:t> does </a:t>
            </a:r>
            <a:r>
              <a:rPr lang="pt-PT" sz="2000" dirty="0" err="1"/>
              <a:t>not</a:t>
            </a:r>
            <a:r>
              <a:rPr lang="pt-PT" sz="2000" dirty="0"/>
              <a:t> stop </a:t>
            </a:r>
            <a:r>
              <a:rPr lang="pt-PT" sz="2000" dirty="0" err="1"/>
              <a:t>us</a:t>
            </a:r>
            <a:r>
              <a:rPr lang="pt-PT" sz="2000" dirty="0"/>
              <a:t> to </a:t>
            </a:r>
            <a:r>
              <a:rPr lang="pt-PT" sz="2000" dirty="0" err="1"/>
              <a:t>build</a:t>
            </a:r>
            <a:r>
              <a:rPr lang="pt-PT" sz="2000" dirty="0"/>
              <a:t> </a:t>
            </a:r>
            <a:r>
              <a:rPr lang="pt-PT" sz="2000" dirty="0" err="1"/>
              <a:t>models</a:t>
            </a:r>
            <a:r>
              <a:rPr lang="pt-PT" sz="2000" dirty="0"/>
              <a:t> to </a:t>
            </a:r>
            <a:r>
              <a:rPr lang="pt-PT" sz="2000" dirty="0" err="1"/>
              <a:t>achieve</a:t>
            </a:r>
            <a:r>
              <a:rPr lang="pt-PT" sz="2000" dirty="0"/>
              <a:t> a </a:t>
            </a:r>
            <a:r>
              <a:rPr lang="pt-PT" sz="2000" dirty="0" err="1"/>
              <a:t>specific</a:t>
            </a:r>
            <a:r>
              <a:rPr lang="pt-PT" sz="2000" dirty="0"/>
              <a:t> </a:t>
            </a:r>
            <a:r>
              <a:rPr lang="pt-PT" sz="2000" dirty="0" err="1"/>
              <a:t>goal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2588273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9B54D-6558-05D9-CDF5-BA4166C0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C6CB3E6-699C-8127-C36D-144A7CC96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B519DB8-64B5-B82C-F769-34F51777D93D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-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introduction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D350FC-17AD-F447-35F9-B961D73EDE4F}"/>
              </a:ext>
            </a:extLst>
          </p:cNvPr>
          <p:cNvSpPr txBox="1"/>
          <p:nvPr/>
        </p:nvSpPr>
        <p:spPr>
          <a:xfrm>
            <a:off x="0" y="471336"/>
            <a:ext cx="1197912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Linear </a:t>
            </a:r>
            <a:r>
              <a:rPr lang="pt-PT" dirty="0" err="1"/>
              <a:t>regression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simplest</a:t>
            </a:r>
            <a:r>
              <a:rPr lang="pt-PT" dirty="0"/>
              <a:t> </a:t>
            </a:r>
            <a:r>
              <a:rPr lang="pt-PT" dirty="0" err="1"/>
              <a:t>form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data-</a:t>
            </a:r>
            <a:r>
              <a:rPr lang="pt-PT" dirty="0" err="1"/>
              <a:t>driven</a:t>
            </a:r>
            <a:r>
              <a:rPr lang="pt-PT" dirty="0"/>
              <a:t> </a:t>
            </a:r>
            <a:r>
              <a:rPr lang="pt-PT" dirty="0" err="1"/>
              <a:t>modeling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machine</a:t>
            </a:r>
            <a:r>
              <a:rPr lang="pt-PT" dirty="0"/>
              <a:t> </a:t>
            </a:r>
            <a:r>
              <a:rPr lang="pt-PT" dirty="0" err="1"/>
              <a:t>learning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In </a:t>
            </a:r>
            <a:r>
              <a:rPr lang="pt-PT" dirty="0" err="1"/>
              <a:t>matrix</a:t>
            </a:r>
            <a:r>
              <a:rPr lang="pt-PT" dirty="0"/>
              <a:t> </a:t>
            </a:r>
            <a:r>
              <a:rPr lang="pt-PT" dirty="0" err="1"/>
              <a:t>form</a:t>
            </a:r>
            <a:endParaRPr lang="pt-PT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5121716-B839-9471-B4FC-CA5764C81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326" y="1033476"/>
            <a:ext cx="7118469" cy="312303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F87644B-C947-24E2-2B44-64975B82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131" y="4718652"/>
            <a:ext cx="4069958" cy="181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9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61FC1-02C5-A3D9-8890-09642972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5248060-A5EE-607F-8DC7-6AC83849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821A737-113E-2EED-EAFF-DE395B088C20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-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introduction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D2D48F3-66E4-E135-75D0-279C8D2AFEB5}"/>
              </a:ext>
            </a:extLst>
          </p:cNvPr>
          <p:cNvSpPr txBox="1"/>
          <p:nvPr/>
        </p:nvSpPr>
        <p:spPr>
          <a:xfrm>
            <a:off x="0" y="532181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</a:t>
            </a:r>
            <a:r>
              <a:rPr lang="pt-PT" dirty="0" err="1"/>
              <a:t>parameters</a:t>
            </a:r>
            <a:r>
              <a:rPr lang="pt-PT" dirty="0"/>
              <a:t> are </a:t>
            </a:r>
            <a:r>
              <a:rPr lang="pt-PT" dirty="0" err="1"/>
              <a:t>estimated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b="1" dirty="0" err="1"/>
              <a:t>minimizing</a:t>
            </a:r>
            <a:r>
              <a:rPr lang="pt-PT" b="1" dirty="0"/>
              <a:t> </a:t>
            </a:r>
            <a:r>
              <a:rPr lang="pt-PT" b="1" dirty="0" err="1"/>
              <a:t>the</a:t>
            </a:r>
            <a:r>
              <a:rPr lang="pt-PT" b="1" dirty="0"/>
              <a:t> </a:t>
            </a:r>
            <a:r>
              <a:rPr lang="pt-PT" b="1" dirty="0" err="1"/>
              <a:t>squared</a:t>
            </a:r>
            <a:r>
              <a:rPr lang="pt-PT" b="1" dirty="0"/>
              <a:t> </a:t>
            </a:r>
            <a:r>
              <a:rPr lang="pt-PT" b="1" dirty="0" err="1"/>
              <a:t>prediction</a:t>
            </a:r>
            <a:r>
              <a:rPr lang="pt-PT" b="1" dirty="0"/>
              <a:t> error </a:t>
            </a:r>
            <a:r>
              <a:rPr lang="pt-PT" dirty="0"/>
              <a:t>(</a:t>
            </a:r>
            <a:r>
              <a:rPr lang="pt-PT" dirty="0" err="1"/>
              <a:t>least</a:t>
            </a:r>
            <a:r>
              <a:rPr lang="pt-PT" dirty="0"/>
              <a:t> </a:t>
            </a:r>
            <a:r>
              <a:rPr lang="pt-PT" dirty="0" err="1"/>
              <a:t>squares</a:t>
            </a:r>
            <a:r>
              <a:rPr lang="pt-PT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problem</a:t>
            </a:r>
            <a:r>
              <a:rPr lang="pt-PT" dirty="0"/>
              <a:t> </a:t>
            </a:r>
            <a:r>
              <a:rPr lang="pt-PT" dirty="0" err="1"/>
              <a:t>has</a:t>
            </a:r>
            <a:r>
              <a:rPr lang="pt-PT" dirty="0"/>
              <a:t> </a:t>
            </a:r>
            <a:r>
              <a:rPr lang="pt-PT" dirty="0" err="1"/>
              <a:t>analytical</a:t>
            </a:r>
            <a:r>
              <a:rPr lang="pt-PT" dirty="0"/>
              <a:t> </a:t>
            </a:r>
            <a:r>
              <a:rPr lang="pt-PT" dirty="0" err="1"/>
              <a:t>solution</a:t>
            </a:r>
            <a:endParaRPr lang="pt-PT" dirty="0"/>
          </a:p>
          <a:p>
            <a:endParaRPr lang="pt-PT" dirty="0"/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will</a:t>
            </a:r>
            <a:r>
              <a:rPr lang="pt-PT" dirty="0"/>
              <a:t> </a:t>
            </a:r>
            <a:r>
              <a:rPr lang="pt-PT" dirty="0" err="1"/>
              <a:t>first</a:t>
            </a:r>
            <a:r>
              <a:rPr lang="pt-PT" dirty="0"/>
              <a:t> </a:t>
            </a:r>
            <a:r>
              <a:rPr lang="pt-PT" dirty="0" err="1"/>
              <a:t>focus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univariate</a:t>
            </a:r>
            <a:r>
              <a:rPr lang="pt-PT" dirty="0"/>
              <a:t> (single input) linear </a:t>
            </a:r>
            <a:r>
              <a:rPr lang="pt-PT" dirty="0" err="1"/>
              <a:t>regression</a:t>
            </a:r>
            <a:endParaRPr lang="pt-PT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FB89D76-27DF-ECAB-6192-7A7C6A01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054" y="3566517"/>
            <a:ext cx="3983520" cy="320796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B93C998-88F1-F688-64FE-262014726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10" y="3566517"/>
            <a:ext cx="3983520" cy="3207967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10DE22D6-8537-8991-A138-5A1D8CB9D146}"/>
              </a:ext>
            </a:extLst>
          </p:cNvPr>
          <p:cNvSpPr/>
          <p:nvPr/>
        </p:nvSpPr>
        <p:spPr>
          <a:xfrm>
            <a:off x="4841185" y="4680169"/>
            <a:ext cx="2252869" cy="980661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95A3A9B-E00A-822B-04A1-73D600C686FB}"/>
              </a:ext>
            </a:extLst>
          </p:cNvPr>
          <p:cNvSpPr txBox="1"/>
          <p:nvPr/>
        </p:nvSpPr>
        <p:spPr>
          <a:xfrm>
            <a:off x="4849879" y="3717879"/>
            <a:ext cx="19878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dirty="0" err="1"/>
              <a:t>Fit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using</a:t>
            </a:r>
            <a:r>
              <a:rPr lang="pt-PT" sz="2000" dirty="0"/>
              <a:t> </a:t>
            </a:r>
            <a:r>
              <a:rPr lang="pt-PT" sz="2000" dirty="0" err="1"/>
              <a:t>Least</a:t>
            </a:r>
            <a:r>
              <a:rPr lang="pt-PT" sz="2000" dirty="0"/>
              <a:t> </a:t>
            </a:r>
            <a:r>
              <a:rPr lang="pt-PT" sz="2000" dirty="0" err="1"/>
              <a:t>squares</a:t>
            </a:r>
            <a:endParaRPr lang="en-US" sz="20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C40C3D1-0C9A-D573-86DE-329FF71F3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9427" y="857018"/>
            <a:ext cx="8093141" cy="96782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27B6928-0D49-CAB4-0799-D30A92E19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851" y="1688545"/>
            <a:ext cx="2935882" cy="88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3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9B557-CD4B-1496-017E-454E7426C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02EF4B4-CE63-17FD-D5E1-73587662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10AFC1C-14B3-92ED-FE5A-0D8E392C7C0D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-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78FD57-8083-F83E-A283-061D18E14932}"/>
              </a:ext>
            </a:extLst>
          </p:cNvPr>
          <p:cNvSpPr txBox="1"/>
          <p:nvPr/>
        </p:nvSpPr>
        <p:spPr>
          <a:xfrm>
            <a:off x="4" y="782692"/>
            <a:ext cx="1219199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Linear </a:t>
            </a:r>
            <a:r>
              <a:rPr lang="pt-PT" sz="2400" dirty="0" err="1"/>
              <a:t>regression</a:t>
            </a:r>
            <a:r>
              <a:rPr lang="pt-PT" sz="2400" dirty="0"/>
              <a:t> </a:t>
            </a:r>
            <a:r>
              <a:rPr lang="pt-PT" sz="2400" dirty="0" err="1"/>
              <a:t>has</a:t>
            </a:r>
            <a:r>
              <a:rPr lang="pt-PT" sz="2400" dirty="0"/>
              <a:t> </a:t>
            </a:r>
            <a:r>
              <a:rPr lang="pt-PT" sz="2400" dirty="0" err="1"/>
              <a:t>several</a:t>
            </a:r>
            <a:r>
              <a:rPr lang="pt-PT" sz="2400" dirty="0"/>
              <a:t> </a:t>
            </a:r>
            <a:r>
              <a:rPr lang="pt-PT" sz="2400" b="1" dirty="0" err="1"/>
              <a:t>strong</a:t>
            </a:r>
            <a:r>
              <a:rPr lang="pt-PT" sz="2400" b="1" dirty="0"/>
              <a:t> </a:t>
            </a:r>
            <a:r>
              <a:rPr lang="pt-PT" sz="2400" b="1" dirty="0" err="1"/>
              <a:t>assumptions</a:t>
            </a:r>
            <a:r>
              <a:rPr lang="pt-PT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400" b="1" dirty="0" err="1"/>
              <a:t>Linearity</a:t>
            </a:r>
            <a:r>
              <a:rPr lang="pt-PT" sz="2400" b="1" dirty="0"/>
              <a:t>: </a:t>
            </a:r>
            <a:r>
              <a:rPr lang="pt-PT" sz="2400" dirty="0"/>
              <a:t>inputs are </a:t>
            </a:r>
            <a:r>
              <a:rPr lang="pt-PT" sz="2400" dirty="0" err="1"/>
              <a:t>related</a:t>
            </a:r>
            <a:r>
              <a:rPr lang="pt-PT" sz="2400" dirty="0"/>
              <a:t> to </a:t>
            </a:r>
            <a:r>
              <a:rPr lang="pt-PT" sz="2400" dirty="0" err="1"/>
              <a:t>the</a:t>
            </a:r>
            <a:r>
              <a:rPr lang="pt-PT" sz="2400" dirty="0"/>
              <a:t> output in a linear </a:t>
            </a:r>
            <a:r>
              <a:rPr lang="pt-PT" sz="2400" dirty="0" err="1"/>
              <a:t>way</a:t>
            </a:r>
            <a:endParaRPr lang="pt-PT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400" b="1" dirty="0" err="1"/>
              <a:t>Normality</a:t>
            </a:r>
            <a:r>
              <a:rPr lang="pt-PT" sz="2400" b="1" dirty="0"/>
              <a:t>: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dirty="0" err="1"/>
              <a:t>distribution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output </a:t>
            </a:r>
            <a:r>
              <a:rPr lang="pt-PT" sz="2400" dirty="0" err="1"/>
              <a:t>variable</a:t>
            </a:r>
            <a:r>
              <a:rPr lang="pt-PT" sz="2400" dirty="0"/>
              <a:t> </a:t>
            </a:r>
            <a:r>
              <a:rPr lang="pt-PT" sz="2400" dirty="0" err="1"/>
              <a:t>values</a:t>
            </a:r>
            <a:r>
              <a:rPr lang="pt-PT" sz="2400" dirty="0"/>
              <a:t>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considered</a:t>
            </a:r>
            <a:r>
              <a:rPr lang="pt-PT" sz="2400" dirty="0"/>
              <a:t> Normal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400" b="1" dirty="0" err="1"/>
              <a:t>Constant</a:t>
            </a:r>
            <a:r>
              <a:rPr lang="pt-PT" sz="2400" b="1" dirty="0"/>
              <a:t> noise </a:t>
            </a:r>
            <a:r>
              <a:rPr lang="pt-PT" sz="2400" b="1" dirty="0" err="1"/>
              <a:t>variance</a:t>
            </a:r>
            <a:r>
              <a:rPr lang="pt-PT" sz="2400" dirty="0"/>
              <a:t>: noise </a:t>
            </a:r>
            <a:r>
              <a:rPr lang="pt-PT" sz="2400" dirty="0" err="1"/>
              <a:t>is</a:t>
            </a:r>
            <a:r>
              <a:rPr lang="pt-PT" sz="2400" dirty="0"/>
              <a:t> </a:t>
            </a:r>
            <a:r>
              <a:rPr lang="pt-PT" sz="2400" dirty="0" err="1"/>
              <a:t>stochastic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uncorrelated</a:t>
            </a:r>
            <a:r>
              <a:rPr lang="pt-PT" sz="2400" dirty="0"/>
              <a:t> </a:t>
            </a:r>
            <a:r>
              <a:rPr lang="pt-PT" sz="2400" dirty="0" err="1"/>
              <a:t>between</a:t>
            </a:r>
            <a:r>
              <a:rPr lang="pt-PT" sz="2400" dirty="0"/>
              <a:t> </a:t>
            </a:r>
            <a:r>
              <a:rPr lang="pt-PT" sz="2400" dirty="0" err="1"/>
              <a:t>observations</a:t>
            </a:r>
            <a:endParaRPr lang="pt-PT" sz="2400" dirty="0"/>
          </a:p>
          <a:p>
            <a:pPr lvl="1"/>
            <a:endParaRPr lang="pt-P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 err="1"/>
              <a:t>If</a:t>
            </a:r>
            <a:r>
              <a:rPr lang="pt-PT" sz="2400" dirty="0"/>
              <a:t> </a:t>
            </a:r>
            <a:r>
              <a:rPr lang="pt-PT" sz="2400" dirty="0" err="1"/>
              <a:t>one</a:t>
            </a:r>
            <a:r>
              <a:rPr lang="pt-PT" sz="2400" dirty="0"/>
              <a:t> </a:t>
            </a:r>
            <a:r>
              <a:rPr lang="pt-PT" sz="2400" dirty="0" err="1"/>
              <a:t>or</a:t>
            </a:r>
            <a:r>
              <a:rPr lang="pt-PT" sz="2400" dirty="0"/>
              <a:t> more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</a:t>
            </a:r>
            <a:r>
              <a:rPr lang="pt-PT" sz="2400" dirty="0"/>
              <a:t> </a:t>
            </a:r>
            <a:r>
              <a:rPr lang="pt-PT" sz="2400" b="1" dirty="0" err="1"/>
              <a:t>assumptions</a:t>
            </a:r>
            <a:r>
              <a:rPr lang="pt-PT" sz="2400" b="1" dirty="0"/>
              <a:t> do </a:t>
            </a:r>
            <a:r>
              <a:rPr lang="pt-PT" sz="2400" b="1" dirty="0" err="1"/>
              <a:t>not</a:t>
            </a:r>
            <a:r>
              <a:rPr lang="pt-PT" sz="2400" b="1" dirty="0"/>
              <a:t> </a:t>
            </a:r>
            <a:r>
              <a:rPr lang="pt-PT" sz="2400" b="1" dirty="0" err="1"/>
              <a:t>hold</a:t>
            </a:r>
            <a:r>
              <a:rPr lang="pt-PT" sz="2400" b="1" dirty="0"/>
              <a:t> </a:t>
            </a:r>
            <a:r>
              <a:rPr lang="pt-PT" sz="2400" dirty="0"/>
              <a:t>for </a:t>
            </a:r>
            <a:r>
              <a:rPr lang="pt-PT" sz="2400" dirty="0" err="1"/>
              <a:t>the</a:t>
            </a:r>
            <a:r>
              <a:rPr lang="pt-PT" sz="2400" dirty="0"/>
              <a:t> data, </a:t>
            </a:r>
            <a:r>
              <a:rPr lang="pt-PT" sz="2400" b="1" dirty="0"/>
              <a:t>linear </a:t>
            </a:r>
            <a:r>
              <a:rPr lang="pt-PT" sz="2400" b="1" dirty="0" err="1"/>
              <a:t>regression</a:t>
            </a:r>
            <a:r>
              <a:rPr lang="pt-PT" sz="2400" b="1" dirty="0"/>
              <a:t> can </a:t>
            </a:r>
            <a:r>
              <a:rPr lang="pt-PT" sz="2400" b="1" dirty="0" err="1"/>
              <a:t>fail</a:t>
            </a:r>
            <a:endParaRPr lang="pt-PT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 err="1"/>
              <a:t>We</a:t>
            </a:r>
            <a:r>
              <a:rPr lang="pt-PT" sz="2400" dirty="0"/>
              <a:t> </a:t>
            </a:r>
            <a:r>
              <a:rPr lang="pt-PT" sz="2400" dirty="0" err="1"/>
              <a:t>will</a:t>
            </a:r>
            <a:r>
              <a:rPr lang="pt-PT" sz="2400" dirty="0"/>
              <a:t> </a:t>
            </a:r>
            <a:r>
              <a:rPr lang="pt-PT" sz="2400" dirty="0" err="1"/>
              <a:t>discuss</a:t>
            </a:r>
            <a:r>
              <a:rPr lang="pt-PT" sz="2400" dirty="0"/>
              <a:t> </a:t>
            </a:r>
            <a:r>
              <a:rPr lang="pt-PT" sz="2400" dirty="0" err="1"/>
              <a:t>common</a:t>
            </a:r>
            <a:r>
              <a:rPr lang="pt-PT" sz="2400" dirty="0"/>
              <a:t> </a:t>
            </a:r>
            <a:r>
              <a:rPr lang="pt-PT" sz="2400" dirty="0" err="1"/>
              <a:t>violations</a:t>
            </a:r>
            <a:r>
              <a:rPr lang="pt-PT" sz="2400" dirty="0"/>
              <a:t> </a:t>
            </a:r>
            <a:r>
              <a:rPr lang="pt-PT" sz="2400" dirty="0" err="1"/>
              <a:t>of</a:t>
            </a:r>
            <a:r>
              <a:rPr lang="pt-PT" sz="2400" dirty="0"/>
              <a:t> </a:t>
            </a:r>
            <a:r>
              <a:rPr lang="pt-PT" sz="2400" dirty="0" err="1"/>
              <a:t>these</a:t>
            </a:r>
            <a:r>
              <a:rPr lang="pt-PT" sz="2400" dirty="0"/>
              <a:t> </a:t>
            </a:r>
            <a:r>
              <a:rPr lang="pt-PT" sz="2400" dirty="0" err="1"/>
              <a:t>assumptions</a:t>
            </a:r>
            <a:r>
              <a:rPr lang="pt-PT" sz="2400" dirty="0"/>
              <a:t> </a:t>
            </a:r>
            <a:r>
              <a:rPr lang="pt-PT" sz="2400" dirty="0" err="1"/>
              <a:t>and</a:t>
            </a:r>
            <a:r>
              <a:rPr lang="pt-PT" sz="2400" dirty="0"/>
              <a:t> </a:t>
            </a:r>
            <a:r>
              <a:rPr lang="pt-PT" sz="2400" dirty="0" err="1"/>
              <a:t>how</a:t>
            </a:r>
            <a:r>
              <a:rPr lang="pt-PT" sz="2400" dirty="0"/>
              <a:t> to </a:t>
            </a:r>
            <a:r>
              <a:rPr lang="pt-PT" sz="2400" dirty="0" err="1"/>
              <a:t>proceed</a:t>
            </a:r>
            <a:r>
              <a:rPr lang="pt-PT" sz="2400" dirty="0"/>
              <a:t> in </a:t>
            </a:r>
            <a:r>
              <a:rPr lang="pt-PT" sz="2400" dirty="0" err="1"/>
              <a:t>these</a:t>
            </a:r>
            <a:r>
              <a:rPr lang="pt-PT" sz="2400" dirty="0"/>
              <a:t> cases</a:t>
            </a:r>
          </a:p>
          <a:p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2826535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09C86-4F10-7A8B-55D5-9AF2E5EBA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3361D5C-816E-A26E-DE87-60E287E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4B24C3D-7552-3376-12A2-0760A588CCF4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fit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assessment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072B14-C7A6-EDB2-1BAA-9F468D99D4D0}"/>
              </a:ext>
            </a:extLst>
          </p:cNvPr>
          <p:cNvSpPr txBox="1"/>
          <p:nvPr/>
        </p:nvSpPr>
        <p:spPr>
          <a:xfrm>
            <a:off x="0" y="645079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After</a:t>
            </a:r>
            <a:r>
              <a:rPr lang="pt-PT" dirty="0"/>
              <a:t> </a:t>
            </a:r>
            <a:r>
              <a:rPr lang="pt-PT" dirty="0" err="1"/>
              <a:t>fitting</a:t>
            </a:r>
            <a:r>
              <a:rPr lang="pt-PT" dirty="0"/>
              <a:t> a </a:t>
            </a:r>
            <a:r>
              <a:rPr lang="pt-PT" dirty="0" err="1"/>
              <a:t>model</a:t>
            </a:r>
            <a:r>
              <a:rPr lang="pt-PT" dirty="0"/>
              <a:t>,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should</a:t>
            </a:r>
            <a:r>
              <a:rPr lang="pt-PT" dirty="0"/>
              <a:t> </a:t>
            </a:r>
            <a:r>
              <a:rPr lang="pt-PT" b="1" dirty="0" err="1"/>
              <a:t>always</a:t>
            </a:r>
            <a:r>
              <a:rPr lang="pt-PT" b="1" dirty="0"/>
              <a:t> </a:t>
            </a:r>
            <a:r>
              <a:rPr lang="pt-PT" b="1" dirty="0" err="1"/>
              <a:t>check</a:t>
            </a:r>
            <a:r>
              <a:rPr lang="pt-PT" b="1" dirty="0"/>
              <a:t> </a:t>
            </a:r>
            <a:r>
              <a:rPr lang="pt-PT" b="1" dirty="0" err="1"/>
              <a:t>if</a:t>
            </a:r>
            <a:r>
              <a:rPr lang="pt-PT" b="1" dirty="0"/>
              <a:t> </a:t>
            </a:r>
            <a:r>
              <a:rPr lang="pt-PT" b="1" dirty="0" err="1"/>
              <a:t>the</a:t>
            </a:r>
            <a:r>
              <a:rPr lang="pt-PT" b="1" dirty="0"/>
              <a:t> </a:t>
            </a:r>
            <a:r>
              <a:rPr lang="pt-PT" b="1" dirty="0" err="1"/>
              <a:t>fit</a:t>
            </a:r>
            <a:r>
              <a:rPr lang="pt-PT" b="1" dirty="0"/>
              <a:t> </a:t>
            </a:r>
            <a:r>
              <a:rPr lang="pt-PT" b="1" dirty="0" err="1"/>
              <a:t>is</a:t>
            </a:r>
            <a:r>
              <a:rPr lang="pt-PT" b="1" dirty="0"/>
              <a:t> </a:t>
            </a:r>
            <a:r>
              <a:rPr lang="pt-PT" b="1" dirty="0" err="1"/>
              <a:t>good</a:t>
            </a:r>
            <a:r>
              <a:rPr lang="pt-PT" b="1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b="1" dirty="0" err="1"/>
              <a:t>previous</a:t>
            </a:r>
            <a:r>
              <a:rPr lang="pt-PT" b="1" dirty="0"/>
              <a:t> </a:t>
            </a:r>
            <a:r>
              <a:rPr lang="pt-PT" b="1" dirty="0" err="1"/>
              <a:t>assumptions</a:t>
            </a:r>
            <a:r>
              <a:rPr lang="pt-PT" b="1" dirty="0"/>
              <a:t> are </a:t>
            </a:r>
            <a:r>
              <a:rPr lang="pt-PT" b="1" dirty="0" err="1"/>
              <a:t>met</a:t>
            </a: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We</a:t>
            </a:r>
            <a:r>
              <a:rPr lang="pt-PT" dirty="0"/>
              <a:t> can use standard </a:t>
            </a:r>
            <a:r>
              <a:rPr lang="pt-PT" dirty="0" err="1"/>
              <a:t>quantiative</a:t>
            </a:r>
            <a:r>
              <a:rPr lang="pt-PT" dirty="0"/>
              <a:t> </a:t>
            </a:r>
            <a:r>
              <a:rPr lang="pt-PT" dirty="0" err="1"/>
              <a:t>metrics</a:t>
            </a:r>
            <a:r>
              <a:rPr lang="pt-PT" dirty="0"/>
              <a:t> for </a:t>
            </a:r>
            <a:r>
              <a:rPr lang="pt-PT" dirty="0" err="1"/>
              <a:t>model</a:t>
            </a:r>
            <a:r>
              <a:rPr lang="pt-PT" dirty="0"/>
              <a:t> </a:t>
            </a:r>
            <a:r>
              <a:rPr lang="pt-PT" dirty="0" err="1"/>
              <a:t>fit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Two</a:t>
            </a:r>
            <a:r>
              <a:rPr lang="pt-PT" dirty="0"/>
              <a:t> </a:t>
            </a:r>
            <a:r>
              <a:rPr lang="pt-PT" dirty="0" err="1"/>
              <a:t>reccomended</a:t>
            </a:r>
            <a:r>
              <a:rPr lang="pt-PT" dirty="0"/>
              <a:t> </a:t>
            </a:r>
            <a:r>
              <a:rPr lang="pt-PT" dirty="0" err="1"/>
              <a:t>metrics</a:t>
            </a:r>
            <a:r>
              <a:rPr lang="pt-PT" dirty="0"/>
              <a:t> are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b="1" dirty="0" err="1"/>
              <a:t>Root</a:t>
            </a:r>
            <a:r>
              <a:rPr lang="pt-PT" b="1" dirty="0"/>
              <a:t> </a:t>
            </a:r>
            <a:r>
              <a:rPr lang="pt-PT" b="1" dirty="0" err="1"/>
              <a:t>Mean</a:t>
            </a:r>
            <a:r>
              <a:rPr lang="pt-PT" b="1" dirty="0"/>
              <a:t> </a:t>
            </a:r>
            <a:r>
              <a:rPr lang="pt-PT" b="1" dirty="0" err="1"/>
              <a:t>Squared</a:t>
            </a:r>
            <a:r>
              <a:rPr lang="pt-PT" b="1" dirty="0"/>
              <a:t> Error (RMSE)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b="1" dirty="0"/>
              <a:t>R </a:t>
            </a:r>
            <a:r>
              <a:rPr lang="pt-PT" b="1" dirty="0" err="1"/>
              <a:t>squared</a:t>
            </a:r>
            <a:endParaRPr lang="pt-PT" b="1" dirty="0"/>
          </a:p>
          <a:p>
            <a:endParaRPr lang="pt-PT" b="1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705ECFA-0677-6615-A26B-A1D96760EE88}"/>
              </a:ext>
            </a:extLst>
          </p:cNvPr>
          <p:cNvGrpSpPr/>
          <p:nvPr/>
        </p:nvGrpSpPr>
        <p:grpSpPr>
          <a:xfrm>
            <a:off x="793878" y="2573149"/>
            <a:ext cx="4737652" cy="3128603"/>
            <a:chOff x="231914" y="2703794"/>
            <a:chExt cx="4737652" cy="2917432"/>
          </a:xfrm>
        </p:grpSpPr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791C7344-8727-07E2-D231-AFCD61C6C705}"/>
                </a:ext>
              </a:extLst>
            </p:cNvPr>
            <p:cNvSpPr txBox="1"/>
            <p:nvPr/>
          </p:nvSpPr>
          <p:spPr>
            <a:xfrm>
              <a:off x="725557" y="2703794"/>
              <a:ext cx="3750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b="1" dirty="0" err="1"/>
                <a:t>Root</a:t>
              </a:r>
              <a:r>
                <a:rPr lang="pt-PT" b="1" dirty="0"/>
                <a:t> </a:t>
              </a:r>
              <a:r>
                <a:rPr lang="pt-PT" b="1" dirty="0" err="1"/>
                <a:t>mean</a:t>
              </a:r>
              <a:r>
                <a:rPr lang="pt-PT" b="1" dirty="0"/>
                <a:t> </a:t>
              </a:r>
              <a:r>
                <a:rPr lang="pt-PT" b="1" dirty="0" err="1"/>
                <a:t>Squared</a:t>
              </a:r>
              <a:r>
                <a:rPr lang="pt-PT" b="1" dirty="0"/>
                <a:t> Error (RMSE) </a:t>
              </a:r>
              <a:endParaRPr lang="en-US" b="1" dirty="0"/>
            </a:p>
          </p:txBody>
        </p:sp>
        <p:pic>
          <p:nvPicPr>
            <p:cNvPr id="2050" name="Picture 2" descr="What does RMSE really mean?. Root Mean Square Error (RMSE) is a… | by James  Moody | TDS Archive | Medium">
              <a:extLst>
                <a:ext uri="{FF2B5EF4-FFF2-40B4-BE49-F238E27FC236}">
                  <a16:creationId xmlns:a16="http://schemas.microsoft.com/office/drawing/2014/main" id="{DB2779D2-8A0F-D66C-BF5C-31D3910CC6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86" y="3138954"/>
              <a:ext cx="4600575" cy="1438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24286870-0A00-88B6-D57E-01BFE3FFA35A}"/>
                </a:ext>
              </a:extLst>
            </p:cNvPr>
            <p:cNvSpPr txBox="1"/>
            <p:nvPr/>
          </p:nvSpPr>
          <p:spPr>
            <a:xfrm>
              <a:off x="231914" y="4697896"/>
              <a:ext cx="473765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PT" dirty="0"/>
                <a:t>Can </a:t>
              </a:r>
              <a:r>
                <a:rPr lang="pt-PT" dirty="0" err="1"/>
                <a:t>be</a:t>
              </a:r>
              <a:r>
                <a:rPr lang="pt-PT" dirty="0"/>
                <a:t> </a:t>
              </a:r>
              <a:r>
                <a:rPr lang="pt-PT" dirty="0" err="1"/>
                <a:t>seen</a:t>
              </a:r>
              <a:r>
                <a:rPr lang="pt-PT" dirty="0"/>
                <a:t> as “</a:t>
              </a:r>
              <a:r>
                <a:rPr lang="pt-PT" dirty="0" err="1"/>
                <a:t>average</a:t>
              </a:r>
              <a:r>
                <a:rPr lang="pt-PT" dirty="0"/>
                <a:t>” error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PT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PT" dirty="0"/>
                <a:t>Can </a:t>
              </a:r>
              <a:r>
                <a:rPr lang="pt-PT" dirty="0" err="1"/>
                <a:t>be</a:t>
              </a:r>
              <a:r>
                <a:rPr lang="pt-PT" dirty="0"/>
                <a:t> </a:t>
              </a:r>
              <a:r>
                <a:rPr lang="pt-PT" dirty="0" err="1"/>
                <a:t>used</a:t>
              </a:r>
              <a:r>
                <a:rPr lang="pt-PT" dirty="0"/>
                <a:t> to </a:t>
              </a:r>
              <a:r>
                <a:rPr lang="pt-PT" dirty="0" err="1"/>
                <a:t>assess</a:t>
              </a:r>
              <a:r>
                <a:rPr lang="pt-PT" dirty="0"/>
                <a:t> </a:t>
              </a:r>
              <a:r>
                <a:rPr lang="pt-PT" dirty="0" err="1"/>
                <a:t>prediction</a:t>
              </a:r>
              <a:r>
                <a:rPr lang="pt-PT" dirty="0"/>
                <a:t> error</a:t>
              </a:r>
              <a:endParaRPr lang="en-US" dirty="0"/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C40620D-D4C8-E0D9-5BFA-639FF310A33D}"/>
              </a:ext>
            </a:extLst>
          </p:cNvPr>
          <p:cNvGrpSpPr/>
          <p:nvPr/>
        </p:nvGrpSpPr>
        <p:grpSpPr>
          <a:xfrm>
            <a:off x="6179643" y="2573149"/>
            <a:ext cx="5376035" cy="3209368"/>
            <a:chOff x="6759747" y="2557331"/>
            <a:chExt cx="5376035" cy="3209368"/>
          </a:xfrm>
        </p:grpSpPr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12E85BCC-80FB-8456-455B-67E790078D96}"/>
                </a:ext>
              </a:extLst>
            </p:cNvPr>
            <p:cNvSpPr txBox="1"/>
            <p:nvPr/>
          </p:nvSpPr>
          <p:spPr>
            <a:xfrm>
              <a:off x="6876016" y="2557331"/>
              <a:ext cx="4997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b="1" dirty="0" err="1"/>
                <a:t>Coefficient</a:t>
              </a:r>
              <a:r>
                <a:rPr lang="pt-PT" b="1" dirty="0"/>
                <a:t> </a:t>
              </a:r>
              <a:r>
                <a:rPr lang="pt-PT" b="1" dirty="0" err="1"/>
                <a:t>of</a:t>
              </a:r>
              <a:r>
                <a:rPr lang="pt-PT" b="1" dirty="0"/>
                <a:t> </a:t>
              </a:r>
              <a:r>
                <a:rPr lang="pt-PT" b="1" dirty="0" err="1"/>
                <a:t>determination</a:t>
              </a:r>
              <a:r>
                <a:rPr lang="pt-PT" b="1" dirty="0"/>
                <a:t>  (R2 </a:t>
              </a:r>
              <a:r>
                <a:rPr lang="pt-PT" b="1" dirty="0" err="1"/>
                <a:t>or</a:t>
              </a:r>
              <a:r>
                <a:rPr lang="pt-PT" b="1" dirty="0"/>
                <a:t> R </a:t>
              </a:r>
              <a:r>
                <a:rPr lang="pt-PT" b="1" dirty="0" err="1"/>
                <a:t>squared</a:t>
              </a:r>
              <a:r>
                <a:rPr lang="pt-PT" b="1" dirty="0"/>
                <a:t>)</a:t>
              </a:r>
              <a:endParaRPr lang="en-US" b="1" dirty="0"/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52B82541-047C-D2A9-8959-C23323A575F0}"/>
                </a:ext>
              </a:extLst>
            </p:cNvPr>
            <p:cNvSpPr txBox="1"/>
            <p:nvPr/>
          </p:nvSpPr>
          <p:spPr>
            <a:xfrm>
              <a:off x="6759747" y="4566370"/>
              <a:ext cx="537603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PT" dirty="0" err="1"/>
                <a:t>Indicates</a:t>
              </a:r>
              <a:r>
                <a:rPr lang="pt-PT" dirty="0"/>
                <a:t> </a:t>
              </a:r>
              <a:r>
                <a:rPr lang="pt-PT" dirty="0" err="1"/>
                <a:t>what</a:t>
              </a:r>
              <a:r>
                <a:rPr lang="pt-PT" dirty="0"/>
                <a:t> </a:t>
              </a:r>
              <a:r>
                <a:rPr lang="pt-PT" dirty="0" err="1"/>
                <a:t>percentage</a:t>
              </a:r>
              <a:r>
                <a:rPr lang="pt-PT" dirty="0"/>
                <a:t> </a:t>
              </a:r>
              <a:r>
                <a:rPr lang="pt-PT" dirty="0" err="1"/>
                <a:t>of</a:t>
              </a:r>
              <a:r>
                <a:rPr lang="pt-PT" dirty="0"/>
                <a:t> </a:t>
              </a:r>
              <a:r>
                <a:rPr lang="pt-PT" dirty="0" err="1"/>
                <a:t>variance</a:t>
              </a:r>
              <a:r>
                <a:rPr lang="pt-PT" dirty="0"/>
                <a:t> </a:t>
              </a:r>
              <a:r>
                <a:rPr lang="pt-PT" dirty="0" err="1"/>
                <a:t>the</a:t>
              </a:r>
              <a:r>
                <a:rPr lang="pt-PT" dirty="0"/>
                <a:t> </a:t>
              </a:r>
              <a:r>
                <a:rPr lang="pt-PT" dirty="0" err="1"/>
                <a:t>model</a:t>
              </a:r>
              <a:r>
                <a:rPr lang="pt-PT" dirty="0"/>
                <a:t> </a:t>
              </a:r>
              <a:r>
                <a:rPr lang="pt-PT" dirty="0" err="1"/>
                <a:t>explains</a:t>
              </a:r>
              <a:endParaRPr lang="pt-PT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pt-PT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PT" b="1" dirty="0" err="1"/>
                <a:t>Sensitive</a:t>
              </a:r>
              <a:r>
                <a:rPr lang="pt-PT" b="1" dirty="0"/>
                <a:t> to </a:t>
              </a:r>
              <a:r>
                <a:rPr lang="pt-PT" b="1" dirty="0" err="1"/>
                <a:t>outliers</a:t>
              </a:r>
              <a:endParaRPr lang="en-US" b="1" dirty="0"/>
            </a:p>
          </p:txBody>
        </p:sp>
        <p:pic>
          <p:nvPicPr>
            <p:cNvPr id="2054" name="Picture 6" descr="Avoid R-squared to judge regression model performance | by Kevin Dunn | TDS  Archive | Medium">
              <a:extLst>
                <a:ext uri="{FF2B5EF4-FFF2-40B4-BE49-F238E27FC236}">
                  <a16:creationId xmlns:a16="http://schemas.microsoft.com/office/drawing/2014/main" id="{46AFF66E-4328-E473-6903-901FF45C98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6016" y="3027345"/>
              <a:ext cx="4933950" cy="1562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36446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EFD6-A614-37F9-72D1-C2B8F4A04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2368E04-7B21-AF53-C32F-2ABC14C7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14</a:t>
            </a:fld>
            <a:endParaRPr lang="en-GB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4A934A3-824A-BD89-4CD5-078B8DC3B96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fit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assessment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51234C2-C026-D439-95CF-356904E0F2E7}"/>
              </a:ext>
            </a:extLst>
          </p:cNvPr>
          <p:cNvSpPr txBox="1"/>
          <p:nvPr/>
        </p:nvSpPr>
        <p:spPr>
          <a:xfrm>
            <a:off x="0" y="68002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can </a:t>
            </a:r>
            <a:r>
              <a:rPr lang="pt-PT" sz="2000" dirty="0" err="1"/>
              <a:t>also</a:t>
            </a:r>
            <a:r>
              <a:rPr lang="pt-PT" sz="2000" dirty="0"/>
              <a:t> </a:t>
            </a:r>
            <a:r>
              <a:rPr lang="pt-PT" sz="2000" dirty="0" err="1"/>
              <a:t>assess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fit</a:t>
            </a:r>
            <a:r>
              <a:rPr lang="pt-PT" sz="2000" dirty="0"/>
              <a:t> </a:t>
            </a:r>
            <a:r>
              <a:rPr lang="pt-PT" sz="2000" dirty="0" err="1"/>
              <a:t>visually</a:t>
            </a:r>
            <a:r>
              <a:rPr lang="pt-PT" sz="2000" dirty="0"/>
              <a:t> 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86F0DC8-2BC8-E8DA-E10F-0205D3C681D3}"/>
              </a:ext>
            </a:extLst>
          </p:cNvPr>
          <p:cNvGrpSpPr/>
          <p:nvPr/>
        </p:nvGrpSpPr>
        <p:grpSpPr>
          <a:xfrm>
            <a:off x="0" y="1288832"/>
            <a:ext cx="12191996" cy="4500194"/>
            <a:chOff x="0" y="1288832"/>
            <a:chExt cx="12191996" cy="4500194"/>
          </a:xfrm>
        </p:grpSpPr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5BA044CF-4D0B-06A2-FC97-8BC8396B9515}"/>
                </a:ext>
              </a:extLst>
            </p:cNvPr>
            <p:cNvGrpSpPr/>
            <p:nvPr/>
          </p:nvGrpSpPr>
          <p:grpSpPr>
            <a:xfrm>
              <a:off x="0" y="1426513"/>
              <a:ext cx="12191996" cy="4362513"/>
              <a:chOff x="0" y="2652339"/>
              <a:chExt cx="12191996" cy="4362513"/>
            </a:xfrm>
          </p:grpSpPr>
          <p:pic>
            <p:nvPicPr>
              <p:cNvPr id="6" name="Imagem 5">
                <a:extLst>
                  <a:ext uri="{FF2B5EF4-FFF2-40B4-BE49-F238E27FC236}">
                    <a16:creationId xmlns:a16="http://schemas.microsoft.com/office/drawing/2014/main" id="{2DA3027D-9440-90AD-FE28-00357EAD2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2652339"/>
                <a:ext cx="3983520" cy="3207967"/>
              </a:xfrm>
              <a:prstGeom prst="rect">
                <a:avLst/>
              </a:prstGeom>
            </p:spPr>
          </p:pic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43D6C9E-8BA7-208A-CED6-9CB98FCBF2CA}"/>
                  </a:ext>
                </a:extLst>
              </p:cNvPr>
              <p:cNvSpPr txBox="1"/>
              <p:nvPr/>
            </p:nvSpPr>
            <p:spPr>
              <a:xfrm>
                <a:off x="290632" y="5814523"/>
                <a:ext cx="355820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b="1" dirty="0"/>
                  <a:t>Visual </a:t>
                </a:r>
                <a:r>
                  <a:rPr lang="pt-PT" b="1" dirty="0" err="1"/>
                  <a:t>assessment</a:t>
                </a:r>
                <a:r>
                  <a:rPr lang="pt-PT" b="1" dirty="0"/>
                  <a:t> </a:t>
                </a:r>
                <a:r>
                  <a:rPr lang="pt-PT" b="1" dirty="0" err="1"/>
                  <a:t>of</a:t>
                </a:r>
                <a:r>
                  <a:rPr lang="pt-PT" b="1" dirty="0"/>
                  <a:t> </a:t>
                </a:r>
                <a:r>
                  <a:rPr lang="pt-PT" b="1" dirty="0" err="1"/>
                  <a:t>model</a:t>
                </a:r>
                <a:r>
                  <a:rPr lang="pt-PT" b="1" dirty="0"/>
                  <a:t> </a:t>
                </a:r>
                <a:r>
                  <a:rPr lang="pt-PT" b="1" dirty="0" err="1"/>
                  <a:t>fit</a:t>
                </a:r>
                <a:endParaRPr lang="pt-PT" b="1" dirty="0"/>
              </a:p>
              <a:p>
                <a:pPr algn="ctr"/>
                <a:r>
                  <a:rPr lang="pt-PT" b="1" dirty="0">
                    <a:solidFill>
                      <a:srgbClr val="FF0000"/>
                    </a:solidFill>
                  </a:rPr>
                  <a:t>(</a:t>
                </a:r>
                <a:r>
                  <a:rPr lang="pt-PT" b="1" dirty="0" err="1">
                    <a:solidFill>
                      <a:srgbClr val="FF0000"/>
                    </a:solidFill>
                  </a:rPr>
                  <a:t>only</a:t>
                </a:r>
                <a:r>
                  <a:rPr lang="pt-PT" b="1" dirty="0">
                    <a:solidFill>
                      <a:srgbClr val="FF0000"/>
                    </a:solidFill>
                  </a:rPr>
                  <a:t> </a:t>
                </a:r>
                <a:r>
                  <a:rPr lang="pt-PT" b="1" dirty="0" err="1">
                    <a:solidFill>
                      <a:srgbClr val="FF0000"/>
                    </a:solidFill>
                  </a:rPr>
                  <a:t>possible</a:t>
                </a:r>
                <a:r>
                  <a:rPr lang="pt-PT" b="1" dirty="0">
                    <a:solidFill>
                      <a:srgbClr val="FF0000"/>
                    </a:solidFill>
                  </a:rPr>
                  <a:t> for cases </a:t>
                </a:r>
                <a:r>
                  <a:rPr lang="pt-PT" b="1" dirty="0" err="1">
                    <a:solidFill>
                      <a:srgbClr val="FF0000"/>
                    </a:solidFill>
                  </a:rPr>
                  <a:t>with</a:t>
                </a:r>
                <a:r>
                  <a:rPr lang="pt-PT" b="1" dirty="0">
                    <a:solidFill>
                      <a:srgbClr val="FF0000"/>
                    </a:solidFill>
                  </a:rPr>
                  <a:t> 1 </a:t>
                </a:r>
                <a:r>
                  <a:rPr lang="pt-PT" b="1" dirty="0" err="1">
                    <a:solidFill>
                      <a:srgbClr val="FF0000"/>
                    </a:solidFill>
                  </a:rPr>
                  <a:t>or</a:t>
                </a:r>
                <a:r>
                  <a:rPr lang="pt-PT" b="1" dirty="0">
                    <a:solidFill>
                      <a:srgbClr val="FF0000"/>
                    </a:solidFill>
                  </a:rPr>
                  <a:t> 2 inputs)</a:t>
                </a:r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100BBE4-73C9-34A5-792A-0D8AA7D4C1C8}"/>
                  </a:ext>
                </a:extLst>
              </p:cNvPr>
              <p:cNvSpPr txBox="1"/>
              <p:nvPr/>
            </p:nvSpPr>
            <p:spPr>
              <a:xfrm>
                <a:off x="4450616" y="5815639"/>
                <a:ext cx="35582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b="1" dirty="0" err="1"/>
                  <a:t>Predicted</a:t>
                </a:r>
                <a:r>
                  <a:rPr lang="pt-PT" b="1" dirty="0"/>
                  <a:t> </a:t>
                </a:r>
                <a:r>
                  <a:rPr lang="pt-PT" b="1" dirty="0" err="1"/>
                  <a:t>vs</a:t>
                </a:r>
                <a:r>
                  <a:rPr lang="pt-PT" b="1" dirty="0"/>
                  <a:t> Real (</a:t>
                </a:r>
                <a:r>
                  <a:rPr lang="pt-PT" b="1" dirty="0" err="1"/>
                  <a:t>parity</a:t>
                </a:r>
                <a:r>
                  <a:rPr lang="pt-PT" b="1" dirty="0"/>
                  <a:t> </a:t>
                </a:r>
                <a:r>
                  <a:rPr lang="pt-PT" b="1" dirty="0" err="1"/>
                  <a:t>plot</a:t>
                </a:r>
                <a:r>
                  <a:rPr lang="pt-PT" b="1" dirty="0"/>
                  <a:t>)</a:t>
                </a:r>
              </a:p>
            </p:txBody>
          </p:sp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A7873341-038F-AC98-CF2C-2A852AB9F3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02791" y="2652339"/>
                <a:ext cx="3989205" cy="3092143"/>
              </a:xfrm>
              <a:prstGeom prst="rect">
                <a:avLst/>
              </a:prstGeom>
            </p:spPr>
          </p:pic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14C3EF4-301E-7AFC-8F90-6F433615DF46}"/>
                  </a:ext>
                </a:extLst>
              </p:cNvPr>
              <p:cNvSpPr txBox="1"/>
              <p:nvPr/>
            </p:nvSpPr>
            <p:spPr>
              <a:xfrm>
                <a:off x="8633789" y="5814523"/>
                <a:ext cx="355820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b="1" dirty="0"/>
                  <a:t>Residual (error) </a:t>
                </a:r>
                <a:r>
                  <a:rPr lang="pt-PT" b="1" dirty="0" err="1"/>
                  <a:t>analysis</a:t>
                </a:r>
                <a:endParaRPr lang="pt-PT" b="1" dirty="0"/>
              </a:p>
              <a:p>
                <a:pPr algn="ctr"/>
                <a:endParaRPr lang="pt-PT" b="1" dirty="0"/>
              </a:p>
              <a:p>
                <a:pPr algn="ctr"/>
                <a:r>
                  <a:rPr lang="pt-PT" dirty="0" err="1"/>
                  <a:t>There</a:t>
                </a:r>
                <a:r>
                  <a:rPr lang="pt-PT" dirty="0"/>
                  <a:t> </a:t>
                </a:r>
                <a:r>
                  <a:rPr lang="pt-PT" dirty="0" err="1"/>
                  <a:t>should</a:t>
                </a:r>
                <a:r>
                  <a:rPr lang="pt-PT" dirty="0"/>
                  <a:t> </a:t>
                </a:r>
                <a:r>
                  <a:rPr lang="pt-PT" dirty="0" err="1"/>
                  <a:t>not</a:t>
                </a:r>
                <a:r>
                  <a:rPr lang="pt-PT" dirty="0"/>
                  <a:t> </a:t>
                </a:r>
                <a:r>
                  <a:rPr lang="pt-PT" dirty="0" err="1"/>
                  <a:t>be</a:t>
                </a:r>
                <a:r>
                  <a:rPr lang="pt-PT" dirty="0"/>
                  <a:t> </a:t>
                </a:r>
                <a:r>
                  <a:rPr lang="pt-PT" dirty="0" err="1"/>
                  <a:t>any</a:t>
                </a:r>
                <a:r>
                  <a:rPr lang="pt-PT" dirty="0"/>
                  <a:t> visual </a:t>
                </a:r>
                <a:r>
                  <a:rPr lang="pt-PT" dirty="0" err="1"/>
                  <a:t>pattern</a:t>
                </a:r>
                <a:r>
                  <a:rPr lang="pt-PT" dirty="0"/>
                  <a:t>/</a:t>
                </a:r>
                <a:r>
                  <a:rPr lang="pt-PT" dirty="0" err="1"/>
                  <a:t>correlation</a:t>
                </a:r>
                <a:r>
                  <a:rPr lang="pt-PT" dirty="0"/>
                  <a:t> in </a:t>
                </a:r>
                <a:r>
                  <a:rPr lang="pt-PT" dirty="0" err="1"/>
                  <a:t>the</a:t>
                </a:r>
                <a:r>
                  <a:rPr lang="pt-PT" dirty="0"/>
                  <a:t> error </a:t>
                </a:r>
                <a:endParaRPr lang="en-US" dirty="0"/>
              </a:p>
            </p:txBody>
          </p:sp>
        </p:grp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2445F054-6B8E-585F-67D3-3219E8829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83520" y="1288832"/>
              <a:ext cx="4211897" cy="3391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3463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2635-9DDF-4E19-DA78-00E256B4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F4DDA5C-8195-7915-4765-B2E755EB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2C9094F-C155-342C-00F9-FD1FD2696BA8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Introduction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to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4E34972-A38F-2F72-A2FD-BA6490C7CBB5}"/>
              </a:ext>
            </a:extLst>
          </p:cNvPr>
          <p:cNvSpPr txBox="1"/>
          <p:nvPr/>
        </p:nvSpPr>
        <p:spPr>
          <a:xfrm>
            <a:off x="0" y="481395"/>
            <a:ext cx="12191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Scikit-learn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a </a:t>
            </a:r>
            <a:r>
              <a:rPr lang="pt-PT" dirty="0" err="1"/>
              <a:t>very</a:t>
            </a:r>
            <a:r>
              <a:rPr lang="pt-PT" dirty="0"/>
              <a:t> popular </a:t>
            </a:r>
            <a:r>
              <a:rPr lang="pt-PT" dirty="0" err="1"/>
              <a:t>Python</a:t>
            </a:r>
            <a:r>
              <a:rPr lang="pt-PT" dirty="0"/>
              <a:t> package for </a:t>
            </a:r>
            <a:r>
              <a:rPr lang="pt-PT" dirty="0" err="1"/>
              <a:t>both</a:t>
            </a:r>
            <a:r>
              <a:rPr lang="pt-PT" dirty="0"/>
              <a:t> </a:t>
            </a:r>
            <a:r>
              <a:rPr lang="pt-PT" b="1" dirty="0"/>
              <a:t>basic </a:t>
            </a:r>
            <a:r>
              <a:rPr lang="pt-PT" b="1" dirty="0" err="1"/>
              <a:t>and</a:t>
            </a:r>
            <a:r>
              <a:rPr lang="pt-PT" b="1" dirty="0"/>
              <a:t> </a:t>
            </a:r>
            <a:r>
              <a:rPr lang="pt-PT" b="1" dirty="0" err="1"/>
              <a:t>advanced</a:t>
            </a:r>
            <a:r>
              <a:rPr lang="pt-PT" b="1" dirty="0"/>
              <a:t> </a:t>
            </a:r>
            <a:r>
              <a:rPr lang="pt-PT" b="1" dirty="0" err="1"/>
              <a:t>machine</a:t>
            </a:r>
            <a:r>
              <a:rPr lang="pt-PT" b="1" dirty="0"/>
              <a:t> </a:t>
            </a:r>
            <a:r>
              <a:rPr lang="pt-PT" b="1" dirty="0" err="1"/>
              <a:t>learning</a:t>
            </a: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Documentation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very</a:t>
            </a:r>
            <a:r>
              <a:rPr lang="pt-PT" dirty="0"/>
              <a:t> complete,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many</a:t>
            </a:r>
            <a:r>
              <a:rPr lang="pt-PT" dirty="0"/>
              <a:t> </a:t>
            </a:r>
            <a:r>
              <a:rPr lang="pt-PT" dirty="0" err="1"/>
              <a:t>examples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tutorials</a:t>
            </a:r>
            <a:r>
              <a:rPr lang="pt-PT" dirty="0"/>
              <a:t>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4C801A8-0728-60EB-8461-E33716AE1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055" y="1468363"/>
            <a:ext cx="8696506" cy="531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85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DE7D-3B9E-01E0-18EE-2D2CC4696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B0277BC-1CE7-2E76-FDC4-8C96BB31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5AEAB9F-684F-9CBF-38E3-9B9AD973B10D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88F6274-E446-026C-E5AC-4B53C67D0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737" y="605890"/>
            <a:ext cx="5461741" cy="610342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79B6621-E7C8-8472-61AD-BE745D731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478" y="1361453"/>
            <a:ext cx="4809522" cy="3873155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0DC25131-05BE-72AA-F884-775272C888A8}"/>
              </a:ext>
            </a:extLst>
          </p:cNvPr>
          <p:cNvSpPr/>
          <p:nvPr/>
        </p:nvSpPr>
        <p:spPr>
          <a:xfrm>
            <a:off x="1391479" y="3446397"/>
            <a:ext cx="881110" cy="28325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40E21505-5A06-74B1-DF09-1917B53B7ACA}"/>
              </a:ext>
            </a:extLst>
          </p:cNvPr>
          <p:cNvSpPr/>
          <p:nvPr/>
        </p:nvSpPr>
        <p:spPr>
          <a:xfrm>
            <a:off x="1391479" y="4069249"/>
            <a:ext cx="881110" cy="28325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9D468CD8-F70E-F938-1868-C2A12ED07728}"/>
              </a:ext>
            </a:extLst>
          </p:cNvPr>
          <p:cNvSpPr/>
          <p:nvPr/>
        </p:nvSpPr>
        <p:spPr>
          <a:xfrm>
            <a:off x="1391479" y="4745719"/>
            <a:ext cx="881110" cy="28325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5478271-D802-BDD4-DFC0-EAA974E260D2}"/>
              </a:ext>
            </a:extLst>
          </p:cNvPr>
          <p:cNvSpPr txBox="1"/>
          <p:nvPr/>
        </p:nvSpPr>
        <p:spPr>
          <a:xfrm>
            <a:off x="1" y="3264860"/>
            <a:ext cx="1252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1. </a:t>
            </a:r>
            <a:r>
              <a:rPr lang="pt-PT" dirty="0" err="1"/>
              <a:t>initiate</a:t>
            </a:r>
            <a:r>
              <a:rPr lang="pt-PT" dirty="0"/>
              <a:t> </a:t>
            </a:r>
            <a:r>
              <a:rPr lang="pt-PT" dirty="0" err="1"/>
              <a:t>model</a:t>
            </a:r>
            <a:endParaRPr lang="en-US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9F7B999-F000-3866-EC80-B4D13CC4C37B}"/>
              </a:ext>
            </a:extLst>
          </p:cNvPr>
          <p:cNvSpPr txBox="1"/>
          <p:nvPr/>
        </p:nvSpPr>
        <p:spPr>
          <a:xfrm>
            <a:off x="-33129" y="3995116"/>
            <a:ext cx="1424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2. </a:t>
            </a:r>
            <a:r>
              <a:rPr lang="pt-PT" dirty="0" err="1"/>
              <a:t>Fit</a:t>
            </a:r>
            <a:r>
              <a:rPr lang="pt-PT" dirty="0"/>
              <a:t> to data</a:t>
            </a:r>
            <a:endParaRPr lang="en-US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DFC611A-CBEB-8A6A-ECA3-E2DB7D575796}"/>
              </a:ext>
            </a:extLst>
          </p:cNvPr>
          <p:cNvSpPr txBox="1"/>
          <p:nvPr/>
        </p:nvSpPr>
        <p:spPr>
          <a:xfrm>
            <a:off x="1" y="4589109"/>
            <a:ext cx="1252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3. </a:t>
            </a:r>
            <a:r>
              <a:rPr lang="pt-PT" dirty="0" err="1"/>
              <a:t>Predict</a:t>
            </a:r>
            <a:r>
              <a:rPr lang="pt-PT" dirty="0"/>
              <a:t> </a:t>
            </a:r>
          </a:p>
          <a:p>
            <a:pPr algn="ctr"/>
            <a:r>
              <a:rPr lang="pt-PT" dirty="0"/>
              <a:t>y </a:t>
            </a:r>
            <a:r>
              <a:rPr lang="pt-PT" dirty="0" err="1"/>
              <a:t>given</a:t>
            </a:r>
            <a:r>
              <a:rPr lang="pt-PT" dirty="0"/>
              <a:t> x </a:t>
            </a:r>
            <a:endParaRPr lang="en-US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7D9DEE9-8B95-F4F3-26A4-1C1D55EC92C7}"/>
              </a:ext>
            </a:extLst>
          </p:cNvPr>
          <p:cNvSpPr txBox="1"/>
          <p:nvPr/>
        </p:nvSpPr>
        <p:spPr>
          <a:xfrm>
            <a:off x="-92766" y="2129856"/>
            <a:ext cx="19480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 err="1">
                <a:solidFill>
                  <a:srgbClr val="FF0000"/>
                </a:solidFill>
              </a:rPr>
              <a:t>Scikit-learn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models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have</a:t>
            </a:r>
            <a:r>
              <a:rPr lang="pt-PT" sz="2000" b="1" dirty="0">
                <a:solidFill>
                  <a:srgbClr val="FF0000"/>
                </a:solidFill>
              </a:rPr>
              <a:t> 3 </a:t>
            </a:r>
            <a:r>
              <a:rPr lang="pt-PT" sz="2000" b="1" dirty="0" err="1">
                <a:solidFill>
                  <a:srgbClr val="FF0000"/>
                </a:solidFill>
              </a:rPr>
              <a:t>main</a:t>
            </a:r>
            <a:r>
              <a:rPr lang="pt-PT" sz="2000" b="1" dirty="0">
                <a:solidFill>
                  <a:srgbClr val="FF0000"/>
                </a:solidFill>
              </a:rPr>
              <a:t> </a:t>
            </a:r>
            <a:r>
              <a:rPr lang="pt-PT" sz="2000" b="1" dirty="0" err="1">
                <a:solidFill>
                  <a:srgbClr val="FF0000"/>
                </a:solidFill>
              </a:rPr>
              <a:t>methods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63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72321-55A0-D10A-9D6F-AEE99D71F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0EDC073-2801-19F9-AA45-3C67D7A6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5E7AE46-40D5-6F50-2D58-8DF21EA6869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DB2D320-ACE6-F281-F5F5-FBAFD0C0E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65" y="571602"/>
            <a:ext cx="5692633" cy="614987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C40EE6D-E21D-5F0B-F63C-8DF5686AD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397" y="471336"/>
            <a:ext cx="4015736" cy="323391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88EA83-BC8A-BE43-1368-6FAD1855F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899" y="3705248"/>
            <a:ext cx="4062733" cy="314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42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0FC62-6947-7205-346D-7BFF5105D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268B9C0-8881-270F-355D-4CDAE13CE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BCFC716-C892-3964-1D60-137A3B130323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non-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linearity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943FE4-2CCA-D7F5-FB57-EA6D0BE06662}"/>
              </a:ext>
            </a:extLst>
          </p:cNvPr>
          <p:cNvSpPr txBox="1"/>
          <p:nvPr/>
        </p:nvSpPr>
        <p:spPr>
          <a:xfrm>
            <a:off x="5" y="550734"/>
            <a:ext cx="12191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What</a:t>
            </a:r>
            <a:r>
              <a:rPr lang="pt-PT" dirty="0"/>
              <a:t> </a:t>
            </a:r>
            <a:r>
              <a:rPr lang="pt-PT" dirty="0" err="1"/>
              <a:t>if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relationship</a:t>
            </a:r>
            <a:r>
              <a:rPr lang="pt-PT" dirty="0"/>
              <a:t> </a:t>
            </a:r>
            <a:r>
              <a:rPr lang="pt-PT" dirty="0" err="1"/>
              <a:t>between</a:t>
            </a:r>
            <a:r>
              <a:rPr lang="pt-PT" dirty="0"/>
              <a:t> inputs </a:t>
            </a:r>
            <a:r>
              <a:rPr lang="pt-PT" dirty="0" err="1"/>
              <a:t>and</a:t>
            </a:r>
            <a:r>
              <a:rPr lang="pt-PT" dirty="0"/>
              <a:t> output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not</a:t>
            </a:r>
            <a:r>
              <a:rPr lang="pt-PT" dirty="0"/>
              <a:t> linear?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Consider</a:t>
            </a:r>
            <a:r>
              <a:rPr lang="pt-PT" dirty="0"/>
              <a:t> a </a:t>
            </a:r>
            <a:r>
              <a:rPr lang="pt-PT" dirty="0" err="1"/>
              <a:t>simple</a:t>
            </a:r>
            <a:r>
              <a:rPr lang="pt-PT" dirty="0"/>
              <a:t> non-linear </a:t>
            </a:r>
            <a:r>
              <a:rPr lang="pt-PT" dirty="0" err="1"/>
              <a:t>example</a:t>
            </a:r>
            <a:r>
              <a:rPr lang="pt-PT" dirty="0"/>
              <a:t>, </a:t>
            </a:r>
            <a:r>
              <a:rPr lang="pt-PT" dirty="0" err="1"/>
              <a:t>where</a:t>
            </a:r>
            <a:r>
              <a:rPr lang="pt-PT" dirty="0"/>
              <a:t> y = x^2 + noise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6CD011F-6603-3320-8FC0-C41C0C169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474067"/>
            <a:ext cx="4069661" cy="334241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59021A4-A838-1304-04E2-1B16121DD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436" y="1474066"/>
            <a:ext cx="4069661" cy="334241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4EA8164-30E8-E5D4-D8E8-5AF5449A4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097" y="1474064"/>
            <a:ext cx="3947898" cy="3107775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4AEBAC38-377B-6986-AD05-ED6E38C61362}"/>
              </a:ext>
            </a:extLst>
          </p:cNvPr>
          <p:cNvSpPr txBox="1"/>
          <p:nvPr/>
        </p:nvSpPr>
        <p:spPr>
          <a:xfrm>
            <a:off x="4606050" y="4816477"/>
            <a:ext cx="3558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Clear </a:t>
            </a:r>
            <a:r>
              <a:rPr lang="pt-PT" dirty="0" err="1"/>
              <a:t>trend</a:t>
            </a:r>
            <a:r>
              <a:rPr lang="pt-PT" dirty="0"/>
              <a:t> in </a:t>
            </a:r>
            <a:r>
              <a:rPr lang="pt-PT" dirty="0" err="1"/>
              <a:t>predicted</a:t>
            </a:r>
            <a:r>
              <a:rPr lang="pt-PT" dirty="0"/>
              <a:t> </a:t>
            </a:r>
            <a:r>
              <a:rPr lang="pt-PT" dirty="0" err="1"/>
              <a:t>vs</a:t>
            </a:r>
            <a:r>
              <a:rPr lang="pt-PT" dirty="0"/>
              <a:t> real </a:t>
            </a:r>
            <a:r>
              <a:rPr lang="pt-PT" dirty="0" err="1"/>
              <a:t>plot</a:t>
            </a:r>
            <a:endParaRPr lang="pt-PT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2454E49-DD73-35CD-11DF-7F0C58E4394E}"/>
              </a:ext>
            </a:extLst>
          </p:cNvPr>
          <p:cNvSpPr txBox="1"/>
          <p:nvPr/>
        </p:nvSpPr>
        <p:spPr>
          <a:xfrm>
            <a:off x="469538" y="4782324"/>
            <a:ext cx="3558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Clear non-linear </a:t>
            </a:r>
            <a:r>
              <a:rPr lang="pt-PT" dirty="0" err="1"/>
              <a:t>relationship</a:t>
            </a:r>
            <a:r>
              <a:rPr lang="pt-PT" dirty="0"/>
              <a:t> </a:t>
            </a:r>
            <a:r>
              <a:rPr lang="pt-PT" dirty="0" err="1"/>
              <a:t>visible</a:t>
            </a:r>
            <a:r>
              <a:rPr lang="pt-PT" dirty="0"/>
              <a:t> </a:t>
            </a:r>
            <a:r>
              <a:rPr lang="pt-PT" dirty="0" err="1"/>
              <a:t>between</a:t>
            </a:r>
            <a:r>
              <a:rPr lang="pt-PT" dirty="0"/>
              <a:t> input </a:t>
            </a:r>
            <a:r>
              <a:rPr lang="pt-PT" dirty="0" err="1"/>
              <a:t>and</a:t>
            </a:r>
            <a:r>
              <a:rPr lang="pt-PT" dirty="0"/>
              <a:t> output</a:t>
            </a:r>
          </a:p>
          <a:p>
            <a:pPr algn="ctr"/>
            <a:r>
              <a:rPr lang="pt-PT" b="1" dirty="0">
                <a:solidFill>
                  <a:srgbClr val="FF0000"/>
                </a:solidFill>
              </a:rPr>
              <a:t>(</a:t>
            </a:r>
            <a:r>
              <a:rPr lang="pt-PT" b="1" dirty="0" err="1">
                <a:solidFill>
                  <a:srgbClr val="FF0000"/>
                </a:solidFill>
              </a:rPr>
              <a:t>only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possible</a:t>
            </a:r>
            <a:r>
              <a:rPr lang="pt-PT" b="1" dirty="0">
                <a:solidFill>
                  <a:srgbClr val="FF0000"/>
                </a:solidFill>
              </a:rPr>
              <a:t> for 1 </a:t>
            </a:r>
            <a:r>
              <a:rPr lang="pt-PT" b="1" dirty="0" err="1">
                <a:solidFill>
                  <a:srgbClr val="FF0000"/>
                </a:solidFill>
              </a:rPr>
              <a:t>or</a:t>
            </a:r>
            <a:r>
              <a:rPr lang="pt-PT" b="1" dirty="0">
                <a:solidFill>
                  <a:srgbClr val="FF0000"/>
                </a:solidFill>
              </a:rPr>
              <a:t> 2 D cases)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BD1A765-A662-0156-888B-202615559FD7}"/>
              </a:ext>
            </a:extLst>
          </p:cNvPr>
          <p:cNvSpPr txBox="1"/>
          <p:nvPr/>
        </p:nvSpPr>
        <p:spPr>
          <a:xfrm>
            <a:off x="4316894" y="5948500"/>
            <a:ext cx="3558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600" b="1" dirty="0" err="1">
                <a:solidFill>
                  <a:srgbClr val="FF0000"/>
                </a:solidFill>
              </a:rPr>
              <a:t>What</a:t>
            </a:r>
            <a:r>
              <a:rPr lang="pt-PT" sz="3600" b="1" dirty="0">
                <a:solidFill>
                  <a:srgbClr val="FF0000"/>
                </a:solidFill>
              </a:rPr>
              <a:t> to do?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312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14019-B4AD-3EA1-40A4-3E8F675B3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6AE762B-8E37-BF4E-1F71-0C798E48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19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36F0C9F-B9E7-1611-39B4-87D6049EC0D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non-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linearity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feature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engineering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B7CD5E6-127E-52B6-E08B-8C6DB2183D21}"/>
              </a:ext>
            </a:extLst>
          </p:cNvPr>
          <p:cNvSpPr txBox="1"/>
          <p:nvPr/>
        </p:nvSpPr>
        <p:spPr>
          <a:xfrm>
            <a:off x="1" y="663423"/>
            <a:ext cx="12191996" cy="4067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could</a:t>
            </a:r>
            <a:r>
              <a:rPr lang="pt-PT" sz="2000" dirty="0"/>
              <a:t> </a:t>
            </a:r>
            <a:r>
              <a:rPr lang="pt-PT" sz="2000" b="1" dirty="0"/>
              <a:t>move </a:t>
            </a:r>
            <a:r>
              <a:rPr lang="pt-PT" sz="2000" b="1" dirty="0" err="1"/>
              <a:t>beyond</a:t>
            </a:r>
            <a:r>
              <a:rPr lang="pt-PT" sz="2000" b="1" dirty="0"/>
              <a:t> linear </a:t>
            </a:r>
            <a:r>
              <a:rPr lang="pt-PT" sz="2000" b="1" dirty="0" err="1"/>
              <a:t>regression</a:t>
            </a:r>
            <a:r>
              <a:rPr lang="pt-PT" sz="2000" b="1" dirty="0"/>
              <a:t> </a:t>
            </a:r>
            <a:r>
              <a:rPr lang="pt-PT" sz="2000" dirty="0" err="1"/>
              <a:t>models</a:t>
            </a:r>
            <a:r>
              <a:rPr lang="pt-PT" sz="2000" dirty="0"/>
              <a:t> </a:t>
            </a:r>
            <a:r>
              <a:rPr lang="pt-PT" sz="2000" dirty="0" err="1"/>
              <a:t>or</a:t>
            </a:r>
            <a:r>
              <a:rPr lang="pt-PT" sz="2000" dirty="0"/>
              <a:t> </a:t>
            </a:r>
            <a:r>
              <a:rPr lang="pt-PT" sz="2000" b="1" dirty="0" err="1"/>
              <a:t>perform</a:t>
            </a:r>
            <a:r>
              <a:rPr lang="pt-PT" sz="2000" b="1" dirty="0"/>
              <a:t> </a:t>
            </a:r>
            <a:r>
              <a:rPr lang="pt-PT" sz="2000" b="1" dirty="0" err="1"/>
              <a:t>feature</a:t>
            </a:r>
            <a:r>
              <a:rPr lang="pt-PT" sz="2000" b="1" dirty="0"/>
              <a:t> </a:t>
            </a:r>
            <a:r>
              <a:rPr lang="pt-PT" sz="2000" b="1" dirty="0" err="1"/>
              <a:t>engineering</a:t>
            </a:r>
            <a:r>
              <a:rPr lang="pt-PT" sz="2000" b="1" dirty="0"/>
              <a:t>/</a:t>
            </a:r>
            <a:r>
              <a:rPr lang="pt-PT" sz="2000" b="1" dirty="0" err="1"/>
              <a:t>transformation</a:t>
            </a: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 err="1"/>
              <a:t>Feature</a:t>
            </a:r>
            <a:r>
              <a:rPr lang="pt-PT" sz="2000" b="1" dirty="0"/>
              <a:t> </a:t>
            </a:r>
            <a:r>
              <a:rPr lang="pt-PT" sz="2000" b="1" dirty="0" err="1"/>
              <a:t>engineering</a:t>
            </a:r>
            <a:r>
              <a:rPr lang="pt-PT" sz="2000" b="1" dirty="0"/>
              <a:t>: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process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creating</a:t>
            </a:r>
            <a:r>
              <a:rPr lang="pt-PT" sz="2000" dirty="0"/>
              <a:t> </a:t>
            </a:r>
            <a:r>
              <a:rPr lang="pt-PT" sz="2000" dirty="0" err="1"/>
              <a:t>new</a:t>
            </a:r>
            <a:r>
              <a:rPr lang="pt-PT" sz="2000" dirty="0"/>
              <a:t> </a:t>
            </a:r>
            <a:r>
              <a:rPr lang="pt-PT" sz="2000" dirty="0" err="1"/>
              <a:t>variables</a:t>
            </a:r>
            <a:r>
              <a:rPr lang="pt-PT" sz="2000" dirty="0"/>
              <a:t> </a:t>
            </a:r>
            <a:r>
              <a:rPr lang="pt-PT" sz="2000" dirty="0" err="1"/>
              <a:t>from</a:t>
            </a:r>
            <a:r>
              <a:rPr lang="pt-PT" sz="2000" dirty="0"/>
              <a:t> </a:t>
            </a:r>
            <a:r>
              <a:rPr lang="pt-PT" sz="2000" dirty="0" err="1"/>
              <a:t>existing</a:t>
            </a:r>
            <a:r>
              <a:rPr lang="pt-PT" sz="2000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Let’s</a:t>
            </a:r>
            <a:r>
              <a:rPr lang="pt-PT" sz="2000" dirty="0"/>
              <a:t> </a:t>
            </a:r>
            <a:r>
              <a:rPr lang="pt-PT" sz="2000" dirty="0" err="1"/>
              <a:t>revisit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linear </a:t>
            </a:r>
            <a:r>
              <a:rPr lang="pt-PT" sz="2000" dirty="0" err="1"/>
              <a:t>regression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structure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Adding</a:t>
            </a:r>
            <a:r>
              <a:rPr lang="pt-PT" sz="2000" dirty="0"/>
              <a:t> </a:t>
            </a:r>
            <a:r>
              <a:rPr lang="pt-PT" sz="2000" b="1" dirty="0" err="1"/>
              <a:t>features</a:t>
            </a:r>
            <a:r>
              <a:rPr lang="pt-PT" sz="2000" b="1" dirty="0"/>
              <a:t> (</a:t>
            </a:r>
            <a:r>
              <a:rPr lang="pt-PT" sz="2000" b="1" dirty="0" err="1"/>
              <a:t>quadratic</a:t>
            </a:r>
            <a:r>
              <a:rPr lang="pt-PT" sz="2000" b="1" dirty="0"/>
              <a:t> </a:t>
            </a:r>
            <a:r>
              <a:rPr lang="pt-PT" sz="2000" b="1" dirty="0" err="1"/>
              <a:t>and</a:t>
            </a:r>
            <a:r>
              <a:rPr lang="pt-PT" sz="2000" b="1" dirty="0"/>
              <a:t> </a:t>
            </a:r>
            <a:r>
              <a:rPr lang="pt-PT" sz="2000" b="1" dirty="0" err="1"/>
              <a:t>interactions</a:t>
            </a:r>
            <a:r>
              <a:rPr lang="pt-PT" sz="2000" b="1" dirty="0"/>
              <a:t>) </a:t>
            </a:r>
            <a:r>
              <a:rPr lang="pt-PT" sz="2000" dirty="0" err="1"/>
              <a:t>between</a:t>
            </a:r>
            <a:r>
              <a:rPr lang="pt-PT" sz="2000" dirty="0"/>
              <a:t> </a:t>
            </a:r>
            <a:r>
              <a:rPr lang="pt-PT" sz="2000" dirty="0" err="1"/>
              <a:t>variables</a:t>
            </a:r>
            <a:r>
              <a:rPr lang="pt-PT" sz="2000" dirty="0"/>
              <a:t> </a:t>
            </a:r>
            <a:r>
              <a:rPr lang="pt-PT" sz="2000" dirty="0" err="1"/>
              <a:t>increases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b="1" dirty="0" err="1"/>
              <a:t>model</a:t>
            </a:r>
            <a:r>
              <a:rPr lang="pt-PT" sz="2000" b="1" dirty="0"/>
              <a:t> </a:t>
            </a:r>
            <a:r>
              <a:rPr lang="pt-PT" sz="2000" b="1" dirty="0" err="1"/>
              <a:t>flexibility</a:t>
            </a:r>
            <a:r>
              <a:rPr lang="pt-PT" sz="20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This</a:t>
            </a:r>
            <a:r>
              <a:rPr lang="pt-PT" sz="2000" dirty="0"/>
              <a:t> linear </a:t>
            </a:r>
            <a:r>
              <a:rPr lang="pt-PT" sz="2000" dirty="0" err="1"/>
              <a:t>regression</a:t>
            </a:r>
            <a:r>
              <a:rPr lang="pt-PT" sz="2000" dirty="0"/>
              <a:t> </a:t>
            </a:r>
            <a:r>
              <a:rPr lang="pt-PT" sz="2000" dirty="0" err="1"/>
              <a:t>modeln</a:t>
            </a:r>
            <a:r>
              <a:rPr lang="pt-PT" sz="2000" dirty="0"/>
              <a:t> </a:t>
            </a:r>
            <a:r>
              <a:rPr lang="pt-PT" sz="2000" dirty="0" err="1"/>
              <a:t>structure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called</a:t>
            </a:r>
            <a:r>
              <a:rPr lang="pt-PT" sz="2000" dirty="0"/>
              <a:t> a </a:t>
            </a:r>
            <a:r>
              <a:rPr lang="pt-PT" sz="2000" b="1" dirty="0" err="1"/>
              <a:t>polynomial</a:t>
            </a:r>
            <a:r>
              <a:rPr lang="pt-PT" sz="2000" b="1" dirty="0"/>
              <a:t> </a:t>
            </a:r>
            <a:r>
              <a:rPr lang="pt-PT" sz="2000" b="1" dirty="0" err="1"/>
              <a:t>model</a:t>
            </a:r>
            <a:r>
              <a:rPr lang="pt-PT" sz="2000" b="1" dirty="0"/>
              <a:t>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566B106-4C3E-679F-E984-27F1D342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06" y="2556249"/>
            <a:ext cx="9739204" cy="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35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C2B3-5A8F-1819-9A92-BC312F8B4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C4C3ADA-A4B6-9387-999D-52CFD776B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B072BE5-2DB1-7448-B52B-3993877875CE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non-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linearity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feature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engineering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4249BC8-6D73-8EE6-DAEA-CEC4617ADAF3}"/>
              </a:ext>
            </a:extLst>
          </p:cNvPr>
          <p:cNvSpPr txBox="1"/>
          <p:nvPr/>
        </p:nvSpPr>
        <p:spPr>
          <a:xfrm>
            <a:off x="0" y="789318"/>
            <a:ext cx="121919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In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previous</a:t>
            </a:r>
            <a:r>
              <a:rPr lang="pt-PT" dirty="0"/>
              <a:t> </a:t>
            </a:r>
            <a:r>
              <a:rPr lang="pt-PT" dirty="0" err="1"/>
              <a:t>example</a:t>
            </a:r>
            <a:r>
              <a:rPr lang="pt-PT" dirty="0"/>
              <a:t>, </a:t>
            </a:r>
            <a:r>
              <a:rPr lang="pt-PT" dirty="0" err="1"/>
              <a:t>we</a:t>
            </a:r>
            <a:r>
              <a:rPr lang="pt-PT" dirty="0"/>
              <a:t> can </a:t>
            </a:r>
            <a:r>
              <a:rPr lang="pt-PT" dirty="0" err="1"/>
              <a:t>add</a:t>
            </a:r>
            <a:r>
              <a:rPr lang="pt-PT" dirty="0"/>
              <a:t> a </a:t>
            </a:r>
            <a:r>
              <a:rPr lang="pt-PT" dirty="0" err="1"/>
              <a:t>quadratic</a:t>
            </a:r>
            <a:r>
              <a:rPr lang="pt-PT" dirty="0"/>
              <a:t> </a:t>
            </a:r>
            <a:r>
              <a:rPr lang="pt-PT" dirty="0" err="1"/>
              <a:t>feature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input </a:t>
            </a:r>
            <a:r>
              <a:rPr lang="pt-PT" dirty="0" err="1"/>
              <a:t>variable</a:t>
            </a:r>
            <a:r>
              <a:rPr lang="pt-PT" dirty="0"/>
              <a:t> 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u="sng" dirty="0"/>
          </a:p>
          <a:p>
            <a:endParaRPr lang="pt-PT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Fit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greatly</a:t>
            </a:r>
            <a:r>
              <a:rPr lang="pt-PT" dirty="0"/>
              <a:t> </a:t>
            </a:r>
            <a:r>
              <a:rPr lang="pt-PT" dirty="0" err="1"/>
              <a:t>improved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using</a:t>
            </a:r>
            <a:r>
              <a:rPr lang="pt-PT" dirty="0"/>
              <a:t> </a:t>
            </a:r>
            <a:r>
              <a:rPr lang="pt-PT" dirty="0" err="1"/>
              <a:t>quadratic</a:t>
            </a:r>
            <a:r>
              <a:rPr lang="pt-PT" dirty="0"/>
              <a:t> </a:t>
            </a:r>
            <a:r>
              <a:rPr lang="pt-PT" dirty="0" err="1"/>
              <a:t>feature</a:t>
            </a:r>
            <a:r>
              <a:rPr lang="pt-PT" dirty="0"/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9B4225-83AE-5BB4-4896-92A399494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6909"/>
            <a:ext cx="3993394" cy="327977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82BB9B5-FDA3-F978-B70F-170278AE4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642" y="1515001"/>
            <a:ext cx="3993394" cy="314358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509F91F-088C-08D3-DB67-BA7EAD44B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1309" y="1407494"/>
            <a:ext cx="4089375" cy="335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01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9F1F3-FAD0-A27D-6149-CE1F54FA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71CF00E-71E8-794E-62D9-F9CD7743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69F5A40-D129-4A42-FA3E-124F5B8E7777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non-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linearity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FDFB6C7-D16E-E891-A5E7-6B032D116E69}"/>
              </a:ext>
            </a:extLst>
          </p:cNvPr>
          <p:cNvSpPr txBox="1"/>
          <p:nvPr/>
        </p:nvSpPr>
        <p:spPr>
          <a:xfrm>
            <a:off x="0" y="1418796"/>
            <a:ext cx="40882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Features</a:t>
            </a:r>
            <a:r>
              <a:rPr lang="pt-PT" dirty="0"/>
              <a:t> can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created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manipulating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numpy</a:t>
            </a:r>
            <a:r>
              <a:rPr lang="pt-PT" dirty="0"/>
              <a:t> </a:t>
            </a:r>
            <a:r>
              <a:rPr lang="pt-PT" dirty="0" err="1"/>
              <a:t>arrays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We</a:t>
            </a:r>
            <a:r>
              <a:rPr lang="pt-PT" dirty="0"/>
              <a:t> can use </a:t>
            </a:r>
            <a:r>
              <a:rPr lang="pt-PT" dirty="0" err="1"/>
              <a:t>custom</a:t>
            </a:r>
            <a:r>
              <a:rPr lang="pt-PT" dirty="0"/>
              <a:t> </a:t>
            </a:r>
            <a:r>
              <a:rPr lang="pt-PT" dirty="0" err="1"/>
              <a:t>transformations</a:t>
            </a:r>
            <a:r>
              <a:rPr lang="pt-PT" dirty="0"/>
              <a:t> </a:t>
            </a:r>
            <a:r>
              <a:rPr lang="pt-PT" dirty="0" err="1"/>
              <a:t>using</a:t>
            </a:r>
            <a:r>
              <a:rPr lang="pt-PT" dirty="0"/>
              <a:t> </a:t>
            </a:r>
            <a:r>
              <a:rPr lang="pt-PT" dirty="0" err="1"/>
              <a:t>numpy</a:t>
            </a:r>
            <a:r>
              <a:rPr lang="pt-PT" dirty="0"/>
              <a:t> </a:t>
            </a:r>
            <a:r>
              <a:rPr lang="pt-PT" dirty="0" err="1"/>
              <a:t>operations</a:t>
            </a:r>
            <a:endParaRPr lang="pt-PT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193DF72-6B61-1A81-7A5B-C65E0DE5A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513" y="567161"/>
            <a:ext cx="5111443" cy="615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14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F2B7-AC67-EC32-30D2-7A1FBAAAE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06BDA82-647F-B39A-79F3-3532CC46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ADFD598-965E-8042-55D9-6E4C2FBCE5C0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non-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linearity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A3AEA52-81E6-BE23-6961-83DB6085A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6" y="775920"/>
            <a:ext cx="3760546" cy="213889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7E6624D-5680-AC32-CDD4-DCF1099AD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6" y="3104310"/>
            <a:ext cx="3923702" cy="322253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AB812057-4B88-C927-3835-5BDC9AECB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730" y="775920"/>
            <a:ext cx="3522584" cy="198915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B71F553-3D9A-A8D3-20BA-6589C3A42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544" y="3104310"/>
            <a:ext cx="3959627" cy="325204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C72DACE-72EB-2DDF-11D3-D2E214826A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775" y="759400"/>
            <a:ext cx="3861225" cy="205684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6373A864-2D8B-D276-8511-66D8850751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9551" y="3154972"/>
            <a:ext cx="4002449" cy="315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25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3D70-E336-FE83-D6F3-39F53657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FB57C66-3AAE-CC18-4A0C-CA52C2A8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DFFBBA5-0FD6-B2A9-7F66-FB3ABD82969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overfitting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vs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underfitting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8912E78-3327-B739-5B34-8456C2D8B1B6}"/>
              </a:ext>
            </a:extLst>
          </p:cNvPr>
          <p:cNvSpPr txBox="1"/>
          <p:nvPr/>
        </p:nvSpPr>
        <p:spPr>
          <a:xfrm>
            <a:off x="-4" y="507603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Consider</a:t>
            </a:r>
            <a:r>
              <a:rPr lang="pt-PT" sz="2000" dirty="0"/>
              <a:t> </a:t>
            </a:r>
            <a:r>
              <a:rPr lang="pt-PT" sz="2000" dirty="0" err="1"/>
              <a:t>noisy</a:t>
            </a:r>
            <a:r>
              <a:rPr lang="pt-PT" sz="2000" dirty="0"/>
              <a:t> non-linear data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fitting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3 </a:t>
            </a:r>
            <a:r>
              <a:rPr lang="pt-PT" sz="2000" dirty="0" err="1"/>
              <a:t>different</a:t>
            </a:r>
            <a:r>
              <a:rPr lang="pt-PT" sz="2000" dirty="0"/>
              <a:t> </a:t>
            </a:r>
            <a:r>
              <a:rPr lang="pt-PT" sz="2000" dirty="0" err="1"/>
              <a:t>models</a:t>
            </a: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b="1" dirty="0"/>
              <a:t>Question: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What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best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?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9820CAAF-5787-B144-E033-DB05CE500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6" y="2149392"/>
            <a:ext cx="3978690" cy="316077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62F4EE73-5DC0-3B7A-D141-AD8753A35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946" y="2159327"/>
            <a:ext cx="4083525" cy="3244055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CCEB1B2C-318A-C7E3-5AFA-14E56B1E3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471" y="2149392"/>
            <a:ext cx="4083525" cy="324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96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91B9A-F5A5-C388-2953-D2A0B17E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8AC9B6AE-75C5-39D2-206B-4640077A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06323B6-D7C8-382A-C02B-2033386CFDF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overfitting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vs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underfitting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450B085-31C4-1A99-CE3B-C23BB530C718}"/>
              </a:ext>
            </a:extLst>
          </p:cNvPr>
          <p:cNvSpPr txBox="1"/>
          <p:nvPr/>
        </p:nvSpPr>
        <p:spPr>
          <a:xfrm>
            <a:off x="0" y="500947"/>
            <a:ext cx="12192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Lets</a:t>
            </a:r>
            <a:r>
              <a:rPr lang="pt-PT" dirty="0"/>
              <a:t> look </a:t>
            </a:r>
            <a:r>
              <a:rPr lang="pt-PT" dirty="0" err="1"/>
              <a:t>at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</a:t>
            </a:r>
            <a:r>
              <a:rPr lang="pt-PT" dirty="0" err="1"/>
              <a:t>predictions</a:t>
            </a:r>
            <a:r>
              <a:rPr lang="pt-PT" dirty="0"/>
              <a:t> for </a:t>
            </a:r>
            <a:r>
              <a:rPr lang="pt-PT" dirty="0" err="1"/>
              <a:t>new</a:t>
            </a:r>
            <a:r>
              <a:rPr lang="pt-PT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Change</a:t>
            </a:r>
            <a:r>
              <a:rPr lang="pt-PT" dirty="0"/>
              <a:t> in R </a:t>
            </a:r>
            <a:r>
              <a:rPr lang="pt-PT" dirty="0" err="1"/>
              <a:t>squared</a:t>
            </a:r>
            <a:r>
              <a:rPr lang="pt-PT" dirty="0"/>
              <a:t> for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new</a:t>
            </a:r>
            <a:r>
              <a:rPr lang="pt-PT" dirty="0"/>
              <a:t>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600" dirty="0" err="1"/>
              <a:t>model</a:t>
            </a:r>
            <a:r>
              <a:rPr lang="pt-PT" sz="1600" dirty="0"/>
              <a:t> 1: 0.75 -&gt; 0.7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600" dirty="0" err="1"/>
              <a:t>model</a:t>
            </a:r>
            <a:r>
              <a:rPr lang="pt-PT" sz="1600" dirty="0"/>
              <a:t> 2: 0.89 -&gt; 0.85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600" dirty="0" err="1"/>
              <a:t>model</a:t>
            </a:r>
            <a:r>
              <a:rPr lang="pt-PT" sz="1600" dirty="0"/>
              <a:t> 3: 0.91 -&gt; 0.75 </a:t>
            </a:r>
          </a:p>
          <a:p>
            <a:pPr lvl="1"/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Model</a:t>
            </a:r>
            <a:r>
              <a:rPr lang="pt-PT" dirty="0"/>
              <a:t> 3 </a:t>
            </a:r>
            <a:r>
              <a:rPr lang="pt-PT" b="1" dirty="0" err="1"/>
              <a:t>overfitted</a:t>
            </a:r>
            <a:r>
              <a:rPr lang="pt-PT" dirty="0"/>
              <a:t> noise in </a:t>
            </a:r>
            <a:r>
              <a:rPr lang="pt-PT" dirty="0" err="1"/>
              <a:t>the</a:t>
            </a:r>
            <a:r>
              <a:rPr lang="pt-PT" dirty="0"/>
              <a:t> data </a:t>
            </a:r>
            <a:r>
              <a:rPr lang="pt-PT" dirty="0" err="1"/>
              <a:t>due</a:t>
            </a:r>
            <a:r>
              <a:rPr lang="pt-PT" dirty="0"/>
              <a:t> to </a:t>
            </a:r>
            <a:r>
              <a:rPr lang="pt-PT" dirty="0" err="1"/>
              <a:t>many</a:t>
            </a:r>
            <a:r>
              <a:rPr lang="pt-PT" dirty="0"/>
              <a:t> </a:t>
            </a:r>
            <a:r>
              <a:rPr lang="pt-PT" dirty="0" err="1"/>
              <a:t>degrees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freedom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Best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actually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2: </a:t>
            </a:r>
            <a:r>
              <a:rPr lang="pt-PT" dirty="0" err="1"/>
              <a:t>trend</a:t>
            </a:r>
            <a:r>
              <a:rPr lang="pt-PT" dirty="0"/>
              <a:t> (</a:t>
            </a:r>
            <a:r>
              <a:rPr lang="pt-PT" dirty="0" err="1"/>
              <a:t>not</a:t>
            </a:r>
            <a:r>
              <a:rPr lang="pt-PT" dirty="0"/>
              <a:t> noise)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well</a:t>
            </a:r>
            <a:r>
              <a:rPr lang="pt-PT" dirty="0"/>
              <a:t> </a:t>
            </a:r>
            <a:r>
              <a:rPr lang="pt-PT" dirty="0" err="1"/>
              <a:t>captured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performance (R2) for </a:t>
            </a:r>
            <a:r>
              <a:rPr lang="pt-PT" dirty="0" err="1"/>
              <a:t>new</a:t>
            </a:r>
            <a:r>
              <a:rPr lang="pt-PT" dirty="0"/>
              <a:t> data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consistent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>
                <a:solidFill>
                  <a:srgbClr val="FF0000"/>
                </a:solidFill>
              </a:rPr>
              <a:t>We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will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revisit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this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issue</a:t>
            </a:r>
            <a:r>
              <a:rPr lang="pt-PT" b="1" dirty="0">
                <a:solidFill>
                  <a:srgbClr val="FF0000"/>
                </a:solidFill>
              </a:rPr>
              <a:t> later </a:t>
            </a:r>
            <a:r>
              <a:rPr lang="pt-PT" b="1" dirty="0" err="1">
                <a:solidFill>
                  <a:srgbClr val="FF0000"/>
                </a:solidFill>
              </a:rPr>
              <a:t>during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model</a:t>
            </a:r>
            <a:r>
              <a:rPr lang="pt-PT" b="1" dirty="0">
                <a:solidFill>
                  <a:srgbClr val="FF0000"/>
                </a:solidFill>
              </a:rPr>
              <a:t> </a:t>
            </a:r>
            <a:r>
              <a:rPr lang="pt-PT" b="1" dirty="0" err="1">
                <a:solidFill>
                  <a:srgbClr val="FF0000"/>
                </a:solidFill>
              </a:rPr>
              <a:t>tuning</a:t>
            </a:r>
            <a:r>
              <a:rPr lang="pt-PT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31B441E-2F2D-3E14-0FC6-CFFADF9DF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307" y="857099"/>
            <a:ext cx="4058892" cy="322448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1AB3810-1FE5-C479-37D9-EEB57C599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260" y="857099"/>
            <a:ext cx="4200317" cy="322448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C70A409-57EA-DE5B-4FF5-056B35CF0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251" y="857099"/>
            <a:ext cx="4081745" cy="305628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FC81079-53FA-43ED-E88C-732C10C66C8E}"/>
              </a:ext>
            </a:extLst>
          </p:cNvPr>
          <p:cNvSpPr txBox="1"/>
          <p:nvPr/>
        </p:nvSpPr>
        <p:spPr>
          <a:xfrm>
            <a:off x="9621078" y="2774090"/>
            <a:ext cx="15030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/>
              <a:t>“</a:t>
            </a:r>
            <a:r>
              <a:rPr lang="pt-PT" sz="2000" b="1" dirty="0" err="1"/>
              <a:t>Snaking</a:t>
            </a:r>
            <a:r>
              <a:rPr lang="pt-PT" sz="2000" b="1" dirty="0"/>
              <a:t>” </a:t>
            </a:r>
            <a:r>
              <a:rPr lang="pt-PT" sz="2000" b="1" dirty="0" err="1"/>
              <a:t>Polynomial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46283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39C0-3456-C06C-31D6-A7142963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FF9706C-CE54-4CC6-9B56-E1790650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A6A6FC4-0273-1A90-57D2-9348760DF79C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normal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distributed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outputs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0EB7A6B-D23F-BE58-694C-21FB153DCD80}"/>
              </a:ext>
            </a:extLst>
          </p:cNvPr>
          <p:cNvSpPr txBox="1"/>
          <p:nvPr/>
        </p:nvSpPr>
        <p:spPr>
          <a:xfrm>
            <a:off x="5" y="575548"/>
            <a:ext cx="1219199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Linear </a:t>
            </a:r>
            <a:r>
              <a:rPr lang="pt-PT" sz="2000" dirty="0" err="1"/>
              <a:t>regression</a:t>
            </a:r>
            <a:r>
              <a:rPr lang="pt-PT" sz="2000" dirty="0"/>
              <a:t> assumes </a:t>
            </a:r>
            <a:r>
              <a:rPr lang="pt-PT" sz="2000" dirty="0" err="1"/>
              <a:t>that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output </a:t>
            </a:r>
            <a:r>
              <a:rPr lang="pt-PT" sz="2000" dirty="0" err="1"/>
              <a:t>values</a:t>
            </a:r>
            <a:r>
              <a:rPr lang="pt-PT" sz="2000" dirty="0"/>
              <a:t> are </a:t>
            </a:r>
            <a:r>
              <a:rPr lang="pt-PT" sz="2000" dirty="0" err="1"/>
              <a:t>normally</a:t>
            </a:r>
            <a:r>
              <a:rPr lang="pt-PT" sz="2000" dirty="0"/>
              <a:t> </a:t>
            </a:r>
            <a:r>
              <a:rPr lang="pt-PT" sz="2000" dirty="0" err="1"/>
              <a:t>distributed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However</a:t>
            </a:r>
            <a:r>
              <a:rPr lang="pt-PT" sz="2000" dirty="0"/>
              <a:t>, in </a:t>
            </a:r>
            <a:r>
              <a:rPr lang="pt-PT" sz="2000" dirty="0" err="1"/>
              <a:t>many</a:t>
            </a:r>
            <a:r>
              <a:rPr lang="pt-PT" sz="2000" dirty="0"/>
              <a:t> cases,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could</a:t>
            </a:r>
            <a:r>
              <a:rPr lang="pt-PT" sz="2000" dirty="0"/>
              <a:t> </a:t>
            </a:r>
            <a:r>
              <a:rPr lang="pt-PT" sz="2000" dirty="0" err="1"/>
              <a:t>have</a:t>
            </a:r>
            <a:r>
              <a:rPr lang="pt-PT" sz="2000" dirty="0"/>
              <a:t> a </a:t>
            </a:r>
            <a:r>
              <a:rPr lang="pt-PT" sz="2000" dirty="0" err="1"/>
              <a:t>skewed</a:t>
            </a:r>
            <a:r>
              <a:rPr lang="pt-PT" sz="2000" dirty="0"/>
              <a:t> </a:t>
            </a:r>
            <a:r>
              <a:rPr lang="pt-PT" sz="2000" dirty="0" err="1"/>
              <a:t>distribution</a:t>
            </a:r>
            <a:r>
              <a:rPr lang="pt-PT" sz="2000" dirty="0"/>
              <a:t> </a:t>
            </a:r>
            <a:r>
              <a:rPr lang="pt-PT" sz="2000" dirty="0" err="1"/>
              <a:t>towards</a:t>
            </a:r>
            <a:r>
              <a:rPr lang="pt-PT" sz="2000" dirty="0"/>
              <a:t> </a:t>
            </a:r>
            <a:r>
              <a:rPr lang="pt-PT" sz="2000" dirty="0" err="1"/>
              <a:t>low</a:t>
            </a:r>
            <a:r>
              <a:rPr lang="pt-PT" sz="2000" dirty="0"/>
              <a:t> </a:t>
            </a:r>
            <a:r>
              <a:rPr lang="pt-PT" sz="2000" dirty="0" err="1"/>
              <a:t>or</a:t>
            </a:r>
            <a:r>
              <a:rPr lang="pt-PT" sz="2000" dirty="0"/>
              <a:t> </a:t>
            </a:r>
            <a:r>
              <a:rPr lang="pt-PT" sz="2000" dirty="0" err="1"/>
              <a:t>high</a:t>
            </a:r>
            <a:r>
              <a:rPr lang="pt-PT" sz="2000" dirty="0"/>
              <a:t> </a:t>
            </a:r>
            <a:r>
              <a:rPr lang="pt-PT" sz="2000" dirty="0" err="1"/>
              <a:t>values</a:t>
            </a: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This</a:t>
            </a:r>
            <a:r>
              <a:rPr lang="pt-PT" dirty="0"/>
              <a:t> can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due</a:t>
            </a:r>
            <a:r>
              <a:rPr lang="pt-PT" dirty="0"/>
              <a:t> to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sampling</a:t>
            </a:r>
            <a:r>
              <a:rPr lang="pt-PT" dirty="0"/>
              <a:t> </a:t>
            </a:r>
            <a:r>
              <a:rPr lang="pt-PT" dirty="0" err="1"/>
              <a:t>used</a:t>
            </a:r>
            <a:r>
              <a:rPr lang="pt-PT" dirty="0"/>
              <a:t> to </a:t>
            </a:r>
            <a:r>
              <a:rPr lang="pt-PT" dirty="0" err="1"/>
              <a:t>obtain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indicate</a:t>
            </a:r>
            <a:r>
              <a:rPr lang="pt-PT" dirty="0"/>
              <a:t> a </a:t>
            </a:r>
            <a:r>
              <a:rPr lang="pt-PT" dirty="0" err="1"/>
              <a:t>special</a:t>
            </a:r>
            <a:r>
              <a:rPr lang="pt-PT" dirty="0"/>
              <a:t> </a:t>
            </a:r>
            <a:r>
              <a:rPr lang="pt-PT" dirty="0" err="1"/>
              <a:t>type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non-linear </a:t>
            </a:r>
            <a:r>
              <a:rPr lang="pt-PT" dirty="0" err="1"/>
              <a:t>behavior</a:t>
            </a:r>
            <a:endParaRPr lang="pt-PT" dirty="0"/>
          </a:p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b="1" dirty="0" err="1"/>
              <a:t>Always</a:t>
            </a:r>
            <a:r>
              <a:rPr lang="pt-PT" sz="2000" b="1" dirty="0"/>
              <a:t> look </a:t>
            </a:r>
            <a:r>
              <a:rPr lang="pt-PT" sz="2000" b="1" dirty="0" err="1"/>
              <a:t>at</a:t>
            </a:r>
            <a:r>
              <a:rPr lang="pt-PT" sz="2000" b="1" dirty="0"/>
              <a:t> </a:t>
            </a:r>
            <a:r>
              <a:rPr lang="pt-PT" sz="2000" b="1" dirty="0" err="1"/>
              <a:t>the</a:t>
            </a:r>
            <a:r>
              <a:rPr lang="pt-PT" sz="2000" b="1" dirty="0"/>
              <a:t> </a:t>
            </a:r>
            <a:r>
              <a:rPr lang="pt-PT" sz="2000" b="1" dirty="0" err="1"/>
              <a:t>distribution</a:t>
            </a:r>
            <a:r>
              <a:rPr lang="pt-PT" sz="2000" b="1" dirty="0"/>
              <a:t> </a:t>
            </a:r>
            <a:r>
              <a:rPr lang="pt-PT" sz="2000" b="1" dirty="0" err="1"/>
              <a:t>of</a:t>
            </a:r>
            <a:r>
              <a:rPr lang="pt-PT" sz="2000" b="1" dirty="0"/>
              <a:t> </a:t>
            </a:r>
            <a:r>
              <a:rPr lang="pt-PT" sz="2000" b="1" dirty="0" err="1"/>
              <a:t>the</a:t>
            </a:r>
            <a:r>
              <a:rPr lang="pt-PT" sz="2000" b="1" dirty="0"/>
              <a:t> output </a:t>
            </a:r>
            <a:r>
              <a:rPr lang="pt-PT" sz="2000" b="1" dirty="0" err="1"/>
              <a:t>before</a:t>
            </a:r>
            <a:r>
              <a:rPr lang="pt-PT" sz="2000" b="1" dirty="0"/>
              <a:t> </a:t>
            </a:r>
            <a:r>
              <a:rPr lang="pt-PT" sz="2000" b="1" dirty="0" err="1"/>
              <a:t>building</a:t>
            </a:r>
            <a:r>
              <a:rPr lang="pt-PT" sz="2000" b="1" dirty="0"/>
              <a:t> a </a:t>
            </a:r>
            <a:r>
              <a:rPr lang="pt-PT" sz="2000" b="1" dirty="0" err="1"/>
              <a:t>model</a:t>
            </a:r>
            <a:r>
              <a:rPr lang="pt-PT" sz="2000" b="1" dirty="0"/>
              <a:t> </a:t>
            </a:r>
            <a:r>
              <a:rPr lang="pt-PT" sz="2000" b="1" i="1" dirty="0"/>
              <a:t>– </a:t>
            </a:r>
            <a:r>
              <a:rPr lang="pt-PT" sz="2000" b="1" i="1" dirty="0" err="1"/>
              <a:t>exploratory</a:t>
            </a:r>
            <a:r>
              <a:rPr lang="pt-PT" sz="2000" b="1" i="1" dirty="0"/>
              <a:t> data </a:t>
            </a:r>
            <a:r>
              <a:rPr lang="pt-PT" sz="2000" b="1" i="1" dirty="0" err="1"/>
              <a:t>analysis</a:t>
            </a:r>
            <a:endParaRPr lang="pt-PT" sz="2000" b="1" i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7ABDED7-E9BC-F344-6E52-0EB8FA6A4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3" y="2864975"/>
            <a:ext cx="4882428" cy="395285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441FA7F-19A0-B550-974B-23AEDF1E7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879" y="2961331"/>
            <a:ext cx="4718774" cy="376014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EA3B661-3585-D5DA-E975-F1C0D5A1B43C}"/>
              </a:ext>
            </a:extLst>
          </p:cNvPr>
          <p:cNvSpPr txBox="1"/>
          <p:nvPr/>
        </p:nvSpPr>
        <p:spPr>
          <a:xfrm>
            <a:off x="2411649" y="3306786"/>
            <a:ext cx="2080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Y = </a:t>
            </a:r>
            <a:r>
              <a:rPr lang="pt-PT" dirty="0" err="1"/>
              <a:t>exp</a:t>
            </a:r>
            <a:r>
              <a:rPr lang="pt-PT" dirty="0"/>
              <a:t> (x) + noise</a:t>
            </a:r>
            <a:endParaRPr lang="en-US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75EC9AE-32FB-C486-F05B-787B7EFE113E}"/>
              </a:ext>
            </a:extLst>
          </p:cNvPr>
          <p:cNvSpPr txBox="1"/>
          <p:nvPr/>
        </p:nvSpPr>
        <p:spPr>
          <a:xfrm>
            <a:off x="9816547" y="4195072"/>
            <a:ext cx="2080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Linear </a:t>
            </a:r>
            <a:r>
              <a:rPr lang="pt-PT" dirty="0" err="1"/>
              <a:t>model</a:t>
            </a:r>
            <a:r>
              <a:rPr lang="pt-PT" dirty="0"/>
              <a:t> does </a:t>
            </a:r>
            <a:r>
              <a:rPr lang="pt-PT" dirty="0" err="1"/>
              <a:t>not</a:t>
            </a:r>
            <a:r>
              <a:rPr lang="pt-PT" dirty="0"/>
              <a:t> </a:t>
            </a:r>
            <a:r>
              <a:rPr lang="pt-PT" dirty="0" err="1"/>
              <a:t>fit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data </a:t>
            </a:r>
            <a:r>
              <a:rPr lang="pt-PT" dirty="0" err="1"/>
              <a:t>well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84394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E7BAB-2E95-FC19-5A65-50599668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84B8D38-A66E-EBB8-A144-FB4A6A4F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D4FCA8A-27B9-940B-31FE-E0BD30F1099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normal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distributed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outputs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C7C7550-A988-949B-4E6B-80779E82D3A1}"/>
              </a:ext>
            </a:extLst>
          </p:cNvPr>
          <p:cNvSpPr txBox="1"/>
          <p:nvPr/>
        </p:nvSpPr>
        <p:spPr>
          <a:xfrm>
            <a:off x="0" y="471336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 </a:t>
            </a:r>
            <a:r>
              <a:rPr lang="pt-PT" dirty="0" err="1"/>
              <a:t>simple</a:t>
            </a:r>
            <a:r>
              <a:rPr lang="pt-PT" dirty="0"/>
              <a:t> </a:t>
            </a:r>
            <a:r>
              <a:rPr lang="pt-PT" dirty="0" err="1"/>
              <a:t>way</a:t>
            </a:r>
            <a:r>
              <a:rPr lang="pt-PT" dirty="0"/>
              <a:t> to </a:t>
            </a:r>
            <a:r>
              <a:rPr lang="pt-PT" dirty="0" err="1"/>
              <a:t>deal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skewed</a:t>
            </a:r>
            <a:r>
              <a:rPr lang="pt-PT" dirty="0"/>
              <a:t> </a:t>
            </a:r>
            <a:r>
              <a:rPr lang="pt-PT" dirty="0" err="1"/>
              <a:t>distribution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to </a:t>
            </a:r>
            <a:r>
              <a:rPr lang="pt-PT" dirty="0" err="1"/>
              <a:t>transform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output </a:t>
            </a:r>
            <a:r>
              <a:rPr lang="pt-PT" dirty="0" err="1"/>
              <a:t>variables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For </a:t>
            </a:r>
            <a:r>
              <a:rPr lang="pt-PT" b="1" dirty="0" err="1"/>
              <a:t>right</a:t>
            </a:r>
            <a:r>
              <a:rPr lang="pt-PT" b="1" dirty="0"/>
              <a:t> </a:t>
            </a:r>
            <a:r>
              <a:rPr lang="pt-PT" b="1" dirty="0" err="1"/>
              <a:t>skewed</a:t>
            </a:r>
            <a:r>
              <a:rPr lang="pt-PT" b="1" dirty="0"/>
              <a:t> </a:t>
            </a:r>
            <a:r>
              <a:rPr lang="pt-PT" dirty="0" err="1"/>
              <a:t>distributions</a:t>
            </a:r>
            <a:r>
              <a:rPr lang="pt-PT" dirty="0"/>
              <a:t>, a </a:t>
            </a:r>
            <a:r>
              <a:rPr lang="pt-PT" dirty="0" err="1"/>
              <a:t>simple</a:t>
            </a:r>
            <a:r>
              <a:rPr lang="pt-PT" dirty="0"/>
              <a:t> </a:t>
            </a:r>
            <a:r>
              <a:rPr lang="pt-PT" dirty="0" err="1"/>
              <a:t>transformation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using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b="1" dirty="0" err="1"/>
              <a:t>logarithm</a:t>
            </a:r>
            <a:r>
              <a:rPr lang="pt-PT" b="1" dirty="0"/>
              <a:t> </a:t>
            </a:r>
            <a:r>
              <a:rPr lang="pt-PT" b="1" dirty="0" err="1"/>
              <a:t>of</a:t>
            </a:r>
            <a:r>
              <a:rPr lang="pt-PT" b="1" dirty="0"/>
              <a:t> </a:t>
            </a:r>
            <a:r>
              <a:rPr lang="pt-PT" b="1" dirty="0" err="1"/>
              <a:t>the</a:t>
            </a:r>
            <a:r>
              <a:rPr lang="pt-PT" b="1" dirty="0"/>
              <a:t> output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similar to </a:t>
            </a:r>
            <a:r>
              <a:rPr lang="pt-PT" dirty="0" err="1"/>
              <a:t>considering</a:t>
            </a:r>
            <a:r>
              <a:rPr lang="pt-PT" dirty="0"/>
              <a:t> a log-normal </a:t>
            </a:r>
            <a:r>
              <a:rPr lang="pt-PT" dirty="0" err="1"/>
              <a:t>distribution</a:t>
            </a:r>
            <a:r>
              <a:rPr lang="pt-PT" dirty="0"/>
              <a:t> for </a:t>
            </a:r>
            <a:r>
              <a:rPr lang="pt-PT" dirty="0" err="1"/>
              <a:t>the</a:t>
            </a:r>
            <a:r>
              <a:rPr lang="pt-PT" dirty="0"/>
              <a:t>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696A689-212A-20EB-C526-A607FBE82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" y="2113017"/>
            <a:ext cx="3865136" cy="312924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E16B59B-EE1D-3CCE-8360-97EFB2AA7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570" y="2113017"/>
            <a:ext cx="4191097" cy="3129248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C0A0D7-D02D-27F6-3510-274CAB92C14E}"/>
              </a:ext>
            </a:extLst>
          </p:cNvPr>
          <p:cNvSpPr txBox="1"/>
          <p:nvPr/>
        </p:nvSpPr>
        <p:spPr>
          <a:xfrm>
            <a:off x="3981570" y="5336141"/>
            <a:ext cx="3804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Output </a:t>
            </a:r>
            <a:r>
              <a:rPr lang="pt-PT" b="1" dirty="0" err="1"/>
              <a:t>distribution</a:t>
            </a:r>
            <a:r>
              <a:rPr lang="pt-PT" b="1" dirty="0"/>
              <a:t> </a:t>
            </a:r>
          </a:p>
          <a:p>
            <a:pPr algn="ctr"/>
            <a:r>
              <a:rPr lang="pt-PT" b="1" dirty="0"/>
              <a:t>“looks more normal”</a:t>
            </a:r>
            <a:endParaRPr lang="en-US" b="1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2353329-9281-1806-BF47-733408107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4961" y="2113017"/>
            <a:ext cx="3927035" cy="3129248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05002FDA-5083-7E79-6C66-B16F1293E60C}"/>
              </a:ext>
            </a:extLst>
          </p:cNvPr>
          <p:cNvSpPr txBox="1"/>
          <p:nvPr/>
        </p:nvSpPr>
        <p:spPr>
          <a:xfrm>
            <a:off x="8420632" y="5305827"/>
            <a:ext cx="3615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 err="1"/>
              <a:t>Model</a:t>
            </a:r>
            <a:r>
              <a:rPr lang="pt-PT" b="1" dirty="0"/>
              <a:t> </a:t>
            </a:r>
            <a:r>
              <a:rPr lang="pt-PT" b="1" dirty="0" err="1"/>
              <a:t>fit</a:t>
            </a:r>
            <a:r>
              <a:rPr lang="pt-PT" b="1" dirty="0"/>
              <a:t> </a:t>
            </a:r>
            <a:r>
              <a:rPr lang="pt-PT" b="1" dirty="0" err="1"/>
              <a:t>is</a:t>
            </a:r>
            <a:r>
              <a:rPr lang="pt-PT" b="1" dirty="0"/>
              <a:t> </a:t>
            </a:r>
            <a:r>
              <a:rPr lang="pt-PT" b="1" dirty="0" err="1"/>
              <a:t>improved</a:t>
            </a:r>
            <a:r>
              <a:rPr lang="pt-PT" b="1" dirty="0"/>
              <a:t> </a:t>
            </a:r>
            <a:r>
              <a:rPr lang="pt-PT" b="1" dirty="0" err="1"/>
              <a:t>by</a:t>
            </a:r>
            <a:r>
              <a:rPr lang="pt-PT" b="1" dirty="0"/>
              <a:t> </a:t>
            </a:r>
            <a:r>
              <a:rPr lang="pt-PT" b="1" dirty="0" err="1"/>
              <a:t>simple</a:t>
            </a:r>
            <a:r>
              <a:rPr lang="pt-PT" b="1" dirty="0"/>
              <a:t> </a:t>
            </a:r>
            <a:r>
              <a:rPr lang="pt-PT" b="1" dirty="0" err="1"/>
              <a:t>transformation</a:t>
            </a:r>
            <a:endParaRPr lang="en-US" b="1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119B62A-F55F-B24C-1205-DA7999970FDE}"/>
              </a:ext>
            </a:extLst>
          </p:cNvPr>
          <p:cNvSpPr txBox="1"/>
          <p:nvPr/>
        </p:nvSpPr>
        <p:spPr>
          <a:xfrm>
            <a:off x="243103" y="5336141"/>
            <a:ext cx="3615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/>
              <a:t>Output </a:t>
            </a:r>
            <a:r>
              <a:rPr lang="pt-PT" b="1" dirty="0" err="1"/>
              <a:t>distribution</a:t>
            </a:r>
            <a:r>
              <a:rPr lang="pt-PT" b="1" dirty="0"/>
              <a:t> </a:t>
            </a:r>
            <a:r>
              <a:rPr lang="pt-PT" b="1" dirty="0" err="1"/>
              <a:t>is</a:t>
            </a:r>
            <a:r>
              <a:rPr lang="pt-PT" b="1" dirty="0"/>
              <a:t> </a:t>
            </a:r>
            <a:r>
              <a:rPr lang="pt-PT" b="1" dirty="0" err="1"/>
              <a:t>right-skewed</a:t>
            </a:r>
            <a:r>
              <a:rPr lang="pt-PT" b="1" dirty="0"/>
              <a:t> (</a:t>
            </a:r>
            <a:r>
              <a:rPr lang="pt-PT" b="1" dirty="0" err="1"/>
              <a:t>big</a:t>
            </a:r>
            <a:r>
              <a:rPr lang="pt-PT" b="1" dirty="0"/>
              <a:t> </a:t>
            </a:r>
            <a:r>
              <a:rPr lang="pt-PT" b="1" dirty="0" err="1"/>
              <a:t>tails</a:t>
            </a:r>
            <a:r>
              <a:rPr lang="pt-PT" b="1" dirty="0"/>
              <a:t> to </a:t>
            </a:r>
            <a:r>
              <a:rPr lang="pt-PT" b="1" dirty="0" err="1"/>
              <a:t>the</a:t>
            </a:r>
            <a:r>
              <a:rPr lang="pt-PT" b="1" dirty="0"/>
              <a:t> </a:t>
            </a:r>
            <a:r>
              <a:rPr lang="pt-PT" b="1" dirty="0" err="1"/>
              <a:t>right</a:t>
            </a:r>
            <a:r>
              <a:rPr lang="pt-PT" b="1" dirty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35248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F97E-D9F7-CE0C-0118-948A11A97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07D7DB8-E3C9-F2ED-757B-98AC92347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D4D87F0F-77CF-E0BA-74A7-1A3D39D2005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normal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distributed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outputs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EE6FB9A-D20F-E853-786F-076BCE476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16" y="520934"/>
            <a:ext cx="5837582" cy="620054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3D2A35F-D087-636D-A2E9-2CA654417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296" y="524690"/>
            <a:ext cx="3935561" cy="318626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8CD7283-B616-508E-23B9-894828A48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305" y="3794220"/>
            <a:ext cx="3673544" cy="292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025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0152-88CB-04C9-8F46-59F64A1F9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002330E-833B-E44B-E05A-1D1E0CA6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8853C9E-599E-33EC-86CF-C7BB206331A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normal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distributed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outputs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6192233-19D8-4E02-0D53-4410774CC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68" y="521521"/>
            <a:ext cx="5821230" cy="62635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32CD9C1-DE3F-628D-6516-48766DA91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504" y="496428"/>
            <a:ext cx="3904007" cy="320636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7292ED7-5762-0693-19C1-9B803B044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504" y="3653317"/>
            <a:ext cx="4023806" cy="320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36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6975E-FB76-E29E-1092-E99E7FD89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4568766-4EE8-A03C-C057-CD7708900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29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EBFC06F-2E45-E06B-ED21-6202CEF60C20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Moving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from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to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other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more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complex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1026" name="Picture 2" descr="Artificial Neural Networks and its Applications - GeeksforGeeks">
            <a:extLst>
              <a:ext uri="{FF2B5EF4-FFF2-40B4-BE49-F238E27FC236}">
                <a16:creationId xmlns:a16="http://schemas.microsoft.com/office/drawing/2014/main" id="{DDCD2076-5FC6-77D6-CC5A-FE675A1BE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0417"/>
            <a:ext cx="4279256" cy="269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are Gaussian processes? — infpy 0.4.13 documentation">
            <a:extLst>
              <a:ext uri="{FF2B5EF4-FFF2-40B4-BE49-F238E27FC236}">
                <a16:creationId xmlns:a16="http://schemas.microsoft.com/office/drawing/2014/main" id="{3480EDB8-C99B-E549-61D3-E8BAC1CFF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639" y="1710417"/>
            <a:ext cx="4003357" cy="269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andom Forests. Random forests is a powerful machine… | by Roi Yehoshua,  PhD | Medium">
            <a:extLst>
              <a:ext uri="{FF2B5EF4-FFF2-40B4-BE49-F238E27FC236}">
                <a16:creationId xmlns:a16="http://schemas.microsoft.com/office/drawing/2014/main" id="{6F405308-5065-DC27-E06F-037431238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063" y="1941443"/>
            <a:ext cx="4377769" cy="269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AFFD31A-984E-D550-10E5-4F9B9FF0E246}"/>
              </a:ext>
            </a:extLst>
          </p:cNvPr>
          <p:cNvSpPr txBox="1"/>
          <p:nvPr/>
        </p:nvSpPr>
        <p:spPr>
          <a:xfrm>
            <a:off x="275899" y="4637375"/>
            <a:ext cx="38828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Artificial Neural Networks / </a:t>
            </a:r>
          </a:p>
          <a:p>
            <a:pPr algn="ctr"/>
            <a:r>
              <a:rPr lang="pt-PT" dirty="0" err="1"/>
              <a:t>Deep</a:t>
            </a:r>
            <a:r>
              <a:rPr lang="pt-PT" dirty="0"/>
              <a:t> </a:t>
            </a:r>
            <a:r>
              <a:rPr lang="pt-PT" dirty="0" err="1"/>
              <a:t>Learning</a:t>
            </a:r>
            <a:r>
              <a:rPr lang="pt-PT" dirty="0"/>
              <a:t> (DL)</a:t>
            </a:r>
          </a:p>
          <a:p>
            <a:pPr algn="ctr"/>
            <a:r>
              <a:rPr lang="pt-PT" dirty="0"/>
              <a:t>(</a:t>
            </a:r>
            <a:r>
              <a:rPr lang="pt-PT" dirty="0" err="1"/>
              <a:t>ChatGPT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LLMs</a:t>
            </a:r>
            <a:r>
              <a:rPr lang="pt-PT" dirty="0"/>
              <a:t> use DL)</a:t>
            </a: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E718FA-4E6C-7C5D-93A0-F41838BDB76B}"/>
              </a:ext>
            </a:extLst>
          </p:cNvPr>
          <p:cNvSpPr txBox="1"/>
          <p:nvPr/>
        </p:nvSpPr>
        <p:spPr>
          <a:xfrm>
            <a:off x="4279256" y="4643115"/>
            <a:ext cx="3882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Random</a:t>
            </a:r>
            <a:r>
              <a:rPr lang="pt-PT" dirty="0"/>
              <a:t> </a:t>
            </a:r>
            <a:r>
              <a:rPr lang="pt-PT" dirty="0" err="1"/>
              <a:t>forests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tree-based</a:t>
            </a:r>
            <a:r>
              <a:rPr lang="pt-PT" dirty="0"/>
              <a:t> </a:t>
            </a:r>
            <a:r>
              <a:rPr lang="pt-PT" dirty="0" err="1"/>
              <a:t>models</a:t>
            </a:r>
            <a:endParaRPr lang="pt-PT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2707016-5FEA-D51A-39FE-A64861C1D6FC}"/>
              </a:ext>
            </a:extLst>
          </p:cNvPr>
          <p:cNvSpPr txBox="1"/>
          <p:nvPr/>
        </p:nvSpPr>
        <p:spPr>
          <a:xfrm>
            <a:off x="8248873" y="4643115"/>
            <a:ext cx="3882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Gaussian</a:t>
            </a:r>
            <a:r>
              <a:rPr lang="pt-PT" dirty="0"/>
              <a:t> Processes </a:t>
            </a:r>
          </a:p>
          <a:p>
            <a:pPr algn="ctr"/>
            <a:r>
              <a:rPr lang="pt-PT" dirty="0"/>
              <a:t>(</a:t>
            </a:r>
            <a:r>
              <a:rPr lang="pt-PT" dirty="0" err="1"/>
              <a:t>Probabilistic</a:t>
            </a:r>
            <a:r>
              <a:rPr lang="pt-PT" dirty="0"/>
              <a:t> </a:t>
            </a:r>
            <a:r>
              <a:rPr lang="pt-PT" dirty="0" err="1"/>
              <a:t>models</a:t>
            </a:r>
            <a:r>
              <a:rPr lang="pt-PT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311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3501-DA7D-5C54-297A-7C86D887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05D73-505D-7506-123C-FA4A11524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943" y="2734434"/>
            <a:ext cx="9452113" cy="1389132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Part 3: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Spectroscopic data modeling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DB9BCEAE-0BAA-8ECA-6420-6E26CD4D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7329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5B619-B3D7-4AD4-2394-DF3629C67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Agrupar 23">
            <a:extLst>
              <a:ext uri="{FF2B5EF4-FFF2-40B4-BE49-F238E27FC236}">
                <a16:creationId xmlns:a16="http://schemas.microsoft.com/office/drawing/2014/main" id="{A3C55273-C7D8-B7B7-9A70-8172FD5FEC73}"/>
              </a:ext>
            </a:extLst>
          </p:cNvPr>
          <p:cNvGrpSpPr/>
          <p:nvPr/>
        </p:nvGrpSpPr>
        <p:grpSpPr>
          <a:xfrm>
            <a:off x="0" y="2942523"/>
            <a:ext cx="11972931" cy="3778952"/>
            <a:chOff x="46383" y="2577398"/>
            <a:chExt cx="11972931" cy="3778952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7A91F2AC-BAD8-930F-4C84-02CB27860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54355" y="2577398"/>
              <a:ext cx="4564959" cy="3695830"/>
            </a:xfrm>
            <a:prstGeom prst="rect">
              <a:avLst/>
            </a:prstGeom>
          </p:spPr>
        </p:pic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59C984F7-B72A-E933-0840-B0803DB94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83" y="2660520"/>
              <a:ext cx="4850777" cy="3695830"/>
            </a:xfrm>
            <a:prstGeom prst="rect">
              <a:avLst/>
            </a:prstGeom>
          </p:spPr>
        </p:pic>
        <p:sp>
          <p:nvSpPr>
            <p:cNvPr id="22" name="Seta: Para a Direita 21">
              <a:extLst>
                <a:ext uri="{FF2B5EF4-FFF2-40B4-BE49-F238E27FC236}">
                  <a16:creationId xmlns:a16="http://schemas.microsoft.com/office/drawing/2014/main" id="{69A59B0D-0798-2B5C-486F-3F6CD80BDFF6}"/>
                </a:ext>
              </a:extLst>
            </p:cNvPr>
            <p:cNvSpPr/>
            <p:nvPr/>
          </p:nvSpPr>
          <p:spPr>
            <a:xfrm>
              <a:off x="5049323" y="3934982"/>
              <a:ext cx="2252869" cy="980661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5E07EF55-91B3-5229-DDAB-505C91E34C23}"/>
                </a:ext>
              </a:extLst>
            </p:cNvPr>
            <p:cNvSpPr txBox="1"/>
            <p:nvPr/>
          </p:nvSpPr>
          <p:spPr>
            <a:xfrm>
              <a:off x="4897160" y="2884317"/>
              <a:ext cx="27034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400" b="1" dirty="0" err="1"/>
                <a:t>Extract</a:t>
              </a:r>
              <a:r>
                <a:rPr lang="pt-PT" sz="2400" b="1" dirty="0"/>
                <a:t> = </a:t>
              </a:r>
              <a:r>
                <a:rPr lang="pt-PT" sz="2400" b="1" dirty="0" err="1"/>
                <a:t>function</a:t>
              </a:r>
              <a:r>
                <a:rPr lang="pt-PT" sz="2400" b="1" dirty="0"/>
                <a:t> (</a:t>
              </a:r>
              <a:r>
                <a:rPr lang="pt-PT" sz="2400" b="1" dirty="0" err="1"/>
                <a:t>absorbance</a:t>
              </a:r>
              <a:r>
                <a:rPr lang="pt-PT" sz="2400" b="1" dirty="0"/>
                <a:t>) ? </a:t>
              </a:r>
              <a:endParaRPr lang="en-US" sz="2400" b="1" dirty="0"/>
            </a:p>
          </p:txBody>
        </p:sp>
      </p:grp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ABEF5A5-0159-8075-F6E9-FCA252311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C401A37-7EB8-84AC-916A-7D36B6D8FBF4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for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motivating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example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886ACCB-EE21-CB9C-EEB0-891B42F5A488}"/>
              </a:ext>
            </a:extLst>
          </p:cNvPr>
          <p:cNvSpPr txBox="1"/>
          <p:nvPr/>
        </p:nvSpPr>
        <p:spPr>
          <a:xfrm>
            <a:off x="1" y="480054"/>
            <a:ext cx="6692347" cy="2325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Beer</a:t>
            </a:r>
            <a:r>
              <a:rPr lang="pt-PT" b="1" dirty="0"/>
              <a:t> </a:t>
            </a:r>
            <a:r>
              <a:rPr lang="pt-PT" b="1" dirty="0" err="1"/>
              <a:t>dataset</a:t>
            </a:r>
            <a:r>
              <a:rPr lang="pt-PT" b="1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600" dirty="0"/>
              <a:t>VIS-NIR </a:t>
            </a:r>
            <a:r>
              <a:rPr lang="pt-PT" sz="1600" dirty="0" err="1"/>
              <a:t>spectroscopic</a:t>
            </a:r>
            <a:r>
              <a:rPr lang="pt-PT" sz="1600" dirty="0"/>
              <a:t> data </a:t>
            </a:r>
            <a:r>
              <a:rPr lang="pt-PT" sz="1600" dirty="0" err="1"/>
              <a:t>of</a:t>
            </a:r>
            <a:r>
              <a:rPr lang="pt-PT" sz="1600" dirty="0"/>
              <a:t> </a:t>
            </a:r>
            <a:r>
              <a:rPr lang="pt-PT" sz="1600" dirty="0" err="1"/>
              <a:t>beer</a:t>
            </a:r>
            <a:r>
              <a:rPr lang="pt-PT" sz="1600" dirty="0"/>
              <a:t> samples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600" dirty="0"/>
              <a:t>926 </a:t>
            </a:r>
            <a:r>
              <a:rPr lang="pt-PT" sz="1600" dirty="0" err="1"/>
              <a:t>absorbance</a:t>
            </a:r>
            <a:r>
              <a:rPr lang="pt-PT" sz="1600" dirty="0"/>
              <a:t> </a:t>
            </a:r>
            <a:r>
              <a:rPr lang="pt-PT" sz="1600" dirty="0" err="1"/>
              <a:t>measurements</a:t>
            </a:r>
            <a:r>
              <a:rPr lang="pt-PT" sz="1600" dirty="0"/>
              <a:t> </a:t>
            </a:r>
            <a:r>
              <a:rPr lang="pt-PT" sz="1600" dirty="0" err="1"/>
              <a:t>at</a:t>
            </a:r>
            <a:r>
              <a:rPr lang="pt-PT" sz="1600" dirty="0"/>
              <a:t> </a:t>
            </a:r>
            <a:r>
              <a:rPr lang="pt-PT" sz="1600" dirty="0" err="1"/>
              <a:t>each</a:t>
            </a:r>
            <a:r>
              <a:rPr lang="pt-PT" sz="1600" dirty="0"/>
              <a:t> </a:t>
            </a:r>
            <a:r>
              <a:rPr lang="pt-PT" sz="1600" dirty="0" err="1"/>
              <a:t>wavelength</a:t>
            </a:r>
            <a:endParaRPr lang="pt-PT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1600" dirty="0"/>
              <a:t>Target </a:t>
            </a:r>
            <a:r>
              <a:rPr lang="pt-PT" sz="1600" dirty="0" err="1"/>
              <a:t>variable</a:t>
            </a:r>
            <a:r>
              <a:rPr lang="pt-PT" sz="1600" dirty="0"/>
              <a:t> </a:t>
            </a:r>
            <a:r>
              <a:rPr lang="pt-PT" sz="1600" dirty="0" err="1"/>
              <a:t>is</a:t>
            </a:r>
            <a:r>
              <a:rPr lang="pt-PT" sz="1600" dirty="0"/>
              <a:t> a </a:t>
            </a:r>
            <a:r>
              <a:rPr lang="pt-PT" sz="1600" dirty="0" err="1"/>
              <a:t>beer</a:t>
            </a:r>
            <a:r>
              <a:rPr lang="pt-PT" sz="1600" dirty="0"/>
              <a:t> </a:t>
            </a:r>
            <a:r>
              <a:rPr lang="pt-PT" sz="1600" dirty="0" err="1"/>
              <a:t>quality</a:t>
            </a:r>
            <a:r>
              <a:rPr lang="pt-PT" sz="1600" dirty="0"/>
              <a:t> </a:t>
            </a:r>
            <a:r>
              <a:rPr lang="pt-PT" sz="1600" dirty="0" err="1"/>
              <a:t>parameter</a:t>
            </a:r>
            <a:r>
              <a:rPr lang="pt-PT" sz="1600" dirty="0"/>
              <a:t> (</a:t>
            </a:r>
            <a:r>
              <a:rPr lang="pt-PT" sz="1600" dirty="0" err="1"/>
              <a:t>extract</a:t>
            </a:r>
            <a:r>
              <a:rPr lang="pt-PT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600" dirty="0"/>
              <a:t> </a:t>
            </a:r>
            <a:r>
              <a:rPr lang="pt-PT" sz="1600" dirty="0" err="1"/>
              <a:t>How</a:t>
            </a:r>
            <a:r>
              <a:rPr lang="pt-PT" sz="1600" dirty="0"/>
              <a:t> can </a:t>
            </a:r>
            <a:r>
              <a:rPr lang="pt-PT" sz="1600" dirty="0" err="1"/>
              <a:t>we</a:t>
            </a:r>
            <a:r>
              <a:rPr lang="pt-PT" sz="1600" dirty="0"/>
              <a:t> </a:t>
            </a:r>
            <a:r>
              <a:rPr lang="pt-PT" sz="1600" dirty="0" err="1"/>
              <a:t>predict</a:t>
            </a:r>
            <a:r>
              <a:rPr lang="pt-PT" sz="1600" dirty="0"/>
              <a:t> </a:t>
            </a: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beer</a:t>
            </a:r>
            <a:r>
              <a:rPr lang="pt-PT" sz="1600" dirty="0"/>
              <a:t> </a:t>
            </a:r>
            <a:r>
              <a:rPr lang="pt-PT" sz="1600" dirty="0" err="1"/>
              <a:t>quality</a:t>
            </a:r>
            <a:r>
              <a:rPr lang="pt-PT" sz="1600" dirty="0"/>
              <a:t> </a:t>
            </a:r>
            <a:r>
              <a:rPr lang="pt-PT" sz="1600" dirty="0" err="1"/>
              <a:t>parameter</a:t>
            </a:r>
            <a:r>
              <a:rPr lang="pt-PT" sz="1600" dirty="0"/>
              <a:t> </a:t>
            </a:r>
            <a:r>
              <a:rPr lang="pt-PT" sz="1600" dirty="0" err="1"/>
              <a:t>based</a:t>
            </a:r>
            <a:r>
              <a:rPr lang="pt-PT" sz="1600" dirty="0"/>
              <a:t> </a:t>
            </a:r>
            <a:r>
              <a:rPr lang="pt-PT" sz="1600" dirty="0" err="1"/>
              <a:t>on</a:t>
            </a:r>
            <a:r>
              <a:rPr lang="pt-PT" sz="1600" dirty="0"/>
              <a:t> </a:t>
            </a:r>
            <a:r>
              <a:rPr lang="pt-PT" sz="1600" dirty="0" err="1"/>
              <a:t>the</a:t>
            </a:r>
            <a:r>
              <a:rPr lang="pt-PT" sz="1600" dirty="0"/>
              <a:t> </a:t>
            </a:r>
            <a:r>
              <a:rPr lang="pt-PT" sz="1600" dirty="0" err="1"/>
              <a:t>spectroscopic</a:t>
            </a:r>
            <a:r>
              <a:rPr lang="pt-PT" sz="1600" dirty="0"/>
              <a:t> </a:t>
            </a:r>
            <a:r>
              <a:rPr lang="pt-PT" sz="1600" dirty="0" err="1"/>
              <a:t>absorbance</a:t>
            </a:r>
            <a:r>
              <a:rPr lang="pt-PT" sz="1600" dirty="0"/>
              <a:t> data?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51D74F7-99BF-BACE-77CC-91C90A050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1" y="868854"/>
            <a:ext cx="5279624" cy="124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67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FA407-96F1-F576-6C6F-6B91BF1EB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2447DD5-D414-0344-96EC-1813D788F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1ADA47F-B214-C133-AEC0-71449A34DA56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revisiting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independence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assumption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for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14866A-7807-987C-DAF1-DCF9BF4B62FE}"/>
              </a:ext>
            </a:extLst>
          </p:cNvPr>
          <p:cNvSpPr txBox="1"/>
          <p:nvPr/>
        </p:nvSpPr>
        <p:spPr>
          <a:xfrm>
            <a:off x="0" y="605778"/>
            <a:ext cx="121919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Spectroscopic</a:t>
            </a:r>
            <a:r>
              <a:rPr lang="pt-PT" sz="2000" dirty="0"/>
              <a:t> data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tipically</a:t>
            </a:r>
            <a:r>
              <a:rPr lang="pt-PT" sz="2000" dirty="0"/>
              <a:t> </a:t>
            </a:r>
            <a:r>
              <a:rPr lang="pt-PT" sz="2000" dirty="0" err="1"/>
              <a:t>very</a:t>
            </a:r>
            <a:r>
              <a:rPr lang="pt-PT" sz="2000" dirty="0"/>
              <a:t> </a:t>
            </a:r>
            <a:r>
              <a:rPr lang="pt-PT" sz="2000" dirty="0" err="1"/>
              <a:t>high</a:t>
            </a:r>
            <a:r>
              <a:rPr lang="pt-PT" sz="2000" dirty="0"/>
              <a:t> dimensional (100s to 1000s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variables</a:t>
            </a:r>
            <a:r>
              <a:rPr lang="pt-PT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saw</a:t>
            </a:r>
            <a:r>
              <a:rPr lang="pt-PT" sz="2000" dirty="0"/>
              <a:t> </a:t>
            </a:r>
            <a:r>
              <a:rPr lang="pt-PT" sz="2000" dirty="0" err="1"/>
              <a:t>that</a:t>
            </a:r>
            <a:r>
              <a:rPr lang="pt-PT" sz="2000" dirty="0"/>
              <a:t> </a:t>
            </a:r>
            <a:r>
              <a:rPr lang="pt-PT" sz="2000" dirty="0" err="1"/>
              <a:t>when</a:t>
            </a:r>
            <a:r>
              <a:rPr lang="pt-PT" sz="2000" dirty="0"/>
              <a:t> </a:t>
            </a:r>
            <a:r>
              <a:rPr lang="pt-PT" sz="2000" dirty="0" err="1"/>
              <a:t>using</a:t>
            </a:r>
            <a:r>
              <a:rPr lang="pt-PT" sz="2000" dirty="0"/>
              <a:t> PCA, </a:t>
            </a:r>
            <a:r>
              <a:rPr lang="pt-PT" sz="2000" dirty="0" err="1"/>
              <a:t>the</a:t>
            </a:r>
            <a:r>
              <a:rPr lang="pt-PT" sz="2000" dirty="0"/>
              <a:t> individual </a:t>
            </a:r>
            <a:r>
              <a:rPr lang="pt-PT" sz="2000" dirty="0" err="1"/>
              <a:t>measurements</a:t>
            </a:r>
            <a:r>
              <a:rPr lang="pt-PT" sz="2000" dirty="0"/>
              <a:t> </a:t>
            </a:r>
            <a:r>
              <a:rPr lang="pt-PT" sz="2000" dirty="0" err="1"/>
              <a:t>have</a:t>
            </a:r>
            <a:r>
              <a:rPr lang="pt-PT" sz="2000" dirty="0"/>
              <a:t> </a:t>
            </a:r>
            <a:r>
              <a:rPr lang="pt-PT" sz="2000" dirty="0" err="1"/>
              <a:t>intrinsic</a:t>
            </a:r>
            <a:r>
              <a:rPr lang="pt-PT" sz="2000" dirty="0"/>
              <a:t> </a:t>
            </a:r>
            <a:r>
              <a:rPr lang="pt-PT" sz="2000" dirty="0" err="1"/>
              <a:t>lower</a:t>
            </a:r>
            <a:r>
              <a:rPr lang="pt-PT" sz="2000" dirty="0"/>
              <a:t> </a:t>
            </a:r>
            <a:r>
              <a:rPr lang="pt-PT" sz="2000" dirty="0" err="1"/>
              <a:t>dimensionality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Spectroscopic</a:t>
            </a:r>
            <a:r>
              <a:rPr lang="pt-PT" sz="2000" dirty="0"/>
              <a:t> input </a:t>
            </a:r>
            <a:r>
              <a:rPr lang="pt-PT" sz="2000" dirty="0" err="1"/>
              <a:t>variables</a:t>
            </a:r>
            <a:r>
              <a:rPr lang="pt-PT" sz="2000" dirty="0"/>
              <a:t> are </a:t>
            </a:r>
            <a:r>
              <a:rPr lang="pt-PT" sz="2000" dirty="0" err="1"/>
              <a:t>tipically</a:t>
            </a:r>
            <a:r>
              <a:rPr lang="pt-PT" sz="2000" dirty="0"/>
              <a:t> </a:t>
            </a:r>
            <a:r>
              <a:rPr lang="pt-PT" sz="2000" dirty="0" err="1"/>
              <a:t>very</a:t>
            </a:r>
            <a:r>
              <a:rPr lang="pt-PT" sz="2000" dirty="0"/>
              <a:t> </a:t>
            </a:r>
            <a:r>
              <a:rPr lang="pt-PT" sz="2000" dirty="0" err="1"/>
              <a:t>correlated</a:t>
            </a:r>
            <a:r>
              <a:rPr lang="pt-PT" sz="2000" dirty="0"/>
              <a:t> – </a:t>
            </a:r>
            <a:r>
              <a:rPr lang="pt-PT" sz="2000" b="1" dirty="0" err="1"/>
              <a:t>this</a:t>
            </a:r>
            <a:r>
              <a:rPr lang="pt-PT" sz="2000" b="1" dirty="0"/>
              <a:t> </a:t>
            </a:r>
            <a:r>
              <a:rPr lang="pt-PT" sz="2000" b="1" dirty="0" err="1"/>
              <a:t>is</a:t>
            </a:r>
            <a:r>
              <a:rPr lang="pt-PT" sz="2000" b="1" dirty="0"/>
              <a:t> </a:t>
            </a:r>
            <a:r>
              <a:rPr lang="pt-PT" sz="2000" b="1" dirty="0" err="1"/>
              <a:t>called</a:t>
            </a:r>
            <a:r>
              <a:rPr lang="pt-PT" sz="2000" b="1" dirty="0"/>
              <a:t> </a:t>
            </a:r>
            <a:r>
              <a:rPr lang="pt-PT" sz="2000" b="1" i="1" dirty="0" err="1">
                <a:solidFill>
                  <a:srgbClr val="FF0000"/>
                </a:solidFill>
              </a:rPr>
              <a:t>collinearity</a:t>
            </a:r>
            <a:endParaRPr lang="pt-PT" sz="2000" b="1" i="1" dirty="0">
              <a:solidFill>
                <a:srgbClr val="FF0000"/>
              </a:solidFill>
            </a:endParaRP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8793F8F5-1463-B66D-1E39-70176265647B}"/>
              </a:ext>
            </a:extLst>
          </p:cNvPr>
          <p:cNvGrpSpPr/>
          <p:nvPr/>
        </p:nvGrpSpPr>
        <p:grpSpPr>
          <a:xfrm>
            <a:off x="1094712" y="2627722"/>
            <a:ext cx="9783505" cy="3820493"/>
            <a:chOff x="1141256" y="3037507"/>
            <a:chExt cx="9783505" cy="3820493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67F9DC39-F0E5-6783-4CD7-CE5268A0CA03}"/>
                </a:ext>
              </a:extLst>
            </p:cNvPr>
            <p:cNvGrpSpPr/>
            <p:nvPr/>
          </p:nvGrpSpPr>
          <p:grpSpPr>
            <a:xfrm>
              <a:off x="1310392" y="3037507"/>
              <a:ext cx="9614369" cy="3820493"/>
              <a:chOff x="1570381" y="2737944"/>
              <a:chExt cx="9614369" cy="3820493"/>
            </a:xfrm>
          </p:grpSpPr>
          <p:grpSp>
            <p:nvGrpSpPr>
              <p:cNvPr id="6" name="Agrupar 5">
                <a:extLst>
                  <a:ext uri="{FF2B5EF4-FFF2-40B4-BE49-F238E27FC236}">
                    <a16:creationId xmlns:a16="http://schemas.microsoft.com/office/drawing/2014/main" id="{7720C1DB-6204-5585-4162-F114150AE4B9}"/>
                  </a:ext>
                </a:extLst>
              </p:cNvPr>
              <p:cNvGrpSpPr/>
              <p:nvPr/>
            </p:nvGrpSpPr>
            <p:grpSpPr>
              <a:xfrm>
                <a:off x="1570381" y="3156482"/>
                <a:ext cx="4326836" cy="3401955"/>
                <a:chOff x="6460436" y="981756"/>
                <a:chExt cx="4713385" cy="4242819"/>
              </a:xfrm>
            </p:grpSpPr>
            <p:pic>
              <p:nvPicPr>
                <p:cNvPr id="7" name="Imagem 6">
                  <a:extLst>
                    <a:ext uri="{FF2B5EF4-FFF2-40B4-BE49-F238E27FC236}">
                      <a16:creationId xmlns:a16="http://schemas.microsoft.com/office/drawing/2014/main" id="{475DF626-0B4B-11AD-B735-417B2F7E6E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460436" y="1633425"/>
                  <a:ext cx="4713385" cy="3591150"/>
                </a:xfrm>
                <a:prstGeom prst="rect">
                  <a:avLst/>
                </a:prstGeom>
              </p:spPr>
            </p:pic>
            <p:cxnSp>
              <p:nvCxnSpPr>
                <p:cNvPr id="8" name="Conexão reta unidirecional 7">
                  <a:extLst>
                    <a:ext uri="{FF2B5EF4-FFF2-40B4-BE49-F238E27FC236}">
                      <a16:creationId xmlns:a16="http://schemas.microsoft.com/office/drawing/2014/main" id="{B2C482DF-A39F-5BDA-9448-A3E54B46C4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49548" y="1220675"/>
                  <a:ext cx="0" cy="282123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Conexão reta unidirecional 8">
                  <a:extLst>
                    <a:ext uri="{FF2B5EF4-FFF2-40B4-BE49-F238E27FC236}">
                      <a16:creationId xmlns:a16="http://schemas.microsoft.com/office/drawing/2014/main" id="{51CC9D6F-2912-BA42-313E-816CC18D78AC}"/>
                    </a:ext>
                  </a:extLst>
                </p:cNvPr>
                <p:cNvCxnSpPr/>
                <p:nvPr/>
              </p:nvCxnSpPr>
              <p:spPr>
                <a:xfrm flipV="1">
                  <a:off x="7394713" y="1220675"/>
                  <a:ext cx="0" cy="262245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exão reta unidirecional 9">
                  <a:extLst>
                    <a:ext uri="{FF2B5EF4-FFF2-40B4-BE49-F238E27FC236}">
                      <a16:creationId xmlns:a16="http://schemas.microsoft.com/office/drawing/2014/main" id="{251F3D4A-6D4C-4AA2-86DA-AEC568D1FE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866783" y="1282705"/>
                  <a:ext cx="0" cy="70143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CaixaDeTexto 10">
                  <a:extLst>
                    <a:ext uri="{FF2B5EF4-FFF2-40B4-BE49-F238E27FC236}">
                      <a16:creationId xmlns:a16="http://schemas.microsoft.com/office/drawing/2014/main" id="{C6A7AF6F-B10B-6431-DA5C-EDBB9A1681FF}"/>
                    </a:ext>
                  </a:extLst>
                </p:cNvPr>
                <p:cNvSpPr txBox="1"/>
                <p:nvPr/>
              </p:nvSpPr>
              <p:spPr>
                <a:xfrm>
                  <a:off x="6898835" y="981756"/>
                  <a:ext cx="453930" cy="3517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200" dirty="0">
                      <a:solidFill>
                        <a:srgbClr val="FF0000"/>
                      </a:solidFill>
                    </a:rPr>
                    <a:t>X1</a:t>
                  </a:r>
                  <a:endParaRPr lang="en-US" sz="1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2" name="CaixaDeTexto 11">
                  <a:extLst>
                    <a:ext uri="{FF2B5EF4-FFF2-40B4-BE49-F238E27FC236}">
                      <a16:creationId xmlns:a16="http://schemas.microsoft.com/office/drawing/2014/main" id="{9BDCF71E-8251-7713-F606-CF2A6839D959}"/>
                    </a:ext>
                  </a:extLst>
                </p:cNvPr>
                <p:cNvSpPr txBox="1"/>
                <p:nvPr/>
              </p:nvSpPr>
              <p:spPr>
                <a:xfrm>
                  <a:off x="7205871" y="981756"/>
                  <a:ext cx="540603" cy="3517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200" dirty="0">
                      <a:solidFill>
                        <a:srgbClr val="FF0000"/>
                      </a:solidFill>
                    </a:rPr>
                    <a:t>X10</a:t>
                  </a:r>
                  <a:endParaRPr lang="en-US" sz="1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A048AE96-EB2F-CF37-3161-6ABE2779F64E}"/>
                    </a:ext>
                  </a:extLst>
                </p:cNvPr>
                <p:cNvSpPr txBox="1"/>
                <p:nvPr/>
              </p:nvSpPr>
              <p:spPr>
                <a:xfrm>
                  <a:off x="10490291" y="981756"/>
                  <a:ext cx="683528" cy="3517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pt-PT" sz="1200" dirty="0">
                      <a:solidFill>
                        <a:srgbClr val="FF0000"/>
                      </a:solidFill>
                    </a:rPr>
                    <a:t>X926</a:t>
                  </a:r>
                  <a:endParaRPr lang="en-US" sz="1200" dirty="0">
                    <a:solidFill>
                      <a:srgbClr val="FF0000"/>
                    </a:solidFill>
                  </a:endParaRPr>
                </a:p>
              </p:txBody>
            </p:sp>
          </p:grpSp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E856B10C-F562-E7FC-EC44-1396421D05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98674" y="3397787"/>
                <a:ext cx="4623852" cy="3104586"/>
              </a:xfrm>
              <a:prstGeom prst="rect">
                <a:avLst/>
              </a:prstGeom>
            </p:spPr>
          </p:pic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7B582F71-A674-F2BA-2B3C-6EA8FC256772}"/>
                  </a:ext>
                </a:extLst>
              </p:cNvPr>
              <p:cNvSpPr txBox="1"/>
              <p:nvPr/>
            </p:nvSpPr>
            <p:spPr>
              <a:xfrm>
                <a:off x="6755211" y="2737944"/>
                <a:ext cx="442953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PT" dirty="0" err="1"/>
                  <a:t>One</a:t>
                </a:r>
                <a:r>
                  <a:rPr lang="pt-PT" dirty="0"/>
                  <a:t> PC in PCA </a:t>
                </a:r>
                <a:r>
                  <a:rPr lang="pt-PT" dirty="0" err="1"/>
                  <a:t>explains</a:t>
                </a:r>
                <a:r>
                  <a:rPr lang="pt-PT" dirty="0"/>
                  <a:t> &gt; 90% </a:t>
                </a:r>
                <a:r>
                  <a:rPr lang="pt-PT" dirty="0" err="1"/>
                  <a:t>variability</a:t>
                </a:r>
                <a:r>
                  <a:rPr lang="pt-PT" dirty="0"/>
                  <a:t> </a:t>
                </a:r>
              </a:p>
              <a:p>
                <a:pPr algn="ctr"/>
                <a:r>
                  <a:rPr lang="pt-PT" dirty="0"/>
                  <a:t>(</a:t>
                </a:r>
                <a:r>
                  <a:rPr lang="pt-PT" b="1" i="1" dirty="0" err="1"/>
                  <a:t>variables</a:t>
                </a:r>
                <a:r>
                  <a:rPr lang="pt-PT" b="1" i="1" dirty="0"/>
                  <a:t> are </a:t>
                </a:r>
                <a:r>
                  <a:rPr lang="pt-PT" b="1" i="1" dirty="0" err="1"/>
                  <a:t>very</a:t>
                </a:r>
                <a:r>
                  <a:rPr lang="pt-PT" b="1" i="1" dirty="0"/>
                  <a:t> </a:t>
                </a:r>
                <a:r>
                  <a:rPr lang="pt-PT" b="1" i="1" dirty="0" err="1"/>
                  <a:t>correlated</a:t>
                </a:r>
                <a:r>
                  <a:rPr lang="pt-PT" dirty="0"/>
                  <a:t>)</a:t>
                </a:r>
                <a:endParaRPr lang="en-US" dirty="0"/>
              </a:p>
            </p:txBody>
          </p:sp>
        </p:grp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92B9D1FB-DA3D-A1AC-3C56-C5886E0CBFD3}"/>
                </a:ext>
              </a:extLst>
            </p:cNvPr>
            <p:cNvSpPr txBox="1"/>
            <p:nvPr/>
          </p:nvSpPr>
          <p:spPr>
            <a:xfrm>
              <a:off x="1141256" y="3086713"/>
              <a:ext cx="495474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PT" sz="1800" b="1" dirty="0"/>
                <a:t>Are </a:t>
              </a:r>
              <a:r>
                <a:rPr lang="pt-PT" sz="1800" b="1" dirty="0" err="1"/>
                <a:t>all</a:t>
              </a:r>
              <a:r>
                <a:rPr lang="pt-PT" sz="1800" b="1" dirty="0"/>
                <a:t> </a:t>
              </a:r>
              <a:r>
                <a:rPr lang="pt-PT" sz="1800" b="1" dirty="0" err="1"/>
                <a:t>these</a:t>
              </a:r>
              <a:r>
                <a:rPr lang="pt-PT" sz="1800" b="1" dirty="0"/>
                <a:t> </a:t>
              </a:r>
              <a:r>
                <a:rPr lang="pt-PT" sz="1800" b="1" dirty="0" err="1"/>
                <a:t>variables</a:t>
              </a:r>
              <a:r>
                <a:rPr lang="pt-PT" sz="1800" b="1" dirty="0"/>
                <a:t> </a:t>
              </a:r>
              <a:r>
                <a:rPr lang="pt-PT" sz="1800" b="1" dirty="0" err="1"/>
                <a:t>really</a:t>
              </a:r>
              <a:r>
                <a:rPr lang="pt-PT" sz="1800" b="1" dirty="0"/>
                <a:t> </a:t>
              </a:r>
              <a:r>
                <a:rPr lang="pt-PT" sz="1800" b="1" dirty="0" err="1"/>
                <a:t>independent</a:t>
              </a:r>
              <a:r>
                <a:rPr lang="pt-PT" sz="1800" b="1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0570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988A-2165-DB70-5EBE-C605124F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392E7D85-1AE8-A0C5-F7FC-5BDF6CCB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72E94E3-C6B5-7644-C6F4-47DCE0E0B90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Penalized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ridge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D80A90D-CA49-330A-321B-BC8B851E1731}"/>
              </a:ext>
            </a:extLst>
          </p:cNvPr>
          <p:cNvSpPr txBox="1"/>
          <p:nvPr/>
        </p:nvSpPr>
        <p:spPr>
          <a:xfrm>
            <a:off x="0" y="573955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Penalized</a:t>
            </a:r>
            <a:r>
              <a:rPr lang="pt-PT" dirty="0"/>
              <a:t> </a:t>
            </a:r>
            <a:r>
              <a:rPr lang="pt-PT" dirty="0" err="1"/>
              <a:t>Regression</a:t>
            </a:r>
            <a:r>
              <a:rPr lang="pt-PT" dirty="0"/>
              <a:t> </a:t>
            </a:r>
            <a:r>
              <a:rPr lang="pt-PT" dirty="0" err="1"/>
              <a:t>deals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correlation</a:t>
            </a:r>
            <a:r>
              <a:rPr lang="pt-PT" dirty="0"/>
              <a:t> in </a:t>
            </a:r>
            <a:r>
              <a:rPr lang="pt-PT" dirty="0" err="1"/>
              <a:t>the</a:t>
            </a:r>
            <a:r>
              <a:rPr lang="pt-PT" dirty="0"/>
              <a:t> inputs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imposing</a:t>
            </a:r>
            <a:r>
              <a:rPr lang="pt-PT" dirty="0"/>
              <a:t> a </a:t>
            </a:r>
            <a:r>
              <a:rPr lang="pt-PT" dirty="0" err="1"/>
              <a:t>penalization</a:t>
            </a:r>
            <a:r>
              <a:rPr lang="pt-PT" dirty="0"/>
              <a:t> </a:t>
            </a:r>
            <a:r>
              <a:rPr lang="pt-PT" dirty="0" err="1"/>
              <a:t>term</a:t>
            </a:r>
            <a:r>
              <a:rPr lang="pt-PT" dirty="0"/>
              <a:t> in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least</a:t>
            </a:r>
            <a:r>
              <a:rPr lang="pt-PT" dirty="0"/>
              <a:t> </a:t>
            </a:r>
            <a:r>
              <a:rPr lang="pt-PT" dirty="0" err="1"/>
              <a:t>squares</a:t>
            </a:r>
            <a:r>
              <a:rPr lang="pt-PT" dirty="0"/>
              <a:t> </a:t>
            </a:r>
            <a:r>
              <a:rPr lang="pt-PT" dirty="0" err="1"/>
              <a:t>fitting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Ridge</a:t>
            </a:r>
            <a:r>
              <a:rPr lang="pt-PT" dirty="0"/>
              <a:t> </a:t>
            </a:r>
            <a:r>
              <a:rPr lang="pt-PT" dirty="0" err="1"/>
              <a:t>regression</a:t>
            </a:r>
            <a:r>
              <a:rPr lang="pt-PT" dirty="0"/>
              <a:t> </a:t>
            </a:r>
            <a:r>
              <a:rPr lang="pt-PT" dirty="0" err="1"/>
              <a:t>imposes</a:t>
            </a:r>
            <a:r>
              <a:rPr lang="pt-PT" dirty="0"/>
              <a:t> a </a:t>
            </a:r>
            <a:r>
              <a:rPr lang="pt-PT" b="1" dirty="0"/>
              <a:t>positive penalty </a:t>
            </a:r>
            <a:r>
              <a:rPr lang="pt-PT" b="1" dirty="0" err="1"/>
              <a:t>alpha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b="1" dirty="0"/>
              <a:t>sum </a:t>
            </a:r>
            <a:r>
              <a:rPr lang="pt-PT" b="1" dirty="0" err="1"/>
              <a:t>of</a:t>
            </a:r>
            <a:r>
              <a:rPr lang="pt-PT" b="1" dirty="0"/>
              <a:t> </a:t>
            </a:r>
            <a:r>
              <a:rPr lang="pt-PT" b="1" dirty="0" err="1"/>
              <a:t>squared</a:t>
            </a:r>
            <a:r>
              <a:rPr lang="pt-PT" b="1" dirty="0"/>
              <a:t> </a:t>
            </a:r>
            <a:r>
              <a:rPr lang="pt-PT" b="1" dirty="0" err="1"/>
              <a:t>coefficients</a:t>
            </a:r>
            <a:r>
              <a:rPr lang="pt-PT" b="1" dirty="0"/>
              <a:t> </a:t>
            </a:r>
            <a:r>
              <a:rPr lang="pt-PT" b="1" dirty="0" err="1"/>
              <a:t>values</a:t>
            </a:r>
            <a:r>
              <a:rPr lang="pt-PT" b="1" dirty="0"/>
              <a:t> </a:t>
            </a:r>
            <a:r>
              <a:rPr lang="pt-PT" dirty="0"/>
              <a:t>(</a:t>
            </a:r>
            <a:r>
              <a:rPr lang="pt-PT" b="1" i="1" dirty="0" err="1"/>
              <a:t>squared</a:t>
            </a:r>
            <a:r>
              <a:rPr lang="pt-PT" b="1" i="1" dirty="0"/>
              <a:t> L2 </a:t>
            </a:r>
            <a:r>
              <a:rPr lang="pt-PT" b="1" i="1" dirty="0" err="1"/>
              <a:t>norm</a:t>
            </a:r>
            <a:r>
              <a:rPr lang="pt-PT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penalization</a:t>
            </a:r>
            <a:r>
              <a:rPr lang="pt-PT" dirty="0"/>
              <a:t> </a:t>
            </a:r>
            <a:r>
              <a:rPr lang="pt-PT" dirty="0" err="1"/>
              <a:t>avoids</a:t>
            </a:r>
            <a:r>
              <a:rPr lang="pt-PT" dirty="0"/>
              <a:t> </a:t>
            </a:r>
            <a:r>
              <a:rPr lang="pt-PT" dirty="0" err="1"/>
              <a:t>overfitting</a:t>
            </a:r>
            <a:r>
              <a:rPr lang="pt-PT" dirty="0"/>
              <a:t> to data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penalizing</a:t>
            </a:r>
            <a:r>
              <a:rPr lang="pt-PT" dirty="0"/>
              <a:t> </a:t>
            </a:r>
            <a:r>
              <a:rPr lang="pt-PT" dirty="0" err="1"/>
              <a:t>coefficients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large</a:t>
            </a:r>
            <a:r>
              <a:rPr lang="pt-PT" dirty="0"/>
              <a:t> magnitude (</a:t>
            </a:r>
            <a:r>
              <a:rPr lang="pt-PT" b="1" i="1" dirty="0" err="1"/>
              <a:t>regularization</a:t>
            </a:r>
            <a:r>
              <a:rPr lang="pt-PT" dirty="0"/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7883FB-F70D-7D26-7327-803F57919DE1}"/>
              </a:ext>
            </a:extLst>
          </p:cNvPr>
          <p:cNvSpPr txBox="1"/>
          <p:nvPr/>
        </p:nvSpPr>
        <p:spPr>
          <a:xfrm>
            <a:off x="8271104" y="4037921"/>
            <a:ext cx="3849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b="1" dirty="0" err="1"/>
              <a:t>Ridge</a:t>
            </a:r>
            <a:r>
              <a:rPr lang="pt-PT" b="1" dirty="0"/>
              <a:t> </a:t>
            </a:r>
            <a:r>
              <a:rPr lang="pt-PT" b="1" dirty="0" err="1"/>
              <a:t>regression</a:t>
            </a:r>
            <a:r>
              <a:rPr lang="pt-PT" b="1" dirty="0"/>
              <a:t> in </a:t>
            </a:r>
            <a:r>
              <a:rPr lang="pt-PT" b="1" dirty="0" err="1"/>
              <a:t>beer</a:t>
            </a:r>
            <a:r>
              <a:rPr lang="pt-PT" b="1" dirty="0"/>
              <a:t> </a:t>
            </a:r>
            <a:r>
              <a:rPr lang="pt-PT" b="1" dirty="0" err="1"/>
              <a:t>dataset</a:t>
            </a:r>
            <a:r>
              <a:rPr lang="pt-PT" b="1" dirty="0"/>
              <a:t>:</a:t>
            </a:r>
          </a:p>
          <a:p>
            <a:pPr algn="ctr"/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larger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value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alpha</a:t>
            </a:r>
            <a:r>
              <a:rPr lang="pt-PT" dirty="0"/>
              <a:t>,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smaller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mean</a:t>
            </a:r>
            <a:r>
              <a:rPr lang="pt-PT" dirty="0"/>
              <a:t> </a:t>
            </a:r>
            <a:r>
              <a:rPr lang="pt-PT" dirty="0" err="1"/>
              <a:t>value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squared</a:t>
            </a:r>
            <a:r>
              <a:rPr lang="pt-PT" dirty="0"/>
              <a:t> </a:t>
            </a:r>
            <a:r>
              <a:rPr lang="pt-PT" dirty="0" err="1"/>
              <a:t>coefficients</a:t>
            </a:r>
            <a:endParaRPr lang="pt-PT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55E4D4C-B940-C401-98C4-C4C04F332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090" y="3159278"/>
            <a:ext cx="4593732" cy="359610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CDF262C-875E-03A4-A02D-64C6B4B30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492" y="1589436"/>
            <a:ext cx="6367015" cy="105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77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FE9F-E470-E121-FE10-548F0738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4D8F362-4CFC-7B19-4172-4373A774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F68351A-04B4-F681-FE5D-01F72BB429D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Penalized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LASSO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D24078A-80D3-B016-6331-DDF1DAD37734}"/>
              </a:ext>
            </a:extLst>
          </p:cNvPr>
          <p:cNvSpPr txBox="1"/>
          <p:nvPr/>
        </p:nvSpPr>
        <p:spPr>
          <a:xfrm>
            <a:off x="0" y="552405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LASSO </a:t>
            </a:r>
            <a:r>
              <a:rPr lang="pt-PT" dirty="0" err="1"/>
              <a:t>regression</a:t>
            </a:r>
            <a:r>
              <a:rPr lang="pt-PT" dirty="0"/>
              <a:t> </a:t>
            </a:r>
            <a:r>
              <a:rPr lang="pt-PT" dirty="0" err="1"/>
              <a:t>also</a:t>
            </a:r>
            <a:r>
              <a:rPr lang="pt-PT" dirty="0"/>
              <a:t> </a:t>
            </a:r>
            <a:r>
              <a:rPr lang="pt-PT" dirty="0" err="1"/>
              <a:t>considers</a:t>
            </a:r>
            <a:r>
              <a:rPr lang="pt-PT" dirty="0"/>
              <a:t> a positive </a:t>
            </a:r>
            <a:r>
              <a:rPr lang="pt-PT" dirty="0" err="1"/>
              <a:t>penalization</a:t>
            </a:r>
            <a:r>
              <a:rPr lang="pt-PT" dirty="0"/>
              <a:t> </a:t>
            </a:r>
            <a:r>
              <a:rPr lang="pt-PT" dirty="0" err="1"/>
              <a:t>but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sum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b="1" dirty="0" err="1"/>
              <a:t>absolute</a:t>
            </a:r>
            <a:r>
              <a:rPr lang="pt-PT" b="1" dirty="0"/>
              <a:t> </a:t>
            </a:r>
            <a:r>
              <a:rPr lang="pt-PT" b="1" dirty="0" err="1"/>
              <a:t>values</a:t>
            </a:r>
            <a:r>
              <a:rPr lang="pt-PT" b="1" dirty="0"/>
              <a:t> (</a:t>
            </a:r>
            <a:r>
              <a:rPr lang="pt-PT" b="1" i="1" dirty="0"/>
              <a:t>L1 </a:t>
            </a:r>
            <a:r>
              <a:rPr lang="pt-PT" b="1" i="1" dirty="0" err="1"/>
              <a:t>norm</a:t>
            </a:r>
            <a:r>
              <a:rPr lang="pt-PT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Different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Ridge</a:t>
            </a:r>
            <a:r>
              <a:rPr lang="pt-PT" dirty="0"/>
              <a:t> </a:t>
            </a:r>
            <a:r>
              <a:rPr lang="pt-PT" dirty="0" err="1"/>
              <a:t>regression</a:t>
            </a:r>
            <a:r>
              <a:rPr lang="pt-PT" dirty="0"/>
              <a:t>, LASSO can remove input </a:t>
            </a:r>
            <a:r>
              <a:rPr lang="pt-PT" dirty="0" err="1"/>
              <a:t>variables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prediction</a:t>
            </a:r>
            <a:r>
              <a:rPr lang="pt-PT" dirty="0"/>
              <a:t> – </a:t>
            </a:r>
            <a:r>
              <a:rPr lang="pt-PT" b="1" dirty="0" err="1"/>
              <a:t>variable</a:t>
            </a:r>
            <a:r>
              <a:rPr lang="pt-PT" b="1" dirty="0"/>
              <a:t> </a:t>
            </a:r>
            <a:r>
              <a:rPr lang="pt-PT" b="1" dirty="0" err="1"/>
              <a:t>selection</a:t>
            </a:r>
            <a:r>
              <a:rPr lang="pt-PT" b="1" dirty="0"/>
              <a:t> </a:t>
            </a:r>
            <a:endParaRPr lang="pt-PT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1BDF8D0-81F6-276E-D003-A4D44C235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49" y="2730388"/>
            <a:ext cx="4720285" cy="377785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900EDC4-0CC6-6588-21CB-7D4C4310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625" y="2697593"/>
            <a:ext cx="4720286" cy="3810648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C0B674ED-4D3D-2B1E-845C-22D9F7ACF37E}"/>
              </a:ext>
            </a:extLst>
          </p:cNvPr>
          <p:cNvSpPr txBox="1"/>
          <p:nvPr/>
        </p:nvSpPr>
        <p:spPr>
          <a:xfrm>
            <a:off x="9632904" y="3672796"/>
            <a:ext cx="24879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As </a:t>
            </a:r>
            <a:r>
              <a:rPr lang="pt-PT" dirty="0" err="1"/>
              <a:t>alpha</a:t>
            </a:r>
            <a:r>
              <a:rPr lang="pt-PT" dirty="0"/>
              <a:t> </a:t>
            </a:r>
            <a:r>
              <a:rPr lang="pt-PT" dirty="0" err="1"/>
              <a:t>increases</a:t>
            </a:r>
            <a:r>
              <a:rPr lang="pt-PT" dirty="0"/>
              <a:t>, more </a:t>
            </a:r>
            <a:r>
              <a:rPr lang="pt-PT" dirty="0" err="1"/>
              <a:t>variables</a:t>
            </a:r>
            <a:r>
              <a:rPr lang="pt-PT" dirty="0"/>
              <a:t> </a:t>
            </a:r>
            <a:r>
              <a:rPr lang="pt-PT" dirty="0" err="1"/>
              <a:t>have</a:t>
            </a:r>
            <a:r>
              <a:rPr lang="pt-PT" dirty="0"/>
              <a:t> a zero </a:t>
            </a:r>
            <a:r>
              <a:rPr lang="pt-PT" dirty="0" err="1"/>
              <a:t>coefficient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thus</a:t>
            </a:r>
            <a:r>
              <a:rPr lang="pt-PT" dirty="0"/>
              <a:t> are </a:t>
            </a:r>
            <a:r>
              <a:rPr lang="pt-PT" dirty="0" err="1"/>
              <a:t>eliminated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model</a:t>
            </a:r>
            <a:endParaRPr lang="pt-PT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27A06A4-FDE7-F81B-F56C-35D6C360E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988" y="879578"/>
            <a:ext cx="7830020" cy="11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37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89779-5B39-1460-EB7D-358413B2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CCA8317-DECA-6306-6216-19D714BB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935EB57-2D93-4817-A2EB-FC5254999B33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Penalized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bias-variance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trade-off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B37616-3074-4CEE-17F2-6AEDFBD17D61}"/>
              </a:ext>
            </a:extLst>
          </p:cNvPr>
          <p:cNvSpPr txBox="1"/>
          <p:nvPr/>
        </p:nvSpPr>
        <p:spPr>
          <a:xfrm>
            <a:off x="0" y="546293"/>
            <a:ext cx="121919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alpha parameter in penalized regression controls the </a:t>
            </a:r>
            <a:r>
              <a:rPr lang="en-US" b="1" dirty="0"/>
              <a:t>bias–variance trade-off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alpha reduces variance of the parameter estimates but increases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bias (less complexity) reduces variance, avoiding overfitting but decreases model “flexibility”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an optimal trade-off – </a:t>
            </a:r>
            <a:r>
              <a:rPr lang="en-US" i="1" dirty="0">
                <a:solidFill>
                  <a:srgbClr val="FF0000"/>
                </a:solidFill>
              </a:rPr>
              <a:t>We will discuss this in </a:t>
            </a:r>
            <a:r>
              <a:rPr lang="en-US" b="1" i="1" dirty="0">
                <a:solidFill>
                  <a:srgbClr val="FF0000"/>
                </a:solidFill>
              </a:rPr>
              <a:t>PART 4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9052921-D07E-7007-2D57-E63598639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40" y="1668635"/>
            <a:ext cx="4825903" cy="377785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9536407-D090-1F3C-A7B4-54C9121EC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21" y="1668635"/>
            <a:ext cx="4720285" cy="37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899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CC495-EFAC-24AA-14F3-EA20C99F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722BF84-AE6E-6203-D323-324290A45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79F6FE6-38B9-9A83-EF01-9950F6CF528D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Penalized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linear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regression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in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B72642C-D4D4-5564-2C11-8E1F88A7B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86" y="471336"/>
            <a:ext cx="4742961" cy="635692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F6C08CF-4C59-1E39-EF53-82A0386E0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055" y="1371600"/>
            <a:ext cx="53625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558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E12E-7E21-30DD-D4EE-342073FC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31E8312-D3AE-5AD1-A1AE-8C83D790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F0EBFE2-B3D0-DC92-6EEE-19644DEB716F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Latent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variable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methods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Partial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Least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Squares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FEFED9-8515-09B5-9072-AE7559534FAE}"/>
              </a:ext>
            </a:extLst>
          </p:cNvPr>
          <p:cNvSpPr txBox="1"/>
          <p:nvPr/>
        </p:nvSpPr>
        <p:spPr>
          <a:xfrm>
            <a:off x="0" y="583910"/>
            <a:ext cx="1219199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can </a:t>
            </a:r>
            <a:r>
              <a:rPr lang="pt-PT" sz="2000" dirty="0" err="1"/>
              <a:t>also</a:t>
            </a:r>
            <a:r>
              <a:rPr lang="pt-PT" sz="2000" dirty="0"/>
              <a:t> </a:t>
            </a:r>
            <a:r>
              <a:rPr lang="pt-PT" sz="2000" dirty="0" err="1"/>
              <a:t>deal</a:t>
            </a:r>
            <a:r>
              <a:rPr lang="pt-PT" sz="2000" dirty="0"/>
              <a:t> </a:t>
            </a:r>
            <a:r>
              <a:rPr lang="pt-PT" sz="2000" dirty="0" err="1"/>
              <a:t>with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collinearity</a:t>
            </a:r>
            <a:r>
              <a:rPr lang="pt-PT" sz="2000" dirty="0"/>
              <a:t> </a:t>
            </a:r>
            <a:r>
              <a:rPr lang="pt-PT" sz="2000" dirty="0" err="1"/>
              <a:t>issue</a:t>
            </a:r>
            <a:r>
              <a:rPr lang="pt-PT" sz="2000" dirty="0"/>
              <a:t> </a:t>
            </a:r>
            <a:r>
              <a:rPr lang="pt-PT" sz="2000" dirty="0" err="1"/>
              <a:t>from</a:t>
            </a:r>
            <a:r>
              <a:rPr lang="pt-PT" sz="2000" dirty="0"/>
              <a:t> a </a:t>
            </a:r>
            <a:r>
              <a:rPr lang="pt-PT" sz="2000" dirty="0" err="1"/>
              <a:t>latent</a:t>
            </a:r>
            <a:r>
              <a:rPr lang="pt-PT" sz="2000" dirty="0"/>
              <a:t> </a:t>
            </a:r>
            <a:r>
              <a:rPr lang="pt-PT" sz="2000" dirty="0" err="1"/>
              <a:t>variable</a:t>
            </a:r>
            <a:r>
              <a:rPr lang="pt-PT" sz="2000" dirty="0"/>
              <a:t> </a:t>
            </a:r>
            <a:r>
              <a:rPr lang="pt-PT" sz="2000" dirty="0" err="1"/>
              <a:t>perspective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Similar to PCA, </a:t>
            </a:r>
            <a:r>
              <a:rPr lang="pt-PT" sz="2000" dirty="0" err="1"/>
              <a:t>Partial</a:t>
            </a:r>
            <a:r>
              <a:rPr lang="pt-PT" sz="2000" dirty="0"/>
              <a:t> </a:t>
            </a:r>
            <a:r>
              <a:rPr lang="pt-PT" sz="2000" dirty="0" err="1"/>
              <a:t>Least</a:t>
            </a:r>
            <a:r>
              <a:rPr lang="pt-PT" sz="2000" dirty="0"/>
              <a:t> </a:t>
            </a:r>
            <a:r>
              <a:rPr lang="pt-PT" sz="2000" dirty="0" err="1"/>
              <a:t>Squares</a:t>
            </a:r>
            <a:r>
              <a:rPr lang="pt-PT" sz="2000" dirty="0"/>
              <a:t> (PLS) </a:t>
            </a:r>
            <a:r>
              <a:rPr lang="pt-PT" sz="2000" dirty="0" err="1"/>
              <a:t>is</a:t>
            </a:r>
            <a:r>
              <a:rPr lang="pt-PT" sz="2000" dirty="0"/>
              <a:t> a </a:t>
            </a:r>
            <a:r>
              <a:rPr lang="pt-PT" sz="2000" dirty="0" err="1"/>
              <a:t>latent</a:t>
            </a:r>
            <a:r>
              <a:rPr lang="pt-PT" sz="2000" dirty="0"/>
              <a:t> </a:t>
            </a:r>
            <a:r>
              <a:rPr lang="pt-PT" sz="2000" dirty="0" err="1"/>
              <a:t>variable</a:t>
            </a:r>
            <a:r>
              <a:rPr lang="pt-PT" sz="2000" dirty="0"/>
              <a:t> </a:t>
            </a:r>
            <a:r>
              <a:rPr lang="pt-PT" sz="2000" dirty="0" err="1"/>
              <a:t>method</a:t>
            </a:r>
            <a:r>
              <a:rPr lang="pt-PT" sz="2000" dirty="0"/>
              <a:t>, </a:t>
            </a:r>
            <a:r>
              <a:rPr lang="pt-PT" sz="2000" b="1" dirty="0" err="1"/>
              <a:t>but</a:t>
            </a:r>
            <a:r>
              <a:rPr lang="pt-PT" sz="2000" b="1" dirty="0"/>
              <a:t> for </a:t>
            </a:r>
            <a:r>
              <a:rPr lang="pt-PT" sz="2000" b="1" dirty="0" err="1"/>
              <a:t>regression</a:t>
            </a:r>
            <a:r>
              <a:rPr lang="pt-PT" sz="2000" b="1" dirty="0"/>
              <a:t> </a:t>
            </a:r>
            <a:r>
              <a:rPr lang="pt-PT" sz="2000" b="1" dirty="0" err="1"/>
              <a:t>purposes</a:t>
            </a: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PLS </a:t>
            </a:r>
            <a:r>
              <a:rPr lang="pt-PT" sz="2000" dirty="0" err="1"/>
              <a:t>finds</a:t>
            </a:r>
            <a:r>
              <a:rPr lang="pt-PT" sz="2000" dirty="0"/>
              <a:t> a </a:t>
            </a:r>
            <a:r>
              <a:rPr lang="pt-PT" sz="2000" dirty="0" err="1"/>
              <a:t>lower</a:t>
            </a:r>
            <a:r>
              <a:rPr lang="pt-PT" sz="2000" dirty="0"/>
              <a:t> </a:t>
            </a:r>
            <a:r>
              <a:rPr lang="pt-PT" sz="2000" dirty="0" err="1"/>
              <a:t>subset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uncorrelated</a:t>
            </a:r>
            <a:r>
              <a:rPr lang="pt-PT" sz="2000" dirty="0"/>
              <a:t> (</a:t>
            </a:r>
            <a:r>
              <a:rPr lang="pt-PT" sz="2000" dirty="0" err="1"/>
              <a:t>latent</a:t>
            </a:r>
            <a:r>
              <a:rPr lang="pt-PT" sz="2000" dirty="0"/>
              <a:t>) </a:t>
            </a:r>
            <a:r>
              <a:rPr lang="pt-PT" sz="2000" dirty="0" err="1"/>
              <a:t>variables</a:t>
            </a:r>
            <a:r>
              <a:rPr lang="pt-PT" sz="2000" dirty="0"/>
              <a:t> </a:t>
            </a:r>
            <a:r>
              <a:rPr lang="pt-PT" sz="2000" dirty="0" err="1"/>
              <a:t>that</a:t>
            </a:r>
            <a:r>
              <a:rPr lang="pt-PT" sz="2000" dirty="0"/>
              <a:t> maximize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covariance</a:t>
            </a:r>
            <a:r>
              <a:rPr lang="pt-PT" sz="2000" dirty="0"/>
              <a:t> </a:t>
            </a:r>
            <a:r>
              <a:rPr lang="pt-PT" sz="2000" dirty="0" err="1"/>
              <a:t>between</a:t>
            </a:r>
            <a:r>
              <a:rPr lang="pt-PT" sz="2000" dirty="0"/>
              <a:t> X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dirty="0"/>
              <a:t>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As </a:t>
            </a:r>
            <a:r>
              <a:rPr lang="pt-PT" dirty="0" err="1"/>
              <a:t>with</a:t>
            </a:r>
            <a:r>
              <a:rPr lang="pt-PT" dirty="0"/>
              <a:t> PCA, PLS </a:t>
            </a:r>
            <a:r>
              <a:rPr lang="pt-PT" dirty="0" err="1"/>
              <a:t>performs</a:t>
            </a:r>
            <a:r>
              <a:rPr lang="pt-PT" dirty="0"/>
              <a:t> </a:t>
            </a:r>
            <a:r>
              <a:rPr lang="pt-PT" dirty="0" err="1"/>
              <a:t>dimensionality</a:t>
            </a:r>
            <a:r>
              <a:rPr lang="pt-PT" dirty="0"/>
              <a:t> </a:t>
            </a:r>
            <a:r>
              <a:rPr lang="pt-PT" dirty="0" err="1"/>
              <a:t>reduction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enables</a:t>
            </a:r>
            <a:r>
              <a:rPr lang="pt-PT" dirty="0"/>
              <a:t> </a:t>
            </a:r>
            <a:r>
              <a:rPr lang="pt-PT" dirty="0" err="1"/>
              <a:t>regression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100s to 1000s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variables</a:t>
            </a:r>
            <a:r>
              <a:rPr lang="pt-PT" dirty="0"/>
              <a:t> </a:t>
            </a:r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After</a:t>
            </a:r>
            <a:r>
              <a:rPr lang="pt-PT" dirty="0"/>
              <a:t> </a:t>
            </a:r>
            <a:r>
              <a:rPr lang="pt-PT" dirty="0" err="1"/>
              <a:t>fitting</a:t>
            </a:r>
            <a:r>
              <a:rPr lang="pt-PT" dirty="0"/>
              <a:t>, PLS </a:t>
            </a:r>
            <a:r>
              <a:rPr lang="pt-PT" dirty="0" err="1"/>
              <a:t>models</a:t>
            </a:r>
            <a:r>
              <a:rPr lang="pt-PT" dirty="0"/>
              <a:t> can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written</a:t>
            </a:r>
            <a:r>
              <a:rPr lang="pt-PT" dirty="0"/>
              <a:t> as a linear </a:t>
            </a:r>
            <a:r>
              <a:rPr lang="pt-PT" dirty="0" err="1"/>
              <a:t>regression</a:t>
            </a:r>
            <a:r>
              <a:rPr lang="pt-PT" dirty="0"/>
              <a:t> </a:t>
            </a:r>
            <a:r>
              <a:rPr lang="pt-PT" dirty="0" err="1"/>
              <a:t>equation</a:t>
            </a:r>
            <a:endParaRPr lang="pt-PT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84DA3E7-D37F-8B15-3D3D-88227DFE6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902" y="2201441"/>
            <a:ext cx="2532586" cy="168209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7B20DD1-D940-F35E-8A93-34C7BF96C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622" y="4985115"/>
            <a:ext cx="3400231" cy="105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79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866A-5B87-23AF-4AF9-ADDBF5F02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23D07863-D919-0B5D-4C6B-E2DA1370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239AEC2-4BE1-72BD-A471-E27CD039BFDE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Partial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Least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Squares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in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9E8F1AC-A66A-BBF3-4FE8-76341DBFE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955" y="1356443"/>
            <a:ext cx="5362575" cy="41148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2280A35-9ECD-6869-0381-57D448070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22" y="680421"/>
            <a:ext cx="5959356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23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6FE0-1572-6C54-3B5C-CFFC0548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6899B28-78F2-83B4-1406-E3E774F1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39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C6AA041-3FA8-6563-0B49-88AE5E285E6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Feature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importance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BDB463D-D350-9115-332B-F4CD1AE7AAE8}"/>
              </a:ext>
            </a:extLst>
          </p:cNvPr>
          <p:cNvSpPr txBox="1"/>
          <p:nvPr/>
        </p:nvSpPr>
        <p:spPr>
          <a:xfrm>
            <a:off x="0" y="707590"/>
            <a:ext cx="12191995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In </a:t>
            </a:r>
            <a:r>
              <a:rPr lang="pt-PT" sz="2000" dirty="0" err="1"/>
              <a:t>addition</a:t>
            </a:r>
            <a:r>
              <a:rPr lang="pt-PT" sz="2000" dirty="0"/>
              <a:t> to </a:t>
            </a:r>
            <a:r>
              <a:rPr lang="pt-PT" sz="2000" dirty="0" err="1"/>
              <a:t>assessing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quality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fit</a:t>
            </a:r>
            <a:r>
              <a:rPr lang="pt-PT" sz="2000" dirty="0"/>
              <a:t>, </a:t>
            </a:r>
            <a:r>
              <a:rPr lang="pt-PT" sz="2000" b="1" dirty="0" err="1"/>
              <a:t>we</a:t>
            </a:r>
            <a:r>
              <a:rPr lang="pt-PT" sz="2000" b="1" dirty="0"/>
              <a:t> </a:t>
            </a:r>
            <a:r>
              <a:rPr lang="pt-PT" sz="2000" b="1" dirty="0" err="1"/>
              <a:t>also</a:t>
            </a:r>
            <a:r>
              <a:rPr lang="pt-PT" sz="2000" b="1" dirty="0"/>
              <a:t> </a:t>
            </a:r>
            <a:r>
              <a:rPr lang="pt-PT" sz="2000" b="1" dirty="0" err="1"/>
              <a:t>need</a:t>
            </a:r>
            <a:r>
              <a:rPr lang="pt-PT" sz="2000" b="1" dirty="0"/>
              <a:t> to </a:t>
            </a:r>
            <a:r>
              <a:rPr lang="pt-PT" sz="2000" b="1" dirty="0" err="1"/>
              <a:t>interpret</a:t>
            </a:r>
            <a:r>
              <a:rPr lang="pt-PT" sz="2000" b="1" dirty="0"/>
              <a:t> </a:t>
            </a:r>
            <a:r>
              <a:rPr lang="pt-PT" sz="2000" b="1" dirty="0" err="1"/>
              <a:t>the</a:t>
            </a:r>
            <a:r>
              <a:rPr lang="pt-PT" sz="2000" b="1" dirty="0"/>
              <a:t> </a:t>
            </a:r>
            <a:r>
              <a:rPr lang="pt-PT" sz="2000" b="1" dirty="0" err="1"/>
              <a:t>model</a:t>
            </a:r>
            <a:r>
              <a:rPr lang="pt-PT" sz="2000" b="1" dirty="0"/>
              <a:t> </a:t>
            </a:r>
            <a:r>
              <a:rPr lang="pt-PT" sz="2000" b="1" dirty="0" err="1"/>
              <a:t>predictions</a:t>
            </a:r>
            <a:r>
              <a:rPr lang="pt-PT" sz="20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For PAT, </a:t>
            </a:r>
            <a:r>
              <a:rPr lang="pt-PT" sz="2000" dirty="0" err="1"/>
              <a:t>interpreting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predictions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critical</a:t>
            </a:r>
            <a:r>
              <a:rPr lang="pt-PT" sz="2000" dirty="0"/>
              <a:t> to </a:t>
            </a:r>
            <a:r>
              <a:rPr lang="pt-PT" sz="2000" dirty="0" err="1"/>
              <a:t>make</a:t>
            </a:r>
            <a:r>
              <a:rPr lang="pt-PT" sz="2000" dirty="0"/>
              <a:t> </a:t>
            </a:r>
            <a:r>
              <a:rPr lang="pt-PT" sz="2000" dirty="0" err="1"/>
              <a:t>sure</a:t>
            </a:r>
            <a:r>
              <a:rPr lang="pt-PT" sz="2000" dirty="0"/>
              <a:t>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make</a:t>
            </a:r>
            <a:r>
              <a:rPr lang="pt-PT" sz="2000" dirty="0"/>
              <a:t> </a:t>
            </a:r>
            <a:r>
              <a:rPr lang="pt-PT" sz="2000" b="1" dirty="0" err="1"/>
              <a:t>good</a:t>
            </a:r>
            <a:r>
              <a:rPr lang="pt-PT" sz="2000" b="1" dirty="0"/>
              <a:t> </a:t>
            </a:r>
            <a:r>
              <a:rPr lang="pt-PT" sz="2000" b="1" dirty="0" err="1"/>
              <a:t>control</a:t>
            </a:r>
            <a:r>
              <a:rPr lang="pt-PT" sz="2000" b="1" dirty="0"/>
              <a:t> </a:t>
            </a:r>
            <a:r>
              <a:rPr lang="pt-PT" sz="2000" b="1" dirty="0" err="1"/>
              <a:t>decisions</a:t>
            </a: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can </a:t>
            </a:r>
            <a:r>
              <a:rPr lang="pt-PT" sz="2000" dirty="0" err="1"/>
              <a:t>roughly</a:t>
            </a:r>
            <a:r>
              <a:rPr lang="pt-PT" sz="2000" dirty="0"/>
              <a:t> </a:t>
            </a:r>
            <a:r>
              <a:rPr lang="pt-PT" sz="2000" dirty="0" err="1"/>
              <a:t>interpret</a:t>
            </a:r>
            <a:r>
              <a:rPr lang="pt-PT" sz="2000" dirty="0"/>
              <a:t> linear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coefficients</a:t>
            </a:r>
            <a:r>
              <a:rPr lang="pt-PT" sz="2000" dirty="0"/>
              <a:t> as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importance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each</a:t>
            </a:r>
            <a:r>
              <a:rPr lang="pt-PT" sz="2000" dirty="0"/>
              <a:t> </a:t>
            </a:r>
            <a:r>
              <a:rPr lang="pt-PT" sz="2000" dirty="0" err="1"/>
              <a:t>variable</a:t>
            </a:r>
            <a:r>
              <a:rPr lang="pt-PT" sz="2000" dirty="0"/>
              <a:t> – </a:t>
            </a:r>
            <a:r>
              <a:rPr lang="pt-PT" sz="2000" b="1" dirty="0" err="1"/>
              <a:t>feature</a:t>
            </a:r>
            <a:r>
              <a:rPr lang="pt-PT" sz="2000" b="1" dirty="0"/>
              <a:t> </a:t>
            </a:r>
            <a:r>
              <a:rPr lang="pt-PT" sz="2000" b="1" dirty="0" err="1"/>
              <a:t>importance</a:t>
            </a:r>
            <a:r>
              <a:rPr lang="pt-PT" sz="2000" b="1" dirty="0"/>
              <a:t> </a:t>
            </a:r>
          </a:p>
          <a:p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D93DA4-348C-DB37-DACC-4C426FF6C1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309"/>
          <a:stretch>
            <a:fillRect/>
          </a:stretch>
        </p:blipFill>
        <p:spPr>
          <a:xfrm>
            <a:off x="2277926" y="3063875"/>
            <a:ext cx="8471373" cy="434519"/>
          </a:xfrm>
          <a:prstGeom prst="rect">
            <a:avLst/>
          </a:prstGeom>
        </p:spPr>
      </p:pic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AC50621C-176D-0026-0363-B7E29BA2BF0D}"/>
              </a:ext>
            </a:extLst>
          </p:cNvPr>
          <p:cNvCxnSpPr/>
          <p:nvPr/>
        </p:nvCxnSpPr>
        <p:spPr>
          <a:xfrm flipV="1">
            <a:off x="3922643" y="3498394"/>
            <a:ext cx="0" cy="1113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CAD42E97-E663-3855-4455-44C591C158FA}"/>
              </a:ext>
            </a:extLst>
          </p:cNvPr>
          <p:cNvCxnSpPr/>
          <p:nvPr/>
        </p:nvCxnSpPr>
        <p:spPr>
          <a:xfrm flipV="1">
            <a:off x="6228522" y="3498392"/>
            <a:ext cx="0" cy="1113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089E9A3E-4243-7916-15B2-AE5AA04F19C3}"/>
              </a:ext>
            </a:extLst>
          </p:cNvPr>
          <p:cNvCxnSpPr/>
          <p:nvPr/>
        </p:nvCxnSpPr>
        <p:spPr>
          <a:xfrm flipV="1">
            <a:off x="8057322" y="3491674"/>
            <a:ext cx="0" cy="1113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E8BDCA0-33D9-375E-8F0C-B66E5A0EB493}"/>
              </a:ext>
            </a:extLst>
          </p:cNvPr>
          <p:cNvSpPr txBox="1"/>
          <p:nvPr/>
        </p:nvSpPr>
        <p:spPr>
          <a:xfrm>
            <a:off x="3246784" y="4611755"/>
            <a:ext cx="135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Importance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x1</a:t>
            </a:r>
            <a:endParaRPr lang="en-US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F581909-9EBF-D5A0-CA07-C473586B6BA1}"/>
              </a:ext>
            </a:extLst>
          </p:cNvPr>
          <p:cNvSpPr txBox="1"/>
          <p:nvPr/>
        </p:nvSpPr>
        <p:spPr>
          <a:xfrm>
            <a:off x="5552662" y="4604204"/>
            <a:ext cx="135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Importance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x3</a:t>
            </a:r>
            <a:endParaRPr lang="en-US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87A4F2F-DDD6-72A0-E110-F4E3CB71926A}"/>
              </a:ext>
            </a:extLst>
          </p:cNvPr>
          <p:cNvSpPr txBox="1"/>
          <p:nvPr/>
        </p:nvSpPr>
        <p:spPr>
          <a:xfrm>
            <a:off x="7381462" y="4611755"/>
            <a:ext cx="135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Importance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xD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944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DB0C4-EB4E-EC53-CF84-1E24875B0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4BCD09C-4466-0981-EE9B-B8E7EE35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6ED01D6-6AA7-5987-B2E6-CF5EDEBBF5D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Feature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importance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39CB12B-84AC-0E09-C773-C33B1335B179}"/>
              </a:ext>
            </a:extLst>
          </p:cNvPr>
          <p:cNvSpPr txBox="1"/>
          <p:nvPr/>
        </p:nvSpPr>
        <p:spPr>
          <a:xfrm>
            <a:off x="-15357" y="1071598"/>
            <a:ext cx="12191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In </a:t>
            </a:r>
            <a:r>
              <a:rPr lang="pt-PT" sz="2000" dirty="0" err="1"/>
              <a:t>spectroscopy</a:t>
            </a:r>
            <a:r>
              <a:rPr lang="pt-PT" sz="2000" dirty="0"/>
              <a:t>, </a:t>
            </a:r>
            <a:r>
              <a:rPr lang="pt-PT" sz="2000" dirty="0" err="1"/>
              <a:t>large</a:t>
            </a:r>
            <a:r>
              <a:rPr lang="pt-PT" sz="2000" dirty="0"/>
              <a:t> </a:t>
            </a:r>
            <a:r>
              <a:rPr lang="pt-PT" sz="2000" dirty="0" err="1"/>
              <a:t>coefficients</a:t>
            </a:r>
            <a:r>
              <a:rPr lang="pt-PT" sz="2000" dirty="0"/>
              <a:t> can </a:t>
            </a:r>
            <a:r>
              <a:rPr lang="pt-PT" sz="2000" dirty="0" err="1"/>
              <a:t>give</a:t>
            </a:r>
            <a:r>
              <a:rPr lang="pt-PT" sz="2000" dirty="0"/>
              <a:t> </a:t>
            </a:r>
            <a:r>
              <a:rPr lang="pt-PT" sz="2000" dirty="0" err="1"/>
              <a:t>intuition</a:t>
            </a:r>
            <a:r>
              <a:rPr lang="pt-PT" sz="2000" dirty="0"/>
              <a:t> </a:t>
            </a:r>
            <a:r>
              <a:rPr lang="pt-PT" sz="2000" dirty="0" err="1"/>
              <a:t>into</a:t>
            </a:r>
            <a:r>
              <a:rPr lang="pt-PT" sz="2000" dirty="0"/>
              <a:t> </a:t>
            </a:r>
            <a:r>
              <a:rPr lang="pt-PT" sz="2000" dirty="0" err="1"/>
              <a:t>relevant</a:t>
            </a:r>
            <a:r>
              <a:rPr lang="pt-PT" sz="2000" dirty="0"/>
              <a:t> </a:t>
            </a:r>
            <a:r>
              <a:rPr lang="pt-PT" sz="2000" dirty="0" err="1"/>
              <a:t>bands</a:t>
            </a:r>
            <a:r>
              <a:rPr lang="pt-PT" sz="2000" dirty="0"/>
              <a:t> </a:t>
            </a:r>
            <a:r>
              <a:rPr lang="pt-PT" sz="2000" dirty="0" err="1"/>
              <a:t>important</a:t>
            </a:r>
            <a:r>
              <a:rPr lang="pt-PT" sz="2000" dirty="0"/>
              <a:t> for </a:t>
            </a:r>
            <a:r>
              <a:rPr lang="pt-PT" sz="2000" dirty="0" err="1"/>
              <a:t>predicting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target</a:t>
            </a:r>
            <a:endParaRPr lang="pt-PT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41E161A-3627-E0F3-4FB7-892DBEFBCE29}"/>
              </a:ext>
            </a:extLst>
          </p:cNvPr>
          <p:cNvGrpSpPr/>
          <p:nvPr/>
        </p:nvGrpSpPr>
        <p:grpSpPr>
          <a:xfrm>
            <a:off x="283728" y="1903560"/>
            <a:ext cx="11465512" cy="3050880"/>
            <a:chOff x="180562" y="2208869"/>
            <a:chExt cx="11465512" cy="3050880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D69CD779-A8FD-59B7-1852-6E3958AFE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562" y="2219317"/>
              <a:ext cx="3821837" cy="3029984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01A8D75F-F046-FCAD-4B13-576951006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2399" y="2208869"/>
              <a:ext cx="3821837" cy="3050880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A68E7134-6D83-3D61-1D84-D400BC343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4236" y="2208869"/>
              <a:ext cx="3821838" cy="3029985"/>
            </a:xfrm>
            <a:prstGeom prst="rect">
              <a:avLst/>
            </a:prstGeom>
          </p:spPr>
        </p:pic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878A1090-7EF7-DA20-9AFD-BA13C0441061}"/>
              </a:ext>
            </a:extLst>
          </p:cNvPr>
          <p:cNvSpPr/>
          <p:nvPr/>
        </p:nvSpPr>
        <p:spPr>
          <a:xfrm>
            <a:off x="2213111" y="3079931"/>
            <a:ext cx="377687" cy="148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17189B6-92BB-B0DC-D02D-FCB175B94F6C}"/>
              </a:ext>
            </a:extLst>
          </p:cNvPr>
          <p:cNvSpPr/>
          <p:nvPr/>
        </p:nvSpPr>
        <p:spPr>
          <a:xfrm>
            <a:off x="6034948" y="2139027"/>
            <a:ext cx="377687" cy="25345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443B229-A17F-4141-5C7E-743A7EC3A08D}"/>
              </a:ext>
            </a:extLst>
          </p:cNvPr>
          <p:cNvSpPr/>
          <p:nvPr/>
        </p:nvSpPr>
        <p:spPr>
          <a:xfrm>
            <a:off x="9838321" y="3033548"/>
            <a:ext cx="377687" cy="14842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74F96D8-7039-EE4F-5384-627530BA1272}"/>
              </a:ext>
            </a:extLst>
          </p:cNvPr>
          <p:cNvSpPr txBox="1"/>
          <p:nvPr/>
        </p:nvSpPr>
        <p:spPr>
          <a:xfrm>
            <a:off x="3560691" y="5169012"/>
            <a:ext cx="5070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b="1" dirty="0" err="1">
                <a:solidFill>
                  <a:srgbClr val="FF0000"/>
                </a:solidFill>
              </a:rPr>
              <a:t>What</a:t>
            </a:r>
            <a:r>
              <a:rPr lang="pt-PT" sz="2400" b="1" dirty="0">
                <a:solidFill>
                  <a:srgbClr val="FF0000"/>
                </a:solidFill>
              </a:rPr>
              <a:t> </a:t>
            </a:r>
            <a:r>
              <a:rPr lang="pt-PT" sz="2400" b="1" dirty="0" err="1">
                <a:solidFill>
                  <a:srgbClr val="FF0000"/>
                </a:solidFill>
              </a:rPr>
              <a:t>is</a:t>
            </a:r>
            <a:r>
              <a:rPr lang="pt-PT" sz="2400" b="1" dirty="0">
                <a:solidFill>
                  <a:srgbClr val="FF0000"/>
                </a:solidFill>
              </a:rPr>
              <a:t> </a:t>
            </a:r>
            <a:r>
              <a:rPr lang="pt-PT" sz="2400" b="1" dirty="0" err="1">
                <a:solidFill>
                  <a:srgbClr val="FF0000"/>
                </a:solidFill>
              </a:rPr>
              <a:t>important</a:t>
            </a:r>
            <a:r>
              <a:rPr lang="pt-PT" sz="2400" b="1" dirty="0">
                <a:solidFill>
                  <a:srgbClr val="FF0000"/>
                </a:solidFill>
              </a:rPr>
              <a:t> </a:t>
            </a:r>
            <a:r>
              <a:rPr lang="pt-PT" sz="2400" b="1" dirty="0" err="1">
                <a:solidFill>
                  <a:srgbClr val="FF0000"/>
                </a:solidFill>
              </a:rPr>
              <a:t>about</a:t>
            </a:r>
            <a:r>
              <a:rPr lang="pt-PT" sz="2400" b="1" dirty="0">
                <a:solidFill>
                  <a:srgbClr val="FF0000"/>
                </a:solidFill>
              </a:rPr>
              <a:t> </a:t>
            </a:r>
            <a:r>
              <a:rPr lang="pt-PT" sz="2400" b="1" dirty="0" err="1">
                <a:solidFill>
                  <a:srgbClr val="FF0000"/>
                </a:solidFill>
              </a:rPr>
              <a:t>these</a:t>
            </a:r>
            <a:r>
              <a:rPr lang="pt-PT" sz="2400" b="1" dirty="0">
                <a:solidFill>
                  <a:srgbClr val="FF0000"/>
                </a:solidFill>
              </a:rPr>
              <a:t> </a:t>
            </a:r>
            <a:r>
              <a:rPr lang="pt-PT" sz="2400" b="1" dirty="0" err="1">
                <a:solidFill>
                  <a:srgbClr val="FF0000"/>
                </a:solidFill>
              </a:rPr>
              <a:t>bands</a:t>
            </a:r>
            <a:r>
              <a:rPr lang="pt-PT" sz="2400" b="1" dirty="0">
                <a:solidFill>
                  <a:srgbClr val="FF0000"/>
                </a:solidFill>
              </a:rPr>
              <a:t>?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239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6097-C645-9438-BCE8-F6086BE38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DE14E63-02A4-9077-0189-EE0238A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60D6E07-A4B0-C202-83F5-431A4D02E937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Feature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importance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033A2C7-0104-EDDB-E895-2B8F23D9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52" r="13309" b="9286"/>
          <a:stretch>
            <a:fillRect/>
          </a:stretch>
        </p:blipFill>
        <p:spPr>
          <a:xfrm>
            <a:off x="1764282" y="679274"/>
            <a:ext cx="7822170" cy="549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708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610B-3097-1520-9B6F-10308258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2A7777C-3082-5F39-FB16-B26E928A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8153411-C910-5A02-BEE8-9DA97BA585D6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Feature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importance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analysis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70A0FFE-6D31-AF3B-1DFB-2B666D01C9C0}"/>
              </a:ext>
            </a:extLst>
          </p:cNvPr>
          <p:cNvGrpSpPr/>
          <p:nvPr/>
        </p:nvGrpSpPr>
        <p:grpSpPr>
          <a:xfrm>
            <a:off x="-15357" y="3216702"/>
            <a:ext cx="12207352" cy="3239911"/>
            <a:chOff x="0" y="1765793"/>
            <a:chExt cx="12207352" cy="3143892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71F3D013-CB2D-FF3B-A5A7-6887D9A60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752" r="13309" b="9286"/>
            <a:stretch>
              <a:fillRect/>
            </a:stretch>
          </p:blipFill>
          <p:spPr>
            <a:xfrm>
              <a:off x="0" y="1765793"/>
              <a:ext cx="4608303" cy="3143892"/>
            </a:xfrm>
            <a:prstGeom prst="rect">
              <a:avLst/>
            </a:prstGeom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E72210AC-584B-CD8F-4515-8D6CE4982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08303" y="1765793"/>
              <a:ext cx="3821837" cy="302998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8976BA08-2194-BFFC-A66A-8F1C0E22E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5515" y="1765793"/>
              <a:ext cx="3821837" cy="3050880"/>
            </a:xfrm>
            <a:prstGeom prst="rect">
              <a:avLst/>
            </a:prstGeom>
          </p:spPr>
        </p:pic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64DE24-7F0A-8096-0844-64577B1356FC}"/>
              </a:ext>
            </a:extLst>
          </p:cNvPr>
          <p:cNvSpPr txBox="1"/>
          <p:nvPr/>
        </p:nvSpPr>
        <p:spPr>
          <a:xfrm>
            <a:off x="5" y="575547"/>
            <a:ext cx="1219199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Comparing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feature</a:t>
            </a:r>
            <a:r>
              <a:rPr lang="pt-PT" sz="2000" dirty="0"/>
              <a:t> </a:t>
            </a:r>
            <a:r>
              <a:rPr lang="pt-PT" sz="2000" dirty="0" err="1"/>
              <a:t>importance</a:t>
            </a:r>
            <a:r>
              <a:rPr lang="pt-PT" sz="2000" dirty="0"/>
              <a:t> </a:t>
            </a:r>
            <a:r>
              <a:rPr lang="pt-PT" sz="2000" dirty="0" err="1"/>
              <a:t>results</a:t>
            </a:r>
            <a:r>
              <a:rPr lang="pt-PT" sz="2000" dirty="0"/>
              <a:t> </a:t>
            </a:r>
            <a:r>
              <a:rPr lang="pt-PT" sz="2000" dirty="0" err="1"/>
              <a:t>with</a:t>
            </a:r>
            <a:r>
              <a:rPr lang="pt-PT" sz="2000" dirty="0"/>
              <a:t> </a:t>
            </a:r>
            <a:r>
              <a:rPr lang="pt-PT" sz="2000" dirty="0" err="1"/>
              <a:t>those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paper</a:t>
            </a:r>
            <a:r>
              <a:rPr lang="pt-PT" sz="2000" dirty="0"/>
              <a:t>,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find</a:t>
            </a:r>
            <a:r>
              <a:rPr lang="pt-PT" sz="2000" dirty="0"/>
              <a:t> </a:t>
            </a:r>
            <a:r>
              <a:rPr lang="pt-PT" sz="2000" dirty="0" err="1"/>
              <a:t>that</a:t>
            </a:r>
            <a:r>
              <a:rPr lang="pt-PT" sz="2000" dirty="0"/>
              <a:t> </a:t>
            </a:r>
            <a:r>
              <a:rPr lang="pt-PT" sz="2000" dirty="0" err="1"/>
              <a:t>models</a:t>
            </a:r>
            <a:r>
              <a:rPr lang="pt-PT" sz="2000" dirty="0"/>
              <a:t> </a:t>
            </a:r>
            <a:r>
              <a:rPr lang="pt-PT" sz="2000" dirty="0" err="1"/>
              <a:t>align</a:t>
            </a:r>
            <a:r>
              <a:rPr lang="pt-PT" sz="2000" dirty="0"/>
              <a:t> </a:t>
            </a:r>
            <a:r>
              <a:rPr lang="pt-PT" sz="2000" dirty="0" err="1"/>
              <a:t>on</a:t>
            </a:r>
            <a:r>
              <a:rPr lang="pt-PT" sz="2000" dirty="0"/>
              <a:t> </a:t>
            </a:r>
            <a:r>
              <a:rPr lang="pt-PT" sz="2000" dirty="0" err="1"/>
              <a:t>relevant</a:t>
            </a:r>
            <a:r>
              <a:rPr lang="pt-PT" sz="2000" dirty="0"/>
              <a:t> </a:t>
            </a:r>
            <a:r>
              <a:rPr lang="pt-PT" sz="2000" dirty="0" err="1"/>
              <a:t>conclusions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models</a:t>
            </a:r>
            <a:r>
              <a:rPr lang="pt-PT" sz="2000" dirty="0"/>
              <a:t> are </a:t>
            </a:r>
            <a:r>
              <a:rPr lang="pt-PT" sz="2000" dirty="0" err="1"/>
              <a:t>able</a:t>
            </a:r>
            <a:r>
              <a:rPr lang="pt-PT" sz="2000" dirty="0"/>
              <a:t> to capture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correlation</a:t>
            </a:r>
            <a:r>
              <a:rPr lang="pt-PT" sz="2000" dirty="0"/>
              <a:t> </a:t>
            </a:r>
            <a:r>
              <a:rPr lang="pt-PT" sz="2000" dirty="0" err="1"/>
              <a:t>between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absorbance</a:t>
            </a:r>
            <a:r>
              <a:rPr lang="pt-PT" sz="2000" dirty="0"/>
              <a:t> </a:t>
            </a:r>
            <a:r>
              <a:rPr lang="pt-PT" sz="2000" dirty="0" err="1"/>
              <a:t>around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1200 </a:t>
            </a:r>
            <a:r>
              <a:rPr lang="pt-PT" sz="2000" dirty="0" err="1"/>
              <a:t>nm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extract</a:t>
            </a:r>
            <a:r>
              <a:rPr lang="pt-PT" sz="2000" dirty="0"/>
              <a:t> </a:t>
            </a:r>
            <a:r>
              <a:rPr lang="pt-PT" sz="2000" dirty="0" err="1"/>
              <a:t>parameter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You</a:t>
            </a:r>
            <a:r>
              <a:rPr lang="pt-PT" sz="2000" dirty="0"/>
              <a:t> can look </a:t>
            </a:r>
            <a:r>
              <a:rPr lang="pt-PT" sz="2000" dirty="0" err="1"/>
              <a:t>at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coefficients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compare </a:t>
            </a:r>
            <a:r>
              <a:rPr lang="pt-PT" sz="2000" dirty="0" err="1"/>
              <a:t>information</a:t>
            </a:r>
            <a:r>
              <a:rPr lang="pt-PT" sz="2000" dirty="0"/>
              <a:t> </a:t>
            </a:r>
            <a:r>
              <a:rPr lang="pt-PT" sz="2000" dirty="0" err="1"/>
              <a:t>available</a:t>
            </a:r>
            <a:r>
              <a:rPr lang="pt-PT" sz="2000" dirty="0"/>
              <a:t> in </a:t>
            </a:r>
            <a:r>
              <a:rPr lang="pt-PT" sz="2000" dirty="0" err="1"/>
              <a:t>textbooks</a:t>
            </a:r>
            <a:r>
              <a:rPr lang="pt-PT" sz="2000" dirty="0"/>
              <a:t> </a:t>
            </a:r>
            <a:r>
              <a:rPr lang="pt-PT" sz="2000" dirty="0" err="1"/>
              <a:t>about</a:t>
            </a:r>
            <a:r>
              <a:rPr lang="pt-PT" sz="2000" dirty="0"/>
              <a:t> </a:t>
            </a:r>
            <a:r>
              <a:rPr lang="pt-PT" sz="2000" dirty="0" err="1"/>
              <a:t>frequency</a:t>
            </a:r>
            <a:r>
              <a:rPr lang="pt-PT" sz="2000" dirty="0"/>
              <a:t> </a:t>
            </a:r>
            <a:r>
              <a:rPr lang="pt-PT" sz="2000" dirty="0" err="1"/>
              <a:t>bands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29611835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4E46E-B430-D411-D765-9C63E2F40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68F9321-F525-0886-7163-0B3D4974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D2ACD88-3E1D-066F-89B2-390E55C1A2B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Feature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importance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in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9D60CAA-C42E-7D08-1921-24C76273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935" y="1202998"/>
            <a:ext cx="3389104" cy="268690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A56C982-CD1E-CD70-BEE7-232EC171A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005" y="1222620"/>
            <a:ext cx="3210068" cy="256252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CC132AA-F231-52AC-65ED-E0893FCF6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686" y="3871625"/>
            <a:ext cx="3364353" cy="266728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B5DCB5B-3928-C04E-5F29-EB593985E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82" y="686414"/>
            <a:ext cx="5418026" cy="561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08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F682D-2B53-9BC0-49CC-B9C5CE40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F9F1CA8-87A8-0506-09A8-66288727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DA197F6-87D7-1A80-6537-33CC0752D6E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Overview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of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methods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for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CF506CA-89E3-5294-47AD-5AE18B452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814148"/>
              </p:ext>
            </p:extLst>
          </p:nvPr>
        </p:nvGraphicFramePr>
        <p:xfrm>
          <a:off x="2031998" y="1494917"/>
          <a:ext cx="8128000" cy="321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799258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838399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729473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59230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Model</a:t>
                      </a:r>
                      <a:r>
                        <a:rPr lang="pt-PT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Robust</a:t>
                      </a:r>
                      <a:r>
                        <a:rPr lang="pt-PT" dirty="0"/>
                        <a:t> to </a:t>
                      </a:r>
                      <a:r>
                        <a:rPr lang="pt-PT" dirty="0" err="1"/>
                        <a:t>collinearity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Variable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selection</a:t>
                      </a:r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Sensitive</a:t>
                      </a:r>
                      <a:r>
                        <a:rPr lang="pt-PT" dirty="0"/>
                        <a:t> to </a:t>
                      </a:r>
                      <a:r>
                        <a:rPr lang="pt-PT" dirty="0" err="1"/>
                        <a:t>differences</a:t>
                      </a:r>
                      <a:r>
                        <a:rPr lang="pt-PT" dirty="0"/>
                        <a:t> in </a:t>
                      </a:r>
                      <a:r>
                        <a:rPr lang="pt-PT" dirty="0" err="1"/>
                        <a:t>scale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786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Linear </a:t>
                      </a:r>
                      <a:r>
                        <a:rPr lang="pt-PT" dirty="0" err="1"/>
                        <a:t>regression</a:t>
                      </a:r>
                      <a:r>
                        <a:rPr lang="pt-PT" dirty="0"/>
                        <a:t> (</a:t>
                      </a:r>
                      <a:r>
                        <a:rPr lang="pt-PT" dirty="0" err="1"/>
                        <a:t>ordinary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least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squares</a:t>
                      </a:r>
                      <a:r>
                        <a:rPr lang="pt-PT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NO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NO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206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Ridge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Regression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7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LASSO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66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dirty="0" err="1"/>
                        <a:t>Partial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Least</a:t>
                      </a:r>
                      <a:r>
                        <a:rPr lang="pt-PT" dirty="0"/>
                        <a:t> </a:t>
                      </a:r>
                      <a:r>
                        <a:rPr lang="pt-PT" dirty="0" err="1"/>
                        <a:t>Squares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dirty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204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0126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530E7-A94F-907C-A554-2769AF471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3A26333-10FC-8246-03FD-8DE4A064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84FF434-EC52-7FF4-73A4-1DACD269F8EF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pre-processing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89CAA3-66BE-2B80-F128-DD14922D8141}"/>
              </a:ext>
            </a:extLst>
          </p:cNvPr>
          <p:cNvSpPr txBox="1"/>
          <p:nvPr/>
        </p:nvSpPr>
        <p:spPr>
          <a:xfrm>
            <a:off x="0" y="909266"/>
            <a:ext cx="7183691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Instruments</a:t>
            </a:r>
            <a:r>
              <a:rPr lang="pt-PT" sz="2000" dirty="0"/>
              <a:t> in </a:t>
            </a:r>
            <a:r>
              <a:rPr lang="pt-PT" sz="2000" dirty="0" err="1"/>
              <a:t>analytical</a:t>
            </a:r>
            <a:r>
              <a:rPr lang="pt-PT" sz="2000" dirty="0"/>
              <a:t> </a:t>
            </a:r>
            <a:r>
              <a:rPr lang="pt-PT" sz="2000" dirty="0" err="1"/>
              <a:t>chemistry</a:t>
            </a:r>
            <a:r>
              <a:rPr lang="pt-PT" sz="2000" dirty="0"/>
              <a:t> are </a:t>
            </a:r>
            <a:r>
              <a:rPr lang="pt-PT" sz="2000" dirty="0" err="1"/>
              <a:t>subject</a:t>
            </a:r>
            <a:r>
              <a:rPr lang="pt-PT" sz="2000" dirty="0"/>
              <a:t> to </a:t>
            </a:r>
            <a:r>
              <a:rPr lang="pt-PT" sz="2000" dirty="0" err="1"/>
              <a:t>artifacts</a:t>
            </a:r>
            <a:endParaRPr lang="pt-PT" sz="2000" dirty="0"/>
          </a:p>
          <a:p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These</a:t>
            </a:r>
            <a:r>
              <a:rPr lang="pt-PT" sz="2000" dirty="0"/>
              <a:t> can </a:t>
            </a:r>
            <a:r>
              <a:rPr lang="pt-PT" sz="2000" dirty="0" err="1"/>
              <a:t>create</a:t>
            </a:r>
            <a:r>
              <a:rPr lang="pt-PT" sz="2000" dirty="0"/>
              <a:t> </a:t>
            </a:r>
            <a:r>
              <a:rPr lang="pt-PT" sz="2000" b="1" dirty="0"/>
              <a:t>non-</a:t>
            </a:r>
            <a:r>
              <a:rPr lang="pt-PT" sz="2000" b="1" dirty="0" err="1"/>
              <a:t>linearities</a:t>
            </a:r>
            <a:r>
              <a:rPr lang="pt-PT" sz="2000" b="1" dirty="0"/>
              <a:t> in </a:t>
            </a:r>
            <a:r>
              <a:rPr lang="pt-PT" sz="2000" b="1" dirty="0" err="1"/>
              <a:t>the</a:t>
            </a:r>
            <a:r>
              <a:rPr lang="pt-PT" sz="2000" b="1" dirty="0"/>
              <a:t> </a:t>
            </a:r>
            <a:r>
              <a:rPr lang="pt-PT" sz="2000" b="1" dirty="0" err="1"/>
              <a:t>spectra</a:t>
            </a:r>
            <a:r>
              <a:rPr lang="pt-PT" sz="2000" b="1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lead to </a:t>
            </a:r>
            <a:r>
              <a:rPr lang="pt-PT" sz="2000" dirty="0" err="1"/>
              <a:t>sub-optimal</a:t>
            </a:r>
            <a:r>
              <a:rPr lang="pt-PT" sz="2000" dirty="0"/>
              <a:t> performance for linear </a:t>
            </a:r>
            <a:r>
              <a:rPr lang="pt-PT" sz="2000" dirty="0" err="1"/>
              <a:t>models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Different</a:t>
            </a:r>
            <a:r>
              <a:rPr lang="pt-PT" sz="2000" dirty="0"/>
              <a:t> </a:t>
            </a:r>
            <a:r>
              <a:rPr lang="pt-PT" sz="2000" dirty="0" err="1"/>
              <a:t>artifacts</a:t>
            </a:r>
            <a:r>
              <a:rPr lang="pt-PT" sz="2000" dirty="0"/>
              <a:t> </a:t>
            </a:r>
            <a:r>
              <a:rPr lang="pt-PT" sz="2000" dirty="0" err="1"/>
              <a:t>influence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data </a:t>
            </a:r>
            <a:r>
              <a:rPr lang="pt-PT" sz="2000" dirty="0" err="1"/>
              <a:t>differently</a:t>
            </a:r>
            <a:endParaRPr lang="pt-PT" sz="2000" dirty="0"/>
          </a:p>
          <a:p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Pre-processing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data/</a:t>
            </a:r>
            <a:r>
              <a:rPr lang="pt-PT" sz="2000" dirty="0" err="1"/>
              <a:t>spectra</a:t>
            </a:r>
            <a:r>
              <a:rPr lang="pt-PT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/>
              <a:t>“</a:t>
            </a:r>
            <a:r>
              <a:rPr lang="pt-PT" dirty="0" err="1"/>
              <a:t>Filters</a:t>
            </a:r>
            <a:r>
              <a:rPr lang="pt-PT" dirty="0"/>
              <a:t> out”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artifacts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data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Turns</a:t>
            </a:r>
            <a:r>
              <a:rPr lang="pt-PT" dirty="0"/>
              <a:t> </a:t>
            </a:r>
            <a:r>
              <a:rPr lang="pt-PT" dirty="0" err="1"/>
              <a:t>relevant</a:t>
            </a:r>
            <a:r>
              <a:rPr lang="pt-PT" dirty="0"/>
              <a:t> </a:t>
            </a:r>
            <a:r>
              <a:rPr lang="pt-PT" dirty="0" err="1"/>
              <a:t>bands</a:t>
            </a:r>
            <a:r>
              <a:rPr lang="pt-PT" dirty="0"/>
              <a:t> </a:t>
            </a:r>
            <a:r>
              <a:rPr lang="pt-PT" dirty="0" err="1"/>
              <a:t>important</a:t>
            </a:r>
            <a:r>
              <a:rPr lang="pt-PT" dirty="0"/>
              <a:t> (</a:t>
            </a:r>
            <a:r>
              <a:rPr lang="pt-PT" dirty="0" err="1"/>
              <a:t>extracts</a:t>
            </a:r>
            <a:r>
              <a:rPr lang="pt-PT" dirty="0"/>
              <a:t> </a:t>
            </a:r>
            <a:r>
              <a:rPr lang="pt-PT" dirty="0" err="1"/>
              <a:t>features</a:t>
            </a:r>
            <a:r>
              <a:rPr lang="pt-PT" dirty="0"/>
              <a:t> </a:t>
            </a:r>
            <a:r>
              <a:rPr lang="pt-PT" dirty="0" err="1"/>
              <a:t>from</a:t>
            </a:r>
            <a:r>
              <a:rPr lang="pt-PT" dirty="0"/>
              <a:t> </a:t>
            </a:r>
            <a:r>
              <a:rPr lang="pt-PT" dirty="0" err="1"/>
              <a:t>spectra</a:t>
            </a:r>
            <a:r>
              <a:rPr lang="pt-PT" dirty="0"/>
              <a:t>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2006961-2535-42DD-7A06-17EBBF359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098"/>
          <a:stretch>
            <a:fillRect/>
          </a:stretch>
        </p:blipFill>
        <p:spPr>
          <a:xfrm>
            <a:off x="7227864" y="547840"/>
            <a:ext cx="4964136" cy="390489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2D1CEF2F-A5D3-8046-2736-2975A9109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" y="4592518"/>
            <a:ext cx="12166508" cy="204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17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EBAE9-107E-378B-B0F2-73515ED02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4BE988A-F9CD-A204-B9C3-4821B50A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FB338AC-548C-9ABF-2AE9-CECBC76FC7DF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pre-processing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7C33823-F31B-69AD-AA68-994611BB3F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291"/>
          <a:stretch>
            <a:fillRect/>
          </a:stretch>
        </p:blipFill>
        <p:spPr>
          <a:xfrm>
            <a:off x="0" y="2069029"/>
            <a:ext cx="5327374" cy="23609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3EA0469-BCB0-F79D-75F8-2F8441E50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203" y="2161767"/>
            <a:ext cx="6607528" cy="217550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3F85592-30B7-BF62-AAC2-840713217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9704" y="4483080"/>
            <a:ext cx="6169814" cy="223839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852719B-DC1D-F2DA-DC72-6324AF5D1901}"/>
              </a:ext>
            </a:extLst>
          </p:cNvPr>
          <p:cNvSpPr txBox="1"/>
          <p:nvPr/>
        </p:nvSpPr>
        <p:spPr>
          <a:xfrm>
            <a:off x="0" y="471336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There</a:t>
            </a:r>
            <a:r>
              <a:rPr lang="pt-PT" sz="2000" dirty="0"/>
              <a:t> are </a:t>
            </a:r>
            <a:r>
              <a:rPr lang="pt-PT" sz="2000" dirty="0" err="1"/>
              <a:t>many</a:t>
            </a:r>
            <a:r>
              <a:rPr lang="pt-PT" sz="2000" dirty="0"/>
              <a:t> </a:t>
            </a:r>
            <a:r>
              <a:rPr lang="pt-PT" sz="2000" dirty="0" err="1"/>
              <a:t>types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ways</a:t>
            </a:r>
            <a:r>
              <a:rPr lang="pt-PT" sz="2000" dirty="0"/>
              <a:t> for </a:t>
            </a:r>
            <a:r>
              <a:rPr lang="pt-PT" sz="2000" dirty="0" err="1"/>
              <a:t>pre-processing</a:t>
            </a:r>
            <a:r>
              <a:rPr lang="pt-PT" sz="2000" dirty="0"/>
              <a:t> </a:t>
            </a:r>
            <a:r>
              <a:rPr lang="pt-PT" sz="2000" dirty="0" err="1"/>
              <a:t>spectroscopic</a:t>
            </a:r>
            <a:r>
              <a:rPr lang="pt-PT" sz="2000" dirty="0"/>
              <a:t> data </a:t>
            </a:r>
          </a:p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More </a:t>
            </a:r>
            <a:r>
              <a:rPr lang="pt-PT" sz="2000" dirty="0" err="1"/>
              <a:t>than</a:t>
            </a:r>
            <a:r>
              <a:rPr lang="pt-PT" sz="2000" dirty="0"/>
              <a:t> 100 NIR </a:t>
            </a:r>
            <a:r>
              <a:rPr lang="pt-PT" sz="2000" dirty="0" err="1"/>
              <a:t>pre-processing</a:t>
            </a:r>
            <a:r>
              <a:rPr lang="pt-PT" sz="2000" dirty="0"/>
              <a:t> </a:t>
            </a:r>
            <a:r>
              <a:rPr lang="pt-PT" sz="2000" dirty="0" err="1"/>
              <a:t>methods</a:t>
            </a:r>
            <a:r>
              <a:rPr lang="pt-PT" sz="2000" dirty="0"/>
              <a:t> can </a:t>
            </a:r>
            <a:r>
              <a:rPr lang="pt-PT" sz="2000" dirty="0" err="1"/>
              <a:t>be</a:t>
            </a:r>
            <a:r>
              <a:rPr lang="pt-PT" sz="2000" dirty="0"/>
              <a:t> </a:t>
            </a:r>
            <a:r>
              <a:rPr lang="pt-PT" sz="2000" dirty="0" err="1"/>
              <a:t>found</a:t>
            </a:r>
            <a:r>
              <a:rPr lang="pt-PT" sz="2000" dirty="0"/>
              <a:t> in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literature</a:t>
            </a:r>
            <a:r>
              <a:rPr lang="pt-PT" sz="2000" dirty="0"/>
              <a:t> (</a:t>
            </a:r>
            <a:r>
              <a:rPr lang="pt-PT" sz="2000" b="1" i="1" dirty="0" err="1"/>
              <a:t>Jiao</a:t>
            </a:r>
            <a:r>
              <a:rPr lang="pt-PT" sz="2000" b="1" i="1" dirty="0"/>
              <a:t> </a:t>
            </a:r>
            <a:r>
              <a:rPr lang="pt-PT" sz="2000" b="1" i="1" dirty="0" err="1"/>
              <a:t>et</a:t>
            </a:r>
            <a:r>
              <a:rPr lang="pt-PT" sz="2000" b="1" i="1" dirty="0"/>
              <a:t> al 2020)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b="1" i="1" dirty="0" err="1"/>
              <a:t>We</a:t>
            </a:r>
            <a:r>
              <a:rPr lang="pt-PT" sz="2000" b="1" i="1" dirty="0"/>
              <a:t> </a:t>
            </a:r>
            <a:r>
              <a:rPr lang="pt-PT" sz="2000" b="1" i="1" dirty="0" err="1"/>
              <a:t>also</a:t>
            </a:r>
            <a:r>
              <a:rPr lang="pt-PT" sz="2000" b="1" i="1" dirty="0"/>
              <a:t> </a:t>
            </a:r>
            <a:r>
              <a:rPr lang="pt-PT" sz="2000" b="1" i="1" dirty="0" err="1"/>
              <a:t>tipically</a:t>
            </a:r>
            <a:r>
              <a:rPr lang="pt-PT" sz="2000" b="1" i="1" dirty="0"/>
              <a:t> </a:t>
            </a:r>
            <a:r>
              <a:rPr lang="pt-PT" sz="2000" b="1" i="1" dirty="0" err="1"/>
              <a:t>want</a:t>
            </a:r>
            <a:r>
              <a:rPr lang="pt-PT" sz="2000" b="1" i="1" dirty="0"/>
              <a:t> to </a:t>
            </a:r>
            <a:r>
              <a:rPr lang="pt-PT" sz="2000" b="1" i="1" dirty="0" err="1"/>
              <a:t>transform</a:t>
            </a:r>
            <a:r>
              <a:rPr lang="pt-PT" sz="2000" b="1" i="1" dirty="0"/>
              <a:t> </a:t>
            </a:r>
            <a:r>
              <a:rPr lang="pt-PT" sz="2000" b="1" i="1" dirty="0" err="1"/>
              <a:t>the</a:t>
            </a:r>
            <a:r>
              <a:rPr lang="pt-PT" sz="2000" b="1" i="1" dirty="0"/>
              <a:t> </a:t>
            </a:r>
            <a:r>
              <a:rPr lang="pt-PT" sz="2000" b="1" i="1" dirty="0" err="1"/>
              <a:t>spectra</a:t>
            </a:r>
            <a:r>
              <a:rPr lang="pt-PT" sz="2000" b="1" i="1" dirty="0"/>
              <a:t> </a:t>
            </a:r>
            <a:r>
              <a:rPr lang="pt-PT" sz="2000" b="1" i="1" dirty="0" err="1"/>
              <a:t>into</a:t>
            </a:r>
            <a:r>
              <a:rPr lang="pt-PT" sz="2000" b="1" i="1" dirty="0"/>
              <a:t> </a:t>
            </a:r>
            <a:r>
              <a:rPr lang="pt-PT" sz="2000" b="1" i="1" dirty="0" err="1"/>
              <a:t>absorbance</a:t>
            </a:r>
            <a:r>
              <a:rPr lang="pt-PT" sz="2000" b="1" i="1" dirty="0"/>
              <a:t> </a:t>
            </a:r>
            <a:r>
              <a:rPr lang="pt-PT" sz="2000" b="1" i="1" dirty="0" err="1"/>
              <a:t>scale</a:t>
            </a:r>
            <a:r>
              <a:rPr lang="pt-PT" sz="2000" b="1" i="1" dirty="0"/>
              <a:t> (for NIR)</a:t>
            </a:r>
          </a:p>
          <a:p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25517600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5FB0-E6B2-0E08-4736-4E993A6D2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0017591-F47A-6E73-9215-8DD27A70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80B1187-F18F-CDE9-68DC-7E8A68C18E70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pre-processing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F28E5A-BBE2-A769-954E-B118A7D9C696}"/>
              </a:ext>
            </a:extLst>
          </p:cNvPr>
          <p:cNvSpPr txBox="1"/>
          <p:nvPr/>
        </p:nvSpPr>
        <p:spPr>
          <a:xfrm>
            <a:off x="0" y="471335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will</a:t>
            </a:r>
            <a:r>
              <a:rPr lang="pt-PT" dirty="0"/>
              <a:t> </a:t>
            </a:r>
            <a:r>
              <a:rPr lang="pt-PT" dirty="0" err="1"/>
              <a:t>focus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4 </a:t>
            </a:r>
            <a:r>
              <a:rPr lang="pt-PT" dirty="0" err="1"/>
              <a:t>pre-processing</a:t>
            </a:r>
            <a:r>
              <a:rPr lang="pt-PT" dirty="0"/>
              <a:t> </a:t>
            </a:r>
            <a:r>
              <a:rPr lang="pt-PT" dirty="0" err="1"/>
              <a:t>methods</a:t>
            </a:r>
            <a:r>
              <a:rPr lang="pt-PT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 err="1"/>
              <a:t>Mean</a:t>
            </a:r>
            <a:r>
              <a:rPr lang="pt-PT" b="1" dirty="0"/>
              <a:t> </a:t>
            </a:r>
            <a:r>
              <a:rPr lang="pt-PT" b="1" dirty="0" err="1"/>
              <a:t>centering</a:t>
            </a:r>
            <a:r>
              <a:rPr lang="pt-PT" b="1" dirty="0"/>
              <a:t> </a:t>
            </a:r>
            <a:r>
              <a:rPr lang="pt-PT" dirty="0"/>
              <a:t>(</a:t>
            </a:r>
            <a:r>
              <a:rPr lang="pt-PT" dirty="0" err="1"/>
              <a:t>already</a:t>
            </a:r>
            <a:r>
              <a:rPr lang="pt-PT" dirty="0"/>
              <a:t> </a:t>
            </a:r>
            <a:r>
              <a:rPr lang="pt-PT" dirty="0" err="1"/>
              <a:t>covered</a:t>
            </a:r>
            <a:r>
              <a:rPr lang="pt-PT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/>
              <a:t>Standard Normal </a:t>
            </a:r>
            <a:r>
              <a:rPr lang="pt-PT" b="1" dirty="0" err="1"/>
              <a:t>Variate</a:t>
            </a:r>
            <a:r>
              <a:rPr lang="pt-PT" b="1" dirty="0"/>
              <a:t> (SNV): </a:t>
            </a:r>
            <a:r>
              <a:rPr lang="pt-PT" dirty="0" err="1"/>
              <a:t>each</a:t>
            </a:r>
            <a:r>
              <a:rPr lang="pt-PT" dirty="0"/>
              <a:t> </a:t>
            </a:r>
            <a:r>
              <a:rPr lang="pt-PT" dirty="0" err="1"/>
              <a:t>spectra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subtracted</a:t>
            </a:r>
            <a:r>
              <a:rPr lang="pt-PT" dirty="0"/>
              <a:t> </a:t>
            </a:r>
            <a:r>
              <a:rPr lang="pt-PT" dirty="0" err="1"/>
              <a:t>its</a:t>
            </a:r>
            <a:r>
              <a:rPr lang="pt-PT" dirty="0"/>
              <a:t> </a:t>
            </a:r>
            <a:r>
              <a:rPr lang="pt-PT" dirty="0" err="1"/>
              <a:t>mean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divided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its</a:t>
            </a:r>
            <a:r>
              <a:rPr lang="pt-PT" dirty="0"/>
              <a:t> standard </a:t>
            </a:r>
            <a:r>
              <a:rPr lang="pt-PT" dirty="0" err="1"/>
              <a:t>deviation</a:t>
            </a:r>
            <a:r>
              <a:rPr lang="pt-PT" dirty="0"/>
              <a:t> </a:t>
            </a:r>
            <a:r>
              <a:rPr lang="pt-PT" dirty="0" err="1"/>
              <a:t>across</a:t>
            </a:r>
            <a:r>
              <a:rPr lang="pt-PT" dirty="0"/>
              <a:t> </a:t>
            </a:r>
            <a:r>
              <a:rPr lang="pt-PT" dirty="0" err="1"/>
              <a:t>wavelengths</a:t>
            </a: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b="1" dirty="0" err="1"/>
              <a:t>Saviztky-Golay</a:t>
            </a:r>
            <a:r>
              <a:rPr lang="pt-PT" b="1" dirty="0"/>
              <a:t> (SG): </a:t>
            </a:r>
            <a:r>
              <a:rPr lang="pt-PT" dirty="0" err="1"/>
              <a:t>fits</a:t>
            </a:r>
            <a:r>
              <a:rPr lang="pt-PT" dirty="0"/>
              <a:t> a 2nd </a:t>
            </a:r>
            <a:r>
              <a:rPr lang="pt-PT" dirty="0" err="1"/>
              <a:t>deg</a:t>
            </a:r>
            <a:r>
              <a:rPr lang="pt-PT" dirty="0"/>
              <a:t>. </a:t>
            </a:r>
            <a:r>
              <a:rPr lang="pt-PT" dirty="0" err="1"/>
              <a:t>polynomial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a </a:t>
            </a:r>
            <a:r>
              <a:rPr lang="pt-PT" dirty="0" err="1"/>
              <a:t>moving</a:t>
            </a:r>
            <a:r>
              <a:rPr lang="pt-PT" dirty="0"/>
              <a:t> </a:t>
            </a:r>
            <a:r>
              <a:rPr lang="pt-PT" dirty="0" err="1"/>
              <a:t>window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computes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derivative</a:t>
            </a:r>
            <a:r>
              <a:rPr lang="pt-PT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also</a:t>
            </a:r>
            <a:r>
              <a:rPr lang="pt-PT" dirty="0"/>
              <a:t> </a:t>
            </a:r>
            <a:r>
              <a:rPr lang="pt-PT" dirty="0" err="1"/>
              <a:t>consider</a:t>
            </a:r>
            <a:r>
              <a:rPr lang="pt-PT" dirty="0"/>
              <a:t> a </a:t>
            </a:r>
            <a:r>
              <a:rPr lang="pt-PT" dirty="0" err="1"/>
              <a:t>combination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SNV </a:t>
            </a:r>
            <a:r>
              <a:rPr lang="pt-PT" dirty="0" err="1"/>
              <a:t>and</a:t>
            </a:r>
            <a:r>
              <a:rPr lang="pt-PT" dirty="0"/>
              <a:t> SG </a:t>
            </a:r>
            <a:r>
              <a:rPr lang="pt-PT" dirty="0" err="1"/>
              <a:t>pre-processing</a:t>
            </a:r>
            <a:endParaRPr lang="pt-PT" dirty="0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19FA892-FF86-6E1E-A4D3-5CCBD5254A8F}"/>
              </a:ext>
            </a:extLst>
          </p:cNvPr>
          <p:cNvGrpSpPr/>
          <p:nvPr/>
        </p:nvGrpSpPr>
        <p:grpSpPr>
          <a:xfrm>
            <a:off x="0" y="3200150"/>
            <a:ext cx="12193272" cy="3338762"/>
            <a:chOff x="0" y="1765648"/>
            <a:chExt cx="12193272" cy="3338762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89614051-ED5E-3EBA-D72A-20F0C6BD0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848"/>
            <a:stretch>
              <a:fillRect/>
            </a:stretch>
          </p:blipFill>
          <p:spPr>
            <a:xfrm>
              <a:off x="4241329" y="1765648"/>
              <a:ext cx="4098530" cy="3338762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D4BFD885-2665-FB9D-A3C1-B0D36090E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765648"/>
              <a:ext cx="4241329" cy="3338762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DE133767-8895-DF71-319D-EEE62C6D7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328"/>
            <a:stretch>
              <a:fillRect/>
            </a:stretch>
          </p:blipFill>
          <p:spPr>
            <a:xfrm>
              <a:off x="8339859" y="1819500"/>
              <a:ext cx="3853413" cy="3188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82068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698D-66AE-B8AB-9613-EBB64E71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B8E5D33-13C3-834C-A75D-DF5EB721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75B3F54-CF93-E768-180A-E7FDF8FC5B5A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pre-processing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in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2761ED2-29A6-5DC5-9237-F08674881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670" y="550849"/>
            <a:ext cx="9071515" cy="608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442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201ED-CAE4-0999-7A62-C57433FC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D94AACC-50FA-3F7B-8F36-DB7366F6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49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44D6682-057F-C2DE-763D-0346254C2E54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pre-processing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in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9CE4564-7AE2-EB02-417E-E41FEF411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383" y="573419"/>
            <a:ext cx="8971199" cy="591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684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E8AA3-7566-9A02-F755-DD6DAFAA1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AD90A79-622A-3289-BB97-B20AFB07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DF022B5-38B0-189F-59F8-E783A3795CC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pre-processing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in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D9AA6D2-7A2A-0140-896C-11DC2EEDE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37" y="533832"/>
            <a:ext cx="4122777" cy="600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833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15CF-A170-C5D2-46EA-9E36AD57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608F115-9B15-41E8-C7D6-9C366388A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51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8F20E0E-8860-71A6-679A-39FFDDBDE7FD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Spectroscopic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data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pre-processing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07C3114-C81D-10EF-D024-2B91B19AECBE}"/>
              </a:ext>
            </a:extLst>
          </p:cNvPr>
          <p:cNvSpPr txBox="1"/>
          <p:nvPr/>
        </p:nvSpPr>
        <p:spPr>
          <a:xfrm>
            <a:off x="0" y="835701"/>
            <a:ext cx="1219199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Spectra</a:t>
            </a:r>
            <a:r>
              <a:rPr lang="pt-PT" sz="2000" dirty="0"/>
              <a:t> </a:t>
            </a:r>
            <a:r>
              <a:rPr lang="pt-PT" sz="2000" dirty="0" err="1"/>
              <a:t>pre-processing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predictive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building</a:t>
            </a:r>
            <a:r>
              <a:rPr lang="pt-PT" sz="2000" dirty="0"/>
              <a:t> are </a:t>
            </a:r>
            <a:r>
              <a:rPr lang="pt-PT" sz="2000" dirty="0" err="1"/>
              <a:t>very</a:t>
            </a:r>
            <a:r>
              <a:rPr lang="pt-PT" sz="2000" dirty="0"/>
              <a:t> </a:t>
            </a:r>
            <a:r>
              <a:rPr lang="pt-PT" sz="2000" dirty="0" err="1"/>
              <a:t>interconnected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b="1" dirty="0"/>
              <a:t>No single </a:t>
            </a:r>
            <a:r>
              <a:rPr lang="pt-PT" sz="2000" b="1" dirty="0" err="1"/>
              <a:t>preprocessing</a:t>
            </a:r>
            <a:r>
              <a:rPr lang="pt-PT" sz="2000" b="1" dirty="0"/>
              <a:t> </a:t>
            </a:r>
            <a:r>
              <a:rPr lang="pt-PT" sz="2000" b="1" dirty="0" err="1"/>
              <a:t>that</a:t>
            </a:r>
            <a:r>
              <a:rPr lang="pt-PT" sz="2000" b="1" dirty="0"/>
              <a:t> </a:t>
            </a:r>
            <a:r>
              <a:rPr lang="pt-PT" sz="2000" b="1" dirty="0" err="1"/>
              <a:t>is</a:t>
            </a:r>
            <a:r>
              <a:rPr lang="pt-PT" sz="2000" b="1" dirty="0"/>
              <a:t> </a:t>
            </a:r>
            <a:r>
              <a:rPr lang="pt-PT" sz="2000" b="1" dirty="0" err="1"/>
              <a:t>optimal</a:t>
            </a:r>
            <a:r>
              <a:rPr lang="pt-PT" sz="2000" b="1" dirty="0"/>
              <a:t> for </a:t>
            </a:r>
            <a:r>
              <a:rPr lang="pt-PT" sz="2000" b="1" dirty="0" err="1"/>
              <a:t>all</a:t>
            </a:r>
            <a:r>
              <a:rPr lang="pt-PT" sz="2000" b="1" dirty="0"/>
              <a:t> </a:t>
            </a:r>
            <a:r>
              <a:rPr lang="pt-PT" sz="2000" b="1" dirty="0" err="1"/>
              <a:t>spectral</a:t>
            </a:r>
            <a:r>
              <a:rPr lang="pt-PT" sz="2000" b="1" dirty="0"/>
              <a:t> </a:t>
            </a:r>
            <a:r>
              <a:rPr lang="pt-PT" sz="2000" b="1" dirty="0" err="1"/>
              <a:t>datasets</a:t>
            </a:r>
            <a:r>
              <a:rPr lang="pt-PT" sz="2000" b="1" dirty="0"/>
              <a:t> – </a:t>
            </a:r>
            <a:r>
              <a:rPr lang="pt-PT" sz="2000" b="1" dirty="0" err="1"/>
              <a:t>best</a:t>
            </a:r>
            <a:r>
              <a:rPr lang="pt-PT" sz="2000" b="1" dirty="0"/>
              <a:t> </a:t>
            </a:r>
            <a:r>
              <a:rPr lang="pt-PT" sz="2000" b="1" dirty="0" err="1"/>
              <a:t>solution</a:t>
            </a:r>
            <a:r>
              <a:rPr lang="pt-PT" sz="2000" b="1" dirty="0"/>
              <a:t> </a:t>
            </a:r>
            <a:r>
              <a:rPr lang="pt-PT" sz="2000" b="1" dirty="0" err="1"/>
              <a:t>is</a:t>
            </a:r>
            <a:r>
              <a:rPr lang="pt-PT" sz="2000" b="1" dirty="0"/>
              <a:t> case-</a:t>
            </a:r>
            <a:r>
              <a:rPr lang="pt-PT" sz="2000" b="1" dirty="0" err="1"/>
              <a:t>dependent</a:t>
            </a: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Generally</a:t>
            </a:r>
            <a:r>
              <a:rPr lang="pt-PT" sz="2000" dirty="0"/>
              <a:t>,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have</a:t>
            </a:r>
            <a:r>
              <a:rPr lang="pt-PT" sz="2000" dirty="0"/>
              <a:t> to </a:t>
            </a:r>
            <a:r>
              <a:rPr lang="pt-PT" sz="2000" dirty="0" err="1"/>
              <a:t>integrate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pre-procesing</a:t>
            </a:r>
            <a:r>
              <a:rPr lang="pt-PT" sz="2000" dirty="0"/>
              <a:t> step </a:t>
            </a:r>
            <a:r>
              <a:rPr lang="pt-PT" sz="2000" dirty="0" err="1"/>
              <a:t>with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selection</a:t>
            </a:r>
            <a:r>
              <a:rPr lang="pt-PT" sz="2000" dirty="0"/>
              <a:t>  </a:t>
            </a:r>
          </a:p>
          <a:p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How</a:t>
            </a:r>
            <a:r>
              <a:rPr lang="pt-PT" sz="2000" dirty="0"/>
              <a:t> can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choose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best</a:t>
            </a:r>
            <a:r>
              <a:rPr lang="pt-PT" sz="2000" dirty="0"/>
              <a:t> </a:t>
            </a:r>
            <a:r>
              <a:rPr lang="pt-PT" sz="2000" dirty="0" err="1"/>
              <a:t>pre-processing</a:t>
            </a:r>
            <a:r>
              <a:rPr lang="pt-PT" sz="20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/>
              <a:t>Trial </a:t>
            </a:r>
            <a:r>
              <a:rPr lang="pt-PT" sz="2000" dirty="0" err="1"/>
              <a:t>and</a:t>
            </a:r>
            <a:r>
              <a:rPr lang="pt-PT" sz="2000" dirty="0"/>
              <a:t> error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dirty="0"/>
              <a:t>Visual </a:t>
            </a:r>
            <a:r>
              <a:rPr lang="pt-PT" sz="2000" dirty="0" err="1"/>
              <a:t>inspection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pre-processed</a:t>
            </a:r>
            <a:r>
              <a:rPr lang="pt-PT" sz="2000" dirty="0"/>
              <a:t> </a:t>
            </a:r>
            <a:r>
              <a:rPr lang="pt-PT" sz="2000" dirty="0" err="1"/>
              <a:t>spectra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prior </a:t>
            </a:r>
            <a:r>
              <a:rPr lang="pt-PT" sz="2000" dirty="0" err="1"/>
              <a:t>knowledge</a:t>
            </a: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sz="2000" b="1" i="1" dirty="0" err="1">
                <a:solidFill>
                  <a:srgbClr val="FF0000"/>
                </a:solidFill>
              </a:rPr>
              <a:t>Optimization</a:t>
            </a:r>
            <a:r>
              <a:rPr lang="pt-PT" sz="2000" b="1" i="1" dirty="0">
                <a:solidFill>
                  <a:srgbClr val="FF0000"/>
                </a:solidFill>
              </a:rPr>
              <a:t> </a:t>
            </a:r>
            <a:r>
              <a:rPr lang="pt-PT" sz="2000" b="1" i="1" dirty="0" err="1">
                <a:solidFill>
                  <a:srgbClr val="FF0000"/>
                </a:solidFill>
              </a:rPr>
              <a:t>and</a:t>
            </a:r>
            <a:r>
              <a:rPr lang="pt-PT" sz="2000" b="1" i="1" dirty="0">
                <a:solidFill>
                  <a:srgbClr val="FF0000"/>
                </a:solidFill>
              </a:rPr>
              <a:t> </a:t>
            </a:r>
            <a:r>
              <a:rPr lang="pt-PT" sz="2000" b="1" i="1" dirty="0" err="1">
                <a:solidFill>
                  <a:srgbClr val="FF0000"/>
                </a:solidFill>
              </a:rPr>
              <a:t>exhaustive</a:t>
            </a:r>
            <a:r>
              <a:rPr lang="pt-PT" sz="2000" b="1" i="1" dirty="0">
                <a:solidFill>
                  <a:srgbClr val="FF0000"/>
                </a:solidFill>
              </a:rPr>
              <a:t> </a:t>
            </a:r>
            <a:r>
              <a:rPr lang="pt-PT" sz="2000" b="1" i="1" dirty="0" err="1">
                <a:solidFill>
                  <a:srgbClr val="FF0000"/>
                </a:solidFill>
              </a:rPr>
              <a:t>search</a:t>
            </a:r>
            <a:r>
              <a:rPr lang="pt-PT" sz="2000" b="1" i="1" dirty="0">
                <a:solidFill>
                  <a:srgbClr val="FF0000"/>
                </a:solidFill>
              </a:rPr>
              <a:t> </a:t>
            </a:r>
            <a:r>
              <a:rPr lang="pt-PT" sz="2000" b="1" i="1" dirty="0" err="1">
                <a:solidFill>
                  <a:srgbClr val="FF0000"/>
                </a:solidFill>
              </a:rPr>
              <a:t>over</a:t>
            </a:r>
            <a:r>
              <a:rPr lang="pt-PT" sz="2000" b="1" i="1" dirty="0">
                <a:solidFill>
                  <a:srgbClr val="FF0000"/>
                </a:solidFill>
              </a:rPr>
              <a:t> </a:t>
            </a:r>
            <a:r>
              <a:rPr lang="pt-PT" sz="2000" b="1" i="1" dirty="0" err="1">
                <a:solidFill>
                  <a:srgbClr val="FF0000"/>
                </a:solidFill>
              </a:rPr>
              <a:t>different</a:t>
            </a:r>
            <a:r>
              <a:rPr lang="pt-PT" sz="2000" b="1" i="1" dirty="0">
                <a:solidFill>
                  <a:srgbClr val="FF0000"/>
                </a:solidFill>
              </a:rPr>
              <a:t> </a:t>
            </a:r>
            <a:r>
              <a:rPr lang="pt-PT" sz="2000" b="1" i="1" dirty="0" err="1">
                <a:solidFill>
                  <a:srgbClr val="FF0000"/>
                </a:solidFill>
              </a:rPr>
              <a:t>combinations</a:t>
            </a:r>
            <a:r>
              <a:rPr lang="pt-PT" sz="2000" b="1" i="1" dirty="0">
                <a:solidFill>
                  <a:srgbClr val="FF0000"/>
                </a:solidFill>
              </a:rPr>
              <a:t> – </a:t>
            </a:r>
            <a:r>
              <a:rPr lang="pt-PT" sz="2000" b="1" i="1" dirty="0" err="1">
                <a:solidFill>
                  <a:srgbClr val="FF0000"/>
                </a:solidFill>
              </a:rPr>
              <a:t>Next</a:t>
            </a:r>
            <a:r>
              <a:rPr lang="pt-PT" sz="2000" b="1" i="1" dirty="0">
                <a:solidFill>
                  <a:srgbClr val="FF0000"/>
                </a:solidFill>
              </a:rPr>
              <a:t> </a:t>
            </a:r>
            <a:r>
              <a:rPr lang="pt-PT" sz="2000" b="1" i="1" dirty="0" err="1">
                <a:solidFill>
                  <a:srgbClr val="FF0000"/>
                </a:solidFill>
              </a:rPr>
              <a:t>Part</a:t>
            </a:r>
            <a:endParaRPr lang="pt-PT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016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E2201-45AF-0256-07DF-883B6526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8A40D-3CCD-91A7-7B9A-A7934DEFF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2161" y="2399816"/>
            <a:ext cx="9087678" cy="2058367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Part 4: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Model tuning, validation and assessment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7F2937BE-F39F-A93B-F08A-D6749A8C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8847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3CACC-795F-8351-66BF-25F27AEF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91C3005-59F4-690E-0C8E-A4A39DC3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2953490-2DD7-9B05-F2DC-F69FAB1EF546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Training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testing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datasets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D699983-D0E0-6276-0EEF-AE826BC93D15}"/>
              </a:ext>
            </a:extLst>
          </p:cNvPr>
          <p:cNvSpPr txBox="1"/>
          <p:nvPr/>
        </p:nvSpPr>
        <p:spPr>
          <a:xfrm>
            <a:off x="0" y="569438"/>
            <a:ext cx="1218061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goal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building</a:t>
            </a:r>
            <a:r>
              <a:rPr lang="pt-PT" sz="2000" dirty="0"/>
              <a:t> a </a:t>
            </a:r>
            <a:r>
              <a:rPr lang="pt-PT" sz="2000" dirty="0" err="1"/>
              <a:t>regression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to use </a:t>
            </a:r>
            <a:r>
              <a:rPr lang="pt-PT" sz="2000" dirty="0" err="1"/>
              <a:t>it</a:t>
            </a:r>
            <a:r>
              <a:rPr lang="pt-PT" sz="2000" dirty="0"/>
              <a:t> to </a:t>
            </a:r>
            <a:r>
              <a:rPr lang="pt-PT" sz="2000" dirty="0" err="1"/>
              <a:t>make</a:t>
            </a:r>
            <a:r>
              <a:rPr lang="pt-PT" sz="2000" dirty="0"/>
              <a:t> </a:t>
            </a:r>
            <a:r>
              <a:rPr lang="pt-PT" sz="2000" dirty="0" err="1"/>
              <a:t>predictions</a:t>
            </a:r>
            <a:r>
              <a:rPr lang="pt-PT" sz="2000" dirty="0"/>
              <a:t> for </a:t>
            </a:r>
            <a:r>
              <a:rPr lang="pt-PT" sz="2000" dirty="0" err="1"/>
              <a:t>new</a:t>
            </a:r>
            <a:r>
              <a:rPr lang="pt-PT" sz="2000" dirty="0"/>
              <a:t>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If</a:t>
            </a:r>
            <a:r>
              <a:rPr lang="pt-PT" sz="2000" dirty="0"/>
              <a:t>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have</a:t>
            </a:r>
            <a:r>
              <a:rPr lang="pt-PT" sz="2000" dirty="0"/>
              <a:t> </a:t>
            </a:r>
            <a:r>
              <a:rPr lang="pt-PT" sz="2000" dirty="0" err="1"/>
              <a:t>enough</a:t>
            </a:r>
            <a:r>
              <a:rPr lang="pt-PT" sz="2000" dirty="0"/>
              <a:t> data, </a:t>
            </a:r>
            <a:r>
              <a:rPr lang="pt-PT" sz="2000" dirty="0" err="1"/>
              <a:t>we</a:t>
            </a:r>
            <a:r>
              <a:rPr lang="pt-PT" sz="2000" dirty="0"/>
              <a:t> can </a:t>
            </a:r>
            <a:r>
              <a:rPr lang="pt-PT" sz="2000" dirty="0" err="1"/>
              <a:t>assess</a:t>
            </a:r>
            <a:r>
              <a:rPr lang="pt-PT" sz="2000" dirty="0"/>
              <a:t> </a:t>
            </a:r>
            <a:r>
              <a:rPr lang="pt-PT" sz="2000" dirty="0" err="1"/>
              <a:t>how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predicts</a:t>
            </a:r>
            <a:r>
              <a:rPr lang="pt-PT" sz="2000" dirty="0"/>
              <a:t> </a:t>
            </a:r>
            <a:r>
              <a:rPr lang="pt-PT" sz="2000" dirty="0" err="1"/>
              <a:t>new</a:t>
            </a:r>
            <a:r>
              <a:rPr lang="pt-PT" sz="2000" dirty="0"/>
              <a:t> data </a:t>
            </a:r>
            <a:r>
              <a:rPr lang="pt-PT" sz="2000" dirty="0" err="1"/>
              <a:t>using</a:t>
            </a:r>
            <a:r>
              <a:rPr lang="pt-PT" sz="2000" dirty="0"/>
              <a:t> a </a:t>
            </a:r>
            <a:r>
              <a:rPr lang="pt-PT" sz="2000" dirty="0" err="1"/>
              <a:t>test</a:t>
            </a:r>
            <a:r>
              <a:rPr lang="pt-PT" sz="2000" dirty="0"/>
              <a:t> </a:t>
            </a:r>
            <a:r>
              <a:rPr lang="pt-PT" sz="2000" dirty="0" err="1"/>
              <a:t>dataset</a:t>
            </a:r>
            <a:endParaRPr lang="pt-PT" sz="2000" dirty="0"/>
          </a:p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should</a:t>
            </a:r>
            <a:r>
              <a:rPr lang="pt-PT" sz="2000" dirty="0"/>
              <a:t> </a:t>
            </a:r>
            <a:r>
              <a:rPr lang="pt-PT" sz="2000" b="1" dirty="0" err="1"/>
              <a:t>randomly</a:t>
            </a:r>
            <a:r>
              <a:rPr lang="pt-PT" sz="2000" dirty="0"/>
              <a:t> </a:t>
            </a:r>
            <a:r>
              <a:rPr lang="pt-PT" sz="2000" dirty="0" err="1"/>
              <a:t>split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data </a:t>
            </a:r>
            <a:r>
              <a:rPr lang="pt-PT" sz="2000" dirty="0" err="1"/>
              <a:t>into</a:t>
            </a:r>
            <a:r>
              <a:rPr lang="pt-PT" sz="2000" dirty="0"/>
              <a:t> training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testing</a:t>
            </a:r>
            <a:r>
              <a:rPr lang="pt-PT" sz="2000" dirty="0"/>
              <a:t> </a:t>
            </a:r>
            <a:r>
              <a:rPr lang="pt-PT" sz="2000" dirty="0" err="1"/>
              <a:t>subsets</a:t>
            </a: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should</a:t>
            </a:r>
            <a:r>
              <a:rPr lang="pt-PT" sz="2000" dirty="0"/>
              <a:t> </a:t>
            </a:r>
            <a:r>
              <a:rPr lang="pt-PT" sz="2000" dirty="0" err="1"/>
              <a:t>always</a:t>
            </a:r>
            <a:r>
              <a:rPr lang="pt-PT" sz="2000" dirty="0"/>
              <a:t> </a:t>
            </a:r>
            <a:r>
              <a:rPr lang="pt-PT" sz="2000" dirty="0" err="1"/>
              <a:t>try</a:t>
            </a:r>
            <a:r>
              <a:rPr lang="pt-PT" sz="2000" dirty="0"/>
              <a:t> to </a:t>
            </a:r>
            <a:r>
              <a:rPr lang="pt-PT" sz="2000" dirty="0" err="1"/>
              <a:t>leave</a:t>
            </a:r>
            <a:r>
              <a:rPr lang="pt-PT" sz="2000" dirty="0"/>
              <a:t> </a:t>
            </a:r>
            <a:r>
              <a:rPr lang="pt-PT" sz="2000" dirty="0" err="1"/>
              <a:t>enough</a:t>
            </a:r>
            <a:r>
              <a:rPr lang="pt-PT" sz="2000" dirty="0"/>
              <a:t> training data to </a:t>
            </a:r>
            <a:r>
              <a:rPr lang="pt-PT" sz="2000" dirty="0" err="1"/>
              <a:t>build</a:t>
            </a:r>
            <a:r>
              <a:rPr lang="pt-PT" sz="2000" dirty="0"/>
              <a:t> a </a:t>
            </a:r>
            <a:r>
              <a:rPr lang="pt-PT" sz="2000" dirty="0" err="1"/>
              <a:t>good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(70%-90%) 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2585C68E-B4B1-CC49-8B46-44C9898EA1D8}"/>
              </a:ext>
            </a:extLst>
          </p:cNvPr>
          <p:cNvGrpSpPr/>
          <p:nvPr/>
        </p:nvGrpSpPr>
        <p:grpSpPr>
          <a:xfrm>
            <a:off x="1653205" y="3038381"/>
            <a:ext cx="9119153" cy="3178167"/>
            <a:chOff x="1712840" y="2598003"/>
            <a:chExt cx="9119153" cy="3178167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6B96DD6F-C877-47C1-C8D4-0E1308B1EB48}"/>
                </a:ext>
              </a:extLst>
            </p:cNvPr>
            <p:cNvSpPr txBox="1"/>
            <p:nvPr/>
          </p:nvSpPr>
          <p:spPr>
            <a:xfrm>
              <a:off x="5029197" y="2598003"/>
              <a:ext cx="2133600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400" dirty="0" err="1"/>
                <a:t>All</a:t>
              </a:r>
              <a:r>
                <a:rPr lang="pt-PT" sz="2400" dirty="0"/>
                <a:t> </a:t>
              </a:r>
              <a:r>
                <a:rPr lang="pt-PT" sz="2400" dirty="0" err="1"/>
                <a:t>available</a:t>
              </a:r>
              <a:r>
                <a:rPr lang="pt-PT" sz="2400" dirty="0"/>
                <a:t> </a:t>
              </a:r>
            </a:p>
            <a:p>
              <a:pPr algn="ctr"/>
              <a:r>
                <a:rPr lang="pt-PT" sz="2400" dirty="0"/>
                <a:t>data</a:t>
              </a:r>
              <a:endParaRPr lang="en-US" sz="2400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DD06668-04BF-5CEB-609A-2E3CA770E5F3}"/>
                </a:ext>
              </a:extLst>
            </p:cNvPr>
            <p:cNvSpPr txBox="1"/>
            <p:nvPr/>
          </p:nvSpPr>
          <p:spPr>
            <a:xfrm>
              <a:off x="7447718" y="3974644"/>
              <a:ext cx="2133600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400" dirty="0" err="1"/>
                <a:t>Testing</a:t>
              </a:r>
              <a:r>
                <a:rPr lang="pt-PT" sz="2400" dirty="0"/>
                <a:t> data</a:t>
              </a:r>
            </a:p>
            <a:p>
              <a:pPr algn="ctr"/>
              <a:r>
                <a:rPr lang="pt-PT" sz="2400" dirty="0"/>
                <a:t>(e.g. 30%)</a:t>
              </a:r>
              <a:endParaRPr lang="en-US" sz="2400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12BD5018-004A-0E85-8761-8F8D3D4C86D9}"/>
                </a:ext>
              </a:extLst>
            </p:cNvPr>
            <p:cNvSpPr txBox="1"/>
            <p:nvPr/>
          </p:nvSpPr>
          <p:spPr>
            <a:xfrm>
              <a:off x="2723318" y="3974645"/>
              <a:ext cx="2133600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400" dirty="0"/>
                <a:t>Training data </a:t>
              </a:r>
            </a:p>
            <a:p>
              <a:pPr algn="ctr"/>
              <a:r>
                <a:rPr lang="pt-PT" sz="2400" dirty="0"/>
                <a:t>(e.g. 70%)</a:t>
              </a:r>
              <a:endParaRPr lang="en-US" sz="2400" dirty="0"/>
            </a:p>
          </p:txBody>
        </p:sp>
        <p:cxnSp>
          <p:nvCxnSpPr>
            <p:cNvPr id="10" name="Conexão: Ângulo Reto 9">
              <a:extLst>
                <a:ext uri="{FF2B5EF4-FFF2-40B4-BE49-F238E27FC236}">
                  <a16:creationId xmlns:a16="http://schemas.microsoft.com/office/drawing/2014/main" id="{FE72C3C3-8D95-E3FB-F4D1-09C8333F92A7}"/>
                </a:ext>
              </a:extLst>
            </p:cNvPr>
            <p:cNvCxnSpPr>
              <a:stCxn id="2" idx="2"/>
              <a:endCxn id="7" idx="0"/>
            </p:cNvCxnSpPr>
            <p:nvPr/>
          </p:nvCxnSpPr>
          <p:spPr>
            <a:xfrm rot="5400000">
              <a:off x="4670236" y="2548883"/>
              <a:ext cx="545645" cy="230587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exão: Ângulo Reto 10">
              <a:extLst>
                <a:ext uri="{FF2B5EF4-FFF2-40B4-BE49-F238E27FC236}">
                  <a16:creationId xmlns:a16="http://schemas.microsoft.com/office/drawing/2014/main" id="{12AD5B23-81D3-3454-86F4-B4FD9AEF34B4}"/>
                </a:ext>
              </a:extLst>
            </p:cNvPr>
            <p:cNvCxnSpPr>
              <a:cxnSpLocks/>
              <a:stCxn id="2" idx="2"/>
              <a:endCxn id="6" idx="0"/>
            </p:cNvCxnSpPr>
            <p:nvPr/>
          </p:nvCxnSpPr>
          <p:spPr>
            <a:xfrm rot="16200000" flipH="1">
              <a:off x="7032435" y="2492561"/>
              <a:ext cx="545644" cy="241852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104802F9-DC67-3CB1-623C-9F654F313653}"/>
                </a:ext>
              </a:extLst>
            </p:cNvPr>
            <p:cNvSpPr txBox="1"/>
            <p:nvPr/>
          </p:nvSpPr>
          <p:spPr>
            <a:xfrm>
              <a:off x="1712840" y="5129839"/>
              <a:ext cx="41545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 err="1"/>
                <a:t>Calibrate</a:t>
              </a:r>
              <a:r>
                <a:rPr lang="pt-PT" dirty="0"/>
                <a:t>/</a:t>
              </a:r>
              <a:r>
                <a:rPr lang="pt-PT" dirty="0" err="1"/>
                <a:t>estimate</a:t>
              </a:r>
              <a:r>
                <a:rPr lang="pt-PT" dirty="0"/>
                <a:t> </a:t>
              </a:r>
              <a:r>
                <a:rPr lang="pt-PT" dirty="0" err="1"/>
                <a:t>model</a:t>
              </a:r>
              <a:r>
                <a:rPr lang="pt-PT" dirty="0"/>
                <a:t> </a:t>
              </a:r>
              <a:r>
                <a:rPr lang="pt-PT" dirty="0" err="1"/>
                <a:t>parameters</a:t>
              </a:r>
              <a:endParaRPr lang="pt-PT" dirty="0"/>
            </a:p>
            <a:p>
              <a:pPr algn="ctr"/>
              <a:r>
                <a:rPr lang="pt-PT" b="1" dirty="0"/>
                <a:t> “training”</a:t>
              </a:r>
              <a:endParaRPr lang="en-US" b="1" dirty="0"/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453E837C-4176-AC7D-5CA5-854283C08756}"/>
                </a:ext>
              </a:extLst>
            </p:cNvPr>
            <p:cNvSpPr txBox="1"/>
            <p:nvPr/>
          </p:nvSpPr>
          <p:spPr>
            <a:xfrm>
              <a:off x="6197043" y="5129215"/>
              <a:ext cx="46349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dirty="0"/>
                <a:t>Asses </a:t>
              </a:r>
              <a:r>
                <a:rPr lang="pt-PT" dirty="0" err="1"/>
                <a:t>model</a:t>
              </a:r>
              <a:r>
                <a:rPr lang="pt-PT" dirty="0"/>
                <a:t> </a:t>
              </a:r>
              <a:r>
                <a:rPr lang="pt-PT" dirty="0" err="1"/>
                <a:t>predictions</a:t>
              </a:r>
              <a:r>
                <a:rPr lang="pt-PT" dirty="0"/>
                <a:t> for </a:t>
              </a:r>
              <a:r>
                <a:rPr lang="pt-PT" dirty="0" err="1"/>
                <a:t>new</a:t>
              </a:r>
              <a:r>
                <a:rPr lang="pt-PT" dirty="0"/>
                <a:t> data</a:t>
              </a:r>
            </a:p>
            <a:p>
              <a:pPr algn="ctr"/>
              <a:r>
                <a:rPr lang="pt-PT" dirty="0"/>
                <a:t> “</a:t>
              </a:r>
              <a:r>
                <a:rPr lang="pt-PT" b="1" dirty="0" err="1"/>
                <a:t>testing</a:t>
              </a:r>
              <a:r>
                <a:rPr lang="pt-PT" dirty="0"/>
                <a:t>”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550787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0F73-B112-B87C-74BA-6846E094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77BB19D-D69B-7D33-2EBE-64F5CF07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4E19D08-AF32-E874-1E62-23429BE88DF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Training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testing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datasets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C0153EB-84B0-195B-F681-1F2757C60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108" y="471336"/>
            <a:ext cx="4078564" cy="327292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8E984DD8-024A-B2DB-61FA-5C9252C37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782" y="3744258"/>
            <a:ext cx="3749217" cy="303000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0A9D4755-FEFD-431F-23A4-039ED87BD4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825" y="471336"/>
            <a:ext cx="4078566" cy="327292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0A232F89-9767-A9C8-99C4-5A91E94D6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173" y="3744258"/>
            <a:ext cx="3749218" cy="30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142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C3500-F33F-8873-4439-F9C6F78F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AFFE49F-1950-2E2B-0C3B-B01BAF7AC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817B69C-F27E-BAD7-B412-996CFAD7BD0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Training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testing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datasets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in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3FC4643-4768-AE1C-BDF5-5BAEBE8E7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69" y="2210285"/>
            <a:ext cx="6824644" cy="328274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C2FB92B-D82C-63C9-6C01-37FF68DA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234" y="755731"/>
            <a:ext cx="4054191" cy="5143946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82167B3-A49D-CB26-3A76-11A98ED6F3EC}"/>
              </a:ext>
            </a:extLst>
          </p:cNvPr>
          <p:cNvSpPr txBox="1"/>
          <p:nvPr/>
        </p:nvSpPr>
        <p:spPr>
          <a:xfrm>
            <a:off x="0" y="569438"/>
            <a:ext cx="6957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Scikit-learn</a:t>
            </a:r>
            <a:r>
              <a:rPr lang="pt-PT" sz="2000" dirty="0"/>
              <a:t> </a:t>
            </a:r>
            <a:r>
              <a:rPr lang="pt-PT" sz="2000" dirty="0" err="1"/>
              <a:t>provides</a:t>
            </a:r>
            <a:r>
              <a:rPr lang="pt-PT" sz="2000" dirty="0"/>
              <a:t> </a:t>
            </a:r>
            <a:r>
              <a:rPr lang="pt-PT" sz="2000" dirty="0" err="1"/>
              <a:t>an</a:t>
            </a:r>
            <a:r>
              <a:rPr lang="pt-PT" sz="2000" dirty="0"/>
              <a:t> </a:t>
            </a:r>
            <a:r>
              <a:rPr lang="pt-PT" sz="2000" dirty="0" err="1"/>
              <a:t>easy</a:t>
            </a:r>
            <a:r>
              <a:rPr lang="pt-PT" sz="2000" dirty="0"/>
              <a:t> </a:t>
            </a:r>
            <a:r>
              <a:rPr lang="pt-PT" sz="2000" dirty="0" err="1"/>
              <a:t>function</a:t>
            </a:r>
            <a:r>
              <a:rPr lang="pt-PT" sz="2000" dirty="0"/>
              <a:t> to </a:t>
            </a:r>
            <a:r>
              <a:rPr lang="pt-PT" sz="2000" dirty="0" err="1"/>
              <a:t>split</a:t>
            </a:r>
            <a:r>
              <a:rPr lang="pt-PT" sz="2000" dirty="0"/>
              <a:t> data </a:t>
            </a:r>
            <a:r>
              <a:rPr lang="pt-PT" sz="2000" dirty="0" err="1"/>
              <a:t>into</a:t>
            </a:r>
            <a:r>
              <a:rPr lang="pt-PT" sz="2000" dirty="0"/>
              <a:t> training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testing</a:t>
            </a: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It</a:t>
            </a:r>
            <a:r>
              <a:rPr lang="pt-PT" sz="2000" dirty="0"/>
              <a:t> can </a:t>
            </a:r>
            <a:r>
              <a:rPr lang="pt-PT" sz="2000" dirty="0" err="1"/>
              <a:t>also</a:t>
            </a:r>
            <a:r>
              <a:rPr lang="pt-PT" sz="2000" dirty="0"/>
              <a:t> </a:t>
            </a:r>
            <a:r>
              <a:rPr lang="pt-PT" sz="2000" dirty="0" err="1"/>
              <a:t>work</a:t>
            </a:r>
            <a:r>
              <a:rPr lang="pt-PT" sz="2000" dirty="0"/>
              <a:t> </a:t>
            </a:r>
            <a:r>
              <a:rPr lang="pt-PT" sz="2000" dirty="0" err="1"/>
              <a:t>on</a:t>
            </a:r>
            <a:r>
              <a:rPr lang="pt-PT" sz="2000" dirty="0"/>
              <a:t> Pandas </a:t>
            </a:r>
            <a:r>
              <a:rPr lang="pt-PT" sz="2000" dirty="0" err="1"/>
              <a:t>dataframes</a:t>
            </a:r>
            <a:endParaRPr lang="pt-PT" sz="2000" dirty="0"/>
          </a:p>
        </p:txBody>
      </p:sp>
    </p:spTree>
    <p:extLst>
      <p:ext uri="{BB962C8B-B14F-4D97-AF65-F5344CB8AC3E}">
        <p14:creationId xmlns:p14="http://schemas.microsoft.com/office/powerpoint/2010/main" val="12870975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55CAA-EEE3-B62A-781B-4EBD3422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DB0AA2E-1E90-A5CB-DF74-5ADBF6C2F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FE86AADC-8758-540E-6BEE-3E7020DB5065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Pre-processing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pipeline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4044DD-375B-9ADE-5027-FA117A23E6EA}"/>
              </a:ext>
            </a:extLst>
          </p:cNvPr>
          <p:cNvSpPr txBox="1"/>
          <p:nvPr/>
        </p:nvSpPr>
        <p:spPr>
          <a:xfrm>
            <a:off x="74324" y="1816447"/>
            <a:ext cx="6419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Previously</a:t>
            </a:r>
            <a:r>
              <a:rPr lang="pt-PT" sz="2000" dirty="0"/>
              <a:t>,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saw</a:t>
            </a:r>
            <a:r>
              <a:rPr lang="pt-PT" sz="2000" dirty="0"/>
              <a:t> </a:t>
            </a:r>
            <a:r>
              <a:rPr lang="pt-PT" sz="2000" dirty="0" err="1"/>
              <a:t>that</a:t>
            </a:r>
            <a:r>
              <a:rPr lang="pt-PT" sz="2000" dirty="0"/>
              <a:t> </a:t>
            </a:r>
            <a:r>
              <a:rPr lang="pt-PT" sz="2000" dirty="0" err="1"/>
              <a:t>different</a:t>
            </a:r>
            <a:r>
              <a:rPr lang="pt-PT" sz="2000" dirty="0"/>
              <a:t> </a:t>
            </a:r>
            <a:r>
              <a:rPr lang="pt-PT" sz="2000" dirty="0" err="1"/>
              <a:t>pre-processings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models</a:t>
            </a:r>
            <a:r>
              <a:rPr lang="pt-PT" sz="2000" dirty="0"/>
              <a:t> lead to </a:t>
            </a:r>
            <a:r>
              <a:rPr lang="pt-PT" sz="2000" dirty="0" err="1"/>
              <a:t>different</a:t>
            </a:r>
            <a:r>
              <a:rPr lang="pt-PT" sz="2000" dirty="0"/>
              <a:t> </a:t>
            </a:r>
            <a:r>
              <a:rPr lang="pt-PT" sz="2000" dirty="0" err="1"/>
              <a:t>predictions</a:t>
            </a: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have</a:t>
            </a:r>
            <a:r>
              <a:rPr lang="pt-PT" sz="2000" dirty="0"/>
              <a:t> to </a:t>
            </a:r>
            <a:r>
              <a:rPr lang="pt-PT" sz="2000" dirty="0" err="1"/>
              <a:t>integrate</a:t>
            </a:r>
            <a:r>
              <a:rPr lang="pt-PT" sz="2000" dirty="0"/>
              <a:t> </a:t>
            </a:r>
            <a:r>
              <a:rPr lang="pt-PT" sz="2000" dirty="0" err="1"/>
              <a:t>pre-processing</a:t>
            </a:r>
            <a:r>
              <a:rPr lang="pt-PT" sz="2000" dirty="0"/>
              <a:t> </a:t>
            </a:r>
            <a:r>
              <a:rPr lang="pt-PT" sz="2000" dirty="0" err="1"/>
              <a:t>with</a:t>
            </a:r>
            <a:r>
              <a:rPr lang="pt-PT" sz="2000" dirty="0"/>
              <a:t> </a:t>
            </a:r>
            <a:r>
              <a:rPr lang="pt-PT" sz="2000" dirty="0" err="1"/>
              <a:t>regression</a:t>
            </a:r>
            <a:r>
              <a:rPr lang="pt-PT" sz="2000" dirty="0"/>
              <a:t> </a:t>
            </a: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development</a:t>
            </a:r>
            <a:endParaRPr lang="pt-PT" sz="2000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3C21144B-1C48-0C90-DA2D-099300FF1A4F}"/>
              </a:ext>
            </a:extLst>
          </p:cNvPr>
          <p:cNvGrpSpPr/>
          <p:nvPr/>
        </p:nvGrpSpPr>
        <p:grpSpPr>
          <a:xfrm>
            <a:off x="7007236" y="3370453"/>
            <a:ext cx="2637188" cy="3205064"/>
            <a:chOff x="5864082" y="1650904"/>
            <a:chExt cx="2802838" cy="3347343"/>
          </a:xfrm>
        </p:grpSpPr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F9DB4EC3-4470-51B6-5D76-B5D0440A8940}"/>
                </a:ext>
              </a:extLst>
            </p:cNvPr>
            <p:cNvSpPr txBox="1"/>
            <p:nvPr/>
          </p:nvSpPr>
          <p:spPr>
            <a:xfrm>
              <a:off x="5864083" y="1650904"/>
              <a:ext cx="2802835" cy="86788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 err="1"/>
                <a:t>Spectroscopic</a:t>
              </a:r>
              <a:endParaRPr lang="pt-PT" sz="1600" b="1" dirty="0"/>
            </a:p>
            <a:p>
              <a:pPr algn="ctr"/>
              <a:r>
                <a:rPr lang="pt-PT" sz="1600" b="1" dirty="0"/>
                <a:t> </a:t>
              </a:r>
              <a:r>
                <a:rPr lang="pt-PT" sz="1600" b="1" dirty="0" err="1"/>
                <a:t>pre-processing</a:t>
              </a:r>
              <a:endParaRPr lang="pt-PT" sz="1600" b="1" dirty="0"/>
            </a:p>
            <a:p>
              <a:pPr algn="ctr"/>
              <a:r>
                <a:rPr lang="pt-PT" sz="1600" dirty="0"/>
                <a:t>(MC, SNV, SVG)</a:t>
              </a:r>
              <a:endParaRPr lang="en-US" sz="1600" dirty="0"/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26A7D078-AA87-8359-835D-DFA38A8B962A}"/>
                </a:ext>
              </a:extLst>
            </p:cNvPr>
            <p:cNvSpPr txBox="1"/>
            <p:nvPr/>
          </p:nvSpPr>
          <p:spPr>
            <a:xfrm>
              <a:off x="5864085" y="3157708"/>
              <a:ext cx="2802835" cy="61073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b="1" dirty="0" err="1"/>
                <a:t>Regression</a:t>
              </a:r>
              <a:r>
                <a:rPr lang="pt-PT" sz="1600" b="1" dirty="0"/>
                <a:t> </a:t>
              </a:r>
              <a:r>
                <a:rPr lang="pt-PT" sz="1600" b="1" dirty="0" err="1"/>
                <a:t>model</a:t>
              </a:r>
              <a:endParaRPr lang="pt-PT" sz="1600" b="1" dirty="0"/>
            </a:p>
            <a:p>
              <a:pPr algn="ctr"/>
              <a:r>
                <a:rPr lang="pt-PT" sz="1600" dirty="0"/>
                <a:t>(RR, LASSO, PLS)</a:t>
              </a:r>
              <a:endParaRPr lang="en-US" sz="1600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473EDCE-3C4A-FDE2-7B3B-9CA763F8D2A9}"/>
                </a:ext>
              </a:extLst>
            </p:cNvPr>
            <p:cNvSpPr txBox="1"/>
            <p:nvPr/>
          </p:nvSpPr>
          <p:spPr>
            <a:xfrm>
              <a:off x="5864082" y="4387513"/>
              <a:ext cx="2802835" cy="610734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600" dirty="0" err="1"/>
                <a:t>Predict</a:t>
              </a:r>
              <a:r>
                <a:rPr lang="pt-PT" sz="1600" dirty="0"/>
                <a:t> </a:t>
              </a:r>
            </a:p>
            <a:p>
              <a:pPr algn="ctr"/>
              <a:r>
                <a:rPr lang="pt-PT" sz="1600" dirty="0"/>
                <a:t>target </a:t>
              </a:r>
              <a:r>
                <a:rPr lang="pt-PT" sz="1600" dirty="0" err="1"/>
                <a:t>value</a:t>
              </a:r>
              <a:endParaRPr lang="en-US" sz="1600" dirty="0"/>
            </a:p>
          </p:txBody>
        </p:sp>
        <p:cxnSp>
          <p:nvCxnSpPr>
            <p:cNvPr id="9" name="Conexão reta unidirecional 8">
              <a:extLst>
                <a:ext uri="{FF2B5EF4-FFF2-40B4-BE49-F238E27FC236}">
                  <a16:creationId xmlns:a16="http://schemas.microsoft.com/office/drawing/2014/main" id="{CF10DA8E-CB78-B781-E997-D92593400A5C}"/>
                </a:ext>
              </a:extLst>
            </p:cNvPr>
            <p:cNvCxnSpPr>
              <a:cxnSpLocks/>
              <a:stCxn id="2" idx="2"/>
              <a:endCxn id="3" idx="0"/>
            </p:cNvCxnSpPr>
            <p:nvPr/>
          </p:nvCxnSpPr>
          <p:spPr>
            <a:xfrm>
              <a:off x="7265501" y="2518790"/>
              <a:ext cx="2" cy="63891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xão reta unidirecional 12">
              <a:extLst>
                <a:ext uri="{FF2B5EF4-FFF2-40B4-BE49-F238E27FC236}">
                  <a16:creationId xmlns:a16="http://schemas.microsoft.com/office/drawing/2014/main" id="{5D0AF747-928A-588C-2368-C990C635FE05}"/>
                </a:ext>
              </a:extLst>
            </p:cNvPr>
            <p:cNvCxnSpPr>
              <a:cxnSpLocks/>
              <a:stCxn id="3" idx="2"/>
              <a:endCxn id="6" idx="0"/>
            </p:cNvCxnSpPr>
            <p:nvPr/>
          </p:nvCxnSpPr>
          <p:spPr>
            <a:xfrm flipH="1">
              <a:off x="7265500" y="3768442"/>
              <a:ext cx="3" cy="61907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Imagem 31">
            <a:extLst>
              <a:ext uri="{FF2B5EF4-FFF2-40B4-BE49-F238E27FC236}">
                <a16:creationId xmlns:a16="http://schemas.microsoft.com/office/drawing/2014/main" id="{3A4BEB91-B693-5C68-3D0D-CC9E9F639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87" y="526189"/>
            <a:ext cx="3300087" cy="2196153"/>
          </a:xfrm>
          <a:prstGeom prst="rect">
            <a:avLst/>
          </a:prstGeom>
        </p:spPr>
      </p:pic>
      <p:sp>
        <p:nvSpPr>
          <p:cNvPr id="34" name="Seta: Para Baixo 33">
            <a:extLst>
              <a:ext uri="{FF2B5EF4-FFF2-40B4-BE49-F238E27FC236}">
                <a16:creationId xmlns:a16="http://schemas.microsoft.com/office/drawing/2014/main" id="{FD015C13-51DA-C16A-4CCB-3524E5460B24}"/>
              </a:ext>
            </a:extLst>
          </p:cNvPr>
          <p:cNvSpPr/>
          <p:nvPr/>
        </p:nvSpPr>
        <p:spPr>
          <a:xfrm>
            <a:off x="8114986" y="2766338"/>
            <a:ext cx="421690" cy="543473"/>
          </a:xfrm>
          <a:prstGeom prst="down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859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46861-9DC6-E182-E8DB-078DEE19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F2FDB1D-1D9A-CB07-5605-B0064DD5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796F5E5-9C35-E81F-D8F3-16E96086CA02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Pre-processing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pipeline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5831259-CD63-9A35-8709-711555F0A534}"/>
              </a:ext>
            </a:extLst>
          </p:cNvPr>
          <p:cNvSpPr txBox="1"/>
          <p:nvPr/>
        </p:nvSpPr>
        <p:spPr>
          <a:xfrm>
            <a:off x="5571599" y="1685944"/>
            <a:ext cx="662040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b="1" dirty="0" err="1"/>
              <a:t>Defining</a:t>
            </a:r>
            <a:r>
              <a:rPr lang="pt-PT" sz="2000" b="1" dirty="0"/>
              <a:t> </a:t>
            </a:r>
            <a:r>
              <a:rPr lang="pt-PT" sz="2000" b="1" dirty="0" err="1"/>
              <a:t>the</a:t>
            </a:r>
            <a:r>
              <a:rPr lang="pt-PT" sz="2000" b="1" dirty="0"/>
              <a:t> </a:t>
            </a:r>
            <a:r>
              <a:rPr lang="pt-PT" sz="2000" b="1" dirty="0" err="1"/>
              <a:t>pre-processing</a:t>
            </a:r>
            <a:r>
              <a:rPr lang="pt-PT" sz="2000" b="1" dirty="0"/>
              <a:t> </a:t>
            </a:r>
            <a:r>
              <a:rPr lang="pt-PT" sz="2000" b="1" dirty="0" err="1"/>
              <a:t>and</a:t>
            </a:r>
            <a:r>
              <a:rPr lang="pt-PT" sz="2000" b="1" dirty="0"/>
              <a:t> </a:t>
            </a:r>
            <a:r>
              <a:rPr lang="pt-PT" sz="2000" b="1" dirty="0" err="1"/>
              <a:t>modeling</a:t>
            </a:r>
            <a:r>
              <a:rPr lang="pt-PT" sz="2000" b="1" dirty="0"/>
              <a:t> steps </a:t>
            </a:r>
            <a:r>
              <a:rPr lang="pt-PT" sz="2000" b="1" dirty="0" err="1"/>
              <a:t>manually</a:t>
            </a:r>
            <a:r>
              <a:rPr lang="pt-PT" sz="2000" b="1" dirty="0"/>
              <a:t> can cause some </a:t>
            </a:r>
            <a:r>
              <a:rPr lang="pt-PT" sz="2000" b="1" dirty="0" err="1"/>
              <a:t>issues</a:t>
            </a:r>
            <a:r>
              <a:rPr lang="pt-PT" sz="2000" b="1" dirty="0"/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Many</a:t>
            </a:r>
            <a:r>
              <a:rPr lang="pt-PT" sz="2000" dirty="0"/>
              <a:t> </a:t>
            </a:r>
            <a:r>
              <a:rPr lang="pt-PT" sz="2000" dirty="0" err="1"/>
              <a:t>lines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code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/>
              <a:t>Data </a:t>
            </a:r>
            <a:r>
              <a:rPr lang="pt-PT" sz="2000" dirty="0" err="1"/>
              <a:t>leakage</a:t>
            </a:r>
            <a:r>
              <a:rPr lang="pt-PT" sz="2000" dirty="0"/>
              <a:t> </a:t>
            </a:r>
            <a:r>
              <a:rPr lang="pt-PT" sz="2000" dirty="0" err="1"/>
              <a:t>from</a:t>
            </a:r>
            <a:r>
              <a:rPr lang="pt-PT" sz="2000" dirty="0"/>
              <a:t> training to </a:t>
            </a:r>
            <a:r>
              <a:rPr lang="pt-PT" sz="2000" dirty="0" err="1"/>
              <a:t>testing</a:t>
            </a:r>
            <a:r>
              <a:rPr lang="pt-PT" sz="2000" dirty="0"/>
              <a:t> </a:t>
            </a:r>
            <a:r>
              <a:rPr lang="pt-PT" sz="2000" dirty="0" err="1"/>
              <a:t>dataset</a:t>
            </a:r>
            <a:endParaRPr lang="pt-PT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Possible</a:t>
            </a:r>
            <a:r>
              <a:rPr lang="pt-PT" sz="2000" dirty="0"/>
              <a:t> error </a:t>
            </a:r>
            <a:r>
              <a:rPr lang="pt-PT" sz="2000" dirty="0" err="1"/>
              <a:t>or</a:t>
            </a:r>
            <a:r>
              <a:rPr lang="pt-PT" sz="2000" dirty="0"/>
              <a:t> “</a:t>
            </a:r>
            <a:r>
              <a:rPr lang="pt-PT" sz="2000" dirty="0" err="1"/>
              <a:t>forgetting</a:t>
            </a:r>
            <a:r>
              <a:rPr lang="pt-PT" sz="2000" dirty="0"/>
              <a:t>” to </a:t>
            </a:r>
            <a:r>
              <a:rPr lang="pt-PT" sz="2000" dirty="0" err="1"/>
              <a:t>transform</a:t>
            </a:r>
            <a:r>
              <a:rPr lang="pt-PT" sz="2000" dirty="0"/>
              <a:t> data</a:t>
            </a:r>
          </a:p>
          <a:p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i="1" dirty="0"/>
              <a:t>Can </a:t>
            </a:r>
            <a:r>
              <a:rPr lang="pt-PT" sz="2000" i="1" dirty="0" err="1"/>
              <a:t>we</a:t>
            </a:r>
            <a:r>
              <a:rPr lang="pt-PT" sz="2000" i="1" dirty="0"/>
              <a:t> </a:t>
            </a:r>
            <a:r>
              <a:rPr lang="pt-PT" sz="2000" i="1" dirty="0" err="1"/>
              <a:t>simplify</a:t>
            </a:r>
            <a:r>
              <a:rPr lang="pt-PT" sz="2000" i="1" dirty="0"/>
              <a:t> </a:t>
            </a:r>
            <a:r>
              <a:rPr lang="pt-PT" sz="2000" i="1" dirty="0" err="1"/>
              <a:t>this</a:t>
            </a:r>
            <a:r>
              <a:rPr lang="pt-PT" sz="2000" i="1" dirty="0"/>
              <a:t> </a:t>
            </a:r>
            <a:r>
              <a:rPr lang="pt-PT" sz="2000" i="1" dirty="0" err="1"/>
              <a:t>preprocessing</a:t>
            </a:r>
            <a:r>
              <a:rPr lang="pt-PT" sz="2000" i="1" dirty="0"/>
              <a:t> </a:t>
            </a:r>
            <a:r>
              <a:rPr lang="pt-PT" sz="2000" i="1" dirty="0" err="1"/>
              <a:t>and</a:t>
            </a:r>
            <a:r>
              <a:rPr lang="pt-PT" sz="2000" i="1" dirty="0"/>
              <a:t> </a:t>
            </a:r>
            <a:r>
              <a:rPr lang="pt-PT" sz="2000" i="1" dirty="0" err="1"/>
              <a:t>model</a:t>
            </a:r>
            <a:r>
              <a:rPr lang="pt-PT" sz="2000" i="1" dirty="0"/>
              <a:t> </a:t>
            </a:r>
            <a:r>
              <a:rPr lang="pt-PT" sz="2000" b="1" i="1" dirty="0"/>
              <a:t>pipeline </a:t>
            </a:r>
            <a:r>
              <a:rPr lang="pt-PT" sz="2000" i="1" dirty="0"/>
              <a:t>for </a:t>
            </a:r>
            <a:r>
              <a:rPr lang="pt-PT" sz="2000" i="1" dirty="0" err="1"/>
              <a:t>cleaner</a:t>
            </a:r>
            <a:r>
              <a:rPr lang="pt-PT" sz="2000" i="1" dirty="0"/>
              <a:t> </a:t>
            </a:r>
            <a:r>
              <a:rPr lang="pt-PT" sz="2000" i="1" dirty="0" err="1"/>
              <a:t>and</a:t>
            </a:r>
            <a:r>
              <a:rPr lang="pt-PT" sz="2000" i="1" dirty="0"/>
              <a:t> </a:t>
            </a:r>
            <a:r>
              <a:rPr lang="pt-PT" sz="2000" i="1" dirty="0" err="1"/>
              <a:t>easier</a:t>
            </a:r>
            <a:r>
              <a:rPr lang="pt-PT" sz="2000" i="1" dirty="0"/>
              <a:t> </a:t>
            </a:r>
            <a:r>
              <a:rPr lang="pt-PT" sz="2000" i="1" dirty="0" err="1"/>
              <a:t>code</a:t>
            </a:r>
            <a:r>
              <a:rPr lang="pt-PT" sz="2000" i="1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1557B48-1A8D-5A41-2CC9-3193F1075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8" y="604825"/>
            <a:ext cx="5458507" cy="575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165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4D3A1-07C9-04AC-164E-677E18B05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6FFDA57-184B-425F-59E3-730CC9C9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58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EB2C1E0-CB37-1143-C299-D0C26F965F20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Pre-processing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pipeline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scikit-learn’s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pipeline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8D5F632-E9F6-EE96-5A73-27CAF1500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34" y="1093304"/>
            <a:ext cx="4994914" cy="526304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1BFC91E-C35D-72B8-B877-C7956B62D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330" y="1383085"/>
            <a:ext cx="6683319" cy="390177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5D5A45D-B7C0-724B-3A0F-4DDA6F0127BA}"/>
              </a:ext>
            </a:extLst>
          </p:cNvPr>
          <p:cNvSpPr txBox="1"/>
          <p:nvPr/>
        </p:nvSpPr>
        <p:spPr>
          <a:xfrm>
            <a:off x="0" y="548910"/>
            <a:ext cx="11602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 err="1"/>
              <a:t>Scikit-learn</a:t>
            </a:r>
            <a:r>
              <a:rPr lang="pt-PT" sz="2000" dirty="0"/>
              <a:t> </a:t>
            </a:r>
            <a:r>
              <a:rPr lang="pt-PT" sz="2000" dirty="0" err="1"/>
              <a:t>provides</a:t>
            </a:r>
            <a:r>
              <a:rPr lang="pt-PT" sz="2000" dirty="0"/>
              <a:t> </a:t>
            </a:r>
            <a:r>
              <a:rPr lang="pt-PT" sz="2000" b="1" dirty="0"/>
              <a:t>Pipeline</a:t>
            </a:r>
            <a:r>
              <a:rPr lang="pt-PT" sz="2000" dirty="0"/>
              <a:t> - a </a:t>
            </a:r>
            <a:r>
              <a:rPr lang="pt-PT" sz="2000" dirty="0" err="1"/>
              <a:t>convenient</a:t>
            </a:r>
            <a:r>
              <a:rPr lang="pt-PT" sz="2000" dirty="0"/>
              <a:t> </a:t>
            </a:r>
            <a:r>
              <a:rPr lang="pt-PT" sz="2000" dirty="0" err="1"/>
              <a:t>function</a:t>
            </a:r>
            <a:r>
              <a:rPr lang="pt-PT" sz="2000" dirty="0"/>
              <a:t> for </a:t>
            </a:r>
            <a:r>
              <a:rPr lang="pt-PT" sz="2000" dirty="0" err="1"/>
              <a:t>integrating</a:t>
            </a:r>
            <a:r>
              <a:rPr lang="pt-PT" sz="2000" dirty="0"/>
              <a:t> </a:t>
            </a:r>
            <a:r>
              <a:rPr lang="pt-PT" sz="2000" dirty="0" err="1"/>
              <a:t>pre-processing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models</a:t>
            </a:r>
            <a:endParaRPr lang="pt-PT" sz="2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3F2CCF2-DEC0-BC67-5A98-96EB82636D94}"/>
              </a:ext>
            </a:extLst>
          </p:cNvPr>
          <p:cNvSpPr txBox="1"/>
          <p:nvPr/>
        </p:nvSpPr>
        <p:spPr>
          <a:xfrm>
            <a:off x="6115876" y="5395762"/>
            <a:ext cx="5188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All</a:t>
            </a:r>
            <a:r>
              <a:rPr lang="pt-PT" dirty="0"/>
              <a:t> </a:t>
            </a:r>
            <a:r>
              <a:rPr lang="pt-PT" dirty="0" err="1"/>
              <a:t>pre-processing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modeling</a:t>
            </a:r>
            <a:r>
              <a:rPr lang="pt-PT" dirty="0"/>
              <a:t> steps are </a:t>
            </a:r>
            <a:r>
              <a:rPr lang="pt-PT" dirty="0" err="1"/>
              <a:t>integrated</a:t>
            </a:r>
            <a:r>
              <a:rPr lang="pt-PT" dirty="0"/>
              <a:t> </a:t>
            </a:r>
            <a:r>
              <a:rPr lang="pt-PT" dirty="0" err="1"/>
              <a:t>into</a:t>
            </a:r>
            <a:r>
              <a:rPr lang="pt-PT" dirty="0"/>
              <a:t> a single </a:t>
            </a:r>
            <a:r>
              <a:rPr lang="pt-PT" dirty="0" err="1"/>
              <a:t>object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707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BB26-DAA2-699C-F858-35196E6DB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016D73F-9663-CE39-2FFF-EFD2A380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59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18F4573-7161-D549-B229-61E52BA693F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tuning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hyper-parameters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6213E43-114D-8238-BF93-F50BE88C9B9E}"/>
              </a:ext>
            </a:extLst>
          </p:cNvPr>
          <p:cNvSpPr txBox="1"/>
          <p:nvPr/>
        </p:nvSpPr>
        <p:spPr>
          <a:xfrm>
            <a:off x="0" y="553532"/>
            <a:ext cx="121919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Model</a:t>
            </a:r>
            <a:r>
              <a:rPr lang="pt-PT" sz="2000" dirty="0"/>
              <a:t> </a:t>
            </a:r>
            <a:r>
              <a:rPr lang="pt-PT" sz="2000" dirty="0" err="1"/>
              <a:t>parameters</a:t>
            </a:r>
            <a:r>
              <a:rPr lang="pt-PT" sz="2000" dirty="0"/>
              <a:t> (</a:t>
            </a:r>
            <a:r>
              <a:rPr lang="pt-PT" sz="2000" dirty="0" err="1"/>
              <a:t>coefficients</a:t>
            </a:r>
            <a:r>
              <a:rPr lang="pt-PT" sz="2000" dirty="0"/>
              <a:t>) are </a:t>
            </a:r>
            <a:r>
              <a:rPr lang="pt-PT" sz="2000" dirty="0" err="1"/>
              <a:t>estimated</a:t>
            </a:r>
            <a:r>
              <a:rPr lang="pt-PT" sz="2000" dirty="0"/>
              <a:t> </a:t>
            </a:r>
            <a:r>
              <a:rPr lang="pt-PT" sz="2000" dirty="0" err="1"/>
              <a:t>directly</a:t>
            </a:r>
            <a:r>
              <a:rPr lang="pt-PT" sz="2000" dirty="0"/>
              <a:t> </a:t>
            </a:r>
            <a:r>
              <a:rPr lang="pt-PT" sz="2000" dirty="0" err="1"/>
              <a:t>from</a:t>
            </a:r>
            <a:r>
              <a:rPr lang="pt-PT" sz="2000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 </a:t>
            </a:r>
            <a:r>
              <a:rPr lang="pt-PT" sz="2000" dirty="0" err="1"/>
              <a:t>However</a:t>
            </a:r>
            <a:r>
              <a:rPr lang="pt-PT" sz="2000" dirty="0"/>
              <a:t>,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models</a:t>
            </a:r>
            <a:r>
              <a:rPr lang="pt-PT" sz="2000" dirty="0"/>
              <a:t> </a:t>
            </a:r>
            <a:r>
              <a:rPr lang="pt-PT" sz="2000" dirty="0" err="1"/>
              <a:t>have</a:t>
            </a:r>
            <a:r>
              <a:rPr lang="pt-PT" sz="2000" dirty="0"/>
              <a:t> </a:t>
            </a:r>
            <a:r>
              <a:rPr lang="pt-PT" sz="2000" dirty="0" err="1"/>
              <a:t>parameters</a:t>
            </a:r>
            <a:r>
              <a:rPr lang="pt-PT" sz="2000" dirty="0"/>
              <a:t> </a:t>
            </a:r>
            <a:r>
              <a:rPr lang="pt-PT" sz="2000" dirty="0" err="1"/>
              <a:t>that</a:t>
            </a:r>
            <a:r>
              <a:rPr lang="pt-PT" sz="2000" dirty="0"/>
              <a:t> </a:t>
            </a:r>
            <a:r>
              <a:rPr lang="pt-PT" sz="2000" dirty="0" err="1"/>
              <a:t>cannot</a:t>
            </a:r>
            <a:r>
              <a:rPr lang="pt-PT" sz="2000" dirty="0"/>
              <a:t> </a:t>
            </a:r>
            <a:r>
              <a:rPr lang="pt-PT" sz="2000" dirty="0" err="1"/>
              <a:t>be</a:t>
            </a:r>
            <a:r>
              <a:rPr lang="pt-PT" sz="2000" dirty="0"/>
              <a:t> </a:t>
            </a:r>
            <a:r>
              <a:rPr lang="pt-PT" sz="2000" dirty="0" err="1"/>
              <a:t>directly</a:t>
            </a:r>
            <a:r>
              <a:rPr lang="pt-PT" sz="2000" dirty="0"/>
              <a:t> </a:t>
            </a:r>
            <a:r>
              <a:rPr lang="pt-PT" sz="2000" dirty="0" err="1"/>
              <a:t>estimated</a:t>
            </a:r>
            <a:r>
              <a:rPr lang="pt-PT" sz="2000" dirty="0"/>
              <a:t> </a:t>
            </a:r>
            <a:r>
              <a:rPr lang="pt-PT" sz="2000" dirty="0" err="1"/>
              <a:t>from</a:t>
            </a:r>
            <a:r>
              <a:rPr lang="pt-PT" sz="2000" dirty="0"/>
              <a:t> data – </a:t>
            </a:r>
            <a:r>
              <a:rPr lang="pt-PT" sz="2000" b="1" dirty="0" err="1"/>
              <a:t>hyper-parameters</a:t>
            </a: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Some </a:t>
            </a:r>
            <a:r>
              <a:rPr lang="pt-PT" sz="2000" dirty="0" err="1"/>
              <a:t>pre-processing</a:t>
            </a:r>
            <a:r>
              <a:rPr lang="pt-PT" sz="2000" dirty="0"/>
              <a:t> </a:t>
            </a:r>
            <a:r>
              <a:rPr lang="pt-PT" sz="2000" dirty="0" err="1"/>
              <a:t>methods</a:t>
            </a:r>
            <a:r>
              <a:rPr lang="pt-PT" sz="2000" dirty="0"/>
              <a:t> (e.g. SG </a:t>
            </a:r>
            <a:r>
              <a:rPr lang="pt-PT" sz="2000" dirty="0" err="1"/>
              <a:t>filters</a:t>
            </a:r>
            <a:r>
              <a:rPr lang="pt-PT" sz="2000" dirty="0"/>
              <a:t>) can </a:t>
            </a:r>
            <a:r>
              <a:rPr lang="pt-PT" sz="2000" dirty="0" err="1"/>
              <a:t>also</a:t>
            </a:r>
            <a:r>
              <a:rPr lang="pt-PT" sz="2000" dirty="0"/>
              <a:t> </a:t>
            </a:r>
            <a:r>
              <a:rPr lang="pt-PT" sz="2000" dirty="0" err="1"/>
              <a:t>have</a:t>
            </a:r>
            <a:r>
              <a:rPr lang="pt-PT" sz="2000" dirty="0"/>
              <a:t> </a:t>
            </a:r>
            <a:r>
              <a:rPr lang="pt-PT" sz="2000" dirty="0" err="1"/>
              <a:t>hyper-parameters</a:t>
            </a:r>
            <a:endParaRPr lang="pt-PT" sz="20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922A738-A64B-D6F5-91FD-3EF95EE92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215693"/>
              </p:ext>
            </p:extLst>
          </p:nvPr>
        </p:nvGraphicFramePr>
        <p:xfrm>
          <a:off x="6651013" y="2494786"/>
          <a:ext cx="5315596" cy="3055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7798">
                  <a:extLst>
                    <a:ext uri="{9D8B030D-6E8A-4147-A177-3AD203B41FA5}">
                      <a16:colId xmlns:a16="http://schemas.microsoft.com/office/drawing/2014/main" val="1922736662"/>
                    </a:ext>
                  </a:extLst>
                </a:gridCol>
                <a:gridCol w="2657798">
                  <a:extLst>
                    <a:ext uri="{9D8B030D-6E8A-4147-A177-3AD203B41FA5}">
                      <a16:colId xmlns:a16="http://schemas.microsoft.com/office/drawing/2014/main" val="2576310129"/>
                    </a:ext>
                  </a:extLst>
                </a:gridCol>
              </a:tblGrid>
              <a:tr h="683346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Model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Hyper-parameters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596468"/>
                  </a:ext>
                </a:extLst>
              </a:tr>
              <a:tr h="683346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Ridge</a:t>
                      </a:r>
                      <a:r>
                        <a:rPr lang="pt-PT" sz="2000" dirty="0"/>
                        <a:t> </a:t>
                      </a:r>
                      <a:r>
                        <a:rPr lang="pt-PT" sz="2000" dirty="0" err="1"/>
                        <a:t>regression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Alpha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407010"/>
                  </a:ext>
                </a:extLst>
              </a:tr>
              <a:tr h="683346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/>
                        <a:t>LASSO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Alpha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513377"/>
                  </a:ext>
                </a:extLst>
              </a:tr>
              <a:tr h="683346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/>
                        <a:t>PLS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Number</a:t>
                      </a:r>
                      <a:r>
                        <a:rPr lang="pt-PT" sz="2000" dirty="0"/>
                        <a:t> </a:t>
                      </a:r>
                      <a:r>
                        <a:rPr lang="pt-PT" sz="2000" dirty="0" err="1"/>
                        <a:t>of</a:t>
                      </a:r>
                      <a:r>
                        <a:rPr lang="pt-PT" sz="2000" dirty="0"/>
                        <a:t> </a:t>
                      </a:r>
                      <a:r>
                        <a:rPr lang="pt-PT" sz="2000" dirty="0" err="1"/>
                        <a:t>latent</a:t>
                      </a:r>
                      <a:r>
                        <a:rPr lang="pt-PT" sz="2000" dirty="0"/>
                        <a:t> </a:t>
                      </a:r>
                      <a:r>
                        <a:rPr lang="pt-PT" sz="2000" dirty="0" err="1"/>
                        <a:t>variables</a:t>
                      </a:r>
                      <a:r>
                        <a:rPr lang="pt-PT" sz="2000" dirty="0"/>
                        <a:t> / principal </a:t>
                      </a:r>
                      <a:r>
                        <a:rPr lang="pt-PT" sz="2000" dirty="0" err="1"/>
                        <a:t>components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814289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51E98A79-1790-D93D-84A5-BE5A69314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375849"/>
              </p:ext>
            </p:extLst>
          </p:nvPr>
        </p:nvGraphicFramePr>
        <p:xfrm>
          <a:off x="285763" y="2276947"/>
          <a:ext cx="6055402" cy="4331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7701">
                  <a:extLst>
                    <a:ext uri="{9D8B030D-6E8A-4147-A177-3AD203B41FA5}">
                      <a16:colId xmlns:a16="http://schemas.microsoft.com/office/drawing/2014/main" val="1914547084"/>
                    </a:ext>
                  </a:extLst>
                </a:gridCol>
                <a:gridCol w="3027701">
                  <a:extLst>
                    <a:ext uri="{9D8B030D-6E8A-4147-A177-3AD203B41FA5}">
                      <a16:colId xmlns:a16="http://schemas.microsoft.com/office/drawing/2014/main" val="4017305371"/>
                    </a:ext>
                  </a:extLst>
                </a:gridCol>
              </a:tblGrid>
              <a:tr h="671796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Pre-processing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Hyper-parameters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355227"/>
                  </a:ext>
                </a:extLst>
              </a:tr>
              <a:tr h="671796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Mean</a:t>
                      </a:r>
                      <a:r>
                        <a:rPr lang="pt-PT" sz="2000" dirty="0"/>
                        <a:t> </a:t>
                      </a:r>
                      <a:r>
                        <a:rPr lang="pt-PT" sz="2000" dirty="0" err="1"/>
                        <a:t>centering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None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503259"/>
                  </a:ext>
                </a:extLst>
              </a:tr>
              <a:tr h="671796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/>
                        <a:t>Standard Normal </a:t>
                      </a:r>
                      <a:r>
                        <a:rPr lang="pt-PT" sz="2000" dirty="0" err="1"/>
                        <a:t>Variate</a:t>
                      </a:r>
                      <a:r>
                        <a:rPr lang="pt-PT" sz="2000" dirty="0"/>
                        <a:t> (SNV)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None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256601"/>
                  </a:ext>
                </a:extLst>
              </a:tr>
              <a:tr h="1451431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 err="1"/>
                        <a:t>Saviztky-Golay</a:t>
                      </a:r>
                      <a:r>
                        <a:rPr lang="pt-PT" sz="2000" dirty="0"/>
                        <a:t> (SG)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Tx/>
                        <a:buChar char="-"/>
                      </a:pPr>
                      <a:r>
                        <a:rPr lang="pt-PT" sz="2000" i="1" dirty="0" err="1"/>
                        <a:t>Order</a:t>
                      </a:r>
                      <a:r>
                        <a:rPr lang="pt-PT" sz="2000" i="1" dirty="0"/>
                        <a:t> </a:t>
                      </a:r>
                      <a:r>
                        <a:rPr lang="pt-PT" sz="2000" i="1" dirty="0" err="1"/>
                        <a:t>of</a:t>
                      </a:r>
                      <a:r>
                        <a:rPr lang="pt-PT" sz="2000" i="1" dirty="0"/>
                        <a:t> </a:t>
                      </a:r>
                      <a:r>
                        <a:rPr lang="pt-PT" sz="2000" i="1" dirty="0" err="1"/>
                        <a:t>polynomial</a:t>
                      </a:r>
                      <a:r>
                        <a:rPr lang="pt-PT" sz="2000" i="1" dirty="0"/>
                        <a:t> (</a:t>
                      </a:r>
                      <a:r>
                        <a:rPr lang="pt-PT" sz="2000" i="1" dirty="0" err="1"/>
                        <a:t>fixed</a:t>
                      </a:r>
                      <a:r>
                        <a:rPr lang="pt-PT" sz="2000" i="1" dirty="0"/>
                        <a:t> to 2)</a:t>
                      </a:r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pt-PT" sz="2000" dirty="0" err="1"/>
                        <a:t>Window</a:t>
                      </a:r>
                      <a:r>
                        <a:rPr lang="pt-PT" sz="2000" dirty="0"/>
                        <a:t> </a:t>
                      </a:r>
                      <a:r>
                        <a:rPr lang="pt-PT" sz="2000" dirty="0" err="1"/>
                        <a:t>size</a:t>
                      </a:r>
                      <a:endParaRPr lang="pt-PT" sz="2000" dirty="0"/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pt-PT" sz="2000" dirty="0" err="1"/>
                        <a:t>Order</a:t>
                      </a:r>
                      <a:r>
                        <a:rPr lang="pt-PT" sz="2000" dirty="0"/>
                        <a:t> </a:t>
                      </a:r>
                      <a:r>
                        <a:rPr lang="pt-PT" sz="2000" dirty="0" err="1"/>
                        <a:t>of</a:t>
                      </a:r>
                      <a:r>
                        <a:rPr lang="pt-PT" sz="2000" dirty="0"/>
                        <a:t> </a:t>
                      </a:r>
                      <a:r>
                        <a:rPr lang="pt-PT" sz="2000" dirty="0" err="1"/>
                        <a:t>derivative</a:t>
                      </a:r>
                      <a:r>
                        <a:rPr lang="pt-PT" sz="2000" dirty="0"/>
                        <a:t>: 1 </a:t>
                      </a:r>
                      <a:r>
                        <a:rPr lang="pt-PT" sz="2000" dirty="0" err="1"/>
                        <a:t>or</a:t>
                      </a:r>
                      <a:r>
                        <a:rPr lang="pt-PT" sz="2000" dirty="0"/>
                        <a:t> 2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293140"/>
                  </a:ext>
                </a:extLst>
              </a:tr>
              <a:tr h="671796">
                <a:tc>
                  <a:txBody>
                    <a:bodyPr/>
                    <a:lstStyle/>
                    <a:p>
                      <a:pPr algn="ctr"/>
                      <a:r>
                        <a:rPr lang="pt-PT" sz="2000" dirty="0"/>
                        <a:t>SNV-SG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pt-PT" sz="2000" dirty="0" err="1"/>
                        <a:t>Same</a:t>
                      </a:r>
                      <a:r>
                        <a:rPr lang="pt-PT" sz="2000" dirty="0"/>
                        <a:t> as </a:t>
                      </a:r>
                      <a:r>
                        <a:rPr lang="pt-PT" sz="2000" dirty="0" err="1"/>
                        <a:t>above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492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298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1E5CC-9E97-9D7F-393E-0DC45309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A6F6E69-D5EF-E544-3149-7A4E1E291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3" y="2549525"/>
            <a:ext cx="5543551" cy="417195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AC2D235-CEA2-E29D-5F8C-5EFE63161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554" y="2549525"/>
            <a:ext cx="5629275" cy="4171950"/>
          </a:xfrm>
          <a:prstGeom prst="rect">
            <a:avLst/>
          </a:prstGeom>
        </p:spPr>
      </p:pic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5A73F1A-1DF2-5213-2924-1892EE93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60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CD500BE6-A6B7-E09B-9B3C-058D09A0B8E1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tuning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hyper-parameters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B03CBF6-B642-D59A-2D93-0731A0C5138B}"/>
              </a:ext>
            </a:extLst>
          </p:cNvPr>
          <p:cNvSpPr txBox="1"/>
          <p:nvPr/>
        </p:nvSpPr>
        <p:spPr>
          <a:xfrm>
            <a:off x="-4" y="476029"/>
            <a:ext cx="1219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</a:t>
            </a:r>
            <a:r>
              <a:rPr lang="pt-PT" dirty="0" err="1"/>
              <a:t>hyper-parameters</a:t>
            </a:r>
            <a:r>
              <a:rPr lang="pt-PT" dirty="0"/>
              <a:t> </a:t>
            </a:r>
            <a:r>
              <a:rPr lang="pt-PT" dirty="0" err="1"/>
              <a:t>affect</a:t>
            </a:r>
            <a:r>
              <a:rPr lang="pt-PT" dirty="0"/>
              <a:t> </a:t>
            </a:r>
            <a:r>
              <a:rPr lang="pt-PT" dirty="0" err="1"/>
              <a:t>how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generalizes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predicts</a:t>
            </a:r>
            <a:r>
              <a:rPr lang="pt-PT" dirty="0"/>
              <a:t> </a:t>
            </a:r>
            <a:r>
              <a:rPr lang="pt-PT" dirty="0" err="1"/>
              <a:t>new</a:t>
            </a:r>
            <a:r>
              <a:rPr lang="pt-PT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Increasing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modeling</a:t>
            </a:r>
            <a:r>
              <a:rPr lang="pt-PT" dirty="0"/>
              <a:t> </a:t>
            </a:r>
            <a:r>
              <a:rPr lang="pt-PT" dirty="0" err="1"/>
              <a:t>complexity</a:t>
            </a:r>
            <a:r>
              <a:rPr lang="pt-PT" dirty="0"/>
              <a:t> </a:t>
            </a:r>
            <a:r>
              <a:rPr lang="pt-PT" dirty="0" err="1"/>
              <a:t>always</a:t>
            </a:r>
            <a:r>
              <a:rPr lang="pt-PT" dirty="0"/>
              <a:t> </a:t>
            </a:r>
            <a:r>
              <a:rPr lang="pt-PT" dirty="0" err="1"/>
              <a:t>reduces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training error </a:t>
            </a:r>
            <a:r>
              <a:rPr lang="pt-PT" dirty="0" err="1"/>
              <a:t>but</a:t>
            </a:r>
            <a:r>
              <a:rPr lang="pt-PT" dirty="0"/>
              <a:t> </a:t>
            </a:r>
            <a:r>
              <a:rPr lang="pt-PT" dirty="0" err="1"/>
              <a:t>may</a:t>
            </a:r>
            <a:r>
              <a:rPr lang="pt-PT" dirty="0"/>
              <a:t> </a:t>
            </a:r>
            <a:r>
              <a:rPr lang="pt-PT" dirty="0" err="1"/>
              <a:t>reduce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testing</a:t>
            </a:r>
            <a:r>
              <a:rPr lang="pt-PT" dirty="0"/>
              <a:t>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Remember</a:t>
            </a:r>
            <a:r>
              <a:rPr lang="pt-PT" b="1" dirty="0"/>
              <a:t>: </a:t>
            </a: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want</a:t>
            </a:r>
            <a:r>
              <a:rPr lang="pt-PT" dirty="0"/>
              <a:t> to use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to </a:t>
            </a:r>
            <a:r>
              <a:rPr lang="pt-PT" dirty="0" err="1"/>
              <a:t>make</a:t>
            </a:r>
            <a:r>
              <a:rPr lang="pt-PT" dirty="0"/>
              <a:t> </a:t>
            </a:r>
            <a:r>
              <a:rPr lang="pt-PT" dirty="0" err="1"/>
              <a:t>predictions</a:t>
            </a:r>
            <a:r>
              <a:rPr lang="pt-PT" dirty="0"/>
              <a:t> for </a:t>
            </a:r>
            <a:r>
              <a:rPr lang="pt-PT" dirty="0" err="1"/>
              <a:t>new</a:t>
            </a:r>
            <a:r>
              <a:rPr lang="pt-PT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There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an</a:t>
            </a:r>
            <a:r>
              <a:rPr lang="pt-PT" dirty="0"/>
              <a:t> </a:t>
            </a:r>
            <a:r>
              <a:rPr lang="pt-PT" dirty="0" err="1"/>
              <a:t>optimal</a:t>
            </a:r>
            <a:r>
              <a:rPr lang="pt-PT" dirty="0"/>
              <a:t> </a:t>
            </a:r>
            <a:r>
              <a:rPr lang="pt-PT" dirty="0" err="1"/>
              <a:t>trade-off</a:t>
            </a:r>
            <a:r>
              <a:rPr lang="pt-PT" dirty="0"/>
              <a:t> </a:t>
            </a:r>
            <a:r>
              <a:rPr lang="pt-PT" dirty="0" err="1"/>
              <a:t>between</a:t>
            </a:r>
            <a:r>
              <a:rPr lang="pt-PT" dirty="0"/>
              <a:t> </a:t>
            </a:r>
            <a:r>
              <a:rPr lang="pt-PT" dirty="0" err="1"/>
              <a:t>fitting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data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generalizing</a:t>
            </a:r>
            <a:r>
              <a:rPr lang="pt-PT" dirty="0"/>
              <a:t> to </a:t>
            </a:r>
            <a:r>
              <a:rPr lang="pt-PT" dirty="0" err="1"/>
              <a:t>new</a:t>
            </a:r>
            <a:r>
              <a:rPr lang="pt-PT" dirty="0"/>
              <a:t> data (</a:t>
            </a:r>
            <a:r>
              <a:rPr lang="pt-PT" i="1" dirty="0" err="1"/>
              <a:t>remember</a:t>
            </a:r>
            <a:r>
              <a:rPr lang="pt-PT" i="1" dirty="0"/>
              <a:t> </a:t>
            </a:r>
            <a:r>
              <a:rPr lang="pt-PT" i="1" dirty="0" err="1"/>
              <a:t>bias-variance</a:t>
            </a:r>
            <a:r>
              <a:rPr lang="pt-PT" i="1" dirty="0"/>
              <a:t> </a:t>
            </a:r>
            <a:r>
              <a:rPr lang="pt-PT" i="1" dirty="0" err="1"/>
              <a:t>trade-off</a:t>
            </a:r>
            <a:r>
              <a:rPr lang="pt-PT" i="1" dirty="0"/>
              <a:t>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6FD2F44-D745-7EAE-CEF3-9F2F64DC323B}"/>
              </a:ext>
            </a:extLst>
          </p:cNvPr>
          <p:cNvSpPr/>
          <p:nvPr/>
        </p:nvSpPr>
        <p:spPr>
          <a:xfrm>
            <a:off x="8918713" y="5665567"/>
            <a:ext cx="311426" cy="5907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32B99C9-9843-3785-3EB2-68C81A3C7575}"/>
              </a:ext>
            </a:extLst>
          </p:cNvPr>
          <p:cNvSpPr txBox="1"/>
          <p:nvPr/>
        </p:nvSpPr>
        <p:spPr>
          <a:xfrm>
            <a:off x="7712765" y="5267687"/>
            <a:ext cx="1384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 err="1"/>
              <a:t>Lowest</a:t>
            </a:r>
            <a:r>
              <a:rPr lang="pt-PT" dirty="0"/>
              <a:t> RMSE </a:t>
            </a:r>
            <a:r>
              <a:rPr lang="pt-PT" dirty="0" err="1"/>
              <a:t>test</a:t>
            </a:r>
            <a:endParaRPr lang="en-US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C0F025-68BB-B125-B2DA-E248FB80F62C}"/>
              </a:ext>
            </a:extLst>
          </p:cNvPr>
          <p:cNvSpPr txBox="1"/>
          <p:nvPr/>
        </p:nvSpPr>
        <p:spPr>
          <a:xfrm>
            <a:off x="9466297" y="4485809"/>
            <a:ext cx="1384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RMSE </a:t>
            </a:r>
            <a:r>
              <a:rPr lang="pt-PT" dirty="0" err="1"/>
              <a:t>test</a:t>
            </a:r>
            <a:r>
              <a:rPr lang="pt-PT" dirty="0"/>
              <a:t> </a:t>
            </a:r>
            <a:r>
              <a:rPr lang="pt-PT" dirty="0" err="1"/>
              <a:t>starts</a:t>
            </a:r>
            <a:r>
              <a:rPr lang="pt-PT" dirty="0"/>
              <a:t> to </a:t>
            </a:r>
            <a:r>
              <a:rPr lang="pt-PT" dirty="0" err="1"/>
              <a:t>increase</a:t>
            </a:r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4A3C74E-5E18-754D-9634-F1F62CAFA709}"/>
              </a:ext>
            </a:extLst>
          </p:cNvPr>
          <p:cNvSpPr txBox="1"/>
          <p:nvPr/>
        </p:nvSpPr>
        <p:spPr>
          <a:xfrm>
            <a:off x="3837023" y="4465238"/>
            <a:ext cx="1384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/>
              <a:t>RMSE training </a:t>
            </a:r>
            <a:r>
              <a:rPr lang="pt-PT" dirty="0" err="1"/>
              <a:t>always</a:t>
            </a:r>
            <a:r>
              <a:rPr lang="pt-PT" dirty="0"/>
              <a:t> </a:t>
            </a:r>
            <a:r>
              <a:rPr lang="pt-PT" dirty="0" err="1"/>
              <a:t>decreases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379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297F1-7E16-F431-2A4B-04C1A6158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8857D27-7B59-2EC8-C145-F1D33F0D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61</a:t>
            </a:fld>
            <a:endParaRPr lang="en-GB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62DA4ED-1521-7818-005A-8D87A20D4519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tuning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training,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validation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,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testing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A796C4A-65D8-8CE8-841F-AA6823C6BE13}"/>
              </a:ext>
            </a:extLst>
          </p:cNvPr>
          <p:cNvSpPr txBox="1"/>
          <p:nvPr/>
        </p:nvSpPr>
        <p:spPr>
          <a:xfrm>
            <a:off x="0" y="471336"/>
            <a:ext cx="121919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If</a:t>
            </a:r>
            <a:r>
              <a:rPr lang="pt-PT" sz="2000" dirty="0"/>
              <a:t> </a:t>
            </a: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choose</a:t>
            </a:r>
            <a:r>
              <a:rPr lang="pt-PT" sz="2000" dirty="0"/>
              <a:t> </a:t>
            </a:r>
            <a:r>
              <a:rPr lang="pt-PT" sz="2000" dirty="0" err="1"/>
              <a:t>hyper-parameters</a:t>
            </a:r>
            <a:r>
              <a:rPr lang="pt-PT" sz="2000" dirty="0"/>
              <a:t> </a:t>
            </a:r>
            <a:r>
              <a:rPr lang="pt-PT" sz="2000" dirty="0" err="1"/>
              <a:t>based</a:t>
            </a:r>
            <a:r>
              <a:rPr lang="pt-PT" sz="2000" dirty="0"/>
              <a:t> </a:t>
            </a:r>
            <a:r>
              <a:rPr lang="pt-PT" sz="2000" dirty="0" err="1"/>
              <a:t>only</a:t>
            </a:r>
            <a:r>
              <a:rPr lang="pt-PT" sz="2000" dirty="0"/>
              <a:t> </a:t>
            </a:r>
            <a:r>
              <a:rPr lang="pt-PT" sz="2000" dirty="0" err="1"/>
              <a:t>on</a:t>
            </a:r>
            <a:r>
              <a:rPr lang="pt-PT" sz="2000" dirty="0"/>
              <a:t> </a:t>
            </a: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test</a:t>
            </a:r>
            <a:r>
              <a:rPr lang="pt-PT" sz="2000" dirty="0"/>
              <a:t> set, </a:t>
            </a:r>
            <a:r>
              <a:rPr lang="pt-PT" sz="2000" dirty="0" err="1"/>
              <a:t>we</a:t>
            </a:r>
            <a:r>
              <a:rPr lang="pt-PT" sz="2000" dirty="0"/>
              <a:t> can </a:t>
            </a:r>
            <a:r>
              <a:rPr lang="pt-PT" sz="2000" dirty="0" err="1"/>
              <a:t>also</a:t>
            </a:r>
            <a:r>
              <a:rPr lang="pt-PT" sz="2000" dirty="0"/>
              <a:t> </a:t>
            </a:r>
            <a:r>
              <a:rPr lang="pt-PT" sz="2000" dirty="0" err="1"/>
              <a:t>overfit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We</a:t>
            </a:r>
            <a:r>
              <a:rPr lang="pt-PT" sz="2000" dirty="0"/>
              <a:t> </a:t>
            </a:r>
            <a:r>
              <a:rPr lang="pt-PT" sz="2000" dirty="0" err="1"/>
              <a:t>should</a:t>
            </a:r>
            <a:r>
              <a:rPr lang="pt-PT" sz="2000" dirty="0"/>
              <a:t> </a:t>
            </a:r>
            <a:r>
              <a:rPr lang="pt-PT" sz="2000" dirty="0" err="1"/>
              <a:t>consider</a:t>
            </a:r>
            <a:r>
              <a:rPr lang="pt-PT" sz="2000" dirty="0"/>
              <a:t> </a:t>
            </a:r>
            <a:r>
              <a:rPr lang="pt-PT" sz="2000" b="1" dirty="0"/>
              <a:t>training/</a:t>
            </a:r>
            <a:r>
              <a:rPr lang="pt-PT" sz="2000" b="1" dirty="0" err="1"/>
              <a:t>validation</a:t>
            </a:r>
            <a:r>
              <a:rPr lang="pt-PT" sz="2000" b="1" dirty="0"/>
              <a:t>/</a:t>
            </a:r>
            <a:r>
              <a:rPr lang="pt-PT" sz="2000" b="1" dirty="0" err="1"/>
              <a:t>testing</a:t>
            </a:r>
            <a:r>
              <a:rPr lang="pt-PT" sz="2000" b="1" dirty="0"/>
              <a:t> </a:t>
            </a:r>
            <a:r>
              <a:rPr lang="pt-PT" sz="2000" dirty="0" err="1"/>
              <a:t>datasets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The</a:t>
            </a:r>
            <a:r>
              <a:rPr lang="pt-PT" sz="2000" dirty="0"/>
              <a:t> </a:t>
            </a:r>
            <a:r>
              <a:rPr lang="pt-PT" sz="2000" dirty="0" err="1"/>
              <a:t>validation</a:t>
            </a:r>
            <a:r>
              <a:rPr lang="pt-PT" sz="2000" dirty="0"/>
              <a:t> </a:t>
            </a:r>
            <a:r>
              <a:rPr lang="pt-PT" sz="2000" dirty="0" err="1"/>
              <a:t>dataset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</a:t>
            </a:r>
            <a:r>
              <a:rPr lang="pt-PT" sz="2000" dirty="0" err="1"/>
              <a:t>used</a:t>
            </a:r>
            <a:r>
              <a:rPr lang="pt-PT" sz="2000" dirty="0"/>
              <a:t> to </a:t>
            </a:r>
            <a:r>
              <a:rPr lang="pt-PT" sz="2000" dirty="0" err="1"/>
              <a:t>choose</a:t>
            </a:r>
            <a:r>
              <a:rPr lang="pt-PT" sz="2000" dirty="0"/>
              <a:t> </a:t>
            </a:r>
            <a:r>
              <a:rPr lang="pt-PT" sz="2000" dirty="0" err="1"/>
              <a:t>hyper-parameters</a:t>
            </a:r>
            <a:r>
              <a:rPr lang="pt-PT" sz="2000" dirty="0"/>
              <a:t>, </a:t>
            </a:r>
            <a:r>
              <a:rPr lang="pt-PT" sz="2000" dirty="0" err="1"/>
              <a:t>testing</a:t>
            </a:r>
            <a:r>
              <a:rPr lang="pt-PT" sz="2000" dirty="0"/>
              <a:t> </a:t>
            </a:r>
            <a:r>
              <a:rPr lang="pt-PT" sz="2000" dirty="0" err="1"/>
              <a:t>dataset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to </a:t>
            </a:r>
            <a:r>
              <a:rPr lang="pt-PT" sz="2000" dirty="0" err="1"/>
              <a:t>used</a:t>
            </a:r>
            <a:r>
              <a:rPr lang="pt-PT" sz="2000" dirty="0"/>
              <a:t> to  </a:t>
            </a:r>
            <a:r>
              <a:rPr lang="pt-PT" sz="2000" dirty="0" err="1"/>
              <a:t>test</a:t>
            </a:r>
            <a:r>
              <a:rPr lang="pt-PT" sz="2000" dirty="0"/>
              <a:t> 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2FAE96BC-144F-B95E-57A2-BAF036A69EE7}"/>
              </a:ext>
            </a:extLst>
          </p:cNvPr>
          <p:cNvGrpSpPr/>
          <p:nvPr/>
        </p:nvGrpSpPr>
        <p:grpSpPr>
          <a:xfrm>
            <a:off x="2673516" y="2320626"/>
            <a:ext cx="6858000" cy="2207639"/>
            <a:chOff x="2723318" y="2598003"/>
            <a:chExt cx="6858000" cy="2207639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4014301-72FC-8E87-307C-E54FC5C9B371}"/>
                </a:ext>
              </a:extLst>
            </p:cNvPr>
            <p:cNvSpPr txBox="1"/>
            <p:nvPr/>
          </p:nvSpPr>
          <p:spPr>
            <a:xfrm>
              <a:off x="5029197" y="2598003"/>
              <a:ext cx="2133600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400" dirty="0" err="1"/>
                <a:t>All</a:t>
              </a:r>
              <a:r>
                <a:rPr lang="pt-PT" sz="2400" dirty="0"/>
                <a:t> </a:t>
              </a:r>
              <a:r>
                <a:rPr lang="pt-PT" sz="2400" dirty="0" err="1"/>
                <a:t>available</a:t>
              </a:r>
              <a:r>
                <a:rPr lang="pt-PT" sz="2400" dirty="0"/>
                <a:t> </a:t>
              </a:r>
            </a:p>
            <a:p>
              <a:pPr algn="ctr"/>
              <a:r>
                <a:rPr lang="pt-PT" sz="2400" dirty="0"/>
                <a:t>data</a:t>
              </a:r>
              <a:endParaRPr lang="en-US" sz="2400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3CBE7967-DE91-0619-A9BB-0BA046D3BD3B}"/>
                </a:ext>
              </a:extLst>
            </p:cNvPr>
            <p:cNvSpPr txBox="1"/>
            <p:nvPr/>
          </p:nvSpPr>
          <p:spPr>
            <a:xfrm>
              <a:off x="7447718" y="3974644"/>
              <a:ext cx="2133600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400" dirty="0" err="1"/>
                <a:t>Testing</a:t>
              </a:r>
              <a:r>
                <a:rPr lang="pt-PT" sz="2400" dirty="0"/>
                <a:t> data</a:t>
              </a:r>
            </a:p>
            <a:p>
              <a:pPr algn="ctr"/>
              <a:r>
                <a:rPr lang="pt-PT" sz="2400" dirty="0"/>
                <a:t>(e.g. 30%)</a:t>
              </a:r>
              <a:endParaRPr lang="en-US" sz="2400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5DF0E0C4-3355-FE6D-D5E2-B271B53AB4F7}"/>
                </a:ext>
              </a:extLst>
            </p:cNvPr>
            <p:cNvSpPr txBox="1"/>
            <p:nvPr/>
          </p:nvSpPr>
          <p:spPr>
            <a:xfrm>
              <a:off x="2723318" y="3974645"/>
              <a:ext cx="2133600" cy="830997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2400" dirty="0"/>
                <a:t>Training data </a:t>
              </a:r>
            </a:p>
            <a:p>
              <a:pPr algn="ctr"/>
              <a:r>
                <a:rPr lang="pt-PT" sz="2400" dirty="0"/>
                <a:t>(e.g. 70%)</a:t>
              </a:r>
              <a:endParaRPr lang="en-US" sz="2400" dirty="0"/>
            </a:p>
          </p:txBody>
        </p:sp>
        <p:cxnSp>
          <p:nvCxnSpPr>
            <p:cNvPr id="9" name="Conexão: Ângulo Reto 8">
              <a:extLst>
                <a:ext uri="{FF2B5EF4-FFF2-40B4-BE49-F238E27FC236}">
                  <a16:creationId xmlns:a16="http://schemas.microsoft.com/office/drawing/2014/main" id="{C7224C8C-76C8-9F75-53A4-B70E1238EFA3}"/>
                </a:ext>
              </a:extLst>
            </p:cNvPr>
            <p:cNvCxnSpPr>
              <a:stCxn id="6" idx="2"/>
              <a:endCxn id="8" idx="0"/>
            </p:cNvCxnSpPr>
            <p:nvPr/>
          </p:nvCxnSpPr>
          <p:spPr>
            <a:xfrm rot="5400000">
              <a:off x="4670236" y="2548883"/>
              <a:ext cx="545645" cy="230587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exão: Ângulo Reto 9">
              <a:extLst>
                <a:ext uri="{FF2B5EF4-FFF2-40B4-BE49-F238E27FC236}">
                  <a16:creationId xmlns:a16="http://schemas.microsoft.com/office/drawing/2014/main" id="{814CBF3F-90FB-A61F-D08B-95B27BF13F8E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rot="16200000" flipH="1">
              <a:off x="7032435" y="2492561"/>
              <a:ext cx="545644" cy="241852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3A43781-9A5D-4B22-24BA-2E1F9A456F4E}"/>
              </a:ext>
            </a:extLst>
          </p:cNvPr>
          <p:cNvSpPr txBox="1"/>
          <p:nvPr/>
        </p:nvSpPr>
        <p:spPr>
          <a:xfrm>
            <a:off x="827617" y="4992995"/>
            <a:ext cx="2133600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2400" dirty="0"/>
              <a:t>Training data </a:t>
            </a:r>
          </a:p>
          <a:p>
            <a:pPr algn="ctr"/>
            <a:r>
              <a:rPr lang="pt-PT" sz="2400" dirty="0"/>
              <a:t>(e.g. 80%)</a:t>
            </a:r>
            <a:endParaRPr lang="en-US" sz="2400" dirty="0"/>
          </a:p>
        </p:txBody>
      </p:sp>
      <p:cxnSp>
        <p:nvCxnSpPr>
          <p:cNvPr id="15" name="Conexão: Ângulo Reto 14">
            <a:extLst>
              <a:ext uri="{FF2B5EF4-FFF2-40B4-BE49-F238E27FC236}">
                <a16:creationId xmlns:a16="http://schemas.microsoft.com/office/drawing/2014/main" id="{E68BE712-FBBE-43AE-0679-B1C924F3BE8B}"/>
              </a:ext>
            </a:extLst>
          </p:cNvPr>
          <p:cNvCxnSpPr>
            <a:stCxn id="8" idx="2"/>
            <a:endCxn id="13" idx="0"/>
          </p:cNvCxnSpPr>
          <p:nvPr/>
        </p:nvCxnSpPr>
        <p:spPr>
          <a:xfrm rot="5400000">
            <a:off x="2585002" y="3837681"/>
            <a:ext cx="464730" cy="18458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F6E3A4B-3875-9005-058C-957F23949EBD}"/>
              </a:ext>
            </a:extLst>
          </p:cNvPr>
          <p:cNvSpPr txBox="1"/>
          <p:nvPr/>
        </p:nvSpPr>
        <p:spPr>
          <a:xfrm>
            <a:off x="4016261" y="4988954"/>
            <a:ext cx="2305879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2400" dirty="0" err="1"/>
              <a:t>Validation</a:t>
            </a:r>
            <a:r>
              <a:rPr lang="pt-PT" sz="2400" dirty="0"/>
              <a:t> data </a:t>
            </a:r>
          </a:p>
          <a:p>
            <a:pPr algn="ctr"/>
            <a:r>
              <a:rPr lang="pt-PT" sz="2400" dirty="0"/>
              <a:t>(e.g. 20%)</a:t>
            </a:r>
            <a:endParaRPr lang="en-US" sz="2400" dirty="0"/>
          </a:p>
        </p:txBody>
      </p:sp>
      <p:cxnSp>
        <p:nvCxnSpPr>
          <p:cNvPr id="17" name="Conexão: Ângulo Reto 16">
            <a:extLst>
              <a:ext uri="{FF2B5EF4-FFF2-40B4-BE49-F238E27FC236}">
                <a16:creationId xmlns:a16="http://schemas.microsoft.com/office/drawing/2014/main" id="{4E96D71D-37A8-18D9-A90B-17F991B91116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 rot="16200000" flipH="1">
            <a:off x="4224414" y="4044166"/>
            <a:ext cx="460689" cy="14288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952973A-90EE-0580-FBF2-EA50744941C9}"/>
              </a:ext>
            </a:extLst>
          </p:cNvPr>
          <p:cNvSpPr txBox="1"/>
          <p:nvPr/>
        </p:nvSpPr>
        <p:spPr>
          <a:xfrm>
            <a:off x="1080261" y="6042066"/>
            <a:ext cx="516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 err="1"/>
              <a:t>Calibrate</a:t>
            </a:r>
            <a:r>
              <a:rPr lang="pt-PT" sz="2000" b="1" dirty="0"/>
              <a:t> </a:t>
            </a:r>
            <a:r>
              <a:rPr lang="pt-PT" sz="2000" b="1" dirty="0" err="1"/>
              <a:t>and</a:t>
            </a:r>
            <a:r>
              <a:rPr lang="pt-PT" sz="2000" b="1" dirty="0"/>
              <a:t> tune </a:t>
            </a:r>
            <a:r>
              <a:rPr lang="pt-PT" sz="2000" b="1" dirty="0" err="1"/>
              <a:t>the</a:t>
            </a:r>
            <a:r>
              <a:rPr lang="pt-PT" sz="2000" b="1" dirty="0"/>
              <a:t> </a:t>
            </a:r>
            <a:r>
              <a:rPr lang="pt-PT" sz="2000" b="1" dirty="0" err="1"/>
              <a:t>model</a:t>
            </a:r>
            <a:endParaRPr lang="en-US" sz="20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0D623EF-6429-7C8C-7E83-2F71E7E3B1BA}"/>
              </a:ext>
            </a:extLst>
          </p:cNvPr>
          <p:cNvSpPr txBox="1"/>
          <p:nvPr/>
        </p:nvSpPr>
        <p:spPr>
          <a:xfrm>
            <a:off x="6191434" y="6038025"/>
            <a:ext cx="51623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 err="1"/>
              <a:t>Test</a:t>
            </a:r>
            <a:r>
              <a:rPr lang="pt-PT" sz="2000" b="1" dirty="0"/>
              <a:t> </a:t>
            </a:r>
            <a:r>
              <a:rPr lang="pt-PT" sz="2000" b="1" dirty="0" err="1"/>
              <a:t>the</a:t>
            </a:r>
            <a:r>
              <a:rPr lang="pt-PT" sz="2000" b="1" dirty="0"/>
              <a:t> performance </a:t>
            </a:r>
            <a:r>
              <a:rPr lang="pt-PT" sz="2000" b="1" dirty="0" err="1"/>
              <a:t>of</a:t>
            </a:r>
            <a:r>
              <a:rPr lang="pt-PT" sz="2000" b="1" dirty="0"/>
              <a:t> </a:t>
            </a:r>
            <a:r>
              <a:rPr lang="pt-PT" sz="2000" b="1" dirty="0" err="1"/>
              <a:t>the</a:t>
            </a:r>
            <a:r>
              <a:rPr lang="pt-PT" sz="2000" b="1" dirty="0"/>
              <a:t> </a:t>
            </a:r>
            <a:r>
              <a:rPr lang="pt-PT" sz="2000" b="1" dirty="0" err="1"/>
              <a:t>model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5457832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E55C5-6677-4DCB-71FB-28062A49D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843AD76-3893-4CFF-6EC5-7074C4CDC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62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95CCE4C-AA41-89C0-3ABD-FB8C8730BC24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tuning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cross-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validation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F3B5BFE-38A4-64A3-8215-029EB714AC32}"/>
              </a:ext>
            </a:extLst>
          </p:cNvPr>
          <p:cNvSpPr txBox="1"/>
          <p:nvPr/>
        </p:nvSpPr>
        <p:spPr>
          <a:xfrm>
            <a:off x="0" y="1427159"/>
            <a:ext cx="52942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Cross-</a:t>
            </a:r>
            <a:r>
              <a:rPr lang="pt-PT" sz="2000" dirty="0" err="1"/>
              <a:t>validation</a:t>
            </a:r>
            <a:r>
              <a:rPr lang="pt-PT" sz="2000" dirty="0"/>
              <a:t> (CV) </a:t>
            </a:r>
            <a:r>
              <a:rPr lang="pt-PT" sz="2000" dirty="0" err="1"/>
              <a:t>considers</a:t>
            </a:r>
            <a:r>
              <a:rPr lang="pt-PT" sz="2000" dirty="0"/>
              <a:t> </a:t>
            </a:r>
            <a:r>
              <a:rPr lang="pt-PT" sz="2000" dirty="0" err="1"/>
              <a:t>multiple</a:t>
            </a:r>
            <a:r>
              <a:rPr lang="pt-PT" sz="2000" dirty="0"/>
              <a:t> </a:t>
            </a:r>
            <a:r>
              <a:rPr lang="pt-PT" sz="2000" dirty="0" err="1"/>
              <a:t>splits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data </a:t>
            </a:r>
            <a:r>
              <a:rPr lang="pt-PT" sz="2000" dirty="0" err="1"/>
              <a:t>into</a:t>
            </a:r>
            <a:r>
              <a:rPr lang="pt-PT" sz="2000" dirty="0"/>
              <a:t> training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validation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/>
              <a:t>K-</a:t>
            </a:r>
            <a:r>
              <a:rPr lang="pt-PT" sz="2000" dirty="0" err="1"/>
              <a:t>fold</a:t>
            </a:r>
            <a:r>
              <a:rPr lang="pt-PT" sz="2000" dirty="0"/>
              <a:t> CV: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Splits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data </a:t>
            </a:r>
            <a:r>
              <a:rPr lang="pt-PT" dirty="0" err="1"/>
              <a:t>into</a:t>
            </a:r>
            <a:r>
              <a:rPr lang="pt-PT" dirty="0"/>
              <a:t> </a:t>
            </a:r>
            <a:r>
              <a:rPr lang="pt-PT" b="1" dirty="0"/>
              <a:t>K </a:t>
            </a:r>
            <a:r>
              <a:rPr lang="pt-PT" b="1" dirty="0" err="1"/>
              <a:t>folds</a:t>
            </a:r>
            <a:endParaRPr lang="pt-PT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Train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b="1" dirty="0"/>
              <a:t>K-1 </a:t>
            </a:r>
            <a:r>
              <a:rPr lang="pt-PT" b="1" dirty="0" err="1"/>
              <a:t>folds</a:t>
            </a:r>
            <a:endParaRPr lang="pt-PT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Test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fold</a:t>
            </a:r>
            <a:r>
              <a:rPr lang="pt-PT" dirty="0"/>
              <a:t> </a:t>
            </a:r>
            <a:r>
              <a:rPr lang="pt-PT" b="1" dirty="0"/>
              <a:t>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Calculate</a:t>
            </a:r>
            <a:r>
              <a:rPr lang="pt-PT" dirty="0"/>
              <a:t> </a:t>
            </a:r>
            <a:r>
              <a:rPr lang="pt-PT" dirty="0" err="1"/>
              <a:t>errors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error </a:t>
            </a:r>
            <a:r>
              <a:rPr lang="pt-PT" dirty="0" err="1"/>
              <a:t>metrics</a:t>
            </a:r>
            <a:endParaRPr lang="pt-P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PT" dirty="0" err="1"/>
              <a:t>Repeat</a:t>
            </a:r>
            <a:r>
              <a:rPr lang="pt-PT" dirty="0"/>
              <a:t> </a:t>
            </a:r>
            <a:r>
              <a:rPr lang="pt-PT" dirty="0" err="1"/>
              <a:t>until</a:t>
            </a:r>
            <a:r>
              <a:rPr lang="pt-PT" dirty="0"/>
              <a:t> </a:t>
            </a:r>
            <a:r>
              <a:rPr lang="pt-PT" dirty="0" err="1"/>
              <a:t>all</a:t>
            </a:r>
            <a:r>
              <a:rPr lang="pt-PT" dirty="0"/>
              <a:t> </a:t>
            </a:r>
            <a:r>
              <a:rPr lang="pt-PT" dirty="0" err="1"/>
              <a:t>folds</a:t>
            </a:r>
            <a:r>
              <a:rPr lang="pt-PT" dirty="0"/>
              <a:t> </a:t>
            </a:r>
            <a:r>
              <a:rPr lang="pt-PT" dirty="0" err="1"/>
              <a:t>have</a:t>
            </a:r>
            <a:r>
              <a:rPr lang="pt-PT" dirty="0"/>
              <a:t> </a:t>
            </a:r>
            <a:r>
              <a:rPr lang="pt-PT" dirty="0" err="1"/>
              <a:t>been</a:t>
            </a:r>
            <a:r>
              <a:rPr lang="pt-PT" dirty="0"/>
              <a:t> </a:t>
            </a:r>
            <a:r>
              <a:rPr lang="pt-PT" dirty="0" err="1"/>
              <a:t>used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Tipically</a:t>
            </a:r>
            <a:r>
              <a:rPr lang="pt-PT" sz="2000" dirty="0"/>
              <a:t> </a:t>
            </a:r>
            <a:r>
              <a:rPr lang="pt-PT" sz="2000" dirty="0" err="1"/>
              <a:t>we</a:t>
            </a:r>
            <a:r>
              <a:rPr lang="pt-PT" sz="2000" dirty="0"/>
              <a:t> set  K=5 </a:t>
            </a:r>
            <a:r>
              <a:rPr lang="pt-PT" sz="2000" dirty="0" err="1"/>
              <a:t>or</a:t>
            </a:r>
            <a:r>
              <a:rPr lang="pt-PT" sz="2000" dirty="0"/>
              <a:t>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If</a:t>
            </a:r>
            <a:r>
              <a:rPr lang="pt-PT" sz="2000" dirty="0"/>
              <a:t> K=N, </a:t>
            </a:r>
            <a:r>
              <a:rPr lang="pt-PT" sz="2000" dirty="0" err="1"/>
              <a:t>we</a:t>
            </a:r>
            <a:r>
              <a:rPr lang="pt-PT" sz="2000" dirty="0"/>
              <a:t> are </a:t>
            </a:r>
            <a:r>
              <a:rPr lang="pt-PT" sz="2000" dirty="0" err="1"/>
              <a:t>using</a:t>
            </a:r>
            <a:r>
              <a:rPr lang="pt-PT" sz="2000" dirty="0"/>
              <a:t> </a:t>
            </a:r>
            <a:r>
              <a:rPr lang="pt-PT" sz="2000" dirty="0" err="1"/>
              <a:t>Leave</a:t>
            </a:r>
            <a:r>
              <a:rPr lang="pt-PT" sz="2000" dirty="0"/>
              <a:t>-</a:t>
            </a:r>
            <a:r>
              <a:rPr lang="pt-PT" sz="2000" dirty="0" err="1"/>
              <a:t>One</a:t>
            </a:r>
            <a:r>
              <a:rPr lang="pt-PT" sz="2000" dirty="0"/>
              <a:t>-Out-CV (LOOCV)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DAA2B9F-CA1C-497E-7A1B-05A3E95BF3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5" r="29011" b="10979"/>
          <a:stretch>
            <a:fillRect/>
          </a:stretch>
        </p:blipFill>
        <p:spPr bwMode="auto">
          <a:xfrm>
            <a:off x="5495908" y="955823"/>
            <a:ext cx="6237912" cy="484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5543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A971F-B4BE-F1B5-7D6E-1E4BA2CD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1F943FF-1697-E60A-2EDF-B7207FB8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63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B30A6FA-9130-BB67-3E34-970E2B610953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tuning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cross-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validation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in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scikit-learn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25D2E37-AAD5-ABFA-B676-F6BE897D8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48" y="758826"/>
            <a:ext cx="10798556" cy="517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520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15D8D-D5D1-FEF7-0AC4-5867D848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76003CD-687D-0F72-7DB7-8AB7DA7A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64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841B2181-E0A1-1CFD-4DA9-02F653B9A07B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tuning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cross-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validation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hyper-parameters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485F68D-9C6E-B66A-C5E2-15558314F842}"/>
              </a:ext>
            </a:extLst>
          </p:cNvPr>
          <p:cNvSpPr txBox="1"/>
          <p:nvPr/>
        </p:nvSpPr>
        <p:spPr>
          <a:xfrm>
            <a:off x="0" y="645692"/>
            <a:ext cx="121919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We</a:t>
            </a:r>
            <a:r>
              <a:rPr lang="pt-PT" dirty="0"/>
              <a:t> can use CV as a </a:t>
            </a:r>
            <a:r>
              <a:rPr lang="pt-PT" dirty="0" err="1"/>
              <a:t>measure</a:t>
            </a:r>
            <a:r>
              <a:rPr lang="pt-PT" dirty="0"/>
              <a:t> for </a:t>
            </a:r>
            <a:r>
              <a:rPr lang="pt-PT" dirty="0" err="1"/>
              <a:t>model</a:t>
            </a:r>
            <a:r>
              <a:rPr lang="pt-PT" dirty="0"/>
              <a:t> </a:t>
            </a:r>
            <a:r>
              <a:rPr lang="pt-PT" dirty="0" err="1"/>
              <a:t>generalization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We</a:t>
            </a:r>
            <a:r>
              <a:rPr lang="pt-PT" dirty="0"/>
              <a:t> can </a:t>
            </a:r>
            <a:r>
              <a:rPr lang="pt-PT" dirty="0" err="1"/>
              <a:t>search</a:t>
            </a:r>
            <a:r>
              <a:rPr lang="pt-PT" dirty="0"/>
              <a:t> for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model</a:t>
            </a:r>
            <a:r>
              <a:rPr lang="pt-PT" dirty="0"/>
              <a:t> (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pre-processing</a:t>
            </a:r>
            <a:r>
              <a:rPr lang="pt-PT" dirty="0"/>
              <a:t>) </a:t>
            </a:r>
            <a:r>
              <a:rPr lang="pt-PT" dirty="0" err="1"/>
              <a:t>hyper-parameters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lead to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b="1" dirty="0" err="1"/>
              <a:t>lowest</a:t>
            </a:r>
            <a:r>
              <a:rPr lang="pt-PT" b="1" dirty="0"/>
              <a:t> CV error</a:t>
            </a:r>
          </a:p>
          <a:p>
            <a:endParaRPr lang="pt-PT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B741C55-6B09-2D9B-42DA-AC0AD327E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30" y="1781838"/>
            <a:ext cx="5543550" cy="41719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708D977-3CFA-C705-94D4-CCFCD7E3D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780" y="1781838"/>
            <a:ext cx="562927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918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9C7DE-E720-0AB1-4E11-72F71116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14C0D32-6067-1682-F460-22D84717E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65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1D63B7C-65E2-CE5B-D425-48071B9F045F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tuning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hyper-parameters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pic>
        <p:nvPicPr>
          <p:cNvPr id="1028" name="Picture 4" descr="Grid Search Workflow">
            <a:extLst>
              <a:ext uri="{FF2B5EF4-FFF2-40B4-BE49-F238E27FC236}">
                <a16:creationId xmlns:a16="http://schemas.microsoft.com/office/drawing/2014/main" id="{3BF28767-8EB6-126D-6D15-2374C090D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782" y="2101158"/>
            <a:ext cx="5751444" cy="385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F763C75-5A03-7584-05B5-E4440EEEB4A0}"/>
              </a:ext>
            </a:extLst>
          </p:cNvPr>
          <p:cNvSpPr txBox="1"/>
          <p:nvPr/>
        </p:nvSpPr>
        <p:spPr>
          <a:xfrm>
            <a:off x="5" y="672542"/>
            <a:ext cx="12191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We</a:t>
            </a:r>
            <a:r>
              <a:rPr lang="pt-PT" dirty="0"/>
              <a:t> </a:t>
            </a:r>
            <a:r>
              <a:rPr lang="pt-PT" dirty="0" err="1"/>
              <a:t>want</a:t>
            </a:r>
            <a:r>
              <a:rPr lang="pt-PT" dirty="0"/>
              <a:t> to </a:t>
            </a:r>
            <a:r>
              <a:rPr lang="pt-PT" dirty="0" err="1"/>
              <a:t>search</a:t>
            </a:r>
            <a:r>
              <a:rPr lang="pt-PT" dirty="0"/>
              <a:t> for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optimal</a:t>
            </a:r>
            <a:r>
              <a:rPr lang="pt-PT" dirty="0"/>
              <a:t> </a:t>
            </a:r>
            <a:r>
              <a:rPr lang="pt-PT" dirty="0" err="1"/>
              <a:t>hyper-parameters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minimize a CV </a:t>
            </a:r>
            <a:r>
              <a:rPr lang="pt-PT" dirty="0" err="1"/>
              <a:t>metric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How</a:t>
            </a:r>
            <a:r>
              <a:rPr lang="pt-PT" dirty="0"/>
              <a:t> can </a:t>
            </a:r>
            <a:r>
              <a:rPr lang="pt-PT" dirty="0" err="1"/>
              <a:t>we</a:t>
            </a:r>
            <a:r>
              <a:rPr lang="pt-PT" dirty="0"/>
              <a:t> do </a:t>
            </a: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b="1" dirty="0" err="1"/>
              <a:t>easily</a:t>
            </a:r>
            <a:r>
              <a:rPr lang="pt-PT" dirty="0"/>
              <a:t>,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b="1" dirty="0"/>
              <a:t>minimal </a:t>
            </a:r>
            <a:r>
              <a:rPr lang="pt-PT" b="1" dirty="0" err="1"/>
              <a:t>code</a:t>
            </a:r>
            <a:r>
              <a:rPr lang="pt-PT" dirty="0"/>
              <a:t> for </a:t>
            </a:r>
            <a:r>
              <a:rPr lang="pt-PT" dirty="0" err="1"/>
              <a:t>multiple</a:t>
            </a:r>
            <a:r>
              <a:rPr lang="pt-PT" dirty="0"/>
              <a:t> </a:t>
            </a:r>
            <a:r>
              <a:rPr lang="pt-PT" dirty="0" err="1"/>
              <a:t>models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b="1" dirty="0" err="1"/>
              <a:t>multiple</a:t>
            </a:r>
            <a:r>
              <a:rPr lang="pt-PT" b="1" dirty="0"/>
              <a:t> sets </a:t>
            </a:r>
            <a:r>
              <a:rPr lang="pt-PT" b="1" dirty="0" err="1"/>
              <a:t>of</a:t>
            </a:r>
            <a:r>
              <a:rPr lang="pt-PT" b="1" dirty="0"/>
              <a:t> </a:t>
            </a:r>
            <a:r>
              <a:rPr lang="pt-PT" b="1" dirty="0" err="1"/>
              <a:t>hyper-parameters</a:t>
            </a:r>
            <a:r>
              <a:rPr lang="pt-PT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29627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B385A-AEF7-CBB2-7674-A6BDDAEA1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9347737-75A9-80DA-278B-417BFB4F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66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100F070-E916-5262-FE7B-5ED93688AAAD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tuning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hyper-parameter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selection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6036B5-7E5C-B8DC-4569-CBF19F8940EC}"/>
              </a:ext>
            </a:extLst>
          </p:cNvPr>
          <p:cNvSpPr txBox="1"/>
          <p:nvPr/>
        </p:nvSpPr>
        <p:spPr>
          <a:xfrm>
            <a:off x="8176591" y="1702906"/>
            <a:ext cx="37834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Scikit-learn’s</a:t>
            </a:r>
            <a:r>
              <a:rPr lang="pt-PT" sz="2000" dirty="0"/>
              <a:t> </a:t>
            </a:r>
            <a:r>
              <a:rPr lang="pt-PT" sz="2000" dirty="0" err="1"/>
              <a:t>GridSearchCV</a:t>
            </a:r>
            <a:r>
              <a:rPr lang="pt-PT" sz="2000" dirty="0"/>
              <a:t> </a:t>
            </a:r>
            <a:r>
              <a:rPr lang="pt-PT" sz="2000" dirty="0" err="1"/>
              <a:t>offers</a:t>
            </a:r>
            <a:r>
              <a:rPr lang="pt-PT" sz="2000" dirty="0"/>
              <a:t> a </a:t>
            </a:r>
            <a:r>
              <a:rPr lang="pt-PT" sz="2000" dirty="0" err="1"/>
              <a:t>very</a:t>
            </a:r>
            <a:r>
              <a:rPr lang="pt-PT" sz="2000" dirty="0"/>
              <a:t> </a:t>
            </a:r>
            <a:r>
              <a:rPr lang="pt-PT" sz="2000" dirty="0" err="1"/>
              <a:t>convenient</a:t>
            </a:r>
            <a:r>
              <a:rPr lang="pt-PT" sz="2000" dirty="0"/>
              <a:t> </a:t>
            </a:r>
            <a:r>
              <a:rPr lang="pt-PT" sz="2000" dirty="0" err="1"/>
              <a:t>method</a:t>
            </a:r>
            <a:r>
              <a:rPr lang="pt-PT" sz="2000" dirty="0"/>
              <a:t> to </a:t>
            </a:r>
            <a:r>
              <a:rPr lang="pt-PT" sz="2000" dirty="0" err="1"/>
              <a:t>search</a:t>
            </a:r>
            <a:r>
              <a:rPr lang="pt-PT" sz="2000" dirty="0"/>
              <a:t> </a:t>
            </a:r>
            <a:r>
              <a:rPr lang="pt-PT" sz="2000" dirty="0" err="1"/>
              <a:t>over</a:t>
            </a:r>
            <a:r>
              <a:rPr lang="pt-PT" sz="2000" dirty="0"/>
              <a:t> a </a:t>
            </a:r>
            <a:r>
              <a:rPr lang="pt-PT" sz="2000" dirty="0" err="1"/>
              <a:t>grid</a:t>
            </a:r>
            <a:r>
              <a:rPr lang="pt-PT" sz="2000" dirty="0"/>
              <a:t> </a:t>
            </a:r>
            <a:r>
              <a:rPr lang="pt-PT" sz="2000" dirty="0" err="1"/>
              <a:t>of</a:t>
            </a:r>
            <a:r>
              <a:rPr lang="pt-PT" sz="2000" dirty="0"/>
              <a:t> </a:t>
            </a:r>
            <a:r>
              <a:rPr lang="pt-PT" sz="2000" dirty="0" err="1"/>
              <a:t>hyper-parameters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The</a:t>
            </a:r>
            <a:r>
              <a:rPr lang="pt-PT" sz="2000" dirty="0"/>
              <a:t> final </a:t>
            </a:r>
            <a:r>
              <a:rPr lang="pt-PT" sz="2000" dirty="0" err="1"/>
              <a:t>model</a:t>
            </a:r>
            <a:r>
              <a:rPr lang="pt-PT" sz="2000" dirty="0"/>
              <a:t> can </a:t>
            </a:r>
            <a:r>
              <a:rPr lang="pt-PT" sz="2000" dirty="0" err="1"/>
              <a:t>be</a:t>
            </a:r>
            <a:r>
              <a:rPr lang="pt-PT" sz="2000" dirty="0"/>
              <a:t> </a:t>
            </a:r>
            <a:r>
              <a:rPr lang="pt-PT" sz="2000" dirty="0" err="1"/>
              <a:t>easily</a:t>
            </a:r>
            <a:r>
              <a:rPr lang="pt-PT" sz="2000" dirty="0"/>
              <a:t> </a:t>
            </a:r>
            <a:r>
              <a:rPr lang="pt-PT" sz="2000" dirty="0" err="1"/>
              <a:t>extracted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used</a:t>
            </a:r>
            <a:r>
              <a:rPr lang="pt-PT" sz="2000" dirty="0"/>
              <a:t> for </a:t>
            </a:r>
            <a:r>
              <a:rPr lang="pt-PT" sz="2000" dirty="0" err="1"/>
              <a:t>predictions</a:t>
            </a:r>
            <a:r>
              <a:rPr lang="pt-PT" sz="2000" dirty="0"/>
              <a:t> </a:t>
            </a:r>
            <a:r>
              <a:rPr lang="pt-PT" sz="2000" dirty="0" err="1"/>
              <a:t>and</a:t>
            </a:r>
            <a:r>
              <a:rPr lang="pt-PT" sz="2000" dirty="0"/>
              <a:t> </a:t>
            </a:r>
            <a:r>
              <a:rPr lang="pt-PT" sz="2000" dirty="0" err="1"/>
              <a:t>deployment</a:t>
            </a:r>
            <a:endParaRPr lang="pt-PT" sz="2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16E2B66-1DF5-B6F5-2F17-CC0AC7C7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8" y="625613"/>
            <a:ext cx="7826418" cy="573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107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F164-E45F-0C0B-90C7-124490A5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11CE076-BE52-EAAB-55C8-4FA0C87F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67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7606DDE-8F49-1BC7-29CA-B5AAE3692E6B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Model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tuning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–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hyper-parameter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selection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EEAA0DD-2164-5CD1-8CDC-582CE1D19B33}"/>
              </a:ext>
            </a:extLst>
          </p:cNvPr>
          <p:cNvSpPr txBox="1"/>
          <p:nvPr/>
        </p:nvSpPr>
        <p:spPr>
          <a:xfrm>
            <a:off x="7156174" y="1745954"/>
            <a:ext cx="50358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What</a:t>
            </a:r>
            <a:r>
              <a:rPr lang="pt-PT" sz="2000" dirty="0"/>
              <a:t> </a:t>
            </a:r>
            <a:r>
              <a:rPr lang="pt-PT" sz="2000" dirty="0" err="1"/>
              <a:t>about</a:t>
            </a:r>
            <a:r>
              <a:rPr lang="pt-PT" sz="2000" dirty="0"/>
              <a:t> </a:t>
            </a:r>
            <a:r>
              <a:rPr lang="pt-PT" sz="2000" dirty="0" err="1"/>
              <a:t>pre-processing</a:t>
            </a:r>
            <a:r>
              <a:rPr lang="pt-PT" sz="2000" dirty="0"/>
              <a:t> </a:t>
            </a:r>
            <a:r>
              <a:rPr lang="pt-PT" sz="2000" dirty="0" err="1"/>
              <a:t>hyper-parameters</a:t>
            </a:r>
            <a:r>
              <a:rPr lang="pt-PT" sz="20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There</a:t>
            </a:r>
            <a:r>
              <a:rPr lang="pt-PT" sz="2000" dirty="0"/>
              <a:t> </a:t>
            </a:r>
            <a:r>
              <a:rPr lang="pt-PT" sz="2000" dirty="0" err="1"/>
              <a:t>is</a:t>
            </a:r>
            <a:r>
              <a:rPr lang="pt-PT" sz="2000" dirty="0"/>
              <a:t> a </a:t>
            </a:r>
            <a:r>
              <a:rPr lang="pt-PT" sz="2000" dirty="0" err="1"/>
              <a:t>caveat</a:t>
            </a:r>
            <a:r>
              <a:rPr lang="pt-PT" sz="2000" dirty="0"/>
              <a:t> to define </a:t>
            </a:r>
            <a:r>
              <a:rPr lang="pt-PT" sz="2000" dirty="0" err="1"/>
              <a:t>the</a:t>
            </a:r>
            <a:r>
              <a:rPr lang="pt-PT" sz="2000" dirty="0"/>
              <a:t> SG </a:t>
            </a:r>
            <a:r>
              <a:rPr lang="pt-PT" sz="2000" dirty="0" err="1"/>
              <a:t>filter</a:t>
            </a:r>
            <a:r>
              <a:rPr lang="pt-PT" sz="2000" dirty="0"/>
              <a:t>: a </a:t>
            </a:r>
            <a:r>
              <a:rPr lang="pt-PT" sz="2000" dirty="0" err="1"/>
              <a:t>custom</a:t>
            </a:r>
            <a:r>
              <a:rPr lang="pt-PT" sz="2000" dirty="0"/>
              <a:t> </a:t>
            </a:r>
            <a:r>
              <a:rPr lang="pt-PT" sz="2000" dirty="0" err="1"/>
              <a:t>class</a:t>
            </a:r>
            <a:r>
              <a:rPr lang="pt-PT" sz="2000" dirty="0"/>
              <a:t> </a:t>
            </a:r>
            <a:r>
              <a:rPr lang="pt-PT" sz="2000" dirty="0" err="1"/>
              <a:t>has</a:t>
            </a:r>
            <a:r>
              <a:rPr lang="pt-PT" sz="2000" dirty="0"/>
              <a:t> to </a:t>
            </a:r>
            <a:r>
              <a:rPr lang="pt-PT" sz="2000" dirty="0" err="1"/>
              <a:t>be</a:t>
            </a:r>
            <a:r>
              <a:rPr lang="pt-PT" sz="2000" dirty="0"/>
              <a:t> </a:t>
            </a:r>
            <a:r>
              <a:rPr lang="pt-PT" sz="2000" dirty="0" err="1"/>
              <a:t>created</a:t>
            </a: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000" dirty="0" err="1"/>
              <a:t>This</a:t>
            </a:r>
            <a:r>
              <a:rPr lang="pt-PT" sz="2000" dirty="0"/>
              <a:t> </a:t>
            </a:r>
            <a:r>
              <a:rPr lang="pt-PT" sz="2000" dirty="0" err="1"/>
              <a:t>class</a:t>
            </a:r>
            <a:r>
              <a:rPr lang="pt-PT" sz="2000" dirty="0"/>
              <a:t> </a:t>
            </a:r>
            <a:r>
              <a:rPr lang="pt-PT" sz="2000" dirty="0" err="1"/>
              <a:t>was</a:t>
            </a:r>
            <a:r>
              <a:rPr lang="pt-PT" sz="2000" dirty="0"/>
              <a:t> </a:t>
            </a:r>
            <a:r>
              <a:rPr lang="pt-PT" sz="2000" dirty="0" err="1"/>
              <a:t>already</a:t>
            </a:r>
            <a:r>
              <a:rPr lang="pt-PT" sz="2000" dirty="0"/>
              <a:t> </a:t>
            </a:r>
            <a:r>
              <a:rPr lang="pt-PT" sz="2000" dirty="0" err="1"/>
              <a:t>created</a:t>
            </a:r>
            <a:r>
              <a:rPr lang="pt-PT" sz="2000" dirty="0"/>
              <a:t> for </a:t>
            </a:r>
            <a:r>
              <a:rPr lang="pt-PT" sz="2000" dirty="0" err="1"/>
              <a:t>you</a:t>
            </a:r>
            <a:r>
              <a:rPr lang="pt-PT" sz="2000" dirty="0"/>
              <a:t> in a </a:t>
            </a:r>
            <a:r>
              <a:rPr lang="pt-PT" sz="2000" dirty="0" err="1"/>
              <a:t>separate</a:t>
            </a:r>
            <a:r>
              <a:rPr lang="pt-PT" sz="2000" dirty="0"/>
              <a:t> file (</a:t>
            </a:r>
            <a:r>
              <a:rPr lang="pt-PT" sz="2000" dirty="0" err="1"/>
              <a:t>custom_sv_filter</a:t>
            </a:r>
            <a:r>
              <a:rPr lang="pt-PT" sz="2000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01B2F61-A778-B2D0-714A-183BC1D62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27" y="471336"/>
            <a:ext cx="5784574" cy="628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26190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652EB-5E50-BA93-431D-FEE878F09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1611A-B9E0-B07F-F2C8-A175CEBC8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2161" y="2999211"/>
            <a:ext cx="9087678" cy="859577"/>
          </a:xfrm>
          <a:solidFill>
            <a:schemeClr val="tx2">
              <a:lumMod val="50000"/>
              <a:lumOff val="50000"/>
            </a:schemeClr>
          </a:solidFill>
        </p:spPr>
        <p:txBody>
          <a:bodyPr>
            <a:noAutofit/>
          </a:bodyPr>
          <a:lstStyle/>
          <a:p>
            <a:r>
              <a:rPr lang="pt-PT" sz="4800" b="1" dirty="0">
                <a:solidFill>
                  <a:schemeClr val="bg1"/>
                </a:solidFill>
              </a:rPr>
              <a:t>Extra material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38296330-5610-1638-CA48-884BB1AE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8006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5EA0D-1D6A-022D-E605-5A514476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90A3DB1-8C0F-8DC4-8778-D929F46B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69</a:t>
            </a:fld>
            <a:endParaRPr lang="en-GB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235EF262-0F0A-0E05-2B9F-862250EBB237}"/>
              </a:ext>
            </a:extLst>
          </p:cNvPr>
          <p:cNvSpPr txBox="1"/>
          <p:nvPr/>
        </p:nvSpPr>
        <p:spPr>
          <a:xfrm>
            <a:off x="0" y="0"/>
            <a:ext cx="12191996" cy="47133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Extra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materials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and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learning</a:t>
            </a:r>
            <a:r>
              <a:rPr lang="pt-PT" sz="2800" b="1" dirty="0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 </a:t>
            </a:r>
            <a:r>
              <a:rPr lang="pt-PT" sz="2800" b="1" dirty="0" err="1">
                <a:solidFill>
                  <a:schemeClr val="bg1"/>
                </a:solidFill>
                <a:latin typeface="Calibri Light"/>
                <a:ea typeface="Arrus BT Roman"/>
                <a:cs typeface="Arrus BT Roman"/>
              </a:rPr>
              <a:t>resources</a:t>
            </a:r>
            <a:endParaRPr lang="en-US" sz="2800" b="1" dirty="0">
              <a:solidFill>
                <a:schemeClr val="bg1"/>
              </a:solidFill>
              <a:latin typeface="Calibri Light"/>
              <a:ea typeface="Arrus BT Roman"/>
              <a:cs typeface="Arrus BT Roman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567D24-47AD-06B6-F57E-81FEC885E03F}"/>
              </a:ext>
            </a:extLst>
          </p:cNvPr>
          <p:cNvSpPr txBox="1"/>
          <p:nvPr/>
        </p:nvSpPr>
        <p:spPr>
          <a:xfrm>
            <a:off x="-4" y="471336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Other chemometric toolboxes: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Chemometrics toolbox </a:t>
            </a:r>
            <a:r>
              <a:rPr lang="en-US" dirty="0">
                <a:hlinkClick r:id="rId2"/>
              </a:rPr>
              <a:t>https://chemometrics.readthedocs.io/en/stable/index.html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Further reading materials/technical blog: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285750" indent="-285750">
              <a:buFontTx/>
              <a:buChar char="-"/>
            </a:pPr>
            <a:r>
              <a:rPr lang="en-US" dirty="0">
                <a:hlinkClick r:id="rId3"/>
              </a:rPr>
              <a:t>https://nirpyresearch.com/</a:t>
            </a:r>
            <a:r>
              <a:rPr lang="en-US" dirty="0"/>
              <a:t> - all things spectra related (data processing, analysis, modeling)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137603B-C934-EC4D-FCE8-39B6981FC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601" y="4474781"/>
            <a:ext cx="5997708" cy="164590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F78616-06C7-6B52-2218-11F3F9C75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0978" y="1590849"/>
            <a:ext cx="6278955" cy="211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8223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63D542-4491-B0D8-77C0-550101C612AE}"/>
              </a:ext>
            </a:extLst>
          </p:cNvPr>
          <p:cNvSpPr txBox="1"/>
          <p:nvPr/>
        </p:nvSpPr>
        <p:spPr>
          <a:xfrm>
            <a:off x="1062754" y="420877"/>
            <a:ext cx="100664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800" b="1" dirty="0" err="1"/>
              <a:t>CInTech</a:t>
            </a:r>
            <a:r>
              <a:rPr lang="pt-PT" sz="2800" b="1" dirty="0"/>
              <a:t>: Polo Tecnológico de Inovação, Translação e Industrialização de Medicamentos Injetáveis Complexos</a:t>
            </a:r>
          </a:p>
          <a:p>
            <a:pPr algn="ctr"/>
            <a:r>
              <a:rPr lang="pt-PT" sz="2000" dirty="0"/>
              <a:t>Projeto nº 30 – Referência 7131</a:t>
            </a:r>
          </a:p>
          <a:p>
            <a:pPr algn="ctr"/>
            <a:r>
              <a:rPr lang="pt-PT" sz="2000" dirty="0"/>
              <a:t>(Código do projeto: C644865576-00000005)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787D1A3-13F5-E7E6-2152-9F4D81124F34}"/>
              </a:ext>
            </a:extLst>
          </p:cNvPr>
          <p:cNvGrpSpPr/>
          <p:nvPr/>
        </p:nvGrpSpPr>
        <p:grpSpPr>
          <a:xfrm>
            <a:off x="2416697" y="2438400"/>
            <a:ext cx="7757878" cy="1298663"/>
            <a:chOff x="2416697" y="2438400"/>
            <a:chExt cx="7757878" cy="1298663"/>
          </a:xfrm>
        </p:grpSpPr>
        <p:pic>
          <p:nvPicPr>
            <p:cNvPr id="5" name="Imagem 4" descr="Uma imagem com texto, captura de ecrã, Tipo de letra, Gráficos&#10;&#10;Descrição gerada automaticamente">
              <a:extLst>
                <a:ext uri="{FF2B5EF4-FFF2-40B4-BE49-F238E27FC236}">
                  <a16:creationId xmlns:a16="http://schemas.microsoft.com/office/drawing/2014/main" id="{5FADB310-CD41-AFCE-BCC9-3790B446E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2117" y="2758276"/>
              <a:ext cx="6052458" cy="873677"/>
            </a:xfrm>
            <a:prstGeom prst="rect">
              <a:avLst/>
            </a:prstGeom>
          </p:spPr>
        </p:pic>
        <p:pic>
          <p:nvPicPr>
            <p:cNvPr id="14" name="Imagem 13" descr="Uma imagem com Gráficos, design gráfico, Tipo de letra, captura de ecrã&#10;&#10;Descrição gerada automaticamente">
              <a:extLst>
                <a:ext uri="{FF2B5EF4-FFF2-40B4-BE49-F238E27FC236}">
                  <a16:creationId xmlns:a16="http://schemas.microsoft.com/office/drawing/2014/main" id="{033CE8B3-B1B0-C7CC-EE64-03736F371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6697" y="2438400"/>
              <a:ext cx="1453727" cy="1298663"/>
            </a:xfrm>
            <a:prstGeom prst="rect">
              <a:avLst/>
            </a:prstGeom>
          </p:spPr>
        </p:pic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589AAAFC-ADF4-E9A8-BB0D-3ADEBF8FE112}"/>
              </a:ext>
            </a:extLst>
          </p:cNvPr>
          <p:cNvSpPr txBox="1"/>
          <p:nvPr/>
        </p:nvSpPr>
        <p:spPr>
          <a:xfrm>
            <a:off x="829452" y="4345577"/>
            <a:ext cx="10239928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600" dirty="0"/>
              <a:t>Projeto </a:t>
            </a:r>
            <a:r>
              <a:rPr lang="pt-PT" sz="1600" dirty="0" err="1"/>
              <a:t>Cintech</a:t>
            </a:r>
            <a:r>
              <a:rPr lang="pt-PT" sz="1600" dirty="0"/>
              <a:t> com a referência 7131 financiado pelo PRR - Plano de Recuperação e Resiliência e pelos Fundos Europeus </a:t>
            </a:r>
            <a:r>
              <a:rPr lang="pt-PT" sz="1600" dirty="0" err="1"/>
              <a:t>Next</a:t>
            </a:r>
            <a:r>
              <a:rPr lang="pt-PT" sz="1600" dirty="0"/>
              <a:t> </a:t>
            </a:r>
            <a:r>
              <a:rPr lang="pt-PT" sz="1600" dirty="0" err="1"/>
              <a:t>Generation</a:t>
            </a:r>
            <a:r>
              <a:rPr lang="pt-PT" sz="1600" dirty="0"/>
              <a:t> EU, na sequência do AVISO N.º 02/C05-i01/2022, Componente 5 – Capitalização e Inovação Empresarial - Agendas Mobilizadoras para a Inovação Empresarial</a:t>
            </a:r>
            <a:endParaRPr lang="en-GB" sz="1600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FDB118B-C0BB-BE4A-3749-722BEA6E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C34FA-8BA3-450A-B660-F3EE90DBB46D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766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2345</TotalTime>
  <Words>3230</Words>
  <Application>Microsoft Office PowerPoint</Application>
  <PresentationFormat>Ecrã Panorâmico</PresentationFormat>
  <Paragraphs>695</Paragraphs>
  <Slides>70</Slides>
  <Notes>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70</vt:i4>
      </vt:variant>
    </vt:vector>
  </HeadingPairs>
  <TitlesOfParts>
    <vt:vector size="75" baseType="lpstr">
      <vt:lpstr>Aptos</vt:lpstr>
      <vt:lpstr>Aptos Display</vt:lpstr>
      <vt:lpstr>Arial</vt:lpstr>
      <vt:lpstr>Calibri Light</vt:lpstr>
      <vt:lpstr>Tema do Office</vt:lpstr>
      <vt:lpstr>AI &amp; ML for Process Analytical Technology using Python  Day 3:  Modeling for PAT with Python</vt:lpstr>
      <vt:lpstr>Apresentação do PowerPoint</vt:lpstr>
      <vt:lpstr>Apresentação do PowerPoint</vt:lpstr>
      <vt:lpstr>Part 1: Introduction to PAT</vt:lpstr>
      <vt:lpstr>Apresentação do PowerPoint</vt:lpstr>
      <vt:lpstr>Apresentação do PowerPoint</vt:lpstr>
      <vt:lpstr>Part 2: Linear regression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Part 3: Spectroscopic data modeling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Part 4: Model tuning, validation and assessment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Extra material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Reis</dc:creator>
  <cp:lastModifiedBy>João Coutinho</cp:lastModifiedBy>
  <cp:revision>59</cp:revision>
  <dcterms:created xsi:type="dcterms:W3CDTF">2024-10-03T14:59:30Z</dcterms:created>
  <dcterms:modified xsi:type="dcterms:W3CDTF">2025-06-24T18:01:19Z</dcterms:modified>
</cp:coreProperties>
</file>