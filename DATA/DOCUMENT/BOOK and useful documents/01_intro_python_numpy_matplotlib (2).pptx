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6"/>
  </p:notesMasterIdLst>
  <p:handoutMasterIdLst>
    <p:handoutMasterId r:id="rId57"/>
  </p:handoutMasterIdLst>
  <p:sldIdLst>
    <p:sldId id="258" r:id="rId2"/>
    <p:sldId id="264" r:id="rId3"/>
    <p:sldId id="303" r:id="rId4"/>
    <p:sldId id="272" r:id="rId5"/>
    <p:sldId id="257" r:id="rId6"/>
    <p:sldId id="260" r:id="rId7"/>
    <p:sldId id="305" r:id="rId8"/>
    <p:sldId id="263" r:id="rId9"/>
    <p:sldId id="310" r:id="rId10"/>
    <p:sldId id="312" r:id="rId11"/>
    <p:sldId id="259" r:id="rId12"/>
    <p:sldId id="315" r:id="rId13"/>
    <p:sldId id="314" r:id="rId14"/>
    <p:sldId id="304" r:id="rId15"/>
    <p:sldId id="306" r:id="rId16"/>
    <p:sldId id="313" r:id="rId17"/>
    <p:sldId id="308" r:id="rId18"/>
    <p:sldId id="316" r:id="rId19"/>
    <p:sldId id="309" r:id="rId20"/>
    <p:sldId id="307" r:id="rId21"/>
    <p:sldId id="311" r:id="rId22"/>
    <p:sldId id="295" r:id="rId23"/>
    <p:sldId id="265" r:id="rId24"/>
    <p:sldId id="262" r:id="rId25"/>
    <p:sldId id="266" r:id="rId26"/>
    <p:sldId id="267" r:id="rId27"/>
    <p:sldId id="268" r:id="rId28"/>
    <p:sldId id="269" r:id="rId29"/>
    <p:sldId id="270" r:id="rId30"/>
    <p:sldId id="271" r:id="rId31"/>
    <p:sldId id="274" r:id="rId32"/>
    <p:sldId id="275" r:id="rId33"/>
    <p:sldId id="273" r:id="rId34"/>
    <p:sldId id="276" r:id="rId35"/>
    <p:sldId id="277" r:id="rId36"/>
    <p:sldId id="296" r:id="rId37"/>
    <p:sldId id="297" r:id="rId38"/>
    <p:sldId id="278" r:id="rId39"/>
    <p:sldId id="279" r:id="rId40"/>
    <p:sldId id="300" r:id="rId41"/>
    <p:sldId id="280" r:id="rId42"/>
    <p:sldId id="282" r:id="rId43"/>
    <p:sldId id="302" r:id="rId44"/>
    <p:sldId id="285" r:id="rId45"/>
    <p:sldId id="286" r:id="rId46"/>
    <p:sldId id="298" r:id="rId47"/>
    <p:sldId id="299" r:id="rId48"/>
    <p:sldId id="287" r:id="rId49"/>
    <p:sldId id="288" r:id="rId50"/>
    <p:sldId id="289" r:id="rId51"/>
    <p:sldId id="290" r:id="rId52"/>
    <p:sldId id="301" r:id="rId53"/>
    <p:sldId id="293" r:id="rId54"/>
    <p:sldId id="256" r:id="rId5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5033" autoAdjust="0"/>
  </p:normalViewPr>
  <p:slideViewPr>
    <p:cSldViewPr snapToGrid="0">
      <p:cViewPr varScale="1">
        <p:scale>
          <a:sx n="121" d="100"/>
          <a:sy n="121" d="100"/>
        </p:scale>
        <p:origin x="461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>
            <a:extLst>
              <a:ext uri="{FF2B5EF4-FFF2-40B4-BE49-F238E27FC236}">
                <a16:creationId xmlns:a16="http://schemas.microsoft.com/office/drawing/2014/main" id="{1AAF8FC1-9F2E-6C7B-FA69-25E670D61F4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F9532E8F-20B7-F499-3C1F-9E06E6F114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40E4DD-3AD8-40E4-B55D-89B4A297E844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E57D8FE7-5924-AAF4-919A-FC4EA5A9BBA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037ECCE5-91BB-D8DF-6D05-509E88987CD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5173A8-807E-42E6-8785-AA51FCBD7BD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67461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C8CBED-51F1-48DB-9A55-78DE040F7CE2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D880E-8C57-437E-8E1C-97D6266E26B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86132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50EE4-46D0-C9B4-411F-BD2209AFE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FE52030C-A2B1-7D1C-55B3-263896CDE2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46111A50-1C6A-D32C-5406-5DAFB37F9B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B32E8715-8A95-631C-D3DC-DC7641940D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880E-8C57-437E-8E1C-97D6266E26B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7696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880E-8C57-437E-8E1C-97D6266E26B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2451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880E-8C57-437E-8E1C-97D6266E26B3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6865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880E-8C57-437E-8E1C-97D6266E26B3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3001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880E-8C57-437E-8E1C-97D6266E26B3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244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400BB3-C479-CFFA-E3BE-86DD5A3BB8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A0D1339-CBC4-8329-5ECA-CA1DE55503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  <a:endParaRPr lang="en-US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5A4D44DD-F508-29DE-E4A9-85E07AB59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0C7CD-8BC1-42F3-842C-4839003408EF}" type="datetime1">
              <a:rPr lang="en-GB" smtClean="0"/>
              <a:t>22/06/2025</a:t>
            </a:fld>
            <a:endParaRPr lang="en-GB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69CB4C4B-A1D4-5B92-CF66-D75B8258C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013F3DD2-C0A5-24CB-4B54-AB5FE9B95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3916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EF2206-E45C-6177-0EAB-C9A058A6D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9CBECCCC-378D-96CC-37E4-1B5D7D1443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1CF3316D-C11C-FE84-D9D3-FF931BC23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CDFFC-4030-43B9-906E-F3F07AD1496A}" type="datetime1">
              <a:rPr lang="en-GB" smtClean="0"/>
              <a:t>22/06/2025</a:t>
            </a:fld>
            <a:endParaRPr lang="en-GB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355AF878-FBC4-2DA8-37B4-3856A73F9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87078B19-F938-49DC-CFFA-69AE0C3E7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4842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6D6A4A-0CC8-5934-0F34-DDD2D5C20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FD2ED13C-AED6-0A9B-36BA-1ECA39B5C9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B32DE41C-7E18-618A-3817-4CC66CD69F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4E921761-EF9A-AA7F-E174-92E7FA1DA7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4DC0D00E-91FD-9425-BF02-F998C20595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F22F861B-ADE8-7A9B-FE29-7715DBDF0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CE9BF-92B6-4F90-98C4-1B8619458DEF}" type="datetime1">
              <a:rPr lang="en-GB" smtClean="0"/>
              <a:t>22/06/2025</a:t>
            </a:fld>
            <a:endParaRPr lang="en-GB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0D2D1CF3-E8AC-94AC-2C8F-3ADDCA56F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839763CD-F4A3-56DC-3EA8-F4151658B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4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B742DF-12E3-6E45-F14A-3A7E94EA8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28004750-EBB2-05B9-DA3A-3DDBBEBDE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20AE9-764D-422D-A1DF-711F63072813}" type="datetime1">
              <a:rPr lang="en-GB" smtClean="0"/>
              <a:t>22/06/2025</a:t>
            </a:fld>
            <a:endParaRPr lang="en-GB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E82B1E75-6346-BA3E-BB37-57061E226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17FB403D-587E-466B-6CEC-3DFE004ED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9337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BE69D62F-BEF5-393F-6966-C31BD8CEA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DE3C0-51A9-416C-8AFD-43FD55AB0D0A}" type="datetime1">
              <a:rPr lang="en-GB" smtClean="0"/>
              <a:t>22/06/2025</a:t>
            </a:fld>
            <a:endParaRPr lang="en-GB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F0465B13-7A99-DA8D-616C-C8DDF1FDC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AE3649D4-4584-FD71-BA62-51281F2AB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9400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5093C8-68C4-7F4E-1B7C-090A6AEF9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EC935E8F-3B53-F2C0-AF33-FA5662C402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FED318A2-40D8-0F40-9AE1-50AEF0192F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3E7CB6A5-EE86-63B3-2869-6138B6EEE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8B5B8-87A6-4E83-97F4-A84C3D14875C}" type="datetime1">
              <a:rPr lang="en-GB" smtClean="0"/>
              <a:t>22/06/2025</a:t>
            </a:fld>
            <a:endParaRPr lang="en-GB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20EDA002-1675-A781-2BFB-79D3EDD45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B9CA0135-3A90-9342-3C73-B2208A975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6083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D70059-4371-3359-221C-0BFBE5224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140463F5-90F1-51E9-2E36-6EDC4466EF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D342B686-3C05-62D8-C4B9-E5BCF33A84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42CD70F5-7E8F-3529-09E8-7241BBC9F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F55B-7F84-41DE-9EAE-A8AF2406E7D2}" type="datetime1">
              <a:rPr lang="en-GB" smtClean="0"/>
              <a:t>22/06/2025</a:t>
            </a:fld>
            <a:endParaRPr lang="en-GB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9DABE4E4-71E3-DC0B-AB72-C1470C4B0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A3B28CB2-5D7B-F844-CD9E-BB625D071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2283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611AC0-CE3D-95B0-ADCB-FB6C36CCD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DFC5E8AE-B64C-6A61-5EDC-77AE63AD9B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F9640B75-3F47-E3BA-821C-B4B7FE884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CB223-728D-473F-BA08-43A45F60008A}" type="datetime1">
              <a:rPr lang="en-GB" smtClean="0"/>
              <a:t>22/06/2025</a:t>
            </a:fld>
            <a:endParaRPr lang="en-GB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BC79F06F-80E3-9B66-F8B0-55D88D8CF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8C117FA1-8B9A-750F-D0A5-FEB098984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4593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CF3A304-DB17-40B3-2B45-D3769FAA26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9DDBE9B4-5FEE-2281-2602-AC1F643739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EB21326E-C601-4FEC-5E33-9B4A94227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3B789-60F4-4D35-B4C8-B950BDF036DA}" type="datetime1">
              <a:rPr lang="en-GB" smtClean="0"/>
              <a:t>22/06/2025</a:t>
            </a:fld>
            <a:endParaRPr lang="en-GB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A4A24246-031C-7E51-D765-F87079066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7E5D7FD9-0506-A672-0F59-33050BC64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9741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43D8D235-D70E-8D82-1CCB-68BBCC14B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C1628867-33A5-C096-E646-20324372C9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BAD54A2D-85B6-5CD8-DB13-7558A6205A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98A5BF-0B07-4E35-B473-9065D65C7A5B}" type="datetime1">
              <a:rPr lang="en-GB" smtClean="0"/>
              <a:t>22/06/2025</a:t>
            </a:fld>
            <a:endParaRPr lang="en-GB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B008C33A-BA85-894F-94D7-2CC5B74378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AE085E3D-9A6A-DABB-46D1-C7DC2751E7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0C34FA-8BA3-450A-B660-F3EE90DBB46D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1965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www.python.org/downloads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code.visualstudio.com/download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pypi.org/project/pip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code.visualstudio.com/docs/datascience/jupyter-notebooks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jupyter.org/" TargetMode="Externa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3" Type="http://schemas.openxmlformats.org/officeDocument/2006/relationships/hyperlink" Target="https://numpy.org/doc/stable/" TargetMode="External"/><Relationship Id="rId7" Type="http://schemas.openxmlformats.org/officeDocument/2006/relationships/image" Target="../media/image85.jpeg"/><Relationship Id="rId2" Type="http://schemas.openxmlformats.org/officeDocument/2006/relationships/hyperlink" Target="https://docs.python.org/3/library/index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tackoverflow.com/questions" TargetMode="External"/><Relationship Id="rId5" Type="http://schemas.openxmlformats.org/officeDocument/2006/relationships/hyperlink" Target="https://www.geeksforgeeks.org/python/python-programming-language-tutorial/" TargetMode="External"/><Relationship Id="rId10" Type="http://schemas.openxmlformats.org/officeDocument/2006/relationships/image" Target="../media/image88.jpeg"/><Relationship Id="rId4" Type="http://schemas.openxmlformats.org/officeDocument/2006/relationships/hyperlink" Target="https://matplotlib.org/stable/api/index.html" TargetMode="External"/><Relationship Id="rId9" Type="http://schemas.openxmlformats.org/officeDocument/2006/relationships/image" Target="../media/image87.jpe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0B6997-A69C-89E8-8715-3FE423D6DB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1111" y="461845"/>
            <a:ext cx="9097617" cy="3367048"/>
          </a:xfrm>
        </p:spPr>
        <p:txBody>
          <a:bodyPr>
            <a:normAutofit/>
          </a:bodyPr>
          <a:lstStyle/>
          <a:p>
            <a:r>
              <a:rPr lang="en-US" sz="5300" b="1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AI &amp; ML for Process Analytical Technology using Python</a:t>
            </a:r>
            <a:br>
              <a:rPr lang="en-US" sz="5300" b="1" dirty="0"/>
            </a:br>
            <a:br>
              <a:rPr lang="en-US" b="1" dirty="0"/>
            </a:br>
            <a:r>
              <a:rPr lang="en-US" sz="3600" b="1" dirty="0"/>
              <a:t>Day 1: </a:t>
            </a:r>
            <a:br>
              <a:rPr lang="en-US" sz="3600" dirty="0"/>
            </a:br>
            <a:r>
              <a:rPr lang="en-US" sz="3600" dirty="0"/>
              <a:t>Python fundamentals</a:t>
            </a:r>
            <a:endParaRPr lang="en-US" sz="40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1C7A6CC-FE3E-B131-1E39-C42E70C7C2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47191" y="3983203"/>
            <a:ext cx="9097617" cy="433249"/>
          </a:xfrm>
        </p:spPr>
        <p:txBody>
          <a:bodyPr/>
          <a:lstStyle/>
          <a:p>
            <a:r>
              <a:rPr lang="pt-PT" dirty="0"/>
              <a:t>João Coutinho</a:t>
            </a:r>
            <a:endParaRPr lang="en-US" dirty="0"/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431CCAB2-F5B4-8C99-886A-206FF6ECD252}"/>
              </a:ext>
            </a:extLst>
          </p:cNvPr>
          <p:cNvGrpSpPr/>
          <p:nvPr/>
        </p:nvGrpSpPr>
        <p:grpSpPr>
          <a:xfrm>
            <a:off x="2074597" y="5509516"/>
            <a:ext cx="7757878" cy="1298663"/>
            <a:chOff x="2416697" y="2438400"/>
            <a:chExt cx="7757878" cy="1298663"/>
          </a:xfrm>
        </p:grpSpPr>
        <p:pic>
          <p:nvPicPr>
            <p:cNvPr id="5" name="Imagem 4" descr="Uma imagem com texto, captura de ecrã, Tipo de letra, Gráficos&#10;&#10;Descrição gerada automaticamente">
              <a:extLst>
                <a:ext uri="{FF2B5EF4-FFF2-40B4-BE49-F238E27FC236}">
                  <a16:creationId xmlns:a16="http://schemas.microsoft.com/office/drawing/2014/main" id="{FFAC0DA0-D3BA-42AB-8696-4638CF433F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22117" y="2758276"/>
              <a:ext cx="6052458" cy="873677"/>
            </a:xfrm>
            <a:prstGeom prst="rect">
              <a:avLst/>
            </a:prstGeom>
          </p:spPr>
        </p:pic>
        <p:pic>
          <p:nvPicPr>
            <p:cNvPr id="6" name="Imagem 5" descr="Uma imagem com Gráficos, design gráfico, Tipo de letra, captura de ecrã&#10;&#10;Descrição gerada automaticamente">
              <a:extLst>
                <a:ext uri="{FF2B5EF4-FFF2-40B4-BE49-F238E27FC236}">
                  <a16:creationId xmlns:a16="http://schemas.microsoft.com/office/drawing/2014/main" id="{4934A051-E67B-0D37-DC02-C05797C631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16697" y="2438400"/>
              <a:ext cx="1453727" cy="1298663"/>
            </a:xfrm>
            <a:prstGeom prst="rect">
              <a:avLst/>
            </a:prstGeom>
          </p:spPr>
        </p:pic>
      </p:grpSp>
      <p:sp>
        <p:nvSpPr>
          <p:cNvPr id="8" name="Marcador de Posição do Número do Diapositivo 7">
            <a:extLst>
              <a:ext uri="{FF2B5EF4-FFF2-40B4-BE49-F238E27FC236}">
                <a16:creationId xmlns:a16="http://schemas.microsoft.com/office/drawing/2014/main" id="{7FAA7737-05C6-697A-15A5-582FA4F6E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1</a:t>
            </a:fld>
            <a:endParaRPr lang="en-GB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74F9DDE-1EFC-F514-1EB4-221D65AD0AAB}"/>
              </a:ext>
            </a:extLst>
          </p:cNvPr>
          <p:cNvSpPr txBox="1"/>
          <p:nvPr/>
        </p:nvSpPr>
        <p:spPr>
          <a:xfrm>
            <a:off x="1062753" y="4647742"/>
            <a:ext cx="1006649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b="1" dirty="0" err="1"/>
              <a:t>CInTech</a:t>
            </a:r>
            <a:r>
              <a:rPr lang="pt-PT" b="1" dirty="0"/>
              <a:t>: Polo Tecnológico de Inovação, Translação e Industrialização de Medicamentos Injetáveis Complexos</a:t>
            </a:r>
          </a:p>
          <a:p>
            <a:pPr algn="ctr"/>
            <a:r>
              <a:rPr lang="pt-PT" sz="1400" dirty="0"/>
              <a:t>Projeto nº 30 – Referência 7131, (Código do projeto: C644865576-00000005)</a:t>
            </a:r>
          </a:p>
        </p:txBody>
      </p:sp>
    </p:spTree>
    <p:extLst>
      <p:ext uri="{BB962C8B-B14F-4D97-AF65-F5344CB8AC3E}">
        <p14:creationId xmlns:p14="http://schemas.microsoft.com/office/powerpoint/2010/main" val="8743229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B2D40-7170-E955-B077-9467ED67E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CA8716F7-20EC-D909-7A0A-49C3BF492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2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AB902CFF-6AD0-E38E-1BD2-111F0FE4B04F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1" i="0" u="none" strike="noStrike" kern="1200" cap="none" spc="0" baseline="0" dirty="0">
                <a:solidFill>
                  <a:schemeClr val="bg1"/>
                </a:solidFill>
                <a:uFillTx/>
                <a:latin typeface="+mj-lt"/>
                <a:ea typeface="Arrus BT Roman"/>
                <a:cs typeface="Arrus BT Roman"/>
              </a:rPr>
              <a:t>Course overview 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853AD58-7F5B-7847-05A7-400CF63F5F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5783" y="1059323"/>
            <a:ext cx="5928186" cy="4362084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1B738233-A9A5-C84C-241C-4E2460BA0BAE}"/>
              </a:ext>
            </a:extLst>
          </p:cNvPr>
          <p:cNvSpPr txBox="1"/>
          <p:nvPr/>
        </p:nvSpPr>
        <p:spPr>
          <a:xfrm>
            <a:off x="112644" y="1422667"/>
            <a:ext cx="534062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400" b="1" dirty="0"/>
              <a:t>Schedule:</a:t>
            </a:r>
          </a:p>
          <a:p>
            <a:pPr marL="285750" indent="-285750">
              <a:buFontTx/>
              <a:buChar char="-"/>
            </a:pPr>
            <a:r>
              <a:rPr lang="pt-PT" sz="2400" dirty="0" err="1"/>
              <a:t>Class</a:t>
            </a:r>
            <a:r>
              <a:rPr lang="pt-PT" sz="2400" dirty="0"/>
              <a:t> 1: 9h30 - 11h </a:t>
            </a:r>
          </a:p>
          <a:p>
            <a:pPr marL="285750" indent="-285750">
              <a:buFontTx/>
              <a:buChar char="-"/>
            </a:pPr>
            <a:r>
              <a:rPr lang="pt-PT" sz="2400" dirty="0" err="1"/>
              <a:t>Class</a:t>
            </a:r>
            <a:r>
              <a:rPr lang="pt-PT" sz="2400" dirty="0"/>
              <a:t> 2: 11h15 – 13h</a:t>
            </a:r>
          </a:p>
          <a:p>
            <a:pPr marL="285750" indent="-285750">
              <a:buFontTx/>
              <a:buChar char="-"/>
            </a:pPr>
            <a:r>
              <a:rPr lang="pt-PT" sz="2400" dirty="0" err="1"/>
              <a:t>Lunch</a:t>
            </a:r>
            <a:r>
              <a:rPr lang="pt-PT" sz="2400" dirty="0"/>
              <a:t>: 13h – 14h</a:t>
            </a:r>
          </a:p>
          <a:p>
            <a:pPr marL="285750" indent="-285750">
              <a:buFontTx/>
              <a:buChar char="-"/>
            </a:pPr>
            <a:r>
              <a:rPr lang="pt-PT" sz="2400" dirty="0" err="1"/>
              <a:t>Class</a:t>
            </a:r>
            <a:r>
              <a:rPr lang="pt-PT" sz="2400" dirty="0"/>
              <a:t> 3:</a:t>
            </a:r>
            <a:r>
              <a:rPr lang="en-US" sz="2400" dirty="0"/>
              <a:t> 14h – 15h30</a:t>
            </a:r>
          </a:p>
          <a:p>
            <a:pPr marL="285750" indent="-285750">
              <a:buFontTx/>
              <a:buChar char="-"/>
            </a:pPr>
            <a:r>
              <a:rPr lang="en-US" sz="2400" dirty="0"/>
              <a:t>Class 4: 15h45 – 17h30</a:t>
            </a:r>
          </a:p>
          <a:p>
            <a:pPr marL="285750" indent="-285750">
              <a:buFontTx/>
              <a:buChar char="-"/>
            </a:pPr>
            <a:endParaRPr lang="en-US" sz="2400" dirty="0"/>
          </a:p>
          <a:p>
            <a:pPr marL="285750" indent="-285750">
              <a:buFontTx/>
              <a:buChar char="-"/>
            </a:pPr>
            <a:r>
              <a:rPr lang="pt-PT" sz="2400" b="1" dirty="0"/>
              <a:t>90 min classes</a:t>
            </a:r>
          </a:p>
          <a:p>
            <a:pPr marL="285750" indent="-285750">
              <a:buFontTx/>
              <a:buChar char="-"/>
            </a:pPr>
            <a:endParaRPr lang="pt-PT" sz="2400" b="1" dirty="0"/>
          </a:p>
          <a:p>
            <a:pPr marL="285750" indent="-285750">
              <a:buFontTx/>
              <a:buChar char="-"/>
            </a:pPr>
            <a:r>
              <a:rPr lang="pt-PT" sz="2400" b="1" dirty="0"/>
              <a:t>Active </a:t>
            </a:r>
            <a:r>
              <a:rPr lang="pt-PT" sz="2400" b="1" dirty="0" err="1"/>
              <a:t>learning</a:t>
            </a:r>
            <a:r>
              <a:rPr lang="pt-PT" sz="2400" b="1" dirty="0"/>
              <a:t> </a:t>
            </a:r>
            <a:r>
              <a:rPr lang="pt-PT" sz="2400" b="1" dirty="0" err="1"/>
              <a:t>throughout</a:t>
            </a:r>
            <a:endParaRPr lang="pt-PT" sz="2400" b="1" dirty="0"/>
          </a:p>
        </p:txBody>
      </p:sp>
    </p:spTree>
    <p:extLst>
      <p:ext uri="{BB962C8B-B14F-4D97-AF65-F5344CB8AC3E}">
        <p14:creationId xmlns:p14="http://schemas.microsoft.com/office/powerpoint/2010/main" val="3384889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10636-EFD5-0E60-1DFB-4B458AF14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ACCD3997-7A16-D589-EAAC-9BEA37680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3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E214F81E-6AEC-4589-ECFB-6A9C7298EA4A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1" i="0" u="none" strike="noStrike" kern="1200" cap="none" spc="0" baseline="0" dirty="0">
                <a:solidFill>
                  <a:schemeClr val="bg1"/>
                </a:solidFill>
                <a:uFillTx/>
                <a:latin typeface="+mj-lt"/>
                <a:ea typeface="Arrus BT Roman"/>
                <a:cs typeface="Arrus BT Roman"/>
              </a:rPr>
              <a:t>Day 1 overview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967D176-73D1-70D7-0215-41A13CEA81F5}"/>
              </a:ext>
            </a:extLst>
          </p:cNvPr>
          <p:cNvSpPr txBox="1"/>
          <p:nvPr/>
        </p:nvSpPr>
        <p:spPr>
          <a:xfrm>
            <a:off x="0" y="620027"/>
            <a:ext cx="1207935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400" b="1" dirty="0" err="1"/>
              <a:t>Class</a:t>
            </a:r>
            <a:r>
              <a:rPr lang="pt-PT" sz="2400" b="1" dirty="0"/>
              <a:t> 1: </a:t>
            </a:r>
            <a:r>
              <a:rPr lang="pt-PT" sz="2400" b="1" dirty="0" err="1"/>
              <a:t>Python</a:t>
            </a:r>
            <a:r>
              <a:rPr lang="pt-PT" sz="2400" b="1" dirty="0"/>
              <a:t> </a:t>
            </a:r>
            <a:r>
              <a:rPr lang="pt-PT" sz="2400" b="1" dirty="0" err="1"/>
              <a:t>introduction</a:t>
            </a:r>
            <a:r>
              <a:rPr lang="pt-PT" sz="2400" b="1" dirty="0"/>
              <a:t>, </a:t>
            </a:r>
            <a:r>
              <a:rPr lang="pt-PT" sz="2400" b="1" dirty="0" err="1"/>
              <a:t>installation</a:t>
            </a:r>
            <a:endParaRPr lang="pt-PT" sz="2400" b="1" dirty="0"/>
          </a:p>
          <a:p>
            <a:pPr lvl="1"/>
            <a:endParaRPr lang="pt-PT" sz="2400" dirty="0"/>
          </a:p>
          <a:p>
            <a:r>
              <a:rPr lang="pt-PT" sz="2400" b="1" dirty="0" err="1"/>
              <a:t>Class</a:t>
            </a:r>
            <a:r>
              <a:rPr lang="pt-PT" sz="2400" b="1" dirty="0"/>
              <a:t> 2: </a:t>
            </a:r>
            <a:r>
              <a:rPr lang="pt-PT" sz="2400" b="1" dirty="0" err="1"/>
              <a:t>Python</a:t>
            </a:r>
            <a:r>
              <a:rPr lang="pt-PT" sz="2400" b="1" dirty="0"/>
              <a:t> </a:t>
            </a:r>
            <a:r>
              <a:rPr lang="pt-PT" sz="2400" b="1" dirty="0" err="1"/>
              <a:t>fundamentals</a:t>
            </a:r>
            <a:endParaRPr lang="pt-PT" sz="2400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PT" sz="2400" dirty="0" err="1"/>
              <a:t>Python</a:t>
            </a:r>
            <a:r>
              <a:rPr lang="pt-PT" sz="2400" dirty="0"/>
              <a:t> </a:t>
            </a:r>
            <a:r>
              <a:rPr lang="pt-PT" sz="2400" dirty="0" err="1"/>
              <a:t>syntax</a:t>
            </a:r>
            <a:r>
              <a:rPr lang="pt-PT" sz="2400" dirty="0"/>
              <a:t>, basic </a:t>
            </a:r>
            <a:r>
              <a:rPr lang="pt-PT" sz="2400" dirty="0" err="1"/>
              <a:t>operations</a:t>
            </a:r>
            <a:r>
              <a:rPr lang="pt-PT" sz="2400" dirty="0"/>
              <a:t> </a:t>
            </a:r>
            <a:r>
              <a:rPr lang="pt-PT" sz="2400" dirty="0" err="1"/>
              <a:t>and</a:t>
            </a:r>
            <a:r>
              <a:rPr lang="pt-PT" sz="2400" dirty="0"/>
              <a:t> data </a:t>
            </a:r>
            <a:r>
              <a:rPr lang="pt-PT" sz="2400" dirty="0" err="1"/>
              <a:t>structures</a:t>
            </a:r>
            <a:endParaRPr lang="pt-PT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PT" sz="2400" dirty="0" err="1"/>
              <a:t>Logic</a:t>
            </a:r>
            <a:r>
              <a:rPr lang="pt-PT" sz="2400" dirty="0"/>
              <a:t>, </a:t>
            </a:r>
            <a:r>
              <a:rPr lang="pt-PT" sz="2400" dirty="0" err="1"/>
              <a:t>loops</a:t>
            </a:r>
            <a:r>
              <a:rPr lang="pt-PT" sz="2400" dirty="0"/>
              <a:t>, </a:t>
            </a:r>
            <a:r>
              <a:rPr lang="pt-PT" sz="2400" dirty="0" err="1"/>
              <a:t>functions</a:t>
            </a:r>
            <a:endParaRPr lang="pt-PT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PT" sz="2400" dirty="0"/>
          </a:p>
          <a:p>
            <a:r>
              <a:rPr lang="pt-PT" sz="2400" b="1" dirty="0" err="1"/>
              <a:t>Class</a:t>
            </a:r>
            <a:r>
              <a:rPr lang="pt-PT" sz="2400" b="1" dirty="0"/>
              <a:t> 3: </a:t>
            </a:r>
            <a:r>
              <a:rPr lang="pt-PT" sz="2400" b="1" dirty="0" err="1"/>
              <a:t>Numpy</a:t>
            </a:r>
            <a:r>
              <a:rPr lang="pt-PT" sz="2400" b="1" dirty="0"/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PT" sz="2400" dirty="0" err="1"/>
              <a:t>Array</a:t>
            </a:r>
            <a:r>
              <a:rPr lang="pt-PT" sz="2400" dirty="0"/>
              <a:t> </a:t>
            </a:r>
            <a:r>
              <a:rPr lang="pt-PT" sz="2400" dirty="0" err="1"/>
              <a:t>and</a:t>
            </a:r>
            <a:r>
              <a:rPr lang="pt-PT" sz="2400" dirty="0"/>
              <a:t> </a:t>
            </a:r>
            <a:r>
              <a:rPr lang="pt-PT" sz="2400" dirty="0" err="1"/>
              <a:t>matrix</a:t>
            </a:r>
            <a:r>
              <a:rPr lang="pt-PT" sz="2400" dirty="0"/>
              <a:t> </a:t>
            </a:r>
            <a:r>
              <a:rPr lang="pt-PT" sz="2400" dirty="0" err="1"/>
              <a:t>creation</a:t>
            </a:r>
            <a:endParaRPr lang="pt-PT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PT" sz="2400" dirty="0" err="1"/>
              <a:t>Indexing</a:t>
            </a:r>
            <a:r>
              <a:rPr lang="pt-PT" sz="2400" dirty="0"/>
              <a:t> </a:t>
            </a:r>
            <a:r>
              <a:rPr lang="pt-PT" sz="2400" dirty="0" err="1"/>
              <a:t>and</a:t>
            </a:r>
            <a:r>
              <a:rPr lang="pt-PT" sz="2400" dirty="0"/>
              <a:t> </a:t>
            </a:r>
            <a:r>
              <a:rPr lang="pt-PT" sz="2400" dirty="0" err="1"/>
              <a:t>sorting</a:t>
            </a:r>
            <a:r>
              <a:rPr lang="pt-PT" sz="2400" dirty="0"/>
              <a:t> </a:t>
            </a:r>
            <a:r>
              <a:rPr lang="pt-PT" sz="2400" dirty="0" err="1"/>
              <a:t>arrays</a:t>
            </a:r>
            <a:endParaRPr lang="pt-PT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PT" sz="2400" dirty="0" err="1"/>
              <a:t>Matrix</a:t>
            </a:r>
            <a:r>
              <a:rPr lang="pt-PT" sz="2400" dirty="0"/>
              <a:t> </a:t>
            </a:r>
            <a:r>
              <a:rPr lang="pt-PT" sz="2400" dirty="0" err="1"/>
              <a:t>operations</a:t>
            </a:r>
            <a:endParaRPr lang="pt-PT" sz="2400" dirty="0"/>
          </a:p>
          <a:p>
            <a:pPr lvl="1"/>
            <a:endParaRPr lang="pt-PT" sz="2400" dirty="0"/>
          </a:p>
          <a:p>
            <a:r>
              <a:rPr lang="pt-PT" sz="2400" b="1" dirty="0" err="1"/>
              <a:t>Class</a:t>
            </a:r>
            <a:r>
              <a:rPr lang="pt-PT" sz="2400" b="1" dirty="0"/>
              <a:t> 4: </a:t>
            </a:r>
            <a:r>
              <a:rPr lang="pt-PT" sz="2400" b="1" dirty="0" err="1"/>
              <a:t>Matplotlib</a:t>
            </a:r>
            <a:r>
              <a:rPr lang="pt-PT" sz="2400" b="1" dirty="0"/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PT" sz="2400" dirty="0" err="1"/>
              <a:t>Line</a:t>
            </a:r>
            <a:r>
              <a:rPr lang="pt-PT" sz="2400" dirty="0"/>
              <a:t> </a:t>
            </a:r>
            <a:r>
              <a:rPr lang="pt-PT" sz="2400" dirty="0" err="1"/>
              <a:t>plots</a:t>
            </a:r>
            <a:r>
              <a:rPr lang="pt-PT" sz="2400" dirty="0"/>
              <a:t>, </a:t>
            </a:r>
            <a:r>
              <a:rPr lang="pt-PT" sz="2400" dirty="0" err="1"/>
              <a:t>scatter</a:t>
            </a:r>
            <a:r>
              <a:rPr lang="pt-PT" sz="2400" dirty="0"/>
              <a:t> </a:t>
            </a:r>
            <a:r>
              <a:rPr lang="pt-PT" sz="2400" dirty="0" err="1"/>
              <a:t>plots</a:t>
            </a:r>
            <a:endParaRPr lang="pt-PT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PT" sz="2400" dirty="0" err="1"/>
              <a:t>Plot</a:t>
            </a:r>
            <a:r>
              <a:rPr lang="pt-PT" sz="2400" dirty="0"/>
              <a:t> </a:t>
            </a:r>
            <a:r>
              <a:rPr lang="pt-PT" sz="2400" dirty="0" err="1"/>
              <a:t>customization</a:t>
            </a:r>
            <a:endParaRPr lang="pt-PT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PT" sz="2400" dirty="0"/>
              <a:t>3D </a:t>
            </a:r>
            <a:r>
              <a:rPr lang="pt-PT" sz="2400" dirty="0" err="1"/>
              <a:t>plots</a:t>
            </a:r>
            <a:endParaRPr lang="pt-PT" sz="2400" dirty="0"/>
          </a:p>
        </p:txBody>
      </p:sp>
    </p:spTree>
    <p:extLst>
      <p:ext uri="{BB962C8B-B14F-4D97-AF65-F5344CB8AC3E}">
        <p14:creationId xmlns:p14="http://schemas.microsoft.com/office/powerpoint/2010/main" val="602792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96A24-91A0-6B44-48F1-BBE211278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78F517-90E7-245A-D80E-1EF6D2EE34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4244" y="2552700"/>
            <a:ext cx="9223511" cy="1752600"/>
          </a:xfrm>
          <a:solidFill>
            <a:schemeClr val="tx2">
              <a:lumMod val="50000"/>
              <a:lumOff val="5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Part 1: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Python intro and installation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8" name="Marcador de Posição do Número do Diapositivo 7">
            <a:extLst>
              <a:ext uri="{FF2B5EF4-FFF2-40B4-BE49-F238E27FC236}">
                <a16:creationId xmlns:a16="http://schemas.microsoft.com/office/drawing/2014/main" id="{4E20BE70-A113-25FA-DD9A-9AB00E18F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0054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47228F9F-D5CC-241A-04CD-F215D6324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298817"/>
            <a:ext cx="12192000" cy="2306853"/>
          </a:xfrm>
        </p:spPr>
        <p:txBody>
          <a:bodyPr>
            <a:normAutofit fontScale="92500"/>
          </a:bodyPr>
          <a:lstStyle/>
          <a:p>
            <a:r>
              <a:rPr lang="pt-PT" sz="2400" dirty="0" err="1"/>
              <a:t>Python</a:t>
            </a:r>
            <a:r>
              <a:rPr lang="pt-PT" sz="2400" dirty="0"/>
              <a:t> </a:t>
            </a:r>
            <a:r>
              <a:rPr lang="pt-PT" sz="2400" dirty="0" err="1"/>
              <a:t>is</a:t>
            </a:r>
            <a:r>
              <a:rPr lang="pt-PT" sz="2400" dirty="0"/>
              <a:t> a </a:t>
            </a:r>
            <a:r>
              <a:rPr lang="pt-PT" sz="2400" dirty="0" err="1"/>
              <a:t>high-level</a:t>
            </a:r>
            <a:r>
              <a:rPr lang="pt-PT" sz="2400" dirty="0"/>
              <a:t> </a:t>
            </a:r>
            <a:r>
              <a:rPr lang="pt-PT" sz="2400" dirty="0" err="1"/>
              <a:t>object-oriented</a:t>
            </a:r>
            <a:r>
              <a:rPr lang="pt-PT" sz="2400" dirty="0"/>
              <a:t> </a:t>
            </a:r>
            <a:r>
              <a:rPr lang="pt-PT" sz="2400" dirty="0" err="1"/>
              <a:t>programming</a:t>
            </a:r>
            <a:r>
              <a:rPr lang="pt-PT" sz="2400" dirty="0"/>
              <a:t> </a:t>
            </a:r>
            <a:r>
              <a:rPr lang="pt-PT" sz="2400" dirty="0" err="1"/>
              <a:t>language</a:t>
            </a:r>
            <a:endParaRPr lang="pt-PT" sz="2400" dirty="0"/>
          </a:p>
          <a:p>
            <a:endParaRPr lang="pt-PT" sz="2400" dirty="0"/>
          </a:p>
          <a:p>
            <a:r>
              <a:rPr lang="pt-PT" sz="2400" dirty="0" err="1"/>
              <a:t>Python</a:t>
            </a:r>
            <a:r>
              <a:rPr lang="pt-PT" sz="2400" dirty="0"/>
              <a:t> </a:t>
            </a:r>
            <a:r>
              <a:rPr lang="pt-PT" sz="2400" dirty="0" err="1"/>
              <a:t>was</a:t>
            </a:r>
            <a:r>
              <a:rPr lang="pt-PT" sz="2400" dirty="0"/>
              <a:t> </a:t>
            </a:r>
            <a:r>
              <a:rPr lang="pt-PT" sz="2400" dirty="0" err="1"/>
              <a:t>released</a:t>
            </a:r>
            <a:r>
              <a:rPr lang="pt-PT" sz="2400" dirty="0"/>
              <a:t> </a:t>
            </a:r>
            <a:r>
              <a:rPr lang="pt-PT" sz="2400" dirty="0" err="1"/>
              <a:t>around</a:t>
            </a:r>
            <a:r>
              <a:rPr lang="pt-PT" sz="2400" dirty="0"/>
              <a:t> </a:t>
            </a:r>
            <a:r>
              <a:rPr lang="pt-PT" sz="2400" dirty="0" err="1"/>
              <a:t>the</a:t>
            </a:r>
            <a:r>
              <a:rPr lang="pt-PT" sz="2400" dirty="0"/>
              <a:t> 1990’s </a:t>
            </a:r>
            <a:r>
              <a:rPr lang="pt-PT" sz="2400" dirty="0" err="1"/>
              <a:t>but</a:t>
            </a:r>
            <a:r>
              <a:rPr lang="pt-PT" sz="2400" dirty="0"/>
              <a:t> </a:t>
            </a:r>
            <a:r>
              <a:rPr lang="pt-PT" sz="2400" dirty="0" err="1"/>
              <a:t>recently</a:t>
            </a:r>
            <a:r>
              <a:rPr lang="pt-PT" sz="2400" dirty="0"/>
              <a:t> </a:t>
            </a:r>
            <a:r>
              <a:rPr lang="pt-PT" sz="2400" dirty="0" err="1"/>
              <a:t>became</a:t>
            </a:r>
            <a:r>
              <a:rPr lang="pt-PT" sz="2400" dirty="0"/>
              <a:t> </a:t>
            </a:r>
            <a:r>
              <a:rPr lang="pt-PT" sz="2400" dirty="0" err="1"/>
              <a:t>very</a:t>
            </a:r>
            <a:r>
              <a:rPr lang="pt-PT" sz="2400" dirty="0"/>
              <a:t> popular</a:t>
            </a:r>
          </a:p>
          <a:p>
            <a:endParaRPr lang="pt-PT" sz="2400" dirty="0"/>
          </a:p>
          <a:p>
            <a:r>
              <a:rPr lang="pt-PT" sz="2400" dirty="0" err="1"/>
              <a:t>Very</a:t>
            </a:r>
            <a:r>
              <a:rPr lang="pt-PT" sz="2400" dirty="0"/>
              <a:t> </a:t>
            </a:r>
            <a:r>
              <a:rPr lang="pt-PT" sz="2400" dirty="0" err="1"/>
              <a:t>large</a:t>
            </a:r>
            <a:r>
              <a:rPr lang="pt-PT" sz="2400" dirty="0"/>
              <a:t> </a:t>
            </a:r>
            <a:r>
              <a:rPr lang="pt-PT" sz="2400" dirty="0" err="1"/>
              <a:t>community</a:t>
            </a:r>
            <a:r>
              <a:rPr lang="pt-PT" sz="2400" dirty="0"/>
              <a:t> – </a:t>
            </a:r>
            <a:r>
              <a:rPr lang="pt-PT" sz="2400" dirty="0" err="1"/>
              <a:t>Python</a:t>
            </a:r>
            <a:r>
              <a:rPr lang="pt-PT" sz="2400" dirty="0"/>
              <a:t> </a:t>
            </a:r>
            <a:r>
              <a:rPr lang="pt-PT" sz="2400" dirty="0" err="1"/>
              <a:t>is</a:t>
            </a:r>
            <a:r>
              <a:rPr lang="pt-PT" sz="2400" dirty="0"/>
              <a:t> </a:t>
            </a:r>
            <a:r>
              <a:rPr lang="pt-PT" sz="2400" dirty="0" err="1"/>
              <a:t>currently</a:t>
            </a:r>
            <a:r>
              <a:rPr lang="pt-PT" sz="2400" dirty="0"/>
              <a:t> </a:t>
            </a:r>
            <a:r>
              <a:rPr lang="pt-PT" sz="2400" dirty="0" err="1"/>
              <a:t>the</a:t>
            </a:r>
            <a:r>
              <a:rPr lang="pt-PT" sz="2400" dirty="0"/>
              <a:t> </a:t>
            </a:r>
            <a:r>
              <a:rPr lang="pt-PT" sz="2400" b="1" dirty="0" err="1"/>
              <a:t>most</a:t>
            </a:r>
            <a:r>
              <a:rPr lang="pt-PT" sz="2400" b="1" dirty="0"/>
              <a:t> popular </a:t>
            </a:r>
            <a:r>
              <a:rPr lang="pt-PT" sz="2400" b="1" dirty="0" err="1"/>
              <a:t>programming</a:t>
            </a:r>
            <a:r>
              <a:rPr lang="pt-PT" sz="2400" b="1" dirty="0"/>
              <a:t> </a:t>
            </a:r>
            <a:r>
              <a:rPr lang="pt-PT" sz="2400" b="1" dirty="0" err="1"/>
              <a:t>langage</a:t>
            </a:r>
            <a:r>
              <a:rPr lang="pt-PT" sz="2400" b="1" dirty="0"/>
              <a:t> in </a:t>
            </a:r>
            <a:r>
              <a:rPr lang="pt-PT" sz="2400" b="1" dirty="0" err="1"/>
              <a:t>the</a:t>
            </a:r>
            <a:r>
              <a:rPr lang="pt-PT" sz="2400" b="1" dirty="0"/>
              <a:t> </a:t>
            </a:r>
            <a:r>
              <a:rPr lang="pt-PT" sz="2400" b="1" dirty="0" err="1"/>
              <a:t>world</a:t>
            </a:r>
            <a:endParaRPr lang="pt-PT" sz="2400" b="1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DC6E578A-60E8-3FC1-DC84-723D3DA86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5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1FDAC664-1E48-29D3-E6D1-12627B4B3FCB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1" i="0" u="none" strike="noStrike" kern="1200" cap="none" spc="0" baseline="0" dirty="0">
                <a:solidFill>
                  <a:schemeClr val="bg1"/>
                </a:solidFill>
                <a:uFillTx/>
                <a:latin typeface="+mj-lt"/>
                <a:ea typeface="Arrus BT Roman"/>
                <a:cs typeface="Arrus BT Roman"/>
              </a:rPr>
              <a:t>Python introduction 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28C1A81-AE6E-5FF2-474F-284E49BB0A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07" y="765268"/>
            <a:ext cx="12017781" cy="2004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409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1A8CC-F83F-18BE-80BE-5C8783BAB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4D289082-9401-2359-EF69-34FE77388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67004"/>
            <a:ext cx="12192000" cy="1293021"/>
          </a:xfrm>
        </p:spPr>
        <p:txBody>
          <a:bodyPr>
            <a:normAutofit lnSpcReduction="10000"/>
          </a:bodyPr>
          <a:lstStyle/>
          <a:p>
            <a:r>
              <a:rPr lang="pt-PT" sz="2400" dirty="0" err="1"/>
              <a:t>Python</a:t>
            </a:r>
            <a:r>
              <a:rPr lang="pt-PT" sz="2400" dirty="0"/>
              <a:t> </a:t>
            </a:r>
            <a:r>
              <a:rPr lang="pt-PT" sz="2400" dirty="0" err="1"/>
              <a:t>enables</a:t>
            </a:r>
            <a:r>
              <a:rPr lang="pt-PT" sz="2400" dirty="0"/>
              <a:t> </a:t>
            </a:r>
            <a:r>
              <a:rPr lang="pt-PT" sz="2400" dirty="0" err="1"/>
              <a:t>much</a:t>
            </a:r>
            <a:r>
              <a:rPr lang="pt-PT" sz="2400" dirty="0"/>
              <a:t> </a:t>
            </a:r>
            <a:r>
              <a:rPr lang="pt-PT" sz="2400" dirty="0" err="1"/>
              <a:t>clearer</a:t>
            </a:r>
            <a:r>
              <a:rPr lang="pt-PT" sz="2400" dirty="0"/>
              <a:t> </a:t>
            </a:r>
            <a:r>
              <a:rPr lang="pt-PT" sz="2400" dirty="0" err="1"/>
              <a:t>syntax</a:t>
            </a:r>
            <a:r>
              <a:rPr lang="pt-PT" sz="2400" dirty="0"/>
              <a:t> </a:t>
            </a:r>
            <a:r>
              <a:rPr lang="pt-PT" sz="2400" dirty="0" err="1"/>
              <a:t>and</a:t>
            </a:r>
            <a:r>
              <a:rPr lang="pt-PT" sz="2400" dirty="0"/>
              <a:t> </a:t>
            </a:r>
            <a:r>
              <a:rPr lang="pt-PT" sz="2400" dirty="0" err="1"/>
              <a:t>coding</a:t>
            </a:r>
            <a:r>
              <a:rPr lang="pt-PT" sz="2400" dirty="0"/>
              <a:t> </a:t>
            </a:r>
            <a:r>
              <a:rPr lang="pt-PT" sz="2400" dirty="0" err="1"/>
              <a:t>than</a:t>
            </a:r>
            <a:r>
              <a:rPr lang="pt-PT" sz="2400" dirty="0"/>
              <a:t> </a:t>
            </a:r>
            <a:r>
              <a:rPr lang="pt-PT" sz="2400" dirty="0" err="1"/>
              <a:t>other</a:t>
            </a:r>
            <a:r>
              <a:rPr lang="pt-PT" sz="2400" dirty="0"/>
              <a:t> </a:t>
            </a:r>
            <a:r>
              <a:rPr lang="pt-PT" sz="2400" dirty="0" err="1"/>
              <a:t>languages</a:t>
            </a:r>
            <a:r>
              <a:rPr lang="pt-PT" sz="2400" dirty="0"/>
              <a:t> (R </a:t>
            </a:r>
            <a:r>
              <a:rPr lang="pt-PT" sz="2400" dirty="0" err="1"/>
              <a:t>or</a:t>
            </a:r>
            <a:r>
              <a:rPr lang="pt-PT" sz="2400" dirty="0"/>
              <a:t> </a:t>
            </a:r>
            <a:r>
              <a:rPr lang="pt-PT" sz="2400" dirty="0" err="1"/>
              <a:t>Matlab</a:t>
            </a:r>
            <a:r>
              <a:rPr lang="pt-PT" sz="2400" dirty="0"/>
              <a:t>)</a:t>
            </a:r>
          </a:p>
          <a:p>
            <a:endParaRPr lang="pt-PT" sz="2400" dirty="0"/>
          </a:p>
          <a:p>
            <a:r>
              <a:rPr lang="pt-PT" sz="2400" dirty="0" err="1"/>
              <a:t>Cleaner</a:t>
            </a:r>
            <a:r>
              <a:rPr lang="pt-PT" sz="2400" dirty="0"/>
              <a:t> </a:t>
            </a:r>
            <a:r>
              <a:rPr lang="pt-PT" sz="2400" dirty="0" err="1"/>
              <a:t>code</a:t>
            </a:r>
            <a:r>
              <a:rPr lang="pt-PT" sz="2400" dirty="0"/>
              <a:t> = </a:t>
            </a:r>
            <a:r>
              <a:rPr lang="pt-PT" sz="2400" dirty="0" err="1"/>
              <a:t>easier</a:t>
            </a:r>
            <a:r>
              <a:rPr lang="pt-PT" sz="2400" dirty="0"/>
              <a:t> to </a:t>
            </a:r>
            <a:r>
              <a:rPr lang="pt-PT" sz="2400" dirty="0" err="1"/>
              <a:t>read</a:t>
            </a:r>
            <a:r>
              <a:rPr lang="pt-PT" sz="2400" dirty="0"/>
              <a:t> = </a:t>
            </a:r>
            <a:r>
              <a:rPr lang="pt-PT" sz="2400" dirty="0" err="1"/>
              <a:t>easier</a:t>
            </a:r>
            <a:r>
              <a:rPr lang="pt-PT" sz="2400" dirty="0"/>
              <a:t> to </a:t>
            </a:r>
            <a:r>
              <a:rPr lang="pt-PT" sz="2400" dirty="0" err="1"/>
              <a:t>debug</a:t>
            </a:r>
            <a:r>
              <a:rPr lang="pt-PT" sz="2400" dirty="0"/>
              <a:t> = </a:t>
            </a:r>
            <a:r>
              <a:rPr lang="pt-PT" sz="2400" dirty="0" err="1"/>
              <a:t>easier</a:t>
            </a:r>
            <a:r>
              <a:rPr lang="pt-PT" sz="2400" dirty="0"/>
              <a:t> to </a:t>
            </a:r>
            <a:r>
              <a:rPr lang="pt-PT" sz="2400" dirty="0" err="1"/>
              <a:t>maintain</a:t>
            </a:r>
            <a:endParaRPr lang="pt-PT" sz="2400" dirty="0"/>
          </a:p>
          <a:p>
            <a:endParaRPr lang="pt-PT" sz="2400" dirty="0"/>
          </a:p>
          <a:p>
            <a:endParaRPr lang="pt-PT" sz="2400" dirty="0"/>
          </a:p>
          <a:p>
            <a:endParaRPr lang="pt-PT" sz="2400" dirty="0"/>
          </a:p>
          <a:p>
            <a:endParaRPr lang="pt-PT" sz="2400" dirty="0"/>
          </a:p>
          <a:p>
            <a:endParaRPr lang="pt-PT" sz="2400" dirty="0"/>
          </a:p>
          <a:p>
            <a:endParaRPr lang="pt-PT" sz="2400" dirty="0"/>
          </a:p>
          <a:p>
            <a:endParaRPr lang="pt-PT" sz="2400" dirty="0"/>
          </a:p>
          <a:p>
            <a:endParaRPr lang="pt-PT" sz="2400" dirty="0"/>
          </a:p>
          <a:p>
            <a:endParaRPr lang="pt-PT" sz="2400" dirty="0"/>
          </a:p>
          <a:p>
            <a:endParaRPr lang="pt-PT" sz="2400" dirty="0"/>
          </a:p>
          <a:p>
            <a:endParaRPr lang="pt-PT" sz="2400" dirty="0"/>
          </a:p>
          <a:p>
            <a:endParaRPr lang="pt-PT" sz="2400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18F5CBB0-3518-9414-55BD-29BB429F1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6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DA7C152E-1403-44FE-E427-2CFCF49F8393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1" dirty="0">
                <a:solidFill>
                  <a:schemeClr val="bg1"/>
                </a:solidFill>
                <a:latin typeface="+mj-lt"/>
                <a:ea typeface="Arrus BT Roman"/>
                <a:cs typeface="Arrus BT Roman"/>
              </a:rPr>
              <a:t>Why Python?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44853C8-5AF9-74B4-B078-4F8E26B434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243" y="2012991"/>
            <a:ext cx="5651610" cy="4539088"/>
          </a:xfrm>
          <a:prstGeom prst="rect">
            <a:avLst/>
          </a:prstGeom>
        </p:spPr>
      </p:pic>
      <p:cxnSp>
        <p:nvCxnSpPr>
          <p:cNvPr id="10" name="Conexão reta unidirecional 9">
            <a:extLst>
              <a:ext uri="{FF2B5EF4-FFF2-40B4-BE49-F238E27FC236}">
                <a16:creationId xmlns:a16="http://schemas.microsoft.com/office/drawing/2014/main" id="{E8992231-CB50-A837-CD0A-249B597DB12D}"/>
              </a:ext>
            </a:extLst>
          </p:cNvPr>
          <p:cNvCxnSpPr>
            <a:cxnSpLocks/>
          </p:cNvCxnSpPr>
          <p:nvPr/>
        </p:nvCxnSpPr>
        <p:spPr>
          <a:xfrm flipH="1">
            <a:off x="5274365" y="2920587"/>
            <a:ext cx="1636643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765C9F1-0BE8-67E9-7BB7-0C79044EDA3E}"/>
              </a:ext>
            </a:extLst>
          </p:cNvPr>
          <p:cNvSpPr txBox="1"/>
          <p:nvPr/>
        </p:nvSpPr>
        <p:spPr>
          <a:xfrm>
            <a:off x="6911008" y="2735921"/>
            <a:ext cx="40352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 err="1"/>
              <a:t>Direct</a:t>
            </a:r>
            <a:r>
              <a:rPr lang="pt-PT" dirty="0"/>
              <a:t> </a:t>
            </a:r>
            <a:r>
              <a:rPr lang="pt-PT" dirty="0" err="1"/>
              <a:t>iteration</a:t>
            </a:r>
            <a:r>
              <a:rPr lang="pt-PT" dirty="0"/>
              <a:t> </a:t>
            </a:r>
            <a:r>
              <a:rPr lang="pt-PT" dirty="0" err="1"/>
              <a:t>over</a:t>
            </a:r>
            <a:r>
              <a:rPr lang="pt-PT" dirty="0"/>
              <a:t> </a:t>
            </a:r>
            <a:r>
              <a:rPr lang="pt-PT" dirty="0" err="1"/>
              <a:t>elements</a:t>
            </a:r>
            <a:endParaRPr lang="pt-PT" dirty="0"/>
          </a:p>
          <a:p>
            <a:r>
              <a:rPr lang="pt-PT" dirty="0" err="1"/>
              <a:t>Identation</a:t>
            </a:r>
            <a:r>
              <a:rPr lang="pt-PT" dirty="0"/>
              <a:t> </a:t>
            </a:r>
            <a:r>
              <a:rPr lang="pt-PT" dirty="0" err="1"/>
              <a:t>clearly</a:t>
            </a:r>
            <a:r>
              <a:rPr lang="pt-PT" dirty="0"/>
              <a:t> </a:t>
            </a:r>
            <a:r>
              <a:rPr lang="pt-PT" dirty="0" err="1"/>
              <a:t>guides</a:t>
            </a:r>
            <a:r>
              <a:rPr lang="pt-PT" dirty="0"/>
              <a:t> </a:t>
            </a:r>
            <a:r>
              <a:rPr lang="pt-PT" dirty="0" err="1"/>
              <a:t>code</a:t>
            </a:r>
            <a:r>
              <a:rPr lang="pt-PT" dirty="0"/>
              <a:t> </a:t>
            </a:r>
            <a:r>
              <a:rPr lang="pt-PT" dirty="0" err="1"/>
              <a:t>viewing</a:t>
            </a:r>
            <a:endParaRPr lang="en-US" dirty="0"/>
          </a:p>
        </p:txBody>
      </p:sp>
      <p:cxnSp>
        <p:nvCxnSpPr>
          <p:cNvPr id="14" name="Conexão reta unidirecional 13">
            <a:extLst>
              <a:ext uri="{FF2B5EF4-FFF2-40B4-BE49-F238E27FC236}">
                <a16:creationId xmlns:a16="http://schemas.microsoft.com/office/drawing/2014/main" id="{650635FF-E1E8-CEE2-D011-6CA0CAE42380}"/>
              </a:ext>
            </a:extLst>
          </p:cNvPr>
          <p:cNvCxnSpPr>
            <a:cxnSpLocks/>
          </p:cNvCxnSpPr>
          <p:nvPr/>
        </p:nvCxnSpPr>
        <p:spPr>
          <a:xfrm flipH="1">
            <a:off x="5333999" y="4282535"/>
            <a:ext cx="1577009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3632BE05-33C0-78A2-4ADC-29CEE909A41A}"/>
              </a:ext>
            </a:extLst>
          </p:cNvPr>
          <p:cNvSpPr txBox="1"/>
          <p:nvPr/>
        </p:nvSpPr>
        <p:spPr>
          <a:xfrm>
            <a:off x="6911008" y="4097870"/>
            <a:ext cx="50176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No ‘</a:t>
            </a:r>
            <a:r>
              <a:rPr lang="pt-PT" dirty="0" err="1"/>
              <a:t>end</a:t>
            </a:r>
            <a:r>
              <a:rPr lang="pt-PT" dirty="0"/>
              <a:t>’ for </a:t>
            </a:r>
            <a:r>
              <a:rPr lang="pt-PT" dirty="0" err="1"/>
              <a:t>loops</a:t>
            </a:r>
            <a:r>
              <a:rPr lang="pt-PT" dirty="0"/>
              <a:t>: </a:t>
            </a:r>
            <a:r>
              <a:rPr lang="pt-PT" dirty="0" err="1"/>
              <a:t>identation</a:t>
            </a:r>
            <a:r>
              <a:rPr lang="pt-PT" dirty="0"/>
              <a:t> </a:t>
            </a:r>
            <a:r>
              <a:rPr lang="pt-PT" dirty="0" err="1"/>
              <a:t>is</a:t>
            </a:r>
            <a:r>
              <a:rPr lang="pt-PT" dirty="0"/>
              <a:t> </a:t>
            </a:r>
            <a:r>
              <a:rPr lang="pt-PT" dirty="0" err="1"/>
              <a:t>enough</a:t>
            </a:r>
            <a:r>
              <a:rPr lang="pt-PT" dirty="0"/>
              <a:t> </a:t>
            </a:r>
          </a:p>
          <a:p>
            <a:r>
              <a:rPr lang="pt-PT" dirty="0"/>
              <a:t>No ‘;’ </a:t>
            </a:r>
            <a:r>
              <a:rPr lang="pt-PT" dirty="0" err="1"/>
              <a:t>required</a:t>
            </a:r>
            <a:endParaRPr lang="pt-PT" dirty="0"/>
          </a:p>
          <a:p>
            <a:r>
              <a:rPr lang="pt-PT" dirty="0" err="1"/>
              <a:t>Simpler</a:t>
            </a:r>
            <a:r>
              <a:rPr lang="pt-PT" dirty="0"/>
              <a:t> f-</a:t>
            </a:r>
            <a:r>
              <a:rPr lang="pt-PT" dirty="0" err="1"/>
              <a:t>strings</a:t>
            </a:r>
            <a:r>
              <a:rPr lang="pt-PT" dirty="0"/>
              <a:t> </a:t>
            </a:r>
            <a:r>
              <a:rPr lang="pt-PT" dirty="0" err="1"/>
              <a:t>insted</a:t>
            </a:r>
            <a:r>
              <a:rPr lang="pt-PT" dirty="0"/>
              <a:t> </a:t>
            </a:r>
            <a:r>
              <a:rPr lang="pt-PT" dirty="0" err="1"/>
              <a:t>of</a:t>
            </a:r>
            <a:r>
              <a:rPr lang="pt-PT" dirty="0"/>
              <a:t> ‘</a:t>
            </a:r>
            <a:r>
              <a:rPr lang="pt-PT" dirty="0" err="1"/>
              <a:t>fprintf</a:t>
            </a:r>
            <a:r>
              <a:rPr lang="pt-PT" dirty="0"/>
              <a:t>’</a:t>
            </a:r>
            <a:endParaRPr lang="en-US" dirty="0"/>
          </a:p>
        </p:txBody>
      </p:sp>
      <p:cxnSp>
        <p:nvCxnSpPr>
          <p:cNvPr id="18" name="Conexão reta unidirecional 17">
            <a:extLst>
              <a:ext uri="{FF2B5EF4-FFF2-40B4-BE49-F238E27FC236}">
                <a16:creationId xmlns:a16="http://schemas.microsoft.com/office/drawing/2014/main" id="{5C2DC04C-DBE4-89DB-C27E-0060CEA135AC}"/>
              </a:ext>
            </a:extLst>
          </p:cNvPr>
          <p:cNvCxnSpPr>
            <a:cxnSpLocks/>
          </p:cNvCxnSpPr>
          <p:nvPr/>
        </p:nvCxnSpPr>
        <p:spPr>
          <a:xfrm flipH="1">
            <a:off x="5473147" y="5459818"/>
            <a:ext cx="1437861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B7A0A2F6-0234-BE29-D153-C7AEE56BB220}"/>
              </a:ext>
            </a:extLst>
          </p:cNvPr>
          <p:cNvSpPr txBox="1"/>
          <p:nvPr/>
        </p:nvSpPr>
        <p:spPr>
          <a:xfrm>
            <a:off x="6911008" y="5275153"/>
            <a:ext cx="50176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No ‘&lt;-’ </a:t>
            </a:r>
            <a:r>
              <a:rPr lang="pt-PT" dirty="0" err="1"/>
              <a:t>or</a:t>
            </a:r>
            <a:r>
              <a:rPr lang="pt-PT" dirty="0"/>
              <a:t> ‘{ }’ </a:t>
            </a:r>
            <a:r>
              <a:rPr lang="pt-PT" dirty="0" err="1"/>
              <a:t>required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234244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1529E-F070-BC45-BC84-E5A7B44E1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AB11B4C9-08E6-F272-20F0-7195090216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" y="471336"/>
            <a:ext cx="12192000" cy="6153768"/>
          </a:xfrm>
        </p:spPr>
        <p:txBody>
          <a:bodyPr>
            <a:normAutofit/>
          </a:bodyPr>
          <a:lstStyle/>
          <a:p>
            <a:r>
              <a:rPr lang="pt-PT" sz="2400" dirty="0"/>
              <a:t>Free </a:t>
            </a:r>
            <a:r>
              <a:rPr lang="pt-PT" sz="2400" dirty="0" err="1"/>
              <a:t>and</a:t>
            </a:r>
            <a:r>
              <a:rPr lang="pt-PT" sz="2400" dirty="0"/>
              <a:t> open </a:t>
            </a:r>
            <a:r>
              <a:rPr lang="pt-PT" sz="2400" dirty="0" err="1"/>
              <a:t>source</a:t>
            </a:r>
            <a:r>
              <a:rPr lang="pt-PT" sz="2400" dirty="0"/>
              <a:t> – </a:t>
            </a:r>
            <a:r>
              <a:rPr lang="pt-PT" sz="2400" b="1" dirty="0" err="1"/>
              <a:t>you</a:t>
            </a:r>
            <a:r>
              <a:rPr lang="pt-PT" sz="2400" b="1" dirty="0"/>
              <a:t> can </a:t>
            </a:r>
            <a:r>
              <a:rPr lang="pt-PT" sz="2400" b="1" dirty="0" err="1"/>
              <a:t>access</a:t>
            </a:r>
            <a:r>
              <a:rPr lang="pt-PT" sz="2400" b="1" dirty="0"/>
              <a:t> </a:t>
            </a:r>
            <a:r>
              <a:rPr lang="pt-PT" sz="2400" b="1" dirty="0" err="1"/>
              <a:t>every</a:t>
            </a:r>
            <a:r>
              <a:rPr lang="pt-PT" sz="2400" b="1" dirty="0"/>
              <a:t> single </a:t>
            </a:r>
            <a:r>
              <a:rPr lang="pt-PT" sz="2400" b="1" dirty="0" err="1"/>
              <a:t>line</a:t>
            </a:r>
            <a:r>
              <a:rPr lang="pt-PT" sz="2400" b="1" dirty="0"/>
              <a:t> </a:t>
            </a:r>
            <a:r>
              <a:rPr lang="pt-PT" sz="2400" b="1" dirty="0" err="1"/>
              <a:t>of</a:t>
            </a:r>
            <a:r>
              <a:rPr lang="pt-PT" sz="2400" b="1" dirty="0"/>
              <a:t> </a:t>
            </a:r>
            <a:r>
              <a:rPr lang="pt-PT" sz="2400" b="1" dirty="0" err="1"/>
              <a:t>code</a:t>
            </a:r>
            <a:r>
              <a:rPr lang="pt-PT" sz="2400" b="1" dirty="0"/>
              <a:t> </a:t>
            </a:r>
            <a:r>
              <a:rPr lang="pt-PT" sz="2400" b="1" dirty="0" err="1"/>
              <a:t>inside</a:t>
            </a:r>
            <a:r>
              <a:rPr lang="pt-PT" sz="2400" b="1" dirty="0"/>
              <a:t> </a:t>
            </a:r>
            <a:r>
              <a:rPr lang="pt-PT" sz="2400" b="1" dirty="0" err="1"/>
              <a:t>every</a:t>
            </a:r>
            <a:r>
              <a:rPr lang="pt-PT" sz="2400" b="1" dirty="0"/>
              <a:t> package</a:t>
            </a:r>
          </a:p>
          <a:p>
            <a:endParaRPr lang="pt-PT" sz="2400" dirty="0"/>
          </a:p>
          <a:p>
            <a:r>
              <a:rPr lang="pt-PT" sz="2400" dirty="0" err="1"/>
              <a:t>Community-driven</a:t>
            </a:r>
            <a:r>
              <a:rPr lang="pt-PT" sz="2400" dirty="0"/>
              <a:t> </a:t>
            </a:r>
            <a:r>
              <a:rPr lang="pt-PT" sz="2400" dirty="0" err="1"/>
              <a:t>language</a:t>
            </a:r>
            <a:r>
              <a:rPr lang="pt-PT" sz="2400" dirty="0"/>
              <a:t>: </a:t>
            </a:r>
            <a:r>
              <a:rPr lang="pt-PT" sz="2400" dirty="0" err="1"/>
              <a:t>community</a:t>
            </a:r>
            <a:r>
              <a:rPr lang="pt-PT" sz="2400" dirty="0"/>
              <a:t> </a:t>
            </a:r>
            <a:r>
              <a:rPr lang="pt-PT" sz="2400" dirty="0" err="1"/>
              <a:t>is</a:t>
            </a:r>
            <a:r>
              <a:rPr lang="pt-PT" sz="2400" dirty="0"/>
              <a:t> </a:t>
            </a:r>
            <a:r>
              <a:rPr lang="pt-PT" sz="2400" dirty="0" err="1"/>
              <a:t>actively</a:t>
            </a:r>
            <a:r>
              <a:rPr lang="pt-PT" sz="2400" dirty="0"/>
              <a:t> </a:t>
            </a:r>
            <a:r>
              <a:rPr lang="pt-PT" sz="2400" dirty="0" err="1"/>
              <a:t>releasing</a:t>
            </a:r>
            <a:r>
              <a:rPr lang="pt-PT" sz="2400" dirty="0"/>
              <a:t> </a:t>
            </a:r>
            <a:r>
              <a:rPr lang="pt-PT" sz="2400" dirty="0" err="1"/>
              <a:t>and</a:t>
            </a:r>
            <a:r>
              <a:rPr lang="pt-PT" sz="2400" dirty="0"/>
              <a:t> </a:t>
            </a:r>
            <a:r>
              <a:rPr lang="pt-PT" sz="2400" dirty="0" err="1"/>
              <a:t>updating</a:t>
            </a:r>
            <a:r>
              <a:rPr lang="pt-PT" sz="2400" dirty="0"/>
              <a:t> </a:t>
            </a:r>
            <a:r>
              <a:rPr lang="pt-PT" sz="2400" dirty="0" err="1"/>
              <a:t>code</a:t>
            </a:r>
            <a:endParaRPr lang="pt-PT" sz="2400" dirty="0"/>
          </a:p>
          <a:p>
            <a:endParaRPr lang="pt-PT" sz="2400" dirty="0"/>
          </a:p>
          <a:p>
            <a:r>
              <a:rPr lang="pt-PT" sz="2400" dirty="0" err="1"/>
              <a:t>Integration</a:t>
            </a:r>
            <a:r>
              <a:rPr lang="pt-PT" sz="2400" dirty="0"/>
              <a:t> </a:t>
            </a:r>
            <a:r>
              <a:rPr lang="pt-PT" sz="2400" dirty="0" err="1"/>
              <a:t>with</a:t>
            </a:r>
            <a:r>
              <a:rPr lang="pt-PT" sz="2400" dirty="0"/>
              <a:t> </a:t>
            </a:r>
            <a:r>
              <a:rPr lang="pt-PT" sz="2400" dirty="0" err="1"/>
              <a:t>other</a:t>
            </a:r>
            <a:r>
              <a:rPr lang="pt-PT" sz="2400" dirty="0"/>
              <a:t> </a:t>
            </a:r>
            <a:r>
              <a:rPr lang="pt-PT" sz="2400" dirty="0" err="1"/>
              <a:t>industrially</a:t>
            </a:r>
            <a:r>
              <a:rPr lang="pt-PT" sz="2400" dirty="0"/>
              <a:t> </a:t>
            </a:r>
            <a:r>
              <a:rPr lang="pt-PT" sz="2400" dirty="0" err="1"/>
              <a:t>used</a:t>
            </a:r>
            <a:r>
              <a:rPr lang="pt-PT" sz="2400" dirty="0"/>
              <a:t> </a:t>
            </a:r>
            <a:r>
              <a:rPr lang="pt-PT" sz="2400" dirty="0" err="1"/>
              <a:t>tools</a:t>
            </a:r>
            <a:r>
              <a:rPr lang="pt-PT" sz="2400" dirty="0"/>
              <a:t> </a:t>
            </a:r>
            <a:r>
              <a:rPr lang="pt-PT" sz="2400" dirty="0" err="1"/>
              <a:t>such</a:t>
            </a:r>
            <a:r>
              <a:rPr lang="pt-PT" sz="2400" dirty="0"/>
              <a:t> as JMP </a:t>
            </a:r>
            <a:r>
              <a:rPr lang="pt-PT" sz="2400" dirty="0" err="1"/>
              <a:t>or</a:t>
            </a:r>
            <a:r>
              <a:rPr lang="pt-PT" sz="2400" dirty="0"/>
              <a:t> Excel</a:t>
            </a:r>
          </a:p>
          <a:p>
            <a:pPr marL="0" indent="0">
              <a:buNone/>
            </a:pPr>
            <a:endParaRPr lang="pt-PT" sz="2400" dirty="0"/>
          </a:p>
          <a:p>
            <a:endParaRPr lang="pt-PT" sz="2400" dirty="0"/>
          </a:p>
          <a:p>
            <a:endParaRPr lang="pt-PT" sz="2400" dirty="0"/>
          </a:p>
          <a:p>
            <a:endParaRPr lang="pt-PT" sz="2400" dirty="0"/>
          </a:p>
          <a:p>
            <a:endParaRPr lang="pt-PT" sz="2400" dirty="0"/>
          </a:p>
          <a:p>
            <a:endParaRPr lang="pt-PT" sz="2400" dirty="0"/>
          </a:p>
          <a:p>
            <a:endParaRPr lang="pt-PT" sz="2400" dirty="0"/>
          </a:p>
          <a:p>
            <a:endParaRPr lang="pt-PT" sz="2400" dirty="0"/>
          </a:p>
          <a:p>
            <a:endParaRPr lang="pt-PT" sz="2400" dirty="0"/>
          </a:p>
          <a:p>
            <a:endParaRPr lang="pt-PT" sz="2400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E080154E-25E2-BD7A-D547-3C6689D2C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7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B62843BF-FA4B-3BA3-581B-30B4A0F56579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1" kern="0" dirty="0">
                <a:solidFill>
                  <a:schemeClr val="bg1"/>
                </a:solidFill>
                <a:ea typeface="Arrus BT Roman"/>
                <a:cs typeface="Arrus BT Roman"/>
              </a:rPr>
              <a:t>Why Python?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1893687-ED88-110B-14DA-146DAEB30A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6410" y="2694221"/>
            <a:ext cx="7861005" cy="1984285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B6411D5F-0AF7-1D49-4106-9333B3E567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268" y="4984946"/>
            <a:ext cx="10274467" cy="1736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4594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FBF0B-7CB7-4570-CE99-C86263854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149054E3-1DFE-2D4F-0E64-1EBF66C12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61694"/>
            <a:ext cx="12192000" cy="5891505"/>
          </a:xfrm>
        </p:spPr>
        <p:txBody>
          <a:bodyPr>
            <a:normAutofit fontScale="92500" lnSpcReduction="10000"/>
          </a:bodyPr>
          <a:lstStyle/>
          <a:p>
            <a:r>
              <a:rPr lang="pt-PT" sz="2400" dirty="0" err="1"/>
              <a:t>Very</a:t>
            </a:r>
            <a:r>
              <a:rPr lang="pt-PT" sz="2400" dirty="0"/>
              <a:t> </a:t>
            </a:r>
            <a:r>
              <a:rPr lang="pt-PT" sz="2400" dirty="0" err="1"/>
              <a:t>flexible</a:t>
            </a:r>
            <a:r>
              <a:rPr lang="pt-PT" sz="2400" dirty="0"/>
              <a:t> – </a:t>
            </a:r>
            <a:r>
              <a:rPr lang="pt-PT" sz="2400" dirty="0" err="1"/>
              <a:t>there</a:t>
            </a:r>
            <a:r>
              <a:rPr lang="pt-PT" sz="2400" dirty="0"/>
              <a:t> are </a:t>
            </a:r>
            <a:r>
              <a:rPr lang="pt-PT" sz="2400" dirty="0" err="1"/>
              <a:t>Python</a:t>
            </a:r>
            <a:r>
              <a:rPr lang="pt-PT" sz="2400" dirty="0"/>
              <a:t> packages for </a:t>
            </a:r>
            <a:r>
              <a:rPr lang="pt-PT" sz="2400" dirty="0" err="1"/>
              <a:t>almost</a:t>
            </a:r>
            <a:r>
              <a:rPr lang="pt-PT" sz="2400" dirty="0"/>
              <a:t> </a:t>
            </a:r>
            <a:r>
              <a:rPr lang="pt-PT" sz="2400" dirty="0" err="1"/>
              <a:t>anything</a:t>
            </a:r>
            <a:r>
              <a:rPr lang="pt-PT" sz="2400" dirty="0"/>
              <a:t>:</a:t>
            </a:r>
          </a:p>
          <a:p>
            <a:pPr lvl="1"/>
            <a:r>
              <a:rPr lang="pt-PT" sz="2000" dirty="0"/>
              <a:t>Web </a:t>
            </a:r>
            <a:r>
              <a:rPr lang="pt-PT" sz="2000" dirty="0" err="1"/>
              <a:t>development</a:t>
            </a:r>
            <a:endParaRPr lang="pt-PT" sz="2000" dirty="0"/>
          </a:p>
          <a:p>
            <a:pPr lvl="1"/>
            <a:r>
              <a:rPr lang="pt-PT" sz="2000" dirty="0" err="1"/>
              <a:t>Interactive</a:t>
            </a:r>
            <a:r>
              <a:rPr lang="pt-PT" sz="2000" dirty="0"/>
              <a:t> Apps </a:t>
            </a:r>
          </a:p>
          <a:p>
            <a:pPr lvl="1"/>
            <a:r>
              <a:rPr lang="pt-PT" sz="2000" dirty="0" err="1"/>
              <a:t>Image</a:t>
            </a:r>
            <a:r>
              <a:rPr lang="pt-PT" sz="2000" dirty="0"/>
              <a:t> </a:t>
            </a:r>
            <a:r>
              <a:rPr lang="pt-PT" sz="2000" dirty="0" err="1"/>
              <a:t>Analysis</a:t>
            </a:r>
            <a:endParaRPr lang="pt-PT" sz="2000" dirty="0"/>
          </a:p>
          <a:p>
            <a:pPr lvl="1"/>
            <a:r>
              <a:rPr lang="pt-PT" sz="2000" dirty="0"/>
              <a:t>Data </a:t>
            </a:r>
            <a:r>
              <a:rPr lang="pt-PT" sz="2000" dirty="0" err="1"/>
              <a:t>analysis</a:t>
            </a:r>
            <a:r>
              <a:rPr lang="pt-PT" sz="2000" dirty="0"/>
              <a:t> </a:t>
            </a:r>
            <a:r>
              <a:rPr lang="pt-PT" sz="2000" dirty="0" err="1"/>
              <a:t>and</a:t>
            </a:r>
            <a:r>
              <a:rPr lang="pt-PT" sz="2000" dirty="0"/>
              <a:t> </a:t>
            </a:r>
            <a:r>
              <a:rPr lang="pt-PT" sz="2000" dirty="0" err="1"/>
              <a:t>manipulation</a:t>
            </a:r>
            <a:endParaRPr lang="pt-PT" sz="2000" dirty="0"/>
          </a:p>
          <a:p>
            <a:pPr lvl="1"/>
            <a:r>
              <a:rPr lang="pt-PT" sz="2000" dirty="0"/>
              <a:t>Data </a:t>
            </a:r>
            <a:r>
              <a:rPr lang="pt-PT" sz="2000" dirty="0" err="1"/>
              <a:t>Science</a:t>
            </a:r>
            <a:r>
              <a:rPr lang="pt-PT" sz="2000" dirty="0"/>
              <a:t> </a:t>
            </a:r>
            <a:r>
              <a:rPr lang="pt-PT" sz="2000" dirty="0" err="1"/>
              <a:t>and</a:t>
            </a:r>
            <a:r>
              <a:rPr lang="pt-PT" sz="2000" dirty="0"/>
              <a:t> </a:t>
            </a:r>
            <a:r>
              <a:rPr lang="pt-PT" sz="2000" dirty="0" err="1"/>
              <a:t>Machine</a:t>
            </a:r>
            <a:r>
              <a:rPr lang="pt-PT" sz="2000" dirty="0"/>
              <a:t> </a:t>
            </a:r>
            <a:r>
              <a:rPr lang="pt-PT" sz="2000" dirty="0" err="1"/>
              <a:t>learning</a:t>
            </a:r>
            <a:r>
              <a:rPr lang="pt-PT" sz="2000" dirty="0"/>
              <a:t> </a:t>
            </a:r>
          </a:p>
          <a:p>
            <a:pPr lvl="1"/>
            <a:r>
              <a:rPr lang="pt-PT" sz="2000" dirty="0" err="1"/>
              <a:t>Scientific</a:t>
            </a:r>
            <a:r>
              <a:rPr lang="pt-PT" sz="2000" dirty="0"/>
              <a:t> </a:t>
            </a:r>
            <a:r>
              <a:rPr lang="pt-PT" sz="2000" dirty="0" err="1"/>
              <a:t>computing</a:t>
            </a:r>
            <a:endParaRPr lang="pt-PT" sz="2000" dirty="0"/>
          </a:p>
          <a:p>
            <a:pPr lvl="1"/>
            <a:r>
              <a:rPr lang="pt-PT" sz="2000" dirty="0" err="1"/>
              <a:t>Deep</a:t>
            </a:r>
            <a:r>
              <a:rPr lang="pt-PT" sz="2000" dirty="0"/>
              <a:t> </a:t>
            </a:r>
            <a:r>
              <a:rPr lang="pt-PT" sz="2000" dirty="0" err="1"/>
              <a:t>learning</a:t>
            </a:r>
            <a:r>
              <a:rPr lang="pt-PT" sz="2000" dirty="0"/>
              <a:t> </a:t>
            </a:r>
            <a:r>
              <a:rPr lang="pt-PT" sz="2000" dirty="0" err="1"/>
              <a:t>and</a:t>
            </a:r>
            <a:r>
              <a:rPr lang="pt-PT" sz="2000" dirty="0"/>
              <a:t> AI</a:t>
            </a:r>
          </a:p>
          <a:p>
            <a:pPr marL="0" indent="0">
              <a:buNone/>
            </a:pPr>
            <a:endParaRPr lang="pt-PT" sz="2400" dirty="0"/>
          </a:p>
          <a:p>
            <a:r>
              <a:rPr lang="pt-PT" sz="2400" dirty="0" err="1"/>
              <a:t>All</a:t>
            </a:r>
            <a:r>
              <a:rPr lang="pt-PT" sz="2400" dirty="0"/>
              <a:t> </a:t>
            </a:r>
            <a:r>
              <a:rPr lang="pt-PT" sz="2400" dirty="0" err="1"/>
              <a:t>the</a:t>
            </a:r>
            <a:r>
              <a:rPr lang="pt-PT" sz="2400" dirty="0"/>
              <a:t> </a:t>
            </a:r>
            <a:r>
              <a:rPr lang="pt-PT" sz="2400" dirty="0" err="1"/>
              <a:t>state-of-the-art</a:t>
            </a:r>
            <a:r>
              <a:rPr lang="pt-PT" sz="2400" dirty="0"/>
              <a:t> AI </a:t>
            </a:r>
            <a:r>
              <a:rPr lang="pt-PT" sz="2400" dirty="0" err="1"/>
              <a:t>and</a:t>
            </a:r>
            <a:r>
              <a:rPr lang="pt-PT" sz="2400" dirty="0"/>
              <a:t> ML </a:t>
            </a:r>
            <a:r>
              <a:rPr lang="pt-PT" sz="2400" dirty="0" err="1"/>
              <a:t>is</a:t>
            </a:r>
            <a:r>
              <a:rPr lang="pt-PT" sz="2400" dirty="0"/>
              <a:t> </a:t>
            </a:r>
            <a:r>
              <a:rPr lang="pt-PT" sz="2400" dirty="0" err="1"/>
              <a:t>done</a:t>
            </a:r>
            <a:r>
              <a:rPr lang="pt-PT" sz="2400" dirty="0"/>
              <a:t> in </a:t>
            </a:r>
            <a:r>
              <a:rPr lang="pt-PT" sz="2400" dirty="0" err="1"/>
              <a:t>Python</a:t>
            </a:r>
            <a:r>
              <a:rPr lang="pt-PT" sz="2400" dirty="0"/>
              <a:t>:</a:t>
            </a:r>
          </a:p>
          <a:p>
            <a:pPr lvl="1"/>
            <a:r>
              <a:rPr lang="pt-PT" sz="2000" dirty="0" err="1"/>
              <a:t>Tensorflow</a:t>
            </a:r>
            <a:r>
              <a:rPr lang="pt-PT" sz="2000" dirty="0"/>
              <a:t> (Google)</a:t>
            </a:r>
          </a:p>
          <a:p>
            <a:pPr lvl="1"/>
            <a:r>
              <a:rPr lang="pt-PT" sz="2000" dirty="0" err="1"/>
              <a:t>Pytorch</a:t>
            </a:r>
            <a:r>
              <a:rPr lang="pt-PT" sz="2000" dirty="0"/>
              <a:t> (Meta)</a:t>
            </a:r>
          </a:p>
          <a:p>
            <a:pPr lvl="1"/>
            <a:r>
              <a:rPr lang="pt-PT" sz="2000" dirty="0" err="1"/>
              <a:t>Pre-trained</a:t>
            </a:r>
            <a:r>
              <a:rPr lang="pt-PT" sz="2000" dirty="0"/>
              <a:t> AI </a:t>
            </a:r>
            <a:r>
              <a:rPr lang="pt-PT" sz="2000" dirty="0" err="1"/>
              <a:t>models</a:t>
            </a:r>
            <a:r>
              <a:rPr lang="pt-PT" sz="2000" dirty="0"/>
              <a:t> (</a:t>
            </a:r>
            <a:r>
              <a:rPr lang="pt-PT" sz="2000" dirty="0" err="1"/>
              <a:t>Hugging</a:t>
            </a:r>
            <a:r>
              <a:rPr lang="pt-PT" sz="2000" dirty="0"/>
              <a:t> Face)</a:t>
            </a:r>
          </a:p>
          <a:p>
            <a:pPr lvl="1"/>
            <a:r>
              <a:rPr lang="pt-PT" dirty="0" err="1"/>
              <a:t>Large</a:t>
            </a:r>
            <a:r>
              <a:rPr lang="pt-PT" dirty="0"/>
              <a:t> </a:t>
            </a:r>
            <a:r>
              <a:rPr lang="pt-PT" dirty="0" err="1"/>
              <a:t>Language</a:t>
            </a:r>
            <a:r>
              <a:rPr lang="pt-PT" dirty="0"/>
              <a:t> </a:t>
            </a:r>
            <a:r>
              <a:rPr lang="pt-PT" dirty="0" err="1"/>
              <a:t>Models</a:t>
            </a:r>
            <a:r>
              <a:rPr lang="pt-PT" dirty="0"/>
              <a:t> </a:t>
            </a:r>
            <a:r>
              <a:rPr lang="pt-PT" dirty="0" err="1"/>
              <a:t>like</a:t>
            </a:r>
            <a:r>
              <a:rPr lang="pt-PT" dirty="0"/>
              <a:t> </a:t>
            </a:r>
            <a:r>
              <a:rPr lang="pt-PT" dirty="0" err="1"/>
              <a:t>ChatGPT</a:t>
            </a:r>
            <a:r>
              <a:rPr lang="pt-PT" dirty="0"/>
              <a:t> are </a:t>
            </a:r>
            <a:r>
              <a:rPr lang="pt-PT" dirty="0" err="1"/>
              <a:t>developed</a:t>
            </a:r>
            <a:r>
              <a:rPr lang="pt-PT" dirty="0"/>
              <a:t> </a:t>
            </a:r>
            <a:r>
              <a:rPr lang="pt-PT" dirty="0" err="1"/>
              <a:t>based</a:t>
            </a:r>
            <a:r>
              <a:rPr lang="pt-PT" dirty="0"/>
              <a:t> </a:t>
            </a:r>
            <a:r>
              <a:rPr lang="pt-PT" dirty="0" err="1"/>
              <a:t>on</a:t>
            </a:r>
            <a:r>
              <a:rPr lang="pt-PT" dirty="0"/>
              <a:t> </a:t>
            </a:r>
            <a:r>
              <a:rPr lang="pt-PT" dirty="0" err="1"/>
              <a:t>Python</a:t>
            </a:r>
            <a:r>
              <a:rPr lang="pt-PT" dirty="0"/>
              <a:t> </a:t>
            </a:r>
          </a:p>
          <a:p>
            <a:pPr marL="0" indent="0">
              <a:buNone/>
            </a:pPr>
            <a:endParaRPr lang="pt-PT" sz="2400" dirty="0"/>
          </a:p>
          <a:p>
            <a:r>
              <a:rPr lang="pt-PT" sz="2400" dirty="0" err="1"/>
              <a:t>The</a:t>
            </a:r>
            <a:r>
              <a:rPr lang="pt-PT" sz="2400" dirty="0"/>
              <a:t> </a:t>
            </a:r>
            <a:r>
              <a:rPr lang="pt-PT" sz="2400" dirty="0" err="1"/>
              <a:t>only</a:t>
            </a:r>
            <a:r>
              <a:rPr lang="pt-PT" sz="2400" dirty="0"/>
              <a:t> </a:t>
            </a:r>
            <a:r>
              <a:rPr lang="pt-PT" sz="2400" dirty="0" err="1"/>
              <a:t>field</a:t>
            </a:r>
            <a:r>
              <a:rPr lang="pt-PT" sz="2400" dirty="0"/>
              <a:t> </a:t>
            </a:r>
            <a:r>
              <a:rPr lang="pt-PT" sz="2400" dirty="0" err="1"/>
              <a:t>where</a:t>
            </a:r>
            <a:r>
              <a:rPr lang="pt-PT" sz="2400" dirty="0"/>
              <a:t> </a:t>
            </a:r>
            <a:r>
              <a:rPr lang="pt-PT" sz="2400" dirty="0" err="1"/>
              <a:t>Python</a:t>
            </a:r>
            <a:r>
              <a:rPr lang="pt-PT" sz="2400" dirty="0"/>
              <a:t> </a:t>
            </a:r>
            <a:r>
              <a:rPr lang="pt-PT" sz="2400" dirty="0" err="1"/>
              <a:t>is</a:t>
            </a:r>
            <a:r>
              <a:rPr lang="pt-PT" sz="2400" dirty="0"/>
              <a:t> ‘</a:t>
            </a:r>
            <a:r>
              <a:rPr lang="pt-PT" sz="2400" dirty="0" err="1"/>
              <a:t>lagging</a:t>
            </a:r>
            <a:r>
              <a:rPr lang="pt-PT" sz="2400" dirty="0"/>
              <a:t> a bit </a:t>
            </a:r>
            <a:r>
              <a:rPr lang="pt-PT" sz="2400" dirty="0" err="1"/>
              <a:t>behind</a:t>
            </a:r>
            <a:r>
              <a:rPr lang="pt-PT" sz="2400" dirty="0"/>
              <a:t>’ </a:t>
            </a:r>
            <a:r>
              <a:rPr lang="pt-PT" sz="2400" dirty="0" err="1"/>
              <a:t>is</a:t>
            </a:r>
            <a:r>
              <a:rPr lang="pt-PT" sz="2400" dirty="0"/>
              <a:t> in </a:t>
            </a:r>
            <a:r>
              <a:rPr lang="pt-PT" sz="2400" dirty="0" err="1"/>
              <a:t>Automation</a:t>
            </a:r>
            <a:r>
              <a:rPr lang="pt-PT" sz="2400" dirty="0"/>
              <a:t> </a:t>
            </a:r>
            <a:r>
              <a:rPr lang="pt-PT" sz="2400" dirty="0" err="1"/>
              <a:t>and</a:t>
            </a:r>
            <a:r>
              <a:rPr lang="pt-PT" sz="2400" dirty="0"/>
              <a:t> </a:t>
            </a:r>
            <a:r>
              <a:rPr lang="pt-PT" sz="2400" dirty="0" err="1"/>
              <a:t>Control</a:t>
            </a:r>
            <a:r>
              <a:rPr lang="pt-PT" sz="2400" dirty="0"/>
              <a:t> (</a:t>
            </a:r>
            <a:r>
              <a:rPr lang="pt-PT" sz="2400" dirty="0" err="1"/>
              <a:t>especially</a:t>
            </a:r>
            <a:r>
              <a:rPr lang="pt-PT" sz="2400" dirty="0"/>
              <a:t> </a:t>
            </a:r>
            <a:r>
              <a:rPr lang="pt-PT" sz="2400" dirty="0" err="1"/>
              <a:t>compared</a:t>
            </a:r>
            <a:r>
              <a:rPr lang="pt-PT" sz="2400" dirty="0"/>
              <a:t> to </a:t>
            </a:r>
            <a:r>
              <a:rPr lang="pt-PT" sz="2400" dirty="0" err="1"/>
              <a:t>Matlab</a:t>
            </a:r>
            <a:r>
              <a:rPr lang="pt-PT" sz="2400" dirty="0"/>
              <a:t>) – </a:t>
            </a:r>
            <a:r>
              <a:rPr lang="pt-PT" sz="2400" dirty="0" err="1"/>
              <a:t>although</a:t>
            </a:r>
            <a:r>
              <a:rPr lang="pt-PT" sz="2400" dirty="0"/>
              <a:t> </a:t>
            </a:r>
            <a:r>
              <a:rPr lang="pt-PT" sz="2400" dirty="0" err="1"/>
              <a:t>there</a:t>
            </a:r>
            <a:r>
              <a:rPr lang="pt-PT" sz="2400" dirty="0"/>
              <a:t> are some </a:t>
            </a:r>
            <a:r>
              <a:rPr lang="pt-PT" sz="2400" dirty="0" err="1"/>
              <a:t>Python</a:t>
            </a:r>
            <a:r>
              <a:rPr lang="pt-PT" sz="2400" dirty="0"/>
              <a:t> packages for </a:t>
            </a:r>
            <a:r>
              <a:rPr lang="pt-PT" sz="2400" dirty="0" err="1"/>
              <a:t>this</a:t>
            </a:r>
            <a:endParaRPr lang="pt-PT" sz="2400" dirty="0"/>
          </a:p>
          <a:p>
            <a:endParaRPr lang="pt-PT" sz="2400" dirty="0"/>
          </a:p>
          <a:p>
            <a:endParaRPr lang="pt-PT" sz="2400" dirty="0"/>
          </a:p>
          <a:p>
            <a:endParaRPr lang="pt-PT" sz="2400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29F4A6BF-C968-B317-0AC9-12DC44AED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8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B26220DE-C789-4DA1-8112-233C08270AEB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1" kern="0" dirty="0">
                <a:solidFill>
                  <a:schemeClr val="bg1"/>
                </a:solidFill>
                <a:ea typeface="Arrus BT Roman"/>
                <a:cs typeface="Arrus BT Roman"/>
              </a:rPr>
              <a:t>Why Python?</a:t>
            </a:r>
          </a:p>
        </p:txBody>
      </p:sp>
    </p:spTree>
    <p:extLst>
      <p:ext uri="{BB962C8B-B14F-4D97-AF65-F5344CB8AC3E}">
        <p14:creationId xmlns:p14="http://schemas.microsoft.com/office/powerpoint/2010/main" val="8759428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D9A91-55A0-E439-F6D6-FF883B858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097E1697-6604-ED5B-C29A-B6055DB03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9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9A17C1A6-EC6A-AF66-B1C8-5DF200EF97D8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r>
              <a:rPr lang="pt-PT" sz="2800" b="1" dirty="0">
                <a:solidFill>
                  <a:schemeClr val="bg1"/>
                </a:solidFill>
                <a:latin typeface="+mj-lt"/>
              </a:rPr>
              <a:t>Google </a:t>
            </a:r>
            <a:r>
              <a:rPr lang="pt-PT" sz="2800" b="1" dirty="0" err="1">
                <a:solidFill>
                  <a:schemeClr val="bg1"/>
                </a:solidFill>
                <a:latin typeface="+mj-lt"/>
              </a:rPr>
              <a:t>colab</a:t>
            </a:r>
            <a:endParaRPr lang="pt-PT" sz="28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7" name="Marcador de Posição de Conteúdo 2">
            <a:extLst>
              <a:ext uri="{FF2B5EF4-FFF2-40B4-BE49-F238E27FC236}">
                <a16:creationId xmlns:a16="http://schemas.microsoft.com/office/drawing/2014/main" id="{C74DC89D-B87A-62B8-4C14-3780AD935C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80689"/>
            <a:ext cx="12192000" cy="3149430"/>
          </a:xfrm>
        </p:spPr>
        <p:txBody>
          <a:bodyPr>
            <a:normAutofit lnSpcReduction="10000"/>
          </a:bodyPr>
          <a:lstStyle/>
          <a:p>
            <a:r>
              <a:rPr lang="pt-PT" sz="2400" dirty="0"/>
              <a:t>Google </a:t>
            </a:r>
            <a:r>
              <a:rPr lang="pt-PT" sz="2400" dirty="0" err="1"/>
              <a:t>Colaboratory</a:t>
            </a:r>
            <a:r>
              <a:rPr lang="pt-PT" sz="2400" dirty="0"/>
              <a:t> </a:t>
            </a:r>
            <a:r>
              <a:rPr lang="pt-PT" sz="2400" dirty="0" err="1"/>
              <a:t>enables</a:t>
            </a:r>
            <a:r>
              <a:rPr lang="pt-PT" sz="2400" dirty="0"/>
              <a:t> to </a:t>
            </a:r>
            <a:r>
              <a:rPr lang="pt-PT" sz="2400" dirty="0" err="1"/>
              <a:t>run</a:t>
            </a:r>
            <a:r>
              <a:rPr lang="pt-PT" sz="2400" dirty="0"/>
              <a:t> </a:t>
            </a:r>
            <a:r>
              <a:rPr lang="pt-PT" sz="2400" dirty="0" err="1"/>
              <a:t>Python</a:t>
            </a:r>
            <a:r>
              <a:rPr lang="pt-PT" sz="2400" dirty="0"/>
              <a:t> </a:t>
            </a:r>
            <a:r>
              <a:rPr lang="pt-PT" sz="2400" dirty="0" err="1"/>
              <a:t>code</a:t>
            </a:r>
            <a:r>
              <a:rPr lang="pt-PT" sz="2400" dirty="0"/>
              <a:t> </a:t>
            </a:r>
            <a:r>
              <a:rPr lang="pt-PT" sz="2400" dirty="0" err="1"/>
              <a:t>without</a:t>
            </a:r>
            <a:r>
              <a:rPr lang="pt-PT" sz="2400" dirty="0"/>
              <a:t> </a:t>
            </a:r>
            <a:r>
              <a:rPr lang="pt-PT" sz="2400" dirty="0" err="1"/>
              <a:t>installing</a:t>
            </a:r>
            <a:r>
              <a:rPr lang="pt-PT" sz="2400" dirty="0"/>
              <a:t> </a:t>
            </a:r>
            <a:r>
              <a:rPr lang="pt-PT" sz="2400" dirty="0" err="1"/>
              <a:t>Python</a:t>
            </a:r>
            <a:r>
              <a:rPr lang="pt-PT" sz="2400" dirty="0"/>
              <a:t> software</a:t>
            </a:r>
          </a:p>
          <a:p>
            <a:endParaRPr lang="pt-PT" sz="2400" dirty="0"/>
          </a:p>
          <a:p>
            <a:r>
              <a:rPr lang="pt-PT" sz="2400" dirty="0" err="1"/>
              <a:t>It</a:t>
            </a:r>
            <a:r>
              <a:rPr lang="pt-PT" sz="2400" dirty="0"/>
              <a:t> runs </a:t>
            </a:r>
            <a:r>
              <a:rPr lang="pt-PT" sz="2400" dirty="0" err="1"/>
              <a:t>on</a:t>
            </a:r>
            <a:r>
              <a:rPr lang="pt-PT" sz="2400" dirty="0"/>
              <a:t> </a:t>
            </a:r>
            <a:r>
              <a:rPr lang="pt-PT" sz="2400" dirty="0" err="1"/>
              <a:t>the</a:t>
            </a:r>
            <a:r>
              <a:rPr lang="pt-PT" sz="2400" dirty="0"/>
              <a:t> Google </a:t>
            </a:r>
            <a:r>
              <a:rPr lang="pt-PT" sz="2400" dirty="0" err="1"/>
              <a:t>cloud</a:t>
            </a:r>
            <a:r>
              <a:rPr lang="pt-PT" sz="2400" dirty="0"/>
              <a:t> </a:t>
            </a:r>
            <a:r>
              <a:rPr lang="pt-PT" sz="2400" dirty="0" err="1"/>
              <a:t>and</a:t>
            </a:r>
            <a:r>
              <a:rPr lang="pt-PT" sz="2400" dirty="0"/>
              <a:t> </a:t>
            </a:r>
            <a:r>
              <a:rPr lang="pt-PT" sz="2400" dirty="0" err="1"/>
              <a:t>is</a:t>
            </a:r>
            <a:r>
              <a:rPr lang="pt-PT" sz="2400" dirty="0"/>
              <a:t> </a:t>
            </a:r>
            <a:r>
              <a:rPr lang="pt-PT" sz="2400" dirty="0" err="1"/>
              <a:t>useful</a:t>
            </a:r>
            <a:r>
              <a:rPr lang="pt-PT" sz="2400" dirty="0"/>
              <a:t> for </a:t>
            </a:r>
            <a:r>
              <a:rPr lang="pt-PT" sz="2400" dirty="0" err="1"/>
              <a:t>education</a:t>
            </a:r>
            <a:r>
              <a:rPr lang="pt-PT" sz="2400" dirty="0"/>
              <a:t> </a:t>
            </a:r>
            <a:r>
              <a:rPr lang="pt-PT" sz="2400" dirty="0" err="1"/>
              <a:t>purposes</a:t>
            </a:r>
            <a:r>
              <a:rPr lang="pt-PT" sz="2400" dirty="0"/>
              <a:t> </a:t>
            </a:r>
            <a:r>
              <a:rPr lang="pt-PT" sz="2400" dirty="0" err="1"/>
              <a:t>or</a:t>
            </a:r>
            <a:r>
              <a:rPr lang="pt-PT" sz="2400" dirty="0"/>
              <a:t> to share </a:t>
            </a:r>
            <a:r>
              <a:rPr lang="pt-PT" sz="2400" dirty="0" err="1"/>
              <a:t>code</a:t>
            </a:r>
            <a:r>
              <a:rPr lang="pt-PT" sz="2400" dirty="0"/>
              <a:t>/</a:t>
            </a:r>
            <a:r>
              <a:rPr lang="pt-PT" sz="2400" dirty="0" err="1"/>
              <a:t>results</a:t>
            </a:r>
            <a:endParaRPr lang="pt-PT" sz="2400" dirty="0"/>
          </a:p>
          <a:p>
            <a:endParaRPr lang="pt-PT" sz="2400" dirty="0"/>
          </a:p>
          <a:p>
            <a:r>
              <a:rPr lang="pt-PT" sz="2400" dirty="0" err="1"/>
              <a:t>It</a:t>
            </a:r>
            <a:r>
              <a:rPr lang="pt-PT" sz="2400" dirty="0"/>
              <a:t> comes </a:t>
            </a:r>
            <a:r>
              <a:rPr lang="pt-PT" sz="2400" dirty="0" err="1"/>
              <a:t>with</a:t>
            </a:r>
            <a:r>
              <a:rPr lang="pt-PT" sz="2400" dirty="0"/>
              <a:t> </a:t>
            </a:r>
            <a:r>
              <a:rPr lang="pt-PT" sz="2400" dirty="0" err="1"/>
              <a:t>all</a:t>
            </a:r>
            <a:r>
              <a:rPr lang="pt-PT" sz="2400" dirty="0"/>
              <a:t> </a:t>
            </a:r>
            <a:r>
              <a:rPr lang="pt-PT" sz="2400" dirty="0" err="1"/>
              <a:t>of</a:t>
            </a:r>
            <a:r>
              <a:rPr lang="pt-PT" sz="2400" dirty="0"/>
              <a:t> </a:t>
            </a:r>
            <a:r>
              <a:rPr lang="pt-PT" sz="2400" dirty="0" err="1"/>
              <a:t>the</a:t>
            </a:r>
            <a:r>
              <a:rPr lang="pt-PT" sz="2400" dirty="0"/>
              <a:t> popular </a:t>
            </a:r>
            <a:r>
              <a:rPr lang="pt-PT" sz="2400" dirty="0" err="1"/>
              <a:t>Python</a:t>
            </a:r>
            <a:r>
              <a:rPr lang="pt-PT" sz="2400" dirty="0"/>
              <a:t> packages </a:t>
            </a:r>
            <a:r>
              <a:rPr lang="pt-PT" sz="2400" dirty="0" err="1"/>
              <a:t>pre-installed</a:t>
            </a:r>
            <a:endParaRPr lang="pt-PT" sz="2400" dirty="0"/>
          </a:p>
          <a:p>
            <a:endParaRPr lang="pt-PT" sz="2400" dirty="0"/>
          </a:p>
          <a:p>
            <a:r>
              <a:rPr lang="pt-PT" sz="2400" b="1" dirty="0"/>
              <a:t>A Google </a:t>
            </a:r>
            <a:r>
              <a:rPr lang="pt-PT" sz="2400" b="1" dirty="0" err="1"/>
              <a:t>account</a:t>
            </a:r>
            <a:r>
              <a:rPr lang="pt-PT" sz="2400" b="1" dirty="0"/>
              <a:t> </a:t>
            </a:r>
            <a:r>
              <a:rPr lang="pt-PT" sz="2400" b="1" dirty="0" err="1"/>
              <a:t>is</a:t>
            </a:r>
            <a:r>
              <a:rPr lang="pt-PT" sz="2400" b="1" dirty="0"/>
              <a:t> </a:t>
            </a:r>
            <a:r>
              <a:rPr lang="pt-PT" sz="2400" b="1" dirty="0" err="1"/>
              <a:t>required</a:t>
            </a:r>
            <a:r>
              <a:rPr lang="pt-PT" sz="2400" b="1" dirty="0"/>
              <a:t>   </a:t>
            </a:r>
            <a:endParaRPr lang="pt-PT" sz="2000" b="1" dirty="0"/>
          </a:p>
          <a:p>
            <a:pPr marL="0" indent="0">
              <a:buNone/>
            </a:pPr>
            <a:endParaRPr lang="pt-PT" sz="2000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AA90BDCD-CEAF-918C-08F6-4E6A98E0BA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3730119"/>
            <a:ext cx="5893685" cy="2626231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C6C6F042-AD8D-B818-3530-34D8E09F2D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8317" y="3735470"/>
            <a:ext cx="5739935" cy="2680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9732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E802D-5F08-4AA3-0B61-EC1FD384E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05038C77-4206-D5F0-3DF2-4339369E19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48361"/>
            <a:ext cx="12192000" cy="4154336"/>
          </a:xfrm>
        </p:spPr>
        <p:txBody>
          <a:bodyPr>
            <a:normAutofit/>
          </a:bodyPr>
          <a:lstStyle/>
          <a:p>
            <a:r>
              <a:rPr lang="pt-PT" sz="2400" b="1" dirty="0"/>
              <a:t>1. </a:t>
            </a:r>
            <a:r>
              <a:rPr lang="pt-PT" sz="2400" b="1" dirty="0" err="1"/>
              <a:t>Install</a:t>
            </a:r>
            <a:r>
              <a:rPr lang="pt-PT" sz="2400" b="1" dirty="0"/>
              <a:t> </a:t>
            </a:r>
            <a:r>
              <a:rPr lang="pt-PT" sz="2400" b="1" dirty="0" err="1"/>
              <a:t>Python</a:t>
            </a:r>
            <a:r>
              <a:rPr lang="pt-PT" sz="2400" b="1" dirty="0"/>
              <a:t> (</a:t>
            </a:r>
            <a:r>
              <a:rPr lang="pt-PT" sz="2400" b="1" dirty="0" err="1"/>
              <a:t>version</a:t>
            </a:r>
            <a:r>
              <a:rPr lang="pt-PT" sz="2400" b="1" dirty="0"/>
              <a:t> 3.12 </a:t>
            </a:r>
            <a:r>
              <a:rPr lang="pt-PT" sz="2400" b="1" dirty="0" err="1"/>
              <a:t>is</a:t>
            </a:r>
            <a:r>
              <a:rPr lang="pt-PT" sz="2400" b="1" dirty="0"/>
              <a:t> </a:t>
            </a:r>
            <a:r>
              <a:rPr lang="pt-PT" sz="2400" b="1" dirty="0" err="1"/>
              <a:t>reccomended</a:t>
            </a:r>
            <a:r>
              <a:rPr lang="pt-PT" sz="2400" b="1" dirty="0"/>
              <a:t>)</a:t>
            </a:r>
          </a:p>
          <a:p>
            <a:pPr marL="457200" lvl="1" indent="0">
              <a:buNone/>
            </a:pPr>
            <a:r>
              <a:rPr lang="pt-PT" dirty="0">
                <a:hlinkClick r:id="rId2"/>
              </a:rPr>
              <a:t>https://www.python.org/downloads/</a:t>
            </a:r>
            <a:endParaRPr lang="pt-PT" dirty="0"/>
          </a:p>
          <a:p>
            <a:pPr marL="457200" lvl="1" indent="0">
              <a:buNone/>
            </a:pPr>
            <a:endParaRPr lang="pt-PT" dirty="0"/>
          </a:p>
          <a:p>
            <a:pPr marL="457200" lvl="1" indent="0">
              <a:buNone/>
            </a:pPr>
            <a:endParaRPr lang="pt-PT" dirty="0"/>
          </a:p>
          <a:p>
            <a:pPr marL="457200" lvl="1" indent="0">
              <a:buNone/>
            </a:pPr>
            <a:endParaRPr lang="pt-PT" dirty="0"/>
          </a:p>
          <a:p>
            <a:pPr marL="457200" lvl="1" indent="0">
              <a:buNone/>
            </a:pPr>
            <a:endParaRPr lang="pt-PT" dirty="0"/>
          </a:p>
          <a:p>
            <a:pPr marL="457200" lvl="1" indent="0">
              <a:buNone/>
            </a:pPr>
            <a:endParaRPr lang="pt-PT" dirty="0"/>
          </a:p>
          <a:p>
            <a:pPr marL="457200" lvl="1" indent="0">
              <a:buNone/>
            </a:pPr>
            <a:endParaRPr lang="pt-PT" dirty="0"/>
          </a:p>
          <a:p>
            <a:pPr marL="457200" lvl="1" indent="0">
              <a:buNone/>
            </a:pPr>
            <a:endParaRPr lang="pt-PT" dirty="0"/>
          </a:p>
          <a:p>
            <a:pPr marL="457200" lvl="1" indent="0">
              <a:buNone/>
            </a:pPr>
            <a:r>
              <a:rPr lang="pt-PT" b="1" dirty="0"/>
              <a:t>		</a:t>
            </a:r>
            <a:r>
              <a:rPr lang="pt-PT" b="1" dirty="0" err="1"/>
              <a:t>If</a:t>
            </a:r>
            <a:r>
              <a:rPr lang="pt-PT" b="1" dirty="0"/>
              <a:t> </a:t>
            </a:r>
            <a:r>
              <a:rPr lang="pt-PT" b="1" dirty="0" err="1"/>
              <a:t>using</a:t>
            </a:r>
            <a:r>
              <a:rPr lang="pt-PT" b="1" dirty="0"/>
              <a:t> Windows, </a:t>
            </a:r>
            <a:r>
              <a:rPr lang="pt-PT" b="1" dirty="0" err="1"/>
              <a:t>it</a:t>
            </a:r>
            <a:r>
              <a:rPr lang="pt-PT" b="1" dirty="0"/>
              <a:t> </a:t>
            </a:r>
            <a:r>
              <a:rPr lang="pt-PT" b="1" dirty="0" err="1"/>
              <a:t>is</a:t>
            </a:r>
            <a:r>
              <a:rPr lang="pt-PT" b="1" dirty="0"/>
              <a:t> </a:t>
            </a:r>
            <a:r>
              <a:rPr lang="pt-PT" b="1" dirty="0" err="1"/>
              <a:t>reccommended</a:t>
            </a:r>
            <a:r>
              <a:rPr lang="pt-PT" b="1" dirty="0"/>
              <a:t> to </a:t>
            </a:r>
            <a:r>
              <a:rPr lang="pt-PT" b="1" dirty="0" err="1"/>
              <a:t>add</a:t>
            </a:r>
            <a:r>
              <a:rPr lang="pt-PT" b="1" dirty="0"/>
              <a:t> </a:t>
            </a:r>
            <a:r>
              <a:rPr lang="pt-PT" b="1" dirty="0" err="1"/>
              <a:t>Python</a:t>
            </a:r>
            <a:r>
              <a:rPr lang="pt-PT" b="1" dirty="0"/>
              <a:t> to PATH</a:t>
            </a:r>
          </a:p>
          <a:p>
            <a:pPr marL="457200" lvl="1" indent="0">
              <a:buNone/>
            </a:pPr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74D7551E-A792-5B4D-A5BD-34299AF98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10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972A47C0-1D8A-36A0-7DFD-1D548BF02596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1" i="0" u="none" strike="noStrike" kern="1200" cap="none" spc="0" baseline="0" dirty="0">
                <a:solidFill>
                  <a:schemeClr val="bg1"/>
                </a:solidFill>
                <a:uFillTx/>
                <a:latin typeface="+mj-lt"/>
                <a:ea typeface="Arrus BT Roman"/>
                <a:cs typeface="Arrus BT Roman"/>
              </a:rPr>
              <a:t>Python Installation 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BD2E09D-A918-965A-5897-455C68C882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3116" y="1088919"/>
            <a:ext cx="6458884" cy="2826416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BEB1FE5D-7F54-8FE1-F72D-3A6D47B564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95075"/>
            <a:ext cx="6020557" cy="1814104"/>
          </a:xfrm>
          <a:prstGeom prst="rect">
            <a:avLst/>
          </a:prstGeom>
        </p:spPr>
      </p:pic>
      <p:pic>
        <p:nvPicPr>
          <p:cNvPr id="1026" name="Picture 2" descr="Python and the PATH variable in Windows 10 : r/Python">
            <a:extLst>
              <a:ext uri="{FF2B5EF4-FFF2-40B4-BE49-F238E27FC236}">
                <a16:creationId xmlns:a16="http://schemas.microsoft.com/office/drawing/2014/main" id="{ECD1A265-6D33-6E63-28D6-24B0C2EC33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8" t="57726" r="4183" b="5607"/>
          <a:stretch>
            <a:fillRect/>
          </a:stretch>
        </p:blipFill>
        <p:spPr bwMode="auto">
          <a:xfrm>
            <a:off x="1710355" y="4742161"/>
            <a:ext cx="8598023" cy="2096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07D12A81-D185-C0DE-93C6-866A1930B984}"/>
              </a:ext>
            </a:extLst>
          </p:cNvPr>
          <p:cNvSpPr/>
          <p:nvPr/>
        </p:nvSpPr>
        <p:spPr>
          <a:xfrm>
            <a:off x="282335" y="2358396"/>
            <a:ext cx="3340431" cy="4980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CA51C361-8914-1B1E-A9F0-B0618BFC32A8}"/>
              </a:ext>
            </a:extLst>
          </p:cNvPr>
          <p:cNvSpPr/>
          <p:nvPr/>
        </p:nvSpPr>
        <p:spPr>
          <a:xfrm>
            <a:off x="6304312" y="1587508"/>
            <a:ext cx="3405745" cy="7708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7244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2F27C-CF97-6C4F-91DC-29358A5EF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24A2D0C7-04E5-8F38-A386-7F9C399A19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604701"/>
            <a:ext cx="12331337" cy="980259"/>
          </a:xfrm>
        </p:spPr>
        <p:txBody>
          <a:bodyPr>
            <a:normAutofit/>
          </a:bodyPr>
          <a:lstStyle/>
          <a:p>
            <a:r>
              <a:rPr lang="pt-PT" sz="2400" b="1" dirty="0"/>
              <a:t>2. </a:t>
            </a:r>
            <a:r>
              <a:rPr lang="pt-PT" sz="2400" b="1" dirty="0" err="1"/>
              <a:t>Install</a:t>
            </a:r>
            <a:r>
              <a:rPr lang="pt-PT" sz="2400" b="1" dirty="0"/>
              <a:t> VS </a:t>
            </a:r>
            <a:r>
              <a:rPr lang="pt-PT" sz="2400" b="1" dirty="0" err="1"/>
              <a:t>Code</a:t>
            </a:r>
            <a:r>
              <a:rPr lang="pt-PT" sz="2400" b="1" dirty="0"/>
              <a:t> - </a:t>
            </a:r>
            <a:r>
              <a:rPr lang="pt-PT" sz="2400" dirty="0" err="1"/>
              <a:t>recommeded</a:t>
            </a:r>
            <a:r>
              <a:rPr lang="pt-PT" sz="2400" dirty="0"/>
              <a:t> IDE/</a:t>
            </a:r>
            <a:r>
              <a:rPr lang="pt-PT" sz="2400" dirty="0" err="1"/>
              <a:t>code</a:t>
            </a:r>
            <a:r>
              <a:rPr lang="pt-PT" sz="2400" dirty="0"/>
              <a:t> editor</a:t>
            </a:r>
          </a:p>
          <a:p>
            <a:pPr marL="457200" lvl="1" indent="0">
              <a:buNone/>
            </a:pPr>
            <a:r>
              <a:rPr lang="pt-PT" dirty="0">
                <a:hlinkClick r:id="rId2"/>
              </a:rPr>
              <a:t>https://code.visualstudio.com/download</a:t>
            </a:r>
            <a:endParaRPr lang="pt-PT" b="1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5A974B51-546F-22A8-7650-A8C6D5320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11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4D0DDA8E-D913-33A8-A8F7-CFC022EF2BDE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1" i="0" u="none" strike="noStrike" kern="1200" cap="none" spc="0" baseline="0" dirty="0">
                <a:solidFill>
                  <a:schemeClr val="bg1"/>
                </a:solidFill>
                <a:uFillTx/>
                <a:latin typeface="+mj-lt"/>
                <a:ea typeface="Arrus BT Roman"/>
                <a:cs typeface="Arrus BT Roman"/>
              </a:rPr>
              <a:t>Python Installation 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7605CC48-B4EC-2410-49C8-CA1E04D4B4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4749" y="1578196"/>
            <a:ext cx="8207451" cy="4778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7575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9ACE8-C52B-798F-21E9-CFADAD0B0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4DF85ABE-1E38-D18B-2D4D-38F3615D37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04701"/>
            <a:ext cx="12191996" cy="1452699"/>
          </a:xfrm>
        </p:spPr>
        <p:txBody>
          <a:bodyPr>
            <a:normAutofit/>
          </a:bodyPr>
          <a:lstStyle/>
          <a:p>
            <a:r>
              <a:rPr lang="pt-PT" sz="2400" b="1" dirty="0"/>
              <a:t>3. </a:t>
            </a:r>
            <a:r>
              <a:rPr lang="pt-PT" sz="2400" b="1" dirty="0" err="1"/>
              <a:t>Install</a:t>
            </a:r>
            <a:r>
              <a:rPr lang="pt-PT" sz="2400" b="1" dirty="0"/>
              <a:t> VS </a:t>
            </a:r>
            <a:r>
              <a:rPr lang="pt-PT" sz="2400" b="1" dirty="0" err="1"/>
              <a:t>Code</a:t>
            </a:r>
            <a:r>
              <a:rPr lang="pt-PT" sz="2400" b="1" dirty="0"/>
              <a:t> </a:t>
            </a:r>
            <a:r>
              <a:rPr lang="pt-PT" sz="2400" b="1" dirty="0" err="1"/>
              <a:t>Python</a:t>
            </a:r>
            <a:r>
              <a:rPr lang="pt-PT" sz="2400" b="1" dirty="0"/>
              <a:t> </a:t>
            </a:r>
            <a:r>
              <a:rPr lang="pt-PT" sz="2400" b="1" dirty="0" err="1"/>
              <a:t>extension</a:t>
            </a:r>
            <a:endParaRPr lang="pt-PT" b="1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2FDECFEF-7526-1FC7-A25F-AA4E06392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12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24FC479C-AEC3-2F0F-5183-3D571E7744AF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1" dirty="0">
                <a:solidFill>
                  <a:schemeClr val="bg1"/>
                </a:solidFill>
                <a:latin typeface="+mj-lt"/>
                <a:ea typeface="Arrus BT Roman"/>
                <a:cs typeface="Arrus BT Roman"/>
              </a:rPr>
              <a:t>Python Installation 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E01880A-D23F-C7A3-8C1E-30E35D90DD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8603" y="1066945"/>
            <a:ext cx="6302286" cy="5654530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783733EE-C9A6-94ED-6094-A3DE4265ACDC}"/>
              </a:ext>
            </a:extLst>
          </p:cNvPr>
          <p:cNvSpPr/>
          <p:nvPr/>
        </p:nvSpPr>
        <p:spPr>
          <a:xfrm>
            <a:off x="2401732" y="3126622"/>
            <a:ext cx="1041119" cy="7675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69AC9DDF-698A-EE1E-2C51-62C048871FBD}"/>
              </a:ext>
            </a:extLst>
          </p:cNvPr>
          <p:cNvSpPr/>
          <p:nvPr/>
        </p:nvSpPr>
        <p:spPr>
          <a:xfrm>
            <a:off x="3825286" y="2653070"/>
            <a:ext cx="1059873" cy="3006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5116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A64C7-8F4D-7DFA-120E-6E752EAC7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874AE6F3-C507-A6B9-2EDD-3038A0A6AB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04701"/>
            <a:ext cx="12191996" cy="1452699"/>
          </a:xfrm>
        </p:spPr>
        <p:txBody>
          <a:bodyPr>
            <a:normAutofit/>
          </a:bodyPr>
          <a:lstStyle/>
          <a:p>
            <a:r>
              <a:rPr lang="pt-PT" sz="2400" b="1" dirty="0"/>
              <a:t>4. </a:t>
            </a:r>
            <a:r>
              <a:rPr lang="pt-PT" sz="2400" b="1" dirty="0" err="1"/>
              <a:t>Test</a:t>
            </a:r>
            <a:r>
              <a:rPr lang="pt-PT" sz="2400" b="1" dirty="0"/>
              <a:t> </a:t>
            </a:r>
            <a:r>
              <a:rPr lang="pt-PT" sz="2400" b="1" dirty="0" err="1"/>
              <a:t>installation</a:t>
            </a:r>
            <a:endParaRPr lang="pt-PT" sz="2400" b="1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C4504509-C95F-F493-46E0-E20D25B94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13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2CCE3F77-340F-ADA2-6A8C-E4B2E63B1891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1" dirty="0">
                <a:solidFill>
                  <a:schemeClr val="bg1"/>
                </a:solidFill>
                <a:latin typeface="+mj-lt"/>
                <a:ea typeface="Arrus BT Roman"/>
                <a:cs typeface="Arrus BT Roman"/>
              </a:rPr>
              <a:t>Python Installation 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AED821F4-10E0-DE94-CEDD-29E2744CFB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439" y="1032643"/>
            <a:ext cx="6011114" cy="2410161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3800F268-3EB6-228D-36BE-6271FE97B9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" y="3698786"/>
            <a:ext cx="12192000" cy="2401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5926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3212B-492C-06FB-BB43-0BC3F0E99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59365A89-6210-3964-A13D-AF632E78E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14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AC83A3F9-72C6-20CB-AEF2-6961C96CDA2C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r>
              <a:rPr lang="pt-PT" sz="2800" b="1" dirty="0" err="1">
                <a:solidFill>
                  <a:schemeClr val="bg1"/>
                </a:solidFill>
                <a:latin typeface="+mj-lt"/>
              </a:rPr>
              <a:t>Python</a:t>
            </a:r>
            <a:r>
              <a:rPr lang="pt-PT" sz="2800" b="1" dirty="0">
                <a:solidFill>
                  <a:schemeClr val="bg1"/>
                </a:solidFill>
                <a:latin typeface="+mj-lt"/>
              </a:rPr>
              <a:t> scripts </a:t>
            </a:r>
            <a:r>
              <a:rPr lang="pt-PT" sz="2800" b="1" dirty="0" err="1">
                <a:solidFill>
                  <a:schemeClr val="bg1"/>
                </a:solidFill>
                <a:latin typeface="+mj-lt"/>
              </a:rPr>
              <a:t>vs</a:t>
            </a:r>
            <a:r>
              <a:rPr lang="pt-PT" sz="28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+mj-lt"/>
              </a:rPr>
              <a:t>interactive</a:t>
            </a:r>
            <a:r>
              <a:rPr lang="pt-PT" sz="28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+mj-lt"/>
              </a:rPr>
              <a:t>editors</a:t>
            </a:r>
            <a:r>
              <a:rPr lang="pt-PT" sz="2800" b="1" dirty="0">
                <a:solidFill>
                  <a:schemeClr val="bg1"/>
                </a:solidFill>
                <a:latin typeface="+mj-lt"/>
              </a:rPr>
              <a:t> (</a:t>
            </a:r>
            <a:r>
              <a:rPr lang="pt-PT" sz="2800" b="1" dirty="0" err="1">
                <a:solidFill>
                  <a:schemeClr val="bg1"/>
                </a:solidFill>
                <a:latin typeface="+mj-lt"/>
              </a:rPr>
              <a:t>Jupyter</a:t>
            </a:r>
            <a:r>
              <a:rPr lang="pt-PT" sz="28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+mj-lt"/>
              </a:rPr>
              <a:t>notebook</a:t>
            </a:r>
            <a:r>
              <a:rPr lang="pt-PT" sz="2800" b="1" dirty="0">
                <a:solidFill>
                  <a:schemeClr val="bg1"/>
                </a:solidFill>
                <a:latin typeface="+mj-lt"/>
              </a:rPr>
              <a:t>) </a:t>
            </a:r>
          </a:p>
        </p:txBody>
      </p:sp>
      <p:sp>
        <p:nvSpPr>
          <p:cNvPr id="7" name="Marcador de Posição de Conteúdo 2">
            <a:extLst>
              <a:ext uri="{FF2B5EF4-FFF2-40B4-BE49-F238E27FC236}">
                <a16:creationId xmlns:a16="http://schemas.microsoft.com/office/drawing/2014/main" id="{4C6843EE-953C-046C-F3CE-A8F3937BE1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722484"/>
            <a:ext cx="12192000" cy="1570443"/>
          </a:xfrm>
        </p:spPr>
        <p:txBody>
          <a:bodyPr>
            <a:normAutofit/>
          </a:bodyPr>
          <a:lstStyle/>
          <a:p>
            <a:r>
              <a:rPr lang="pt-PT" sz="2400" dirty="0" err="1"/>
              <a:t>Python</a:t>
            </a:r>
            <a:r>
              <a:rPr lang="pt-PT" sz="2400" dirty="0"/>
              <a:t> scripts (.</a:t>
            </a:r>
            <a:r>
              <a:rPr lang="pt-PT" sz="2400" dirty="0" err="1"/>
              <a:t>py</a:t>
            </a:r>
            <a:r>
              <a:rPr lang="pt-PT" sz="2400" dirty="0"/>
              <a:t> files) output </a:t>
            </a:r>
            <a:r>
              <a:rPr lang="pt-PT" sz="2400" dirty="0" err="1"/>
              <a:t>the</a:t>
            </a:r>
            <a:r>
              <a:rPr lang="pt-PT" sz="2400" dirty="0"/>
              <a:t> </a:t>
            </a:r>
            <a:r>
              <a:rPr lang="pt-PT" sz="2400" dirty="0" err="1"/>
              <a:t>result</a:t>
            </a:r>
            <a:r>
              <a:rPr lang="pt-PT" sz="2400" dirty="0"/>
              <a:t> </a:t>
            </a:r>
            <a:r>
              <a:rPr lang="pt-PT" sz="2400" dirty="0" err="1"/>
              <a:t>of</a:t>
            </a:r>
            <a:r>
              <a:rPr lang="pt-PT" sz="2400" dirty="0"/>
              <a:t> </a:t>
            </a:r>
            <a:r>
              <a:rPr lang="pt-PT" sz="2400" dirty="0" err="1"/>
              <a:t>the</a:t>
            </a:r>
            <a:r>
              <a:rPr lang="pt-PT" sz="2400" dirty="0"/>
              <a:t> </a:t>
            </a:r>
            <a:r>
              <a:rPr lang="pt-PT" sz="2400" dirty="0" err="1"/>
              <a:t>code</a:t>
            </a:r>
            <a:r>
              <a:rPr lang="pt-PT" sz="2400" dirty="0"/>
              <a:t> to </a:t>
            </a:r>
            <a:r>
              <a:rPr lang="pt-PT" sz="2400" dirty="0" err="1"/>
              <a:t>the</a:t>
            </a:r>
            <a:r>
              <a:rPr lang="pt-PT" sz="2400" dirty="0"/>
              <a:t> terminal</a:t>
            </a:r>
          </a:p>
          <a:p>
            <a:endParaRPr lang="pt-PT" sz="2400" dirty="0"/>
          </a:p>
          <a:p>
            <a:r>
              <a:rPr lang="pt-PT" sz="2400" dirty="0" err="1"/>
              <a:t>Python</a:t>
            </a:r>
            <a:r>
              <a:rPr lang="pt-PT" sz="2400" dirty="0"/>
              <a:t> scripts are </a:t>
            </a:r>
            <a:r>
              <a:rPr lang="pt-PT" sz="2400" dirty="0" err="1"/>
              <a:t>useful</a:t>
            </a:r>
            <a:r>
              <a:rPr lang="pt-PT" sz="2400" dirty="0"/>
              <a:t> for </a:t>
            </a:r>
            <a:r>
              <a:rPr lang="pt-PT" sz="2400" dirty="0" err="1"/>
              <a:t>defining</a:t>
            </a:r>
            <a:r>
              <a:rPr lang="pt-PT" sz="2400" dirty="0"/>
              <a:t> </a:t>
            </a:r>
            <a:r>
              <a:rPr lang="pt-PT" sz="2400" dirty="0" err="1"/>
              <a:t>custom</a:t>
            </a:r>
            <a:r>
              <a:rPr lang="pt-PT" sz="2400" dirty="0"/>
              <a:t> </a:t>
            </a:r>
            <a:r>
              <a:rPr lang="pt-PT" sz="2400" dirty="0" err="1"/>
              <a:t>functions</a:t>
            </a:r>
            <a:r>
              <a:rPr lang="pt-PT" sz="2400" dirty="0"/>
              <a:t>, </a:t>
            </a:r>
            <a:r>
              <a:rPr lang="pt-PT" sz="2400" b="1" dirty="0" err="1"/>
              <a:t>but</a:t>
            </a:r>
            <a:r>
              <a:rPr lang="pt-PT" sz="2400" b="1" dirty="0"/>
              <a:t> </a:t>
            </a:r>
            <a:r>
              <a:rPr lang="pt-PT" sz="2400" b="1" dirty="0" err="1"/>
              <a:t>not</a:t>
            </a:r>
            <a:r>
              <a:rPr lang="pt-PT" sz="2400" b="1" dirty="0"/>
              <a:t> for </a:t>
            </a:r>
            <a:r>
              <a:rPr lang="pt-PT" sz="2400" b="1" dirty="0" err="1"/>
              <a:t>interactive</a:t>
            </a:r>
            <a:r>
              <a:rPr lang="pt-PT" sz="2400" b="1" dirty="0"/>
              <a:t> </a:t>
            </a:r>
            <a:r>
              <a:rPr lang="pt-PT" sz="2400" b="1" dirty="0" err="1"/>
              <a:t>analysis</a:t>
            </a:r>
            <a:endParaRPr lang="pt-PT" sz="2400" b="1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330021B9-F019-F2DE-6DD9-709D58799C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27" y="2815568"/>
            <a:ext cx="12192000" cy="2044286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1E9A0F63-46F7-8AB3-ECEE-FC288BE84E88}"/>
              </a:ext>
            </a:extLst>
          </p:cNvPr>
          <p:cNvSpPr/>
          <p:nvPr/>
        </p:nvSpPr>
        <p:spPr>
          <a:xfrm>
            <a:off x="11468099" y="2730117"/>
            <a:ext cx="377537" cy="4495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0833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F6B77-F3AD-CD1A-0A2E-8B450BA33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6F73EDAF-1B7F-38C9-1BE4-B0FE956E9C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" y="579215"/>
            <a:ext cx="12191996" cy="5777135"/>
          </a:xfrm>
        </p:spPr>
        <p:txBody>
          <a:bodyPr>
            <a:normAutofit lnSpcReduction="10000"/>
          </a:bodyPr>
          <a:lstStyle/>
          <a:p>
            <a:r>
              <a:rPr lang="pt-PT" sz="2400" dirty="0" err="1"/>
              <a:t>Using</a:t>
            </a:r>
            <a:r>
              <a:rPr lang="pt-PT" sz="2400" dirty="0"/>
              <a:t> </a:t>
            </a:r>
            <a:r>
              <a:rPr lang="pt-PT" sz="2400" dirty="0" err="1"/>
              <a:t>Python</a:t>
            </a:r>
            <a:r>
              <a:rPr lang="pt-PT" sz="2400" dirty="0"/>
              <a:t> </a:t>
            </a:r>
            <a:r>
              <a:rPr lang="pt-PT" sz="2400" dirty="0" err="1"/>
              <a:t>we</a:t>
            </a:r>
            <a:r>
              <a:rPr lang="pt-PT" sz="2400" dirty="0"/>
              <a:t> </a:t>
            </a:r>
            <a:r>
              <a:rPr lang="pt-PT" sz="2400" dirty="0" err="1"/>
              <a:t>have</a:t>
            </a:r>
            <a:r>
              <a:rPr lang="pt-PT" sz="2400" dirty="0"/>
              <a:t> to </a:t>
            </a:r>
            <a:r>
              <a:rPr lang="pt-PT" sz="2400" dirty="0" err="1"/>
              <a:t>be</a:t>
            </a:r>
            <a:r>
              <a:rPr lang="pt-PT" sz="2400" dirty="0"/>
              <a:t> </a:t>
            </a:r>
            <a:r>
              <a:rPr lang="pt-PT" sz="2400" dirty="0" err="1"/>
              <a:t>actively</a:t>
            </a:r>
            <a:r>
              <a:rPr lang="pt-PT" sz="2400" dirty="0"/>
              <a:t> </a:t>
            </a:r>
            <a:r>
              <a:rPr lang="pt-PT" sz="2400" dirty="0" err="1"/>
              <a:t>involved</a:t>
            </a:r>
            <a:r>
              <a:rPr lang="pt-PT" sz="2400" dirty="0"/>
              <a:t> </a:t>
            </a:r>
            <a:r>
              <a:rPr lang="pt-PT" sz="2400" dirty="0" err="1"/>
              <a:t>with</a:t>
            </a:r>
            <a:r>
              <a:rPr lang="pt-PT" sz="2400" dirty="0"/>
              <a:t> package </a:t>
            </a:r>
            <a:r>
              <a:rPr lang="pt-PT" sz="2400" dirty="0" err="1"/>
              <a:t>installation</a:t>
            </a:r>
            <a:r>
              <a:rPr lang="pt-PT" sz="2400" dirty="0"/>
              <a:t> </a:t>
            </a:r>
            <a:r>
              <a:rPr lang="pt-PT" sz="2400" dirty="0" err="1"/>
              <a:t>and</a:t>
            </a:r>
            <a:r>
              <a:rPr lang="pt-PT" sz="2400" dirty="0"/>
              <a:t> management</a:t>
            </a:r>
          </a:p>
          <a:p>
            <a:endParaRPr lang="pt-PT" sz="2400" dirty="0"/>
          </a:p>
          <a:p>
            <a:r>
              <a:rPr lang="pt-PT" sz="2400" dirty="0"/>
              <a:t>Packages </a:t>
            </a:r>
            <a:r>
              <a:rPr lang="pt-PT" sz="2400" dirty="0" err="1"/>
              <a:t>used</a:t>
            </a:r>
            <a:r>
              <a:rPr lang="pt-PT" sz="2400" dirty="0"/>
              <a:t> in </a:t>
            </a:r>
            <a:r>
              <a:rPr lang="pt-PT" sz="2400" dirty="0" err="1"/>
              <a:t>this</a:t>
            </a:r>
            <a:r>
              <a:rPr lang="pt-PT" sz="2400" dirty="0"/>
              <a:t> workshop:</a:t>
            </a:r>
          </a:p>
          <a:p>
            <a:pPr lvl="1"/>
            <a:r>
              <a:rPr lang="pt-PT" sz="2000" dirty="0" err="1"/>
              <a:t>Jupyter</a:t>
            </a:r>
            <a:endParaRPr lang="pt-PT" sz="2000" dirty="0"/>
          </a:p>
          <a:p>
            <a:pPr lvl="1"/>
            <a:r>
              <a:rPr lang="pt-PT" sz="2000" dirty="0" err="1"/>
              <a:t>Numpy</a:t>
            </a:r>
            <a:endParaRPr lang="pt-PT" sz="2000" dirty="0"/>
          </a:p>
          <a:p>
            <a:pPr lvl="1"/>
            <a:r>
              <a:rPr lang="pt-PT" sz="2000" dirty="0" err="1"/>
              <a:t>Matplotlib</a:t>
            </a:r>
            <a:endParaRPr lang="pt-PT" sz="2000" dirty="0"/>
          </a:p>
          <a:p>
            <a:pPr lvl="1"/>
            <a:r>
              <a:rPr lang="pt-PT" sz="2000" dirty="0" err="1"/>
              <a:t>Scipy</a:t>
            </a:r>
            <a:endParaRPr lang="pt-PT" sz="2000" dirty="0"/>
          </a:p>
          <a:p>
            <a:pPr lvl="1"/>
            <a:r>
              <a:rPr lang="pt-PT" sz="2000" dirty="0"/>
              <a:t>Pandas</a:t>
            </a:r>
          </a:p>
          <a:p>
            <a:pPr lvl="1"/>
            <a:r>
              <a:rPr lang="pt-PT" sz="2000" dirty="0" err="1"/>
              <a:t>Scikit-learn</a:t>
            </a:r>
            <a:endParaRPr lang="pt-PT" sz="2000" dirty="0"/>
          </a:p>
          <a:p>
            <a:pPr lvl="1"/>
            <a:r>
              <a:rPr lang="pt-PT" sz="2000" dirty="0" err="1"/>
              <a:t>Seaborn</a:t>
            </a:r>
            <a:endParaRPr lang="pt-PT" sz="2000" dirty="0"/>
          </a:p>
          <a:p>
            <a:pPr marL="457200" lvl="1" indent="0">
              <a:buNone/>
            </a:pPr>
            <a:endParaRPr lang="pt-PT" sz="2000" dirty="0"/>
          </a:p>
          <a:p>
            <a:r>
              <a:rPr lang="en-US" sz="2400" dirty="0"/>
              <a:t>Packages can be installed via:</a:t>
            </a:r>
          </a:p>
          <a:p>
            <a:pPr lvl="1"/>
            <a:r>
              <a:rPr lang="en-US" sz="2000" dirty="0"/>
              <a:t> command-line / terminal</a:t>
            </a:r>
          </a:p>
          <a:p>
            <a:pPr lvl="1"/>
            <a:r>
              <a:rPr lang="en-US" sz="2000" dirty="0"/>
              <a:t>directly in a Python script/ </a:t>
            </a:r>
            <a:r>
              <a:rPr lang="en-US" sz="2000" dirty="0" err="1"/>
              <a:t>Jupyter</a:t>
            </a:r>
            <a:r>
              <a:rPr lang="en-US" sz="2000" dirty="0"/>
              <a:t> notebook</a:t>
            </a:r>
          </a:p>
          <a:p>
            <a:pPr lvl="1"/>
            <a:endParaRPr lang="en-US" sz="2000" dirty="0"/>
          </a:p>
          <a:p>
            <a:r>
              <a:rPr lang="en-US" sz="2400" b="1" dirty="0"/>
              <a:t>This step can be skipped if using Google </a:t>
            </a:r>
            <a:r>
              <a:rPr lang="en-US" sz="2400" b="1" dirty="0" err="1"/>
              <a:t>colab</a:t>
            </a:r>
            <a:endParaRPr lang="en-US" sz="2400" b="1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50CA0546-6617-AA4D-B588-76D50DCFE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15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55A8808D-BBDD-406F-A9D5-021E2DBE3369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1" dirty="0">
                <a:solidFill>
                  <a:schemeClr val="bg1"/>
                </a:solidFill>
                <a:latin typeface="+mj-lt"/>
                <a:ea typeface="Arrus BT Roman"/>
                <a:cs typeface="Arrus BT Roman"/>
              </a:rPr>
              <a:t>Python package installation </a:t>
            </a:r>
          </a:p>
        </p:txBody>
      </p:sp>
    </p:spTree>
    <p:extLst>
      <p:ext uri="{BB962C8B-B14F-4D97-AF65-F5344CB8AC3E}">
        <p14:creationId xmlns:p14="http://schemas.microsoft.com/office/powerpoint/2010/main" val="23271000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5E5CE-6133-B0FA-E654-5ED1C2E70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0F8DCB14-5BF0-EEA5-297B-45901E3490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04700"/>
            <a:ext cx="12271664" cy="4289417"/>
          </a:xfrm>
        </p:spPr>
        <p:txBody>
          <a:bodyPr>
            <a:normAutofit/>
          </a:bodyPr>
          <a:lstStyle/>
          <a:p>
            <a:r>
              <a:rPr lang="pt-PT" sz="2400" b="1" dirty="0"/>
              <a:t>4. </a:t>
            </a:r>
            <a:r>
              <a:rPr lang="pt-PT" sz="2400" b="1" dirty="0" err="1"/>
              <a:t>Install</a:t>
            </a:r>
            <a:r>
              <a:rPr lang="pt-PT" sz="2400" b="1" dirty="0"/>
              <a:t> packages </a:t>
            </a:r>
          </a:p>
          <a:p>
            <a:r>
              <a:rPr lang="pt-PT" sz="2400" dirty="0" err="1"/>
              <a:t>We</a:t>
            </a:r>
            <a:r>
              <a:rPr lang="pt-PT" sz="2400" dirty="0"/>
              <a:t> </a:t>
            </a:r>
            <a:r>
              <a:rPr lang="pt-PT" sz="2400" dirty="0" err="1"/>
              <a:t>will</a:t>
            </a:r>
            <a:r>
              <a:rPr lang="pt-PT" sz="2400" dirty="0"/>
              <a:t> use </a:t>
            </a:r>
            <a:r>
              <a:rPr lang="pt-PT" sz="2400" dirty="0" err="1"/>
              <a:t>Pip</a:t>
            </a:r>
            <a:r>
              <a:rPr lang="pt-PT" sz="2400" dirty="0"/>
              <a:t> (</a:t>
            </a:r>
            <a:r>
              <a:rPr lang="pt-PT" sz="2400" dirty="0">
                <a:hlinkClick r:id="rId2"/>
              </a:rPr>
              <a:t>https://pypi.org/project/pip/</a:t>
            </a:r>
            <a:r>
              <a:rPr lang="pt-PT" sz="2400" dirty="0"/>
              <a:t>) </a:t>
            </a:r>
            <a:r>
              <a:rPr lang="pt-PT" sz="2400" dirty="0" err="1"/>
              <a:t>which</a:t>
            </a:r>
            <a:r>
              <a:rPr lang="pt-PT" sz="2400" dirty="0"/>
              <a:t> </a:t>
            </a:r>
            <a:r>
              <a:rPr lang="pt-PT" sz="2400" dirty="0" err="1"/>
              <a:t>is</a:t>
            </a:r>
            <a:r>
              <a:rPr lang="pt-PT" sz="2400" dirty="0"/>
              <a:t> </a:t>
            </a:r>
            <a:r>
              <a:rPr lang="pt-PT" sz="2400" dirty="0" err="1"/>
              <a:t>the</a:t>
            </a:r>
            <a:r>
              <a:rPr lang="pt-PT" sz="2400" dirty="0"/>
              <a:t> </a:t>
            </a:r>
            <a:r>
              <a:rPr lang="pt-PT" sz="2400" dirty="0" err="1"/>
              <a:t>native</a:t>
            </a:r>
            <a:r>
              <a:rPr lang="pt-PT" sz="2400" dirty="0"/>
              <a:t> </a:t>
            </a:r>
            <a:r>
              <a:rPr lang="pt-PT" sz="2400" dirty="0" err="1"/>
              <a:t>Python</a:t>
            </a:r>
            <a:r>
              <a:rPr lang="pt-PT" sz="2400" dirty="0"/>
              <a:t> package instalar </a:t>
            </a:r>
          </a:p>
          <a:p>
            <a:pPr marL="457200" lvl="1" indent="0">
              <a:buNone/>
            </a:pPr>
            <a:endParaRPr lang="pt-PT" sz="1600" dirty="0"/>
          </a:p>
          <a:p>
            <a:pPr marL="457200" lvl="1" indent="0">
              <a:buNone/>
            </a:pPr>
            <a:endParaRPr lang="pt-PT" sz="1600" dirty="0"/>
          </a:p>
          <a:p>
            <a:pPr marL="457200" lvl="1" indent="0">
              <a:buNone/>
            </a:pPr>
            <a:endParaRPr lang="pt-PT" sz="1600" dirty="0"/>
          </a:p>
          <a:p>
            <a:pPr marL="457200" lvl="1" indent="0">
              <a:buNone/>
            </a:pPr>
            <a:endParaRPr lang="pt-PT" sz="1600" dirty="0"/>
          </a:p>
          <a:p>
            <a:pPr marL="457200" lvl="1" indent="0">
              <a:buNone/>
            </a:pPr>
            <a:endParaRPr lang="pt-PT" sz="1600" dirty="0"/>
          </a:p>
          <a:p>
            <a:pPr marL="457200" lvl="1" indent="0">
              <a:buNone/>
            </a:pPr>
            <a:endParaRPr lang="pt-PT" sz="1600" dirty="0"/>
          </a:p>
          <a:p>
            <a:r>
              <a:rPr lang="pt-PT" b="1" dirty="0"/>
              <a:t>Notes: </a:t>
            </a:r>
          </a:p>
          <a:p>
            <a:pPr lvl="1"/>
            <a:r>
              <a:rPr lang="pt-PT" dirty="0"/>
              <a:t>Anaconda </a:t>
            </a:r>
            <a:r>
              <a:rPr lang="pt-PT" dirty="0" err="1"/>
              <a:t>is</a:t>
            </a:r>
            <a:r>
              <a:rPr lang="pt-PT" dirty="0"/>
              <a:t> a popular package manager </a:t>
            </a:r>
            <a:r>
              <a:rPr lang="pt-PT" dirty="0" err="1"/>
              <a:t>but</a:t>
            </a:r>
            <a:r>
              <a:rPr lang="pt-PT" dirty="0"/>
              <a:t> </a:t>
            </a:r>
            <a:r>
              <a:rPr lang="pt-PT" dirty="0" err="1"/>
              <a:t>requires</a:t>
            </a:r>
            <a:r>
              <a:rPr lang="pt-PT" dirty="0"/>
              <a:t> </a:t>
            </a:r>
            <a:r>
              <a:rPr lang="pt-PT" dirty="0" err="1"/>
              <a:t>paid</a:t>
            </a:r>
            <a:r>
              <a:rPr lang="pt-PT" dirty="0"/>
              <a:t> </a:t>
            </a:r>
            <a:r>
              <a:rPr lang="pt-PT" dirty="0" err="1"/>
              <a:t>license</a:t>
            </a:r>
            <a:r>
              <a:rPr lang="pt-PT" dirty="0"/>
              <a:t> for </a:t>
            </a:r>
            <a:r>
              <a:rPr lang="pt-PT" dirty="0" err="1"/>
              <a:t>company</a:t>
            </a:r>
            <a:r>
              <a:rPr lang="pt-PT" dirty="0"/>
              <a:t> use</a:t>
            </a:r>
            <a:endParaRPr lang="en-US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3963D225-1C7A-661C-81B4-9E9F62492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16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9DB0C51C-34A2-F8C7-A5E8-DCC36E57945A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1" dirty="0">
                <a:solidFill>
                  <a:schemeClr val="bg1"/>
                </a:solidFill>
                <a:latin typeface="+mj-lt"/>
                <a:ea typeface="Arrus BT Roman"/>
                <a:cs typeface="Arrus BT Roman"/>
              </a:rPr>
              <a:t>Python package installation 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DDB3A0C-0CF8-FC23-D710-FCBB14ECA3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6788" y="5593617"/>
            <a:ext cx="8771380" cy="1127858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8ECA7D25-A6F0-6539-D9F6-2287A62CF7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5747" y="4687559"/>
            <a:ext cx="9800169" cy="1112616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F2F2BE67-8DDB-A400-CFB6-79566D467B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9988" y="1780197"/>
            <a:ext cx="10211685" cy="1295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4140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1EA85-9D1D-9F95-3722-5A9E9DF4C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90D3FD4A-4CD0-2900-0583-5232CB1BCA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" y="676570"/>
            <a:ext cx="12337469" cy="3078012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Open up the terminal in VS Code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Install the necessary packages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AEFB203A-1B96-68BA-2146-2BF000EA2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17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8D1BED46-5B57-721C-7B26-84A488922B8B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1" dirty="0">
                <a:solidFill>
                  <a:schemeClr val="bg1"/>
                </a:solidFill>
                <a:latin typeface="+mj-lt"/>
                <a:ea typeface="Arrus BT Roman"/>
                <a:cs typeface="Arrus BT Roman"/>
              </a:rPr>
              <a:t>Python package installation 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EDC7469-E4BA-316E-BC8E-F9CE1D31EB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48" y="1227750"/>
            <a:ext cx="10345594" cy="1562318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C4F398F-B79A-6CB2-B3B2-16648E01F0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948" y="3906809"/>
            <a:ext cx="10973655" cy="148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3189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ECA2C-EE08-091D-3CB0-5C1E220A1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85B67127-17C3-F204-45B6-E2260FB05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18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19F4D76A-A985-5280-2C61-4275587FF0B8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1" dirty="0" err="1">
                <a:solidFill>
                  <a:schemeClr val="bg1"/>
                </a:solidFill>
                <a:latin typeface="+mj-lt"/>
                <a:ea typeface="Arrus BT Roman"/>
                <a:cs typeface="Arrus BT Roman"/>
              </a:rPr>
              <a:t>Jupyter</a:t>
            </a:r>
            <a:r>
              <a:rPr lang="en-US" sz="2800" b="1" dirty="0">
                <a:solidFill>
                  <a:schemeClr val="bg1"/>
                </a:solidFill>
                <a:latin typeface="+mj-lt"/>
                <a:ea typeface="Arrus BT Roman"/>
                <a:cs typeface="Arrus BT Roman"/>
              </a:rPr>
              <a:t> Notebook</a:t>
            </a:r>
          </a:p>
        </p:txBody>
      </p:sp>
      <p:sp>
        <p:nvSpPr>
          <p:cNvPr id="14" name="Marcador de Posição de Conteúdo 2">
            <a:extLst>
              <a:ext uri="{FF2B5EF4-FFF2-40B4-BE49-F238E27FC236}">
                <a16:creationId xmlns:a16="http://schemas.microsoft.com/office/drawing/2014/main" id="{80338B89-F70E-0A5A-55CF-E75E7ACBD9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14051"/>
            <a:ext cx="12192000" cy="972728"/>
          </a:xfrm>
        </p:spPr>
        <p:txBody>
          <a:bodyPr>
            <a:normAutofit/>
          </a:bodyPr>
          <a:lstStyle/>
          <a:p>
            <a:r>
              <a:rPr lang="pt-PT" sz="2000" dirty="0" err="1"/>
              <a:t>Install</a:t>
            </a:r>
            <a:r>
              <a:rPr lang="pt-PT" sz="2000" dirty="0"/>
              <a:t> </a:t>
            </a:r>
            <a:r>
              <a:rPr lang="pt-PT" sz="2000" dirty="0" err="1"/>
              <a:t>Jupyter</a:t>
            </a:r>
            <a:r>
              <a:rPr lang="pt-PT" sz="2000" dirty="0"/>
              <a:t> </a:t>
            </a:r>
            <a:r>
              <a:rPr lang="pt-PT" sz="2000" dirty="0" err="1"/>
              <a:t>notebook</a:t>
            </a:r>
            <a:r>
              <a:rPr lang="pt-PT" sz="2000" dirty="0"/>
              <a:t> </a:t>
            </a:r>
            <a:r>
              <a:rPr lang="pt-PT" sz="2000" dirty="0" err="1"/>
              <a:t>extension</a:t>
            </a:r>
            <a:r>
              <a:rPr lang="pt-PT" sz="2000" dirty="0"/>
              <a:t> for VS </a:t>
            </a:r>
            <a:r>
              <a:rPr lang="pt-PT" sz="2000" dirty="0" err="1"/>
              <a:t>Code</a:t>
            </a:r>
            <a:r>
              <a:rPr lang="pt-PT" sz="2000" dirty="0"/>
              <a:t> </a:t>
            </a:r>
            <a:r>
              <a:rPr lang="pt-PT" sz="2400" dirty="0"/>
              <a:t>(</a:t>
            </a:r>
            <a:r>
              <a:rPr lang="pt-PT" sz="1800" dirty="0">
                <a:hlinkClick r:id="rId2"/>
              </a:rPr>
              <a:t>https://code.visualstudio.com/docs/datascience/jupyter-notebooks</a:t>
            </a:r>
            <a:r>
              <a:rPr lang="pt-PT" sz="1800" dirty="0"/>
              <a:t>)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EC1C7F1A-6A49-C6AC-D78A-D3DC506767F3}"/>
              </a:ext>
            </a:extLst>
          </p:cNvPr>
          <p:cNvGrpSpPr/>
          <p:nvPr/>
        </p:nvGrpSpPr>
        <p:grpSpPr>
          <a:xfrm>
            <a:off x="1697967" y="1391278"/>
            <a:ext cx="8392696" cy="5249008"/>
            <a:chOff x="2242553" y="1107342"/>
            <a:chExt cx="8392696" cy="5249008"/>
          </a:xfrm>
        </p:grpSpPr>
        <p:pic>
          <p:nvPicPr>
            <p:cNvPr id="3" name="Imagem 2">
              <a:extLst>
                <a:ext uri="{FF2B5EF4-FFF2-40B4-BE49-F238E27FC236}">
                  <a16:creationId xmlns:a16="http://schemas.microsoft.com/office/drawing/2014/main" id="{E5D3760C-089F-F4D3-9A6B-A7D70C7E60E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42553" y="1107342"/>
              <a:ext cx="8392696" cy="5249008"/>
            </a:xfrm>
            <a:prstGeom prst="rect">
              <a:avLst/>
            </a:prstGeom>
          </p:spPr>
        </p:pic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72469878-58AB-52D8-C99C-16176C8C8061}"/>
                </a:ext>
              </a:extLst>
            </p:cNvPr>
            <p:cNvSpPr/>
            <p:nvPr/>
          </p:nvSpPr>
          <p:spPr>
            <a:xfrm>
              <a:off x="3000230" y="2594734"/>
              <a:ext cx="2122488" cy="122912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B2E06615-9C35-C3B9-F965-971F9F2BC056}"/>
                </a:ext>
              </a:extLst>
            </p:cNvPr>
            <p:cNvSpPr/>
            <p:nvPr/>
          </p:nvSpPr>
          <p:spPr>
            <a:xfrm>
              <a:off x="2242553" y="4326552"/>
              <a:ext cx="806306" cy="68186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821049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12AA0-D80F-B1DD-78EB-7FBC2E269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0E735927-4EEC-386D-51FE-3933E5B88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19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AFD6AD62-5EC8-1E32-BFC1-CD475B18E464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r>
              <a:rPr lang="pt-PT" sz="2800" b="1" dirty="0" err="1">
                <a:solidFill>
                  <a:schemeClr val="bg1"/>
                </a:solidFill>
                <a:latin typeface="+mj-lt"/>
              </a:rPr>
              <a:t>Python</a:t>
            </a:r>
            <a:r>
              <a:rPr lang="pt-PT" sz="2800" b="1" dirty="0">
                <a:solidFill>
                  <a:schemeClr val="bg1"/>
                </a:solidFill>
                <a:latin typeface="+mj-lt"/>
              </a:rPr>
              <a:t> scripts </a:t>
            </a:r>
            <a:r>
              <a:rPr lang="pt-PT" sz="2800" b="1" dirty="0" err="1">
                <a:solidFill>
                  <a:schemeClr val="bg1"/>
                </a:solidFill>
                <a:latin typeface="+mj-lt"/>
              </a:rPr>
              <a:t>vs</a:t>
            </a:r>
            <a:r>
              <a:rPr lang="pt-PT" sz="28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+mj-lt"/>
              </a:rPr>
              <a:t>interactive</a:t>
            </a:r>
            <a:r>
              <a:rPr lang="pt-PT" sz="28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+mj-lt"/>
              </a:rPr>
              <a:t>editors</a:t>
            </a:r>
            <a:r>
              <a:rPr lang="pt-PT" sz="2800" b="1" dirty="0">
                <a:solidFill>
                  <a:schemeClr val="bg1"/>
                </a:solidFill>
                <a:latin typeface="+mj-lt"/>
              </a:rPr>
              <a:t> (</a:t>
            </a:r>
            <a:r>
              <a:rPr lang="pt-PT" sz="2800" b="1" dirty="0" err="1">
                <a:solidFill>
                  <a:schemeClr val="bg1"/>
                </a:solidFill>
                <a:latin typeface="+mj-lt"/>
              </a:rPr>
              <a:t>Jupyter</a:t>
            </a:r>
            <a:r>
              <a:rPr lang="pt-PT" sz="28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+mj-lt"/>
              </a:rPr>
              <a:t>notebook</a:t>
            </a:r>
            <a:r>
              <a:rPr lang="pt-PT" sz="2800" b="1" dirty="0">
                <a:solidFill>
                  <a:schemeClr val="bg1"/>
                </a:solidFill>
                <a:latin typeface="+mj-lt"/>
              </a:rPr>
              <a:t>) 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FA47AE5-CF92-25A4-FC5E-01176E7355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0692" y="471336"/>
            <a:ext cx="1690254" cy="2138273"/>
          </a:xfrm>
          <a:prstGeom prst="rect">
            <a:avLst/>
          </a:prstGeom>
        </p:spPr>
      </p:pic>
      <p:sp>
        <p:nvSpPr>
          <p:cNvPr id="7" name="Marcador de Posição de Conteúdo 2">
            <a:extLst>
              <a:ext uri="{FF2B5EF4-FFF2-40B4-BE49-F238E27FC236}">
                <a16:creationId xmlns:a16="http://schemas.microsoft.com/office/drawing/2014/main" id="{48045EE2-1FDD-F4BB-343A-B94E329019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89582"/>
            <a:ext cx="9857509" cy="2202873"/>
          </a:xfrm>
        </p:spPr>
        <p:txBody>
          <a:bodyPr>
            <a:normAutofit lnSpcReduction="10000"/>
          </a:bodyPr>
          <a:lstStyle/>
          <a:p>
            <a:r>
              <a:rPr lang="pt-PT" sz="2400" dirty="0" err="1"/>
              <a:t>Jupyter</a:t>
            </a:r>
            <a:r>
              <a:rPr lang="pt-PT" sz="2400" dirty="0"/>
              <a:t> </a:t>
            </a:r>
            <a:r>
              <a:rPr lang="pt-PT" sz="2400" dirty="0" err="1"/>
              <a:t>notebooks</a:t>
            </a:r>
            <a:r>
              <a:rPr lang="pt-PT" sz="2400" dirty="0"/>
              <a:t> are </a:t>
            </a:r>
            <a:r>
              <a:rPr lang="pt-PT" sz="2400" dirty="0" err="1"/>
              <a:t>very</a:t>
            </a:r>
            <a:r>
              <a:rPr lang="pt-PT" sz="2400" dirty="0"/>
              <a:t> popular for </a:t>
            </a:r>
            <a:r>
              <a:rPr lang="pt-PT" sz="2400" dirty="0" err="1"/>
              <a:t>interactive</a:t>
            </a:r>
            <a:r>
              <a:rPr lang="pt-PT" sz="2400" dirty="0"/>
              <a:t> </a:t>
            </a:r>
            <a:r>
              <a:rPr lang="pt-PT" sz="2400" dirty="0" err="1"/>
              <a:t>code</a:t>
            </a:r>
            <a:r>
              <a:rPr lang="pt-PT" sz="2400" dirty="0"/>
              <a:t> </a:t>
            </a:r>
            <a:r>
              <a:rPr lang="pt-PT" sz="2400" dirty="0" err="1"/>
              <a:t>development</a:t>
            </a:r>
            <a:r>
              <a:rPr lang="pt-PT" sz="2400" dirty="0"/>
              <a:t> </a:t>
            </a:r>
            <a:r>
              <a:rPr lang="pt-PT" sz="2400" dirty="0" err="1"/>
              <a:t>and</a:t>
            </a:r>
            <a:r>
              <a:rPr lang="pt-PT" sz="2400" dirty="0"/>
              <a:t> data </a:t>
            </a:r>
            <a:r>
              <a:rPr lang="pt-PT" sz="2400" dirty="0" err="1"/>
              <a:t>analysis</a:t>
            </a:r>
            <a:endParaRPr lang="pt-PT" sz="2400" dirty="0"/>
          </a:p>
          <a:p>
            <a:pPr marL="457200" lvl="1" indent="0">
              <a:buNone/>
            </a:pPr>
            <a:r>
              <a:rPr lang="pt-PT" sz="2000" dirty="0">
                <a:hlinkClick r:id="rId3"/>
              </a:rPr>
              <a:t>https://jupyter.org/</a:t>
            </a:r>
            <a:endParaRPr lang="pt-PT" sz="2000" dirty="0"/>
          </a:p>
          <a:p>
            <a:pPr marL="457200" lvl="1" indent="0">
              <a:buNone/>
            </a:pPr>
            <a:endParaRPr lang="pt-PT" sz="2000" dirty="0"/>
          </a:p>
          <a:p>
            <a:r>
              <a:rPr lang="pt-PT" sz="2400" dirty="0" err="1"/>
              <a:t>Notebooks</a:t>
            </a:r>
            <a:r>
              <a:rPr lang="pt-PT" sz="2400" dirty="0"/>
              <a:t> </a:t>
            </a:r>
            <a:r>
              <a:rPr lang="pt-PT" sz="2400" dirty="0" err="1"/>
              <a:t>allow</a:t>
            </a:r>
            <a:r>
              <a:rPr lang="pt-PT" sz="2400" dirty="0"/>
              <a:t> for </a:t>
            </a:r>
            <a:r>
              <a:rPr lang="pt-PT" sz="2400" dirty="0" err="1"/>
              <a:t>integration</a:t>
            </a:r>
            <a:r>
              <a:rPr lang="pt-PT" sz="2400" dirty="0"/>
              <a:t> </a:t>
            </a:r>
            <a:r>
              <a:rPr lang="pt-PT" sz="2400" dirty="0" err="1"/>
              <a:t>of</a:t>
            </a:r>
            <a:r>
              <a:rPr lang="pt-PT" sz="2400" dirty="0"/>
              <a:t> </a:t>
            </a:r>
            <a:r>
              <a:rPr lang="pt-PT" sz="2400" dirty="0" err="1"/>
              <a:t>code</a:t>
            </a:r>
            <a:r>
              <a:rPr lang="pt-PT" sz="2400" dirty="0"/>
              <a:t> </a:t>
            </a:r>
            <a:r>
              <a:rPr lang="pt-PT" sz="2400" dirty="0" err="1"/>
              <a:t>and</a:t>
            </a:r>
            <a:r>
              <a:rPr lang="pt-PT" sz="2400" dirty="0"/>
              <a:t> </a:t>
            </a:r>
            <a:r>
              <a:rPr lang="pt-PT" sz="2400" dirty="0" err="1"/>
              <a:t>written</a:t>
            </a:r>
            <a:r>
              <a:rPr lang="pt-PT" sz="2400" dirty="0"/>
              <a:t> </a:t>
            </a:r>
            <a:r>
              <a:rPr lang="pt-PT" sz="2400" dirty="0" err="1"/>
              <a:t>sections</a:t>
            </a:r>
            <a:endParaRPr lang="pt-PT" sz="2400" dirty="0"/>
          </a:p>
          <a:p>
            <a:pPr lvl="1"/>
            <a:r>
              <a:rPr lang="pt-PT" sz="2000" dirty="0" err="1"/>
              <a:t>Explain</a:t>
            </a:r>
            <a:r>
              <a:rPr lang="pt-PT" sz="2000" dirty="0"/>
              <a:t> </a:t>
            </a:r>
            <a:r>
              <a:rPr lang="pt-PT" sz="2000" dirty="0" err="1"/>
              <a:t>the</a:t>
            </a:r>
            <a:r>
              <a:rPr lang="pt-PT" sz="2000" dirty="0"/>
              <a:t> </a:t>
            </a:r>
            <a:r>
              <a:rPr lang="pt-PT" sz="2000" dirty="0" err="1"/>
              <a:t>code</a:t>
            </a:r>
            <a:r>
              <a:rPr lang="pt-PT" sz="2000" dirty="0"/>
              <a:t> </a:t>
            </a:r>
            <a:r>
              <a:rPr lang="pt-PT" sz="2000" dirty="0" err="1"/>
              <a:t>and</a:t>
            </a:r>
            <a:r>
              <a:rPr lang="pt-PT" sz="2000" dirty="0"/>
              <a:t> </a:t>
            </a:r>
            <a:r>
              <a:rPr lang="pt-PT" sz="2000" dirty="0" err="1"/>
              <a:t>results</a:t>
            </a:r>
            <a:r>
              <a:rPr lang="pt-PT" sz="2000" dirty="0"/>
              <a:t> to </a:t>
            </a:r>
            <a:r>
              <a:rPr lang="pt-PT" sz="2000" dirty="0" err="1"/>
              <a:t>other</a:t>
            </a:r>
            <a:r>
              <a:rPr lang="pt-PT" sz="2000" dirty="0"/>
              <a:t> </a:t>
            </a:r>
            <a:r>
              <a:rPr lang="pt-PT" sz="2000" dirty="0" err="1"/>
              <a:t>people</a:t>
            </a:r>
            <a:r>
              <a:rPr lang="pt-PT" sz="2000" dirty="0"/>
              <a:t> </a:t>
            </a:r>
            <a:r>
              <a:rPr lang="pt-PT" sz="2000" dirty="0" err="1"/>
              <a:t>or</a:t>
            </a:r>
            <a:r>
              <a:rPr lang="pt-PT" sz="2000" dirty="0"/>
              <a:t> </a:t>
            </a:r>
            <a:r>
              <a:rPr lang="pt-PT" sz="2000" dirty="0" err="1"/>
              <a:t>write</a:t>
            </a:r>
            <a:r>
              <a:rPr lang="pt-PT" sz="2000" dirty="0"/>
              <a:t> </a:t>
            </a:r>
            <a:r>
              <a:rPr lang="pt-PT" sz="2000" dirty="0" err="1"/>
              <a:t>personal</a:t>
            </a:r>
            <a:r>
              <a:rPr lang="pt-PT" sz="2000" dirty="0"/>
              <a:t> </a:t>
            </a:r>
            <a:r>
              <a:rPr lang="pt-PT" sz="2000" dirty="0" err="1"/>
              <a:t>memos</a:t>
            </a:r>
            <a:r>
              <a:rPr lang="pt-PT" sz="2000" dirty="0"/>
              <a:t> </a:t>
            </a:r>
          </a:p>
          <a:p>
            <a:endParaRPr lang="pt-PT" sz="2000" dirty="0"/>
          </a:p>
          <a:p>
            <a:endParaRPr lang="pt-PT" sz="2400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04403383-26F1-40A2-66ED-0E2AE81D374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2356" r="36193" b="2356"/>
          <a:stretch>
            <a:fillRect/>
          </a:stretch>
        </p:blipFill>
        <p:spPr>
          <a:xfrm>
            <a:off x="1686789" y="2710701"/>
            <a:ext cx="8750750" cy="1715685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CCFD8D9-9468-020D-4272-2B3DAD937C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9121" y="4521848"/>
            <a:ext cx="8818418" cy="2143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1952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B3CA4-6D19-EF3C-EF62-80EE99B3B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BA75DF4F-D943-48CA-1331-8A05B22F2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20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6787021B-0CCF-B7B2-B1BD-40F2A687AF16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r>
              <a:rPr lang="pt-PT" sz="2800" b="1" dirty="0" err="1">
                <a:solidFill>
                  <a:schemeClr val="bg1"/>
                </a:solidFill>
                <a:latin typeface="+mj-lt"/>
              </a:rPr>
              <a:t>Jupyter</a:t>
            </a:r>
            <a:r>
              <a:rPr lang="pt-PT" sz="28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+mj-lt"/>
              </a:rPr>
              <a:t>notebook</a:t>
            </a:r>
            <a:r>
              <a:rPr lang="pt-PT" sz="2800" b="1" dirty="0">
                <a:solidFill>
                  <a:schemeClr val="bg1"/>
                </a:solidFill>
                <a:latin typeface="+mj-lt"/>
              </a:rPr>
              <a:t> </a:t>
            </a:r>
          </a:p>
        </p:txBody>
      </p:sp>
      <p:sp>
        <p:nvSpPr>
          <p:cNvPr id="14" name="Marcador de Posição de Conteúdo 2">
            <a:extLst>
              <a:ext uri="{FF2B5EF4-FFF2-40B4-BE49-F238E27FC236}">
                <a16:creationId xmlns:a16="http://schemas.microsoft.com/office/drawing/2014/main" id="{7DFA67FF-2207-D847-D79A-F23704718B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84013"/>
            <a:ext cx="12067305" cy="471337"/>
          </a:xfrm>
        </p:spPr>
        <p:txBody>
          <a:bodyPr>
            <a:normAutofit/>
          </a:bodyPr>
          <a:lstStyle/>
          <a:p>
            <a:r>
              <a:rPr lang="pt-PT" sz="2400" dirty="0" err="1"/>
              <a:t>Choose</a:t>
            </a:r>
            <a:r>
              <a:rPr lang="pt-PT" sz="2400" dirty="0"/>
              <a:t> </a:t>
            </a:r>
            <a:r>
              <a:rPr lang="pt-PT" sz="2400" dirty="0" err="1"/>
              <a:t>kernel</a:t>
            </a:r>
            <a:r>
              <a:rPr lang="pt-PT" sz="2400" dirty="0"/>
              <a:t> (</a:t>
            </a:r>
            <a:r>
              <a:rPr lang="pt-PT" sz="2400" dirty="0" err="1"/>
              <a:t>or</a:t>
            </a:r>
            <a:r>
              <a:rPr lang="pt-PT" sz="2400" dirty="0"/>
              <a:t> </a:t>
            </a:r>
            <a:r>
              <a:rPr lang="pt-PT" sz="2400" dirty="0" err="1"/>
              <a:t>Python</a:t>
            </a:r>
            <a:r>
              <a:rPr lang="pt-PT" sz="2400" dirty="0"/>
              <a:t> </a:t>
            </a:r>
            <a:r>
              <a:rPr lang="pt-PT" sz="2400" dirty="0" err="1"/>
              <a:t>environment</a:t>
            </a:r>
            <a:r>
              <a:rPr lang="pt-PT" sz="2400" dirty="0"/>
              <a:t>)</a:t>
            </a:r>
            <a:endParaRPr lang="pt-PT" sz="2000" dirty="0"/>
          </a:p>
        </p:txBody>
      </p: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E1D76F24-26F6-689F-FF8E-1721B555DE97}"/>
              </a:ext>
            </a:extLst>
          </p:cNvPr>
          <p:cNvGrpSpPr/>
          <p:nvPr/>
        </p:nvGrpSpPr>
        <p:grpSpPr>
          <a:xfrm>
            <a:off x="18754" y="1035439"/>
            <a:ext cx="12192000" cy="1525226"/>
            <a:chOff x="0" y="1548887"/>
            <a:chExt cx="12192000" cy="1525226"/>
          </a:xfrm>
        </p:grpSpPr>
        <p:pic>
          <p:nvPicPr>
            <p:cNvPr id="8" name="Imagem 7">
              <a:extLst>
                <a:ext uri="{FF2B5EF4-FFF2-40B4-BE49-F238E27FC236}">
                  <a16:creationId xmlns:a16="http://schemas.microsoft.com/office/drawing/2014/main" id="{2263F16F-D9B6-91EA-8FE4-56E091B9ED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1548887"/>
              <a:ext cx="12192000" cy="1525226"/>
            </a:xfrm>
            <a:prstGeom prst="rect">
              <a:avLst/>
            </a:prstGeom>
          </p:spPr>
        </p:pic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401E9FC4-4E7B-BDD9-BDC9-993B1B3A18DD}"/>
                </a:ext>
              </a:extLst>
            </p:cNvPr>
            <p:cNvSpPr/>
            <p:nvPr/>
          </p:nvSpPr>
          <p:spPr>
            <a:xfrm>
              <a:off x="11256814" y="2136210"/>
              <a:ext cx="935182" cy="25630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117C8AA4-9C00-7D1A-2ECA-9FC49D6CCB6A}"/>
              </a:ext>
            </a:extLst>
          </p:cNvPr>
          <p:cNvGrpSpPr/>
          <p:nvPr/>
        </p:nvGrpSpPr>
        <p:grpSpPr>
          <a:xfrm>
            <a:off x="18754" y="2822371"/>
            <a:ext cx="12192000" cy="1213258"/>
            <a:chOff x="0" y="3309377"/>
            <a:chExt cx="12192000" cy="1213258"/>
          </a:xfrm>
        </p:grpSpPr>
        <p:pic>
          <p:nvPicPr>
            <p:cNvPr id="10" name="Imagem 9">
              <a:extLst>
                <a:ext uri="{FF2B5EF4-FFF2-40B4-BE49-F238E27FC236}">
                  <a16:creationId xmlns:a16="http://schemas.microsoft.com/office/drawing/2014/main" id="{E4FFA5AE-ED59-F46A-F6DC-23F3C186CE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309377"/>
              <a:ext cx="12192000" cy="1213258"/>
            </a:xfrm>
            <a:prstGeom prst="rect">
              <a:avLst/>
            </a:prstGeom>
          </p:spPr>
        </p:pic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F0E272BA-BABD-92C0-0292-BF97DC68DC15}"/>
                </a:ext>
              </a:extLst>
            </p:cNvPr>
            <p:cNvSpPr/>
            <p:nvPr/>
          </p:nvSpPr>
          <p:spPr>
            <a:xfrm>
              <a:off x="11132123" y="3647182"/>
              <a:ext cx="1059873" cy="30060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3B8D4CBE-C69B-3973-0C23-9871C0638633}"/>
              </a:ext>
            </a:extLst>
          </p:cNvPr>
          <p:cNvGrpSpPr/>
          <p:nvPr/>
        </p:nvGrpSpPr>
        <p:grpSpPr>
          <a:xfrm>
            <a:off x="690700" y="4255913"/>
            <a:ext cx="9963446" cy="1894909"/>
            <a:chOff x="18754" y="4700447"/>
            <a:chExt cx="9963446" cy="1894909"/>
          </a:xfrm>
        </p:grpSpPr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A71CD98C-2495-2639-5F45-653DFFEC88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74918" y="4816977"/>
              <a:ext cx="7407282" cy="1539373"/>
            </a:xfrm>
            <a:prstGeom prst="rect">
              <a:avLst/>
            </a:prstGeom>
          </p:spPr>
        </p:pic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id="{A36712FA-3E59-B501-F460-70D7710E1A05}"/>
                </a:ext>
              </a:extLst>
            </p:cNvPr>
            <p:cNvSpPr txBox="1"/>
            <p:nvPr/>
          </p:nvSpPr>
          <p:spPr>
            <a:xfrm>
              <a:off x="882471" y="4700447"/>
              <a:ext cx="153759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dirty="0" err="1"/>
                <a:t>Run</a:t>
              </a:r>
              <a:r>
                <a:rPr lang="pt-PT" dirty="0"/>
                <a:t> </a:t>
              </a:r>
              <a:r>
                <a:rPr lang="pt-PT" dirty="0" err="1"/>
                <a:t>code</a:t>
              </a:r>
              <a:r>
                <a:rPr lang="pt-PT" dirty="0"/>
                <a:t> </a:t>
              </a:r>
              <a:r>
                <a:rPr lang="pt-PT" dirty="0" err="1"/>
                <a:t>inside</a:t>
              </a:r>
              <a:r>
                <a:rPr lang="pt-PT" dirty="0"/>
                <a:t> </a:t>
              </a:r>
              <a:r>
                <a:rPr lang="pt-PT" dirty="0" err="1"/>
                <a:t>cell</a:t>
              </a:r>
              <a:endParaRPr lang="en-US" dirty="0"/>
            </a:p>
          </p:txBody>
        </p:sp>
        <p:cxnSp>
          <p:nvCxnSpPr>
            <p:cNvPr id="22" name="Conexão reta unidirecional 21">
              <a:extLst>
                <a:ext uri="{FF2B5EF4-FFF2-40B4-BE49-F238E27FC236}">
                  <a16:creationId xmlns:a16="http://schemas.microsoft.com/office/drawing/2014/main" id="{CC1B0D97-23D0-EC8F-712B-1BB7D3797AD6}"/>
                </a:ext>
              </a:extLst>
            </p:cNvPr>
            <p:cNvCxnSpPr>
              <a:cxnSpLocks/>
            </p:cNvCxnSpPr>
            <p:nvPr/>
          </p:nvCxnSpPr>
          <p:spPr>
            <a:xfrm>
              <a:off x="1556349" y="5889296"/>
              <a:ext cx="1106557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CD6FFA04-E3C3-F654-A09D-3A16A223A8B2}"/>
                </a:ext>
              </a:extLst>
            </p:cNvPr>
            <p:cNvSpPr txBox="1"/>
            <p:nvPr/>
          </p:nvSpPr>
          <p:spPr>
            <a:xfrm>
              <a:off x="18754" y="5672026"/>
              <a:ext cx="153759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dirty="0" err="1"/>
                <a:t>Cell</a:t>
              </a:r>
              <a:r>
                <a:rPr lang="pt-PT" dirty="0"/>
                <a:t> </a:t>
              </a:r>
              <a:r>
                <a:rPr lang="pt-PT" dirty="0" err="1"/>
                <a:t>number</a:t>
              </a:r>
              <a:r>
                <a:rPr lang="pt-PT" dirty="0"/>
                <a:t> </a:t>
              </a:r>
              <a:r>
                <a:rPr lang="pt-PT" dirty="0" err="1"/>
                <a:t>after</a:t>
              </a:r>
              <a:r>
                <a:rPr lang="pt-PT" dirty="0"/>
                <a:t> </a:t>
              </a:r>
              <a:r>
                <a:rPr lang="pt-PT" dirty="0" err="1"/>
                <a:t>running</a:t>
              </a:r>
              <a:r>
                <a:rPr lang="pt-PT" dirty="0"/>
                <a:t> </a:t>
              </a:r>
              <a:r>
                <a:rPr lang="pt-PT" dirty="0" err="1"/>
                <a:t>code</a:t>
              </a:r>
              <a:endParaRPr lang="en-US" dirty="0"/>
            </a:p>
          </p:txBody>
        </p:sp>
      </p:grpSp>
      <p:cxnSp>
        <p:nvCxnSpPr>
          <p:cNvPr id="24" name="Conexão reta unidirecional 23">
            <a:extLst>
              <a:ext uri="{FF2B5EF4-FFF2-40B4-BE49-F238E27FC236}">
                <a16:creationId xmlns:a16="http://schemas.microsoft.com/office/drawing/2014/main" id="{32B74D12-658B-4EC6-DE36-592E57EE3E62}"/>
              </a:ext>
            </a:extLst>
          </p:cNvPr>
          <p:cNvCxnSpPr>
            <a:cxnSpLocks/>
          </p:cNvCxnSpPr>
          <p:nvPr/>
        </p:nvCxnSpPr>
        <p:spPr>
          <a:xfrm flipV="1">
            <a:off x="4381130" y="5828433"/>
            <a:ext cx="0" cy="41211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84E27014-91EF-E9C7-63DD-59C33A28DBE7}"/>
              </a:ext>
            </a:extLst>
          </p:cNvPr>
          <p:cNvSpPr txBox="1"/>
          <p:nvPr/>
        </p:nvSpPr>
        <p:spPr>
          <a:xfrm>
            <a:off x="3246864" y="6271310"/>
            <a:ext cx="2637184" cy="369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Output </a:t>
            </a:r>
            <a:r>
              <a:rPr lang="pt-PT" dirty="0" err="1"/>
              <a:t>of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code</a:t>
            </a:r>
            <a:r>
              <a:rPr lang="pt-PT" dirty="0"/>
              <a:t> </a:t>
            </a:r>
            <a:r>
              <a:rPr lang="pt-PT" dirty="0" err="1"/>
              <a:t>cell</a:t>
            </a:r>
            <a:endParaRPr lang="en-US" dirty="0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9A756B5A-D3C8-43C5-2F3D-505F1DF7748C}"/>
              </a:ext>
            </a:extLst>
          </p:cNvPr>
          <p:cNvSpPr/>
          <p:nvPr/>
        </p:nvSpPr>
        <p:spPr>
          <a:xfrm>
            <a:off x="3239221" y="4444316"/>
            <a:ext cx="424591" cy="3013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5558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60640-3AF8-C3CD-8E64-2C510054C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494EE8-BED2-C034-A3F8-83B2028C5D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4244" y="2552700"/>
            <a:ext cx="9223511" cy="1752600"/>
          </a:xfrm>
          <a:solidFill>
            <a:schemeClr val="tx2">
              <a:lumMod val="50000"/>
              <a:lumOff val="50000"/>
            </a:schemeClr>
          </a:solidFill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Part 2: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Python fundamentals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8" name="Marcador de Posição do Número do Diapositivo 7">
            <a:extLst>
              <a:ext uri="{FF2B5EF4-FFF2-40B4-BE49-F238E27FC236}">
                <a16:creationId xmlns:a16="http://schemas.microsoft.com/office/drawing/2014/main" id="{F69D3BBC-0958-8F83-233B-C6BF9857B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02602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DD1C1-B15C-FC72-F214-4A25A8DD7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E24DC04B-7CE7-5576-0D19-C16519B22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22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36432582-DC0B-8939-D125-F4A55FF374F9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1" i="0" u="none" strike="noStrike" kern="1200" cap="none" spc="0" baseline="0" dirty="0">
                <a:solidFill>
                  <a:schemeClr val="bg1"/>
                </a:solidFill>
                <a:uFillTx/>
                <a:latin typeface="+mj-lt"/>
                <a:ea typeface="Arrus BT Roman"/>
                <a:cs typeface="Arrus BT Roman"/>
              </a:rPr>
              <a:t>Python - </a:t>
            </a:r>
            <a:r>
              <a:rPr lang="pt-PT" sz="2800" b="1" dirty="0">
                <a:solidFill>
                  <a:schemeClr val="bg1"/>
                </a:solidFill>
                <a:latin typeface="+mj-lt"/>
              </a:rPr>
              <a:t>Basic </a:t>
            </a:r>
            <a:r>
              <a:rPr lang="pt-PT" sz="2800" b="1" dirty="0" err="1">
                <a:solidFill>
                  <a:schemeClr val="bg1"/>
                </a:solidFill>
                <a:latin typeface="+mj-lt"/>
              </a:rPr>
              <a:t>variable</a:t>
            </a:r>
            <a:r>
              <a:rPr lang="pt-PT" sz="28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+mj-lt"/>
              </a:rPr>
              <a:t>types</a:t>
            </a:r>
            <a:r>
              <a:rPr lang="pt-PT" sz="28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+mj-lt"/>
              </a:rPr>
              <a:t>and</a:t>
            </a:r>
            <a:r>
              <a:rPr lang="pt-PT" sz="28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+mj-lt"/>
              </a:rPr>
              <a:t>simple</a:t>
            </a:r>
            <a:r>
              <a:rPr lang="pt-PT" sz="28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+mj-lt"/>
              </a:rPr>
              <a:t>math</a:t>
            </a:r>
            <a:r>
              <a:rPr lang="pt-PT" sz="28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+mj-lt"/>
              </a:rPr>
              <a:t>operations</a:t>
            </a:r>
            <a:endParaRPr lang="pt-PT" sz="2800" b="1" dirty="0">
              <a:solidFill>
                <a:schemeClr val="bg1"/>
              </a:solidFill>
              <a:latin typeface="+mj-lt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800" b="1" i="0" u="none" strike="noStrike" kern="1200" cap="none" spc="0" baseline="0" dirty="0">
              <a:solidFill>
                <a:schemeClr val="bg1"/>
              </a:solidFill>
              <a:uFillTx/>
              <a:latin typeface="+mj-lt"/>
              <a:ea typeface="Arrus BT Roman"/>
              <a:cs typeface="Arrus BT Roman"/>
            </a:endParaRPr>
          </a:p>
        </p:txBody>
      </p:sp>
      <p:sp>
        <p:nvSpPr>
          <p:cNvPr id="17" name="Marcador de Posição de Conteúdo 2">
            <a:extLst>
              <a:ext uri="{FF2B5EF4-FFF2-40B4-BE49-F238E27FC236}">
                <a16:creationId xmlns:a16="http://schemas.microsoft.com/office/drawing/2014/main" id="{81ED4822-0D5C-5BAB-7E51-CF72C10883F8}"/>
              </a:ext>
            </a:extLst>
          </p:cNvPr>
          <p:cNvSpPr txBox="1">
            <a:spLocks/>
          </p:cNvSpPr>
          <p:nvPr/>
        </p:nvSpPr>
        <p:spPr>
          <a:xfrm>
            <a:off x="4" y="563115"/>
            <a:ext cx="12191996" cy="4713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PT" sz="2400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6541F05-9EAB-02EB-7567-E9749B8D9F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07" y="702335"/>
            <a:ext cx="6953787" cy="5836577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85D07B6A-0968-AE40-7C56-84499C9EC4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8154" y="1126230"/>
            <a:ext cx="4793985" cy="430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153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887C0-8060-B44E-8F16-9C9B4352B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ECB4290B-ABD3-2690-3CE8-C8B67F052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23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7169E11A-D4F2-A8C5-3F6F-E84F627DC24D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1" i="0" u="none" strike="noStrike" kern="1200" cap="none" spc="0" baseline="0" dirty="0">
                <a:solidFill>
                  <a:schemeClr val="bg1"/>
                </a:solidFill>
                <a:uFillTx/>
                <a:latin typeface="+mj-lt"/>
                <a:ea typeface="Arrus BT Roman"/>
                <a:cs typeface="Arrus BT Roman"/>
              </a:rPr>
              <a:t>Python – string operations 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A1BEAA9B-23E8-7BE2-8235-D79B993CD8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8151"/>
            <a:ext cx="6378578" cy="4447133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08D3180B-3504-8BF4-A12C-ABA8B5D6BB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571" y="1774482"/>
            <a:ext cx="5674429" cy="3309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476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4E99D-5D83-328B-452E-61E34B54F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FF45E9C9-78F9-0F8D-35BE-ADCBC22B1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24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4938150C-B3F6-1421-68A1-37BF8F4A9A69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1" i="0" u="none" strike="noStrike" kern="1200" cap="none" spc="0" baseline="0" dirty="0">
                <a:solidFill>
                  <a:schemeClr val="bg1"/>
                </a:solidFill>
                <a:uFillTx/>
                <a:latin typeface="+mj-lt"/>
                <a:ea typeface="Arrus BT Roman"/>
                <a:cs typeface="Arrus BT Roman"/>
              </a:rPr>
              <a:t>Python – tuples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800" b="1" i="0" u="none" strike="noStrike" kern="1200" cap="none" spc="0" baseline="0" dirty="0">
              <a:solidFill>
                <a:schemeClr val="bg1"/>
              </a:solidFill>
              <a:uFillTx/>
              <a:latin typeface="Calibri Light"/>
              <a:ea typeface="Arrus BT Roman"/>
              <a:cs typeface="Arrus BT Roman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F50D8150-EA4C-B6C3-EDFC-FE993BE6CA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2427" y="508102"/>
            <a:ext cx="7596760" cy="6223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4689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0E411-5753-AE9E-53E2-EE577EFD4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D7662A2A-1AE1-3FAB-0509-16F5D0CFC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25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8D933268-17FC-F776-DB63-0D0EC81C1B62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1" dirty="0">
                <a:solidFill>
                  <a:schemeClr val="bg1"/>
                </a:solidFill>
                <a:ea typeface="Arrus BT Roman"/>
                <a:cs typeface="Arrus BT Roman"/>
              </a:rPr>
              <a:t>Python – lists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5F93431-EC7C-9AE3-4A5C-114DF29000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37187"/>
            <a:ext cx="5920453" cy="3803097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CBE319FC-B8CA-A7C7-0303-4134485049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113"/>
          <a:stretch>
            <a:fillRect/>
          </a:stretch>
        </p:blipFill>
        <p:spPr>
          <a:xfrm>
            <a:off x="6025116" y="1152525"/>
            <a:ext cx="6026291" cy="4986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422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693E7-3734-6E88-9C3A-020C074ED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EED81BD9-AE34-7C0E-A13E-3C04C2803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26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64423098-9456-7BB9-09CA-6779813D4BF2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1" dirty="0">
                <a:solidFill>
                  <a:schemeClr val="bg1"/>
                </a:solidFill>
                <a:ea typeface="Arrus BT Roman"/>
                <a:cs typeface="Arrus BT Roman"/>
              </a:rPr>
              <a:t>Python - dictionaries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5CCDEB66-D0C3-438B-2692-E8F50DF66E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07" y="1391958"/>
            <a:ext cx="6593493" cy="1918958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933A7909-12CD-9322-48FE-5734331F6C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4086" y="914434"/>
            <a:ext cx="5317914" cy="3326624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131A87B2-268D-0822-F3C8-D4B52E3E61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684" y="4421190"/>
            <a:ext cx="11284684" cy="2247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870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90A1C-8D4B-25BD-58A4-44C9035CC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8BC1D41D-2CC7-4C5E-CA59-94606C741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27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2E93E8CA-3A91-F4BA-745E-5E730B2DB6F0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1" dirty="0">
                <a:solidFill>
                  <a:schemeClr val="bg1"/>
                </a:solidFill>
                <a:ea typeface="Arrus BT Roman"/>
                <a:cs typeface="Arrus BT Roman"/>
              </a:rPr>
              <a:t>Python – logic and conditionals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83565905-62C5-70EF-172D-9635003A37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8026"/>
            <a:ext cx="7060949" cy="4177109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41AC78E9-6D19-DCF0-4DFB-5D097C5F7F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3071" y="1417243"/>
            <a:ext cx="5026855" cy="3924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49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51EF0-1DD7-9614-E61C-D44EBAD0F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7BADAAD9-3A9E-DC8C-34DF-D248466A2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28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81D28EB5-B1E5-5AFA-7137-4B2F043AFC12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1" dirty="0">
                <a:solidFill>
                  <a:schemeClr val="bg1"/>
                </a:solidFill>
                <a:ea typeface="Arrus BT Roman"/>
                <a:cs typeface="Arrus BT Roman"/>
              </a:rPr>
              <a:t>Python – if, else, </a:t>
            </a:r>
            <a:r>
              <a:rPr lang="en-US" sz="2800" b="1" dirty="0" err="1">
                <a:solidFill>
                  <a:schemeClr val="bg1"/>
                </a:solidFill>
                <a:ea typeface="Arrus BT Roman"/>
                <a:cs typeface="Arrus BT Roman"/>
              </a:rPr>
              <a:t>elif</a:t>
            </a:r>
            <a:r>
              <a:rPr lang="en-US" sz="2800" b="1" dirty="0">
                <a:solidFill>
                  <a:schemeClr val="bg1"/>
                </a:solidFill>
                <a:ea typeface="Arrus BT Roman"/>
                <a:cs typeface="Arrus BT Roman"/>
              </a:rPr>
              <a:t> 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48CE4FBB-CE49-A7F8-F690-6103613C1C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5427" y="598159"/>
            <a:ext cx="4943797" cy="6133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8640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2BEDF-00F1-C1B2-DAE0-2E5E3088F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F8336A6B-1EBE-780D-EB2A-C67C9B02D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29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5AC20B95-D128-9997-0AE0-0E8A32C251F5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1" dirty="0">
                <a:solidFill>
                  <a:schemeClr val="bg1"/>
                </a:solidFill>
                <a:ea typeface="Arrus BT Roman"/>
                <a:cs typeface="Arrus BT Roman"/>
              </a:rPr>
              <a:t>Python - loops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AB9EB23-AB1B-31BE-D1BE-4B707B2ADF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3717" y="495048"/>
            <a:ext cx="5329084" cy="639490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7186D9CF-967D-752E-50BB-5F336652CF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5342" y="623521"/>
            <a:ext cx="3367590" cy="5858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164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0CB1B-3DB6-DA29-FC53-E771C3A54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58CFBE62-448C-CAF2-3B98-5F16293EB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30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8337806C-5840-61FA-8096-8115196D2F42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1" dirty="0">
                <a:solidFill>
                  <a:schemeClr val="bg1"/>
                </a:solidFill>
                <a:ea typeface="Arrus BT Roman"/>
                <a:cs typeface="Arrus BT Roman"/>
              </a:rPr>
              <a:t>Python - functions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FB3082EF-608C-759F-7A38-FA7CE65292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8391" y="560439"/>
            <a:ext cx="4710938" cy="6161036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E96BAA9B-21BC-FDF1-FC03-06FB97C2FD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348" y="1626714"/>
            <a:ext cx="6233700" cy="3604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776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A1630-5FC6-688D-B37F-FAA8EE382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CCB46C14-8962-9454-116B-071719187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31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3D155AC1-892A-D5E9-7BAD-D22B5EA56637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1" dirty="0">
                <a:solidFill>
                  <a:schemeClr val="bg1"/>
                </a:solidFill>
                <a:ea typeface="Arrus BT Roman"/>
                <a:cs typeface="Arrus BT Roman"/>
              </a:rPr>
              <a:t>Python - functions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646F1B1-8645-0C6C-6A47-2A02341558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981" y="676191"/>
            <a:ext cx="5612884" cy="6045284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9D490512-B12A-EF59-2316-27E81B3E4D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6163" y="2172930"/>
            <a:ext cx="6305837" cy="2007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1275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50557-69EC-E9B9-4A0F-D18AD71C7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AEE04D52-3688-225D-ADBD-E0BF4891C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32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4D14B521-A09A-36A9-4B2E-E49D816666E5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1" dirty="0">
                <a:solidFill>
                  <a:schemeClr val="bg1"/>
                </a:solidFill>
                <a:ea typeface="Arrus BT Roman"/>
                <a:cs typeface="Arrus BT Roman"/>
              </a:rPr>
              <a:t>Python package import</a:t>
            </a:r>
          </a:p>
        </p:txBody>
      </p:sp>
      <p:sp>
        <p:nvSpPr>
          <p:cNvPr id="11" name="Marcador de Posição de Conteúdo 2">
            <a:extLst>
              <a:ext uri="{FF2B5EF4-FFF2-40B4-BE49-F238E27FC236}">
                <a16:creationId xmlns:a16="http://schemas.microsoft.com/office/drawing/2014/main" id="{F1FA3BA5-E834-60A9-0FAB-9A7C5CAC6D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" y="557264"/>
            <a:ext cx="12191996" cy="471336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Packages can be simply view as a collection of functions and objects defined inside specific Python files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B6BFBAC-7B6B-0AEB-BEF0-8DF0CAC202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348"/>
          <a:stretch>
            <a:fillRect/>
          </a:stretch>
        </p:blipFill>
        <p:spPr>
          <a:xfrm>
            <a:off x="207131" y="1114529"/>
            <a:ext cx="6075579" cy="3351892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2C2D3A64-608B-AF5E-7A15-0CAE778CD6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449" r="13627"/>
          <a:stretch>
            <a:fillRect/>
          </a:stretch>
        </p:blipFill>
        <p:spPr>
          <a:xfrm>
            <a:off x="6335857" y="1036030"/>
            <a:ext cx="5856143" cy="3430391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EA9D3BD0-0ACE-7A55-4459-FF18F6295E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0715" y="4552350"/>
            <a:ext cx="5410566" cy="2298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180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57747-5BEA-E17A-1B86-EE885C7C6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15A5F9-EDA9-838B-F804-7EAD74854F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4244" y="2545772"/>
            <a:ext cx="9223511" cy="1766455"/>
          </a:xfrm>
          <a:solidFill>
            <a:schemeClr val="tx2">
              <a:lumMod val="50000"/>
              <a:lumOff val="50000"/>
            </a:schemeClr>
          </a:solidFill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Part 3: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b="1" dirty="0" err="1">
                <a:solidFill>
                  <a:schemeClr val="bg1"/>
                </a:solidFill>
              </a:rPr>
              <a:t>Numpy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8" name="Marcador de Posição do Número do Diapositivo 7">
            <a:extLst>
              <a:ext uri="{FF2B5EF4-FFF2-40B4-BE49-F238E27FC236}">
                <a16:creationId xmlns:a16="http://schemas.microsoft.com/office/drawing/2014/main" id="{5E294DBA-A93A-B3F9-DAE9-1F568D543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09192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C7FA8-ACB8-26E0-B29F-6B821BB51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D4B157DB-E3E0-AF4A-D512-7265B9C17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34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89072B63-B605-11AF-5B9C-4DA46AAA8419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1" dirty="0" err="1">
                <a:solidFill>
                  <a:schemeClr val="bg1"/>
                </a:solidFill>
                <a:ea typeface="Arrus BT Roman"/>
                <a:cs typeface="Arrus BT Roman"/>
              </a:rPr>
              <a:t>Numpy</a:t>
            </a:r>
            <a:endParaRPr lang="en-US" sz="2800" b="1" dirty="0">
              <a:solidFill>
                <a:schemeClr val="bg1"/>
              </a:solidFill>
              <a:ea typeface="Arrus BT Roman"/>
              <a:cs typeface="Arrus BT Roman"/>
            </a:endParaRPr>
          </a:p>
        </p:txBody>
      </p:sp>
      <p:sp>
        <p:nvSpPr>
          <p:cNvPr id="11" name="Marcador de Posição de Conteúdo 2">
            <a:extLst>
              <a:ext uri="{FF2B5EF4-FFF2-40B4-BE49-F238E27FC236}">
                <a16:creationId xmlns:a16="http://schemas.microsoft.com/office/drawing/2014/main" id="{1545574F-EA23-1CFD-31C4-8F6CCF5D69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" y="536309"/>
            <a:ext cx="12191996" cy="1670177"/>
          </a:xfrm>
        </p:spPr>
        <p:txBody>
          <a:bodyPr>
            <a:normAutofit/>
          </a:bodyPr>
          <a:lstStyle/>
          <a:p>
            <a:r>
              <a:rPr lang="pt-PT" sz="2400" dirty="0" err="1"/>
              <a:t>Numpy</a:t>
            </a:r>
            <a:r>
              <a:rPr lang="pt-PT" sz="2400" dirty="0"/>
              <a:t> </a:t>
            </a:r>
            <a:r>
              <a:rPr lang="pt-PT" sz="2400" dirty="0" err="1"/>
              <a:t>is</a:t>
            </a:r>
            <a:r>
              <a:rPr lang="pt-PT" sz="2400" dirty="0"/>
              <a:t> a package for </a:t>
            </a:r>
            <a:r>
              <a:rPr lang="pt-PT" sz="2400" dirty="0" err="1"/>
              <a:t>scientific</a:t>
            </a:r>
            <a:r>
              <a:rPr lang="pt-PT" sz="2400" dirty="0"/>
              <a:t> </a:t>
            </a:r>
            <a:r>
              <a:rPr lang="pt-PT" sz="2400" dirty="0" err="1"/>
              <a:t>computing</a:t>
            </a:r>
            <a:r>
              <a:rPr lang="pt-PT" sz="2400" dirty="0"/>
              <a:t> </a:t>
            </a:r>
            <a:r>
              <a:rPr lang="pt-PT" sz="2400" dirty="0" err="1"/>
              <a:t>using</a:t>
            </a:r>
            <a:r>
              <a:rPr lang="pt-PT" sz="2400" dirty="0"/>
              <a:t> </a:t>
            </a:r>
            <a:r>
              <a:rPr lang="pt-PT" sz="2400" dirty="0" err="1"/>
              <a:t>Python</a:t>
            </a:r>
            <a:endParaRPr lang="pt-PT" sz="2400" dirty="0"/>
          </a:p>
          <a:p>
            <a:endParaRPr lang="pt-PT" sz="2400" dirty="0"/>
          </a:p>
          <a:p>
            <a:r>
              <a:rPr lang="pt-PT" sz="2400" dirty="0" err="1"/>
              <a:t>Many</a:t>
            </a:r>
            <a:r>
              <a:rPr lang="pt-PT" sz="2400" dirty="0"/>
              <a:t> </a:t>
            </a:r>
            <a:r>
              <a:rPr lang="pt-PT" sz="2400" dirty="0" err="1"/>
              <a:t>functions</a:t>
            </a:r>
            <a:r>
              <a:rPr lang="pt-PT" sz="2400" dirty="0"/>
              <a:t> are </a:t>
            </a:r>
            <a:r>
              <a:rPr lang="pt-PT" sz="2400" dirty="0" err="1"/>
              <a:t>wrapped</a:t>
            </a:r>
            <a:r>
              <a:rPr lang="pt-PT" sz="2400" dirty="0"/>
              <a:t> </a:t>
            </a:r>
            <a:r>
              <a:rPr lang="pt-PT" sz="2400" dirty="0" err="1"/>
              <a:t>around</a:t>
            </a:r>
            <a:r>
              <a:rPr lang="pt-PT" sz="2400" dirty="0"/>
              <a:t> </a:t>
            </a:r>
            <a:r>
              <a:rPr lang="pt-PT" sz="2400" dirty="0" err="1"/>
              <a:t>efficient</a:t>
            </a:r>
            <a:r>
              <a:rPr lang="pt-PT" sz="2400" dirty="0"/>
              <a:t> C </a:t>
            </a:r>
            <a:r>
              <a:rPr lang="pt-PT" sz="2400" dirty="0" err="1"/>
              <a:t>code</a:t>
            </a:r>
            <a:r>
              <a:rPr lang="pt-PT" sz="2400" dirty="0"/>
              <a:t> – </a:t>
            </a:r>
            <a:r>
              <a:rPr lang="pt-PT" sz="2400" dirty="0" err="1"/>
              <a:t>very</a:t>
            </a:r>
            <a:r>
              <a:rPr lang="pt-PT" sz="2400" dirty="0"/>
              <a:t> fast </a:t>
            </a:r>
            <a:r>
              <a:rPr lang="pt-PT" sz="2400" dirty="0" err="1"/>
              <a:t>calculations</a:t>
            </a:r>
            <a:r>
              <a:rPr lang="pt-PT" sz="2400" dirty="0"/>
              <a:t> </a:t>
            </a:r>
            <a:r>
              <a:rPr lang="pt-PT" sz="2400" dirty="0" err="1"/>
              <a:t>with</a:t>
            </a:r>
            <a:r>
              <a:rPr lang="pt-PT" sz="2400" dirty="0"/>
              <a:t> </a:t>
            </a:r>
            <a:r>
              <a:rPr lang="pt-PT" sz="2400" dirty="0" err="1"/>
              <a:t>Numpy</a:t>
            </a:r>
            <a:endParaRPr lang="pt-PT" sz="2400" dirty="0"/>
          </a:p>
          <a:p>
            <a:endParaRPr lang="pt-PT" sz="240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4F7283E-BBD9-542D-55C3-E2AC435F3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166" y="2298156"/>
            <a:ext cx="5151832" cy="413923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555656D0-0526-9F26-F602-EC59C7DAA4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0668" y="2271459"/>
            <a:ext cx="3979260" cy="4192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875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32E1B-9AD1-768D-332A-31B0FB3B9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62CCAE68-9DC8-0EAA-5996-26A9E08FA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35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D5606206-5A7D-870E-B1AD-849BF643349D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1" i="0" u="none" strike="noStrike" kern="1200" cap="none" spc="0" baseline="0" dirty="0" err="1">
                <a:solidFill>
                  <a:schemeClr val="bg1"/>
                </a:solidFill>
                <a:uFillTx/>
                <a:latin typeface="Calibri Light"/>
                <a:ea typeface="Arrus BT Roman"/>
                <a:cs typeface="Arrus BT Roman"/>
              </a:rPr>
              <a:t>Numpy</a:t>
            </a:r>
            <a:r>
              <a:rPr lang="en-US" sz="2800" b="1" i="0" u="none" strike="noStrike" kern="1200" cap="none" spc="0" baseline="0" dirty="0">
                <a:solidFill>
                  <a:schemeClr val="bg1"/>
                </a:solidFill>
                <a:uFillTx/>
                <a:latin typeface="Calibri Light"/>
                <a:ea typeface="Arrus BT Roman"/>
                <a:cs typeface="Arrus BT Roman"/>
              </a:rPr>
              <a:t> – array creation 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7C9D902-5B8A-D8D2-14F2-F22E616C92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2929" y="603024"/>
            <a:ext cx="7266319" cy="6118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4106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9A82B-CA18-203C-94A5-38E3389FC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58250BC4-19F0-02A8-9FA3-A3B58EA22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36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E5D7426C-B123-60B1-91C0-B04123776BAF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1" i="0" u="none" strike="noStrike" kern="1200" cap="none" spc="0" baseline="0" dirty="0" err="1">
                <a:solidFill>
                  <a:schemeClr val="bg1"/>
                </a:solidFill>
                <a:uFillTx/>
                <a:latin typeface="Calibri Light"/>
                <a:ea typeface="Arrus BT Roman"/>
                <a:cs typeface="Arrus BT Roman"/>
              </a:rPr>
              <a:t>Numpy</a:t>
            </a:r>
            <a:r>
              <a:rPr lang="en-US" sz="2800" b="1" i="0" u="none" strike="noStrike" kern="1200" cap="none" spc="0" baseline="0" dirty="0">
                <a:solidFill>
                  <a:schemeClr val="bg1"/>
                </a:solidFill>
                <a:uFillTx/>
                <a:latin typeface="Calibri Light"/>
                <a:ea typeface="Arrus BT Roman"/>
                <a:cs typeface="Arrus BT Roman"/>
              </a:rPr>
              <a:t> – array creation 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0D90B05B-A8A9-7CAC-1C21-56C0094808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8753" y="566350"/>
            <a:ext cx="5771847" cy="6291650"/>
          </a:xfrm>
          <a:prstGeom prst="rect">
            <a:avLst/>
          </a:prstGeom>
        </p:spPr>
      </p:pic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1C783884-5CA1-3953-87AB-7EDB629D62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7908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21FE8-9B75-17D9-BDB9-5C2E98ADD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F3CAE90F-5C8F-CD74-F165-036D8B0D1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37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8EFD768C-75B6-95A6-E8EF-6FF4F18B150E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1" i="0" u="none" strike="noStrike" kern="1200" cap="none" spc="0" baseline="0" dirty="0" err="1">
                <a:solidFill>
                  <a:schemeClr val="bg1"/>
                </a:solidFill>
                <a:uFillTx/>
                <a:latin typeface="Calibri Light"/>
                <a:ea typeface="Arrus BT Roman"/>
                <a:cs typeface="Arrus BT Roman"/>
              </a:rPr>
              <a:t>Numpy</a:t>
            </a:r>
            <a:r>
              <a:rPr lang="en-US" sz="2800" b="1" i="0" u="none" strike="noStrike" kern="1200" cap="none" spc="0" baseline="0" dirty="0">
                <a:solidFill>
                  <a:schemeClr val="bg1"/>
                </a:solidFill>
                <a:uFillTx/>
                <a:latin typeface="Calibri Light"/>
                <a:ea typeface="Arrus BT Roman"/>
                <a:cs typeface="Arrus BT Roman"/>
              </a:rPr>
              <a:t> – matrix creation </a:t>
            </a:r>
          </a:p>
        </p:txBody>
      </p:sp>
      <p:sp>
        <p:nvSpPr>
          <p:cNvPr id="11" name="Marcador de Posição de Conteúdo 2">
            <a:extLst>
              <a:ext uri="{FF2B5EF4-FFF2-40B4-BE49-F238E27FC236}">
                <a16:creationId xmlns:a16="http://schemas.microsoft.com/office/drawing/2014/main" id="{768AF9CC-EA29-3243-78FE-012DEFE28F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" y="536310"/>
            <a:ext cx="12191996" cy="471336"/>
          </a:xfrm>
        </p:spPr>
        <p:txBody>
          <a:bodyPr>
            <a:normAutofit/>
          </a:bodyPr>
          <a:lstStyle/>
          <a:p>
            <a:endParaRPr lang="pt-PT" sz="240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5563C16-F24C-C6DD-F6E9-DBD48CDB37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496324"/>
            <a:ext cx="4166419" cy="6319587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922044CF-1F24-EAA2-E7C7-3BE438FFAF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8621" y="502134"/>
            <a:ext cx="5230218" cy="6319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24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4B04F-03FF-03FE-9B8A-19209B9CB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B5011633-A921-871D-EA3F-6EDB122A0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38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062DA010-E204-3924-9E0F-6418EB602378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1" i="0" u="none" strike="noStrike" kern="1200" cap="none" spc="0" baseline="0" dirty="0" err="1">
                <a:solidFill>
                  <a:schemeClr val="bg1"/>
                </a:solidFill>
                <a:uFillTx/>
                <a:latin typeface="Calibri Light"/>
                <a:ea typeface="Arrus BT Roman"/>
                <a:cs typeface="Arrus BT Roman"/>
              </a:rPr>
              <a:t>Numpy</a:t>
            </a:r>
            <a:r>
              <a:rPr lang="en-US" sz="2800" b="1" i="0" u="none" strike="noStrike" kern="1200" cap="none" spc="0" baseline="0" dirty="0">
                <a:solidFill>
                  <a:schemeClr val="bg1"/>
                </a:solidFill>
                <a:uFillTx/>
                <a:latin typeface="Calibri Light"/>
                <a:ea typeface="Arrus BT Roman"/>
                <a:cs typeface="Arrus BT Roman"/>
              </a:rPr>
              <a:t> – array and matrix manipulation </a:t>
            </a:r>
          </a:p>
        </p:txBody>
      </p:sp>
      <p:sp>
        <p:nvSpPr>
          <p:cNvPr id="11" name="Marcador de Posição de Conteúdo 2">
            <a:extLst>
              <a:ext uri="{FF2B5EF4-FFF2-40B4-BE49-F238E27FC236}">
                <a16:creationId xmlns:a16="http://schemas.microsoft.com/office/drawing/2014/main" id="{306CE5F6-19B7-8B13-6EA5-8707F06ABF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" y="536310"/>
            <a:ext cx="12191996" cy="471336"/>
          </a:xfrm>
        </p:spPr>
        <p:txBody>
          <a:bodyPr>
            <a:normAutofit/>
          </a:bodyPr>
          <a:lstStyle/>
          <a:p>
            <a:endParaRPr lang="pt-PT" sz="2400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7BDC3A3C-3AB2-4973-C9F6-CB7787D91E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35" y="1315783"/>
            <a:ext cx="6035563" cy="4732430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29E21CCA-4135-DA2F-2150-71D6022129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28" y="1596231"/>
            <a:ext cx="5730737" cy="366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20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9BBB7-3680-38C7-F16B-7D00557D8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4CD54D52-2DDD-F719-F7A4-B35C229F8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39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830BE9BE-3DF9-8B81-66A0-DDA812ED3DC8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1" i="0" u="none" strike="noStrike" kern="1200" cap="none" spc="0" baseline="0" dirty="0" err="1">
                <a:solidFill>
                  <a:schemeClr val="bg1"/>
                </a:solidFill>
                <a:uFillTx/>
                <a:latin typeface="Calibri Light"/>
                <a:ea typeface="Arrus BT Roman"/>
                <a:cs typeface="Arrus BT Roman"/>
              </a:rPr>
              <a:t>Numpy</a:t>
            </a:r>
            <a:r>
              <a:rPr lang="en-US" sz="2800" b="1" i="0" u="none" strike="noStrike" kern="1200" cap="none" spc="0" baseline="0" dirty="0">
                <a:solidFill>
                  <a:schemeClr val="bg1"/>
                </a:solidFill>
                <a:uFillTx/>
                <a:latin typeface="Calibri Light"/>
                <a:ea typeface="Arrus BT Roman"/>
                <a:cs typeface="Arrus BT Roman"/>
              </a:rPr>
              <a:t> – indexing arrays </a:t>
            </a:r>
          </a:p>
        </p:txBody>
      </p:sp>
      <p:sp>
        <p:nvSpPr>
          <p:cNvPr id="11" name="Marcador de Posição de Conteúdo 2">
            <a:extLst>
              <a:ext uri="{FF2B5EF4-FFF2-40B4-BE49-F238E27FC236}">
                <a16:creationId xmlns:a16="http://schemas.microsoft.com/office/drawing/2014/main" id="{545139AE-61B1-D278-8C16-FEE05F02CD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" y="536310"/>
            <a:ext cx="12191996" cy="471336"/>
          </a:xfrm>
        </p:spPr>
        <p:txBody>
          <a:bodyPr>
            <a:normAutofit/>
          </a:bodyPr>
          <a:lstStyle/>
          <a:p>
            <a:endParaRPr lang="pt-PT" sz="2400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1CECA3CB-A87F-C6FE-2AC8-6A294A0A44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7914" y="563847"/>
            <a:ext cx="7011864" cy="6157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998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022C1-CEAC-B6B9-7080-772A734FD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810FA861-FA6D-0483-67A8-B4E34E13A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40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CE91A55C-946C-10CD-5D04-6DE150FFA67F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1" i="0" u="none" strike="noStrike" kern="1200" cap="none" spc="0" baseline="0" dirty="0" err="1">
                <a:solidFill>
                  <a:schemeClr val="bg1"/>
                </a:solidFill>
                <a:uFillTx/>
                <a:latin typeface="Calibri Light"/>
                <a:ea typeface="Arrus BT Roman"/>
                <a:cs typeface="Arrus BT Roman"/>
              </a:rPr>
              <a:t>Numpy</a:t>
            </a:r>
            <a:r>
              <a:rPr lang="en-US" sz="2800" b="1" i="0" u="none" strike="noStrike" kern="1200" cap="none" spc="0" baseline="0" dirty="0">
                <a:solidFill>
                  <a:schemeClr val="bg1"/>
                </a:solidFill>
                <a:uFillTx/>
                <a:latin typeface="Calibri Light"/>
                <a:ea typeface="Arrus BT Roman"/>
                <a:cs typeface="Arrus BT Roman"/>
              </a:rPr>
              <a:t> – sorting arrays </a:t>
            </a:r>
          </a:p>
        </p:txBody>
      </p:sp>
      <p:sp>
        <p:nvSpPr>
          <p:cNvPr id="11" name="Marcador de Posição de Conteúdo 2">
            <a:extLst>
              <a:ext uri="{FF2B5EF4-FFF2-40B4-BE49-F238E27FC236}">
                <a16:creationId xmlns:a16="http://schemas.microsoft.com/office/drawing/2014/main" id="{FE8C7805-27EF-9B7F-F1D9-2ABAC7126A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" y="536310"/>
            <a:ext cx="12191996" cy="471336"/>
          </a:xfrm>
        </p:spPr>
        <p:txBody>
          <a:bodyPr>
            <a:normAutofit/>
          </a:bodyPr>
          <a:lstStyle/>
          <a:p>
            <a:endParaRPr lang="pt-PT" sz="240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ADE875C-D0F1-B1A4-36AF-CDB6A70FAC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828" y="1112204"/>
            <a:ext cx="5653849" cy="4572512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938C522-FFEA-4AC4-2C7A-3B7E819ACD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23" y="1490963"/>
            <a:ext cx="6200093" cy="3876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040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AAA50-9A1E-CE76-F8F6-206A024AA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BD4239E7-B9D2-86DD-8D8F-E5463919E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41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A0398E65-D597-3CCA-3ABE-ED6F4EE52035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1" i="0" u="none" strike="noStrike" kern="1200" cap="none" spc="0" baseline="0" dirty="0" err="1">
                <a:solidFill>
                  <a:schemeClr val="bg1"/>
                </a:solidFill>
                <a:uFillTx/>
                <a:latin typeface="Calibri Light"/>
                <a:ea typeface="Arrus BT Roman"/>
                <a:cs typeface="Arrus BT Roman"/>
              </a:rPr>
              <a:t>Numpy</a:t>
            </a:r>
            <a:r>
              <a:rPr lang="en-US" sz="2800" b="1" i="0" u="none" strike="noStrike" kern="1200" cap="none" spc="0" baseline="0" dirty="0">
                <a:solidFill>
                  <a:schemeClr val="bg1"/>
                </a:solidFill>
                <a:uFillTx/>
                <a:latin typeface="Calibri Light"/>
                <a:ea typeface="Arrus BT Roman"/>
                <a:cs typeface="Arrus BT Roman"/>
              </a:rPr>
              <a:t> – logic and conditionals </a:t>
            </a:r>
          </a:p>
        </p:txBody>
      </p:sp>
      <p:sp>
        <p:nvSpPr>
          <p:cNvPr id="11" name="Marcador de Posição de Conteúdo 2">
            <a:extLst>
              <a:ext uri="{FF2B5EF4-FFF2-40B4-BE49-F238E27FC236}">
                <a16:creationId xmlns:a16="http://schemas.microsoft.com/office/drawing/2014/main" id="{B8EB35A4-021B-54F2-EAC8-842BB4163A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" y="536309"/>
            <a:ext cx="3008667" cy="1626787"/>
          </a:xfrm>
        </p:spPr>
        <p:txBody>
          <a:bodyPr>
            <a:normAutofit/>
          </a:bodyPr>
          <a:lstStyle/>
          <a:p>
            <a:endParaRPr lang="pt-PT" sz="240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1A55E53-FC81-FE30-FEF9-024095C6F3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8671" y="471336"/>
            <a:ext cx="7430728" cy="6355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70050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7F387-8412-0F45-7FEE-6F1F63592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FD5E214D-3FFB-DD5D-7C27-9A91419F4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42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69674996-2D4A-E3B7-7F5B-BF6C5265E5BA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1" i="0" u="none" strike="noStrike" kern="1200" cap="none" spc="0" baseline="0" dirty="0" err="1">
                <a:solidFill>
                  <a:schemeClr val="bg1"/>
                </a:solidFill>
                <a:uFillTx/>
                <a:latin typeface="Calibri Light"/>
                <a:ea typeface="Arrus BT Roman"/>
                <a:cs typeface="Arrus BT Roman"/>
              </a:rPr>
              <a:t>Numpy</a:t>
            </a:r>
            <a:r>
              <a:rPr lang="en-US" sz="2800" b="1" i="0" u="none" strike="noStrike" kern="1200" cap="none" spc="0" baseline="0" dirty="0">
                <a:solidFill>
                  <a:schemeClr val="bg1"/>
                </a:solidFill>
                <a:uFillTx/>
                <a:latin typeface="Calibri Light"/>
                <a:ea typeface="Arrus BT Roman"/>
                <a:cs typeface="Arrus BT Roman"/>
              </a:rPr>
              <a:t> – linear algebra operations </a:t>
            </a:r>
          </a:p>
        </p:txBody>
      </p:sp>
      <p:sp>
        <p:nvSpPr>
          <p:cNvPr id="11" name="Marcador de Posição de Conteúdo 2">
            <a:extLst>
              <a:ext uri="{FF2B5EF4-FFF2-40B4-BE49-F238E27FC236}">
                <a16:creationId xmlns:a16="http://schemas.microsoft.com/office/drawing/2014/main" id="{60735E47-56DC-5A10-8C25-16923881C6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35701"/>
            <a:ext cx="4945376" cy="1020820"/>
          </a:xfrm>
        </p:spPr>
        <p:txBody>
          <a:bodyPr>
            <a:normAutofit/>
          </a:bodyPr>
          <a:lstStyle/>
          <a:p>
            <a:endParaRPr lang="pt-PT" sz="240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1E9152D-AD0E-995D-7609-002D3D339C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5101" y="471336"/>
            <a:ext cx="4945376" cy="6448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75270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288EE-17B8-60CC-C116-2496B2238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7F4D0D-692F-5C59-6800-FF0BF9A2BC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4244" y="2552700"/>
            <a:ext cx="9223511" cy="1752600"/>
          </a:xfrm>
          <a:solidFill>
            <a:schemeClr val="tx2">
              <a:lumMod val="50000"/>
              <a:lumOff val="50000"/>
            </a:schemeClr>
          </a:solidFill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Part 4: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Matplotlib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8" name="Marcador de Posição do Número do Diapositivo 7">
            <a:extLst>
              <a:ext uri="{FF2B5EF4-FFF2-40B4-BE49-F238E27FC236}">
                <a16:creationId xmlns:a16="http://schemas.microsoft.com/office/drawing/2014/main" id="{783BF4EA-EE08-21E3-F833-3092484DB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888374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5E5CA-6D0B-D8DD-5A5A-336441C01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F1BCA14B-3D98-81F7-91FB-0811BDB6F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44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5F01A97D-004F-EEFC-EB3C-6849C845C046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Matplotlib </a:t>
            </a:r>
            <a:r>
              <a:rPr lang="en-US" sz="2800" b="1" i="0" u="none" strike="noStrike" kern="1200" cap="none" spc="0" baseline="0" dirty="0">
                <a:solidFill>
                  <a:schemeClr val="bg1"/>
                </a:solidFill>
                <a:uFillTx/>
                <a:latin typeface="Calibri Light"/>
                <a:ea typeface="Arrus BT Roman"/>
                <a:cs typeface="Arrus BT Roman"/>
              </a:rPr>
              <a:t> </a:t>
            </a:r>
          </a:p>
        </p:txBody>
      </p:sp>
      <p:sp>
        <p:nvSpPr>
          <p:cNvPr id="11" name="Marcador de Posição de Conteúdo 2">
            <a:extLst>
              <a:ext uri="{FF2B5EF4-FFF2-40B4-BE49-F238E27FC236}">
                <a16:creationId xmlns:a16="http://schemas.microsoft.com/office/drawing/2014/main" id="{5EFC5C96-8AC6-AA88-F05C-BDEFE84BCA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36566"/>
            <a:ext cx="12191996" cy="1968045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Matplotlib is a comprehensive library for creating static, animated, and interactive visualizations in Python</a:t>
            </a:r>
          </a:p>
          <a:p>
            <a:endParaRPr lang="en-US" sz="2000" dirty="0"/>
          </a:p>
          <a:p>
            <a:r>
              <a:rPr lang="en-US" sz="2000" dirty="0"/>
              <a:t>Matplotlib </a:t>
            </a:r>
            <a:r>
              <a:rPr lang="pt-PT" sz="2000" dirty="0" err="1"/>
              <a:t>is</a:t>
            </a:r>
            <a:r>
              <a:rPr lang="pt-PT" sz="2000" dirty="0"/>
              <a:t> </a:t>
            </a:r>
            <a:r>
              <a:rPr lang="pt-PT" sz="2000" dirty="0" err="1"/>
              <a:t>very</a:t>
            </a:r>
            <a:r>
              <a:rPr lang="pt-PT" sz="2000" dirty="0"/>
              <a:t> </a:t>
            </a:r>
            <a:r>
              <a:rPr lang="pt-PT" sz="2000" dirty="0" err="1"/>
              <a:t>flexible</a:t>
            </a:r>
            <a:r>
              <a:rPr lang="pt-PT" sz="2000" dirty="0"/>
              <a:t> </a:t>
            </a:r>
            <a:r>
              <a:rPr lang="pt-PT" sz="2000" dirty="0" err="1"/>
              <a:t>and</a:t>
            </a:r>
            <a:r>
              <a:rPr lang="pt-PT" sz="2000" dirty="0"/>
              <a:t> </a:t>
            </a:r>
            <a:r>
              <a:rPr lang="pt-PT" sz="2000" dirty="0" err="1"/>
              <a:t>provides</a:t>
            </a:r>
            <a:r>
              <a:rPr lang="pt-PT" sz="2000" dirty="0"/>
              <a:t> </a:t>
            </a:r>
            <a:r>
              <a:rPr lang="pt-PT" sz="2000" dirty="0" err="1"/>
              <a:t>options</a:t>
            </a:r>
            <a:r>
              <a:rPr lang="pt-PT" sz="2000" dirty="0"/>
              <a:t> for </a:t>
            </a:r>
            <a:r>
              <a:rPr lang="pt-PT" sz="2000" dirty="0" err="1"/>
              <a:t>both</a:t>
            </a:r>
            <a:r>
              <a:rPr lang="pt-PT" sz="2000" dirty="0"/>
              <a:t> basic </a:t>
            </a:r>
            <a:r>
              <a:rPr lang="pt-PT" sz="2000" dirty="0" err="1"/>
              <a:t>and</a:t>
            </a:r>
            <a:r>
              <a:rPr lang="pt-PT" sz="2000" dirty="0"/>
              <a:t> </a:t>
            </a:r>
            <a:r>
              <a:rPr lang="pt-PT" sz="2000" dirty="0" err="1"/>
              <a:t>advanced</a:t>
            </a:r>
            <a:r>
              <a:rPr lang="pt-PT" sz="2000" dirty="0"/>
              <a:t> data </a:t>
            </a:r>
            <a:r>
              <a:rPr lang="pt-PT" sz="2000" dirty="0" err="1"/>
              <a:t>visualization</a:t>
            </a:r>
            <a:endParaRPr lang="pt-PT" sz="2000" dirty="0"/>
          </a:p>
          <a:p>
            <a:endParaRPr lang="pt-PT" sz="2000" dirty="0"/>
          </a:p>
          <a:p>
            <a:r>
              <a:rPr lang="pt-PT" sz="2000" dirty="0" err="1"/>
              <a:t>Line</a:t>
            </a:r>
            <a:r>
              <a:rPr lang="pt-PT" sz="2000" dirty="0"/>
              <a:t> </a:t>
            </a:r>
            <a:r>
              <a:rPr lang="pt-PT" sz="2000" dirty="0" err="1"/>
              <a:t>plots</a:t>
            </a:r>
            <a:r>
              <a:rPr lang="pt-PT" sz="2000" dirty="0"/>
              <a:t> are </a:t>
            </a:r>
            <a:r>
              <a:rPr lang="pt-PT" sz="2000" dirty="0" err="1"/>
              <a:t>the</a:t>
            </a:r>
            <a:r>
              <a:rPr lang="pt-PT" sz="2000" dirty="0"/>
              <a:t> basic </a:t>
            </a:r>
            <a:r>
              <a:rPr lang="pt-PT" sz="2000" dirty="0" err="1"/>
              <a:t>plot</a:t>
            </a:r>
            <a:r>
              <a:rPr lang="pt-PT" sz="2000" dirty="0"/>
              <a:t> </a:t>
            </a:r>
            <a:r>
              <a:rPr lang="pt-PT" sz="2000" dirty="0" err="1"/>
              <a:t>when</a:t>
            </a:r>
            <a:r>
              <a:rPr lang="pt-PT" sz="2000" dirty="0"/>
              <a:t> </a:t>
            </a:r>
            <a:r>
              <a:rPr lang="pt-PT" sz="2000" dirty="0" err="1"/>
              <a:t>using</a:t>
            </a:r>
            <a:r>
              <a:rPr lang="pt-PT" sz="2000" dirty="0"/>
              <a:t> </a:t>
            </a:r>
            <a:r>
              <a:rPr lang="pt-PT" sz="2000" dirty="0" err="1"/>
              <a:t>Matplotlib</a:t>
            </a:r>
            <a:r>
              <a:rPr lang="pt-PT" sz="2000" dirty="0"/>
              <a:t> (</a:t>
            </a:r>
            <a:r>
              <a:rPr lang="pt-PT" sz="2000" dirty="0" err="1"/>
              <a:t>useful</a:t>
            </a:r>
            <a:r>
              <a:rPr lang="pt-PT" sz="2000" dirty="0"/>
              <a:t> for temporal </a:t>
            </a:r>
            <a:r>
              <a:rPr lang="pt-PT" sz="2000" dirty="0" err="1"/>
              <a:t>or</a:t>
            </a:r>
            <a:r>
              <a:rPr lang="pt-PT" sz="2000" dirty="0"/>
              <a:t> </a:t>
            </a:r>
            <a:r>
              <a:rPr lang="pt-PT" sz="2000" dirty="0" err="1"/>
              <a:t>spectral</a:t>
            </a:r>
            <a:r>
              <a:rPr lang="pt-PT" sz="2000" dirty="0"/>
              <a:t> data) 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D37E607-E6A1-9EC5-4BD3-1C81B6DAA6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86" y="2741937"/>
            <a:ext cx="6656228" cy="2818709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8869199A-F15A-CF49-1A69-3512E8104F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7039" y="2320295"/>
            <a:ext cx="5362575" cy="431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68299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3B8F3-CA7C-F7E1-87EF-66C97ADE6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597E29C1-8831-F7B7-B83F-FA3973FFE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45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C912882E-300F-D370-0FDB-23391B1DF8C1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Matplotlib – line plot customization </a:t>
            </a:r>
            <a:r>
              <a:rPr lang="en-US" sz="2800" b="1" i="0" u="none" strike="noStrike" kern="1200" cap="none" spc="0" baseline="0" dirty="0">
                <a:solidFill>
                  <a:schemeClr val="bg1"/>
                </a:solidFill>
                <a:uFillTx/>
                <a:latin typeface="Calibri Light"/>
                <a:ea typeface="Arrus BT Roman"/>
                <a:cs typeface="Arrus BT Roman"/>
              </a:rPr>
              <a:t> </a:t>
            </a:r>
          </a:p>
        </p:txBody>
      </p:sp>
      <p:sp>
        <p:nvSpPr>
          <p:cNvPr id="11" name="Marcador de Posição de Conteúdo 2">
            <a:extLst>
              <a:ext uri="{FF2B5EF4-FFF2-40B4-BE49-F238E27FC236}">
                <a16:creationId xmlns:a16="http://schemas.microsoft.com/office/drawing/2014/main" id="{088A3DFF-EFA6-5060-FF5B-5F90C91088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" y="536310"/>
            <a:ext cx="12191996" cy="471336"/>
          </a:xfrm>
        </p:spPr>
        <p:txBody>
          <a:bodyPr>
            <a:normAutofit/>
          </a:bodyPr>
          <a:lstStyle/>
          <a:p>
            <a:endParaRPr lang="pt-PT" sz="240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28FA4B7-8691-AF2B-C931-B176850B17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87" y="1480394"/>
            <a:ext cx="6676434" cy="3671708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ADD4D877-70F9-A473-68F5-897D7CB5FB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8825" y="671642"/>
            <a:ext cx="5383171" cy="5514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45641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F5BE7-7291-8757-19F4-D49BD69CD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3B1706BA-A499-21C6-89CF-36FDDE773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46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171E7760-018F-6C26-8511-8FB23301D65B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Matplotlib – shaded regions using </a:t>
            </a:r>
            <a:r>
              <a:rPr lang="en-US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fill_between</a:t>
            </a:r>
            <a:r>
              <a:rPr lang="en-US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en-US" sz="2800" b="1" i="0" u="none" strike="noStrike" kern="1200" cap="none" spc="0" baseline="0" dirty="0">
                <a:solidFill>
                  <a:schemeClr val="bg1"/>
                </a:solidFill>
                <a:uFillTx/>
                <a:latin typeface="Calibri Light"/>
                <a:ea typeface="Arrus BT Roman"/>
                <a:cs typeface="Arrus BT Roman"/>
              </a:rPr>
              <a:t> </a:t>
            </a:r>
          </a:p>
        </p:txBody>
      </p:sp>
      <p:sp>
        <p:nvSpPr>
          <p:cNvPr id="11" name="Marcador de Posição de Conteúdo 2">
            <a:extLst>
              <a:ext uri="{FF2B5EF4-FFF2-40B4-BE49-F238E27FC236}">
                <a16:creationId xmlns:a16="http://schemas.microsoft.com/office/drawing/2014/main" id="{348A5F88-9ACE-3D27-E898-CAF8E8996B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" y="760788"/>
            <a:ext cx="12191996" cy="471336"/>
          </a:xfrm>
        </p:spPr>
        <p:txBody>
          <a:bodyPr>
            <a:normAutofit/>
          </a:bodyPr>
          <a:lstStyle/>
          <a:p>
            <a:r>
              <a:rPr lang="pt-PT" sz="2400" dirty="0" err="1"/>
              <a:t>Shaded</a:t>
            </a:r>
            <a:r>
              <a:rPr lang="pt-PT" sz="2400" dirty="0"/>
              <a:t> </a:t>
            </a:r>
            <a:r>
              <a:rPr lang="pt-PT" sz="2400" dirty="0" err="1"/>
              <a:t>regions</a:t>
            </a:r>
            <a:r>
              <a:rPr lang="pt-PT" sz="2400" dirty="0"/>
              <a:t> are </a:t>
            </a:r>
            <a:r>
              <a:rPr lang="pt-PT" sz="2400" dirty="0" err="1"/>
              <a:t>useful</a:t>
            </a:r>
            <a:r>
              <a:rPr lang="pt-PT" sz="2400" dirty="0"/>
              <a:t> for </a:t>
            </a:r>
            <a:r>
              <a:rPr lang="pt-PT" sz="2400" dirty="0" err="1"/>
              <a:t>plotting</a:t>
            </a:r>
            <a:r>
              <a:rPr lang="pt-PT" sz="2400" dirty="0"/>
              <a:t> </a:t>
            </a:r>
            <a:r>
              <a:rPr lang="pt-PT" sz="2400" dirty="0" err="1"/>
              <a:t>confidence</a:t>
            </a:r>
            <a:r>
              <a:rPr lang="pt-PT" sz="2400" dirty="0"/>
              <a:t> </a:t>
            </a:r>
            <a:r>
              <a:rPr lang="pt-PT" sz="2400" dirty="0" err="1"/>
              <a:t>intervals</a:t>
            </a:r>
            <a:r>
              <a:rPr lang="pt-PT" sz="2400" dirty="0"/>
              <a:t> 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B2915ACE-281C-DEBF-BF28-EAB14B209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70" y="1956930"/>
            <a:ext cx="6243368" cy="2778363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68F8973F-F95F-A07A-439A-856FC0C720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1438" y="1694381"/>
            <a:ext cx="5804293" cy="3303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10096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01325-C957-E1EF-831A-E9E065E2F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026A8AD9-82BF-381B-CDB3-526A5C81C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47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466DD562-F73F-92BD-307B-B7F99EB83190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Matplotlib - error bar plots</a:t>
            </a:r>
            <a:r>
              <a:rPr lang="en-US" sz="2800" b="1" i="0" u="none" strike="noStrike" kern="1200" cap="none" spc="0" baseline="0" dirty="0">
                <a:solidFill>
                  <a:schemeClr val="bg1"/>
                </a:solidFill>
                <a:uFillTx/>
                <a:latin typeface="Calibri Light"/>
                <a:ea typeface="Arrus BT Roman"/>
                <a:cs typeface="Arrus BT Roman"/>
              </a:rPr>
              <a:t> </a:t>
            </a:r>
          </a:p>
        </p:txBody>
      </p:sp>
      <p:sp>
        <p:nvSpPr>
          <p:cNvPr id="11" name="Marcador de Posição de Conteúdo 2">
            <a:extLst>
              <a:ext uri="{FF2B5EF4-FFF2-40B4-BE49-F238E27FC236}">
                <a16:creationId xmlns:a16="http://schemas.microsoft.com/office/drawing/2014/main" id="{BE10E169-6A43-90AA-5A2B-70E8C126F4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26724"/>
            <a:ext cx="12191996" cy="471336"/>
          </a:xfrm>
        </p:spPr>
        <p:txBody>
          <a:bodyPr>
            <a:normAutofit/>
          </a:bodyPr>
          <a:lstStyle/>
          <a:p>
            <a:r>
              <a:rPr lang="pt-PT" sz="2400" dirty="0"/>
              <a:t>Error bar </a:t>
            </a:r>
            <a:r>
              <a:rPr lang="pt-PT" sz="2400" dirty="0" err="1"/>
              <a:t>plots</a:t>
            </a:r>
            <a:r>
              <a:rPr lang="pt-PT" sz="2400" dirty="0"/>
              <a:t> are </a:t>
            </a:r>
            <a:r>
              <a:rPr lang="pt-PT" sz="2400" dirty="0" err="1"/>
              <a:t>another</a:t>
            </a:r>
            <a:r>
              <a:rPr lang="pt-PT" sz="2400" dirty="0"/>
              <a:t> </a:t>
            </a:r>
            <a:r>
              <a:rPr lang="pt-PT" sz="2400" dirty="0" err="1"/>
              <a:t>way</a:t>
            </a:r>
            <a:r>
              <a:rPr lang="pt-PT" sz="2400" dirty="0"/>
              <a:t> to </a:t>
            </a:r>
            <a:r>
              <a:rPr lang="pt-PT" sz="2400" dirty="0" err="1"/>
              <a:t>plot</a:t>
            </a:r>
            <a:r>
              <a:rPr lang="pt-PT" sz="2400" dirty="0"/>
              <a:t> </a:t>
            </a:r>
            <a:r>
              <a:rPr lang="pt-PT" sz="2400" dirty="0" err="1"/>
              <a:t>point-wise</a:t>
            </a:r>
            <a:r>
              <a:rPr lang="pt-PT" sz="2400" dirty="0"/>
              <a:t> </a:t>
            </a:r>
            <a:r>
              <a:rPr lang="pt-PT" sz="2400" dirty="0" err="1"/>
              <a:t>confidence</a:t>
            </a:r>
            <a:r>
              <a:rPr lang="pt-PT" sz="2400" dirty="0"/>
              <a:t> </a:t>
            </a:r>
            <a:r>
              <a:rPr lang="pt-PT" sz="2400" dirty="0" err="1"/>
              <a:t>intervals</a:t>
            </a:r>
            <a:endParaRPr lang="pt-PT" sz="24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C010FD2-EFFE-2E68-CD9F-7205B9434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168" y="1976758"/>
            <a:ext cx="5196453" cy="2403855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9ED9F7F8-CAB6-E38F-E1E7-365D67E6C0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8325" y="1566862"/>
            <a:ext cx="6543675" cy="3724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58985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25F97-6A24-122A-4E63-A9333E329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744DB3BD-3D49-22E4-51C4-A2B3D3DCF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48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FCA65953-FA55-D26E-77A5-D78657484D72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Matplotlib – font size</a:t>
            </a:r>
            <a:r>
              <a:rPr lang="en-US" sz="2800" b="1" i="0" u="none" strike="noStrike" kern="1200" cap="none" spc="0" baseline="0" dirty="0">
                <a:solidFill>
                  <a:schemeClr val="bg1"/>
                </a:solidFill>
                <a:uFillTx/>
                <a:latin typeface="Calibri Light"/>
                <a:ea typeface="Arrus BT Roman"/>
                <a:cs typeface="Arrus BT Roman"/>
              </a:rPr>
              <a:t> </a:t>
            </a:r>
          </a:p>
        </p:txBody>
      </p:sp>
      <p:sp>
        <p:nvSpPr>
          <p:cNvPr id="11" name="Marcador de Posição de Conteúdo 2">
            <a:extLst>
              <a:ext uri="{FF2B5EF4-FFF2-40B4-BE49-F238E27FC236}">
                <a16:creationId xmlns:a16="http://schemas.microsoft.com/office/drawing/2014/main" id="{20DE53FB-EB23-6CB4-66E3-FA85E020B3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" y="479546"/>
            <a:ext cx="12191996" cy="471336"/>
          </a:xfrm>
        </p:spPr>
        <p:txBody>
          <a:bodyPr>
            <a:normAutofit/>
          </a:bodyPr>
          <a:lstStyle/>
          <a:p>
            <a:r>
              <a:rPr lang="pt-PT" sz="2400" dirty="0"/>
              <a:t>Font </a:t>
            </a:r>
            <a:r>
              <a:rPr lang="pt-PT" sz="2400" dirty="0" err="1"/>
              <a:t>size</a:t>
            </a:r>
            <a:r>
              <a:rPr lang="pt-PT" sz="2400" dirty="0"/>
              <a:t> can </a:t>
            </a:r>
            <a:r>
              <a:rPr lang="pt-PT" sz="2400" dirty="0" err="1"/>
              <a:t>be</a:t>
            </a:r>
            <a:r>
              <a:rPr lang="pt-PT" sz="2400" dirty="0"/>
              <a:t> </a:t>
            </a:r>
            <a:r>
              <a:rPr lang="pt-PT" sz="2400" dirty="0" err="1"/>
              <a:t>controlled</a:t>
            </a:r>
            <a:r>
              <a:rPr lang="pt-PT" sz="2400" dirty="0"/>
              <a:t> </a:t>
            </a:r>
            <a:r>
              <a:rPr lang="pt-PT" sz="2400" dirty="0" err="1"/>
              <a:t>individually</a:t>
            </a:r>
            <a:r>
              <a:rPr lang="pt-PT" sz="2400" dirty="0"/>
              <a:t> for </a:t>
            </a:r>
            <a:r>
              <a:rPr lang="pt-PT" sz="2400" dirty="0" err="1"/>
              <a:t>each</a:t>
            </a:r>
            <a:r>
              <a:rPr lang="pt-PT" sz="2400" dirty="0"/>
              <a:t> </a:t>
            </a:r>
            <a:r>
              <a:rPr lang="pt-PT" sz="2400" dirty="0" err="1"/>
              <a:t>plot</a:t>
            </a:r>
            <a:endParaRPr lang="pt-PT" sz="2400" dirty="0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9453FA73-66A0-99FC-BC64-45BE920319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358" y="3153448"/>
            <a:ext cx="4446310" cy="3568027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300563DA-A6F7-8671-AC67-9BDB226043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0562" y="959092"/>
            <a:ext cx="5311849" cy="2046095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5C41BCC0-9763-68F2-8549-EBA1B3C5EE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6487" y="3176738"/>
            <a:ext cx="4260160" cy="3521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36659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BD479-F1D0-779F-E097-01FEBB8B5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388B6547-AE5F-9958-8611-61DBDADD5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49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3AA15A8B-DF72-46EF-16E5-51524BFBD654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Matplotlib – scatter plots </a:t>
            </a:r>
            <a:r>
              <a:rPr lang="en-US" sz="2800" b="1" i="0" u="none" strike="noStrike" kern="1200" cap="none" spc="0" baseline="0" dirty="0">
                <a:solidFill>
                  <a:schemeClr val="bg1"/>
                </a:solidFill>
                <a:uFillTx/>
                <a:latin typeface="Calibri Light"/>
                <a:ea typeface="Arrus BT Roman"/>
                <a:cs typeface="Arrus BT Roman"/>
              </a:rPr>
              <a:t> </a:t>
            </a:r>
          </a:p>
        </p:txBody>
      </p:sp>
      <p:sp>
        <p:nvSpPr>
          <p:cNvPr id="11" name="Marcador de Posição de Conteúdo 2">
            <a:extLst>
              <a:ext uri="{FF2B5EF4-FFF2-40B4-BE49-F238E27FC236}">
                <a16:creationId xmlns:a16="http://schemas.microsoft.com/office/drawing/2014/main" id="{A19BDDD2-7796-6725-6808-3C14DB12A9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" y="569441"/>
            <a:ext cx="12191996" cy="471336"/>
          </a:xfrm>
        </p:spPr>
        <p:txBody>
          <a:bodyPr>
            <a:normAutofit/>
          </a:bodyPr>
          <a:lstStyle/>
          <a:p>
            <a:r>
              <a:rPr lang="pt-PT" sz="2400" dirty="0" err="1"/>
              <a:t>Scatter</a:t>
            </a:r>
            <a:r>
              <a:rPr lang="pt-PT" sz="2400" dirty="0"/>
              <a:t> </a:t>
            </a:r>
            <a:r>
              <a:rPr lang="pt-PT" sz="2400" dirty="0" err="1"/>
              <a:t>plots</a:t>
            </a:r>
            <a:r>
              <a:rPr lang="pt-PT" sz="2400" dirty="0"/>
              <a:t> are </a:t>
            </a:r>
            <a:r>
              <a:rPr lang="pt-PT" sz="2400" dirty="0" err="1"/>
              <a:t>helpful</a:t>
            </a:r>
            <a:r>
              <a:rPr lang="pt-PT" sz="2400" dirty="0"/>
              <a:t> to </a:t>
            </a:r>
            <a:r>
              <a:rPr lang="pt-PT" sz="2400" dirty="0" err="1"/>
              <a:t>view</a:t>
            </a:r>
            <a:r>
              <a:rPr lang="pt-PT" sz="2400" dirty="0"/>
              <a:t> </a:t>
            </a:r>
            <a:r>
              <a:rPr lang="pt-PT" sz="2400" dirty="0" err="1"/>
              <a:t>relantionships</a:t>
            </a:r>
            <a:r>
              <a:rPr lang="pt-PT" sz="2400" dirty="0"/>
              <a:t> for non-</a:t>
            </a:r>
            <a:r>
              <a:rPr lang="pt-PT" sz="2400" dirty="0" err="1"/>
              <a:t>sequential</a:t>
            </a:r>
            <a:r>
              <a:rPr lang="pt-PT" sz="2400" dirty="0"/>
              <a:t> data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025875D-E212-8652-19F5-8B1A06ABEB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973" y="2000456"/>
            <a:ext cx="5796906" cy="255829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D9A6C5A9-6744-F1A4-EE13-6E6ED976A1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6330" y="1423987"/>
            <a:ext cx="5362575" cy="431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25722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F2A14-BB6E-8F8F-0A5C-55873C876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FBE6ECA9-C545-E41F-AD0E-6CE4307FC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50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01A087ED-CCC0-B95E-C156-71236882F475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Matplotlib - subplots</a:t>
            </a:r>
            <a:r>
              <a:rPr lang="en-US" sz="2800" b="1" i="0" u="none" strike="noStrike" kern="1200" cap="none" spc="0" baseline="0" dirty="0">
                <a:solidFill>
                  <a:schemeClr val="bg1"/>
                </a:solidFill>
                <a:uFillTx/>
                <a:latin typeface="Calibri Light"/>
                <a:ea typeface="Arrus BT Roman"/>
                <a:cs typeface="Arrus BT Roman"/>
              </a:rPr>
              <a:t> </a:t>
            </a:r>
          </a:p>
        </p:txBody>
      </p:sp>
      <p:sp>
        <p:nvSpPr>
          <p:cNvPr id="11" name="Marcador de Posição de Conteúdo 2">
            <a:extLst>
              <a:ext uri="{FF2B5EF4-FFF2-40B4-BE49-F238E27FC236}">
                <a16:creationId xmlns:a16="http://schemas.microsoft.com/office/drawing/2014/main" id="{C1D0878C-5654-9CB4-FD79-A3D62B96E4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" y="536310"/>
            <a:ext cx="12191996" cy="471336"/>
          </a:xfrm>
        </p:spPr>
        <p:txBody>
          <a:bodyPr>
            <a:normAutofit/>
          </a:bodyPr>
          <a:lstStyle/>
          <a:p>
            <a:r>
              <a:rPr lang="pt-PT" sz="2400" dirty="0" err="1"/>
              <a:t>Multiple</a:t>
            </a:r>
            <a:r>
              <a:rPr lang="pt-PT" sz="2400" dirty="0"/>
              <a:t> </a:t>
            </a:r>
            <a:r>
              <a:rPr lang="pt-PT" sz="2400" dirty="0" err="1"/>
              <a:t>plots</a:t>
            </a:r>
            <a:r>
              <a:rPr lang="pt-PT" sz="2400" dirty="0"/>
              <a:t> can </a:t>
            </a:r>
            <a:r>
              <a:rPr lang="pt-PT" sz="2400" dirty="0" err="1"/>
              <a:t>be</a:t>
            </a:r>
            <a:r>
              <a:rPr lang="pt-PT" sz="2400" dirty="0"/>
              <a:t> </a:t>
            </a:r>
            <a:r>
              <a:rPr lang="pt-PT" sz="2400" dirty="0" err="1"/>
              <a:t>plotted</a:t>
            </a:r>
            <a:r>
              <a:rPr lang="pt-PT" sz="2400" dirty="0"/>
              <a:t> </a:t>
            </a:r>
            <a:r>
              <a:rPr lang="pt-PT" sz="2400" dirty="0" err="1"/>
              <a:t>using</a:t>
            </a:r>
            <a:r>
              <a:rPr lang="pt-PT" sz="2400" dirty="0"/>
              <a:t> </a:t>
            </a:r>
            <a:r>
              <a:rPr lang="pt-PT" sz="2400" dirty="0" err="1"/>
              <a:t>subplots</a:t>
            </a:r>
            <a:r>
              <a:rPr lang="pt-PT" sz="2400" dirty="0"/>
              <a:t> 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FF11410-A369-5001-2EB7-C42150DC9F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017" y="1476445"/>
            <a:ext cx="5380186" cy="4130398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F09C740-9010-F7D5-C3CF-F585212D1F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8972" y="849863"/>
            <a:ext cx="3648695" cy="2935806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0AEFA683-6D98-D1DE-C9DB-ECD2964047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8973" y="3785669"/>
            <a:ext cx="3648695" cy="2935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49091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EF952-CF10-7DD3-B814-94C294200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4DA987D3-FE8C-8E98-D923-E410CD6DC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51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9AB4C4E9-E526-E4F2-4582-1099E6050D45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Matplotlib – surface plots for 3D view of data </a:t>
            </a:r>
            <a:r>
              <a:rPr lang="en-US" sz="2800" b="1" i="0" u="none" strike="noStrike" kern="1200" cap="none" spc="0" baseline="0" dirty="0">
                <a:solidFill>
                  <a:schemeClr val="bg1"/>
                </a:solidFill>
                <a:uFillTx/>
                <a:latin typeface="Calibri Light"/>
                <a:ea typeface="Arrus BT Roman"/>
                <a:cs typeface="Arrus BT Roman"/>
              </a:rPr>
              <a:t> </a:t>
            </a:r>
          </a:p>
        </p:txBody>
      </p:sp>
      <p:sp>
        <p:nvSpPr>
          <p:cNvPr id="11" name="Marcador de Posição de Conteúdo 2">
            <a:extLst>
              <a:ext uri="{FF2B5EF4-FFF2-40B4-BE49-F238E27FC236}">
                <a16:creationId xmlns:a16="http://schemas.microsoft.com/office/drawing/2014/main" id="{95DDBA7D-6A78-25DE-BF7F-FEDFC6F100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00068"/>
            <a:ext cx="12191996" cy="471336"/>
          </a:xfrm>
        </p:spPr>
        <p:txBody>
          <a:bodyPr>
            <a:normAutofit/>
          </a:bodyPr>
          <a:lstStyle/>
          <a:p>
            <a:endParaRPr lang="pt-PT" sz="240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DA10437-2A14-6FC1-DAE0-5934F3C6D83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080"/>
          <a:stretch>
            <a:fillRect/>
          </a:stretch>
        </p:blipFill>
        <p:spPr>
          <a:xfrm>
            <a:off x="838200" y="500068"/>
            <a:ext cx="4748435" cy="290209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3AE35CD-41A2-CCC4-0FD1-086E85AF77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1166" y="471336"/>
            <a:ext cx="3351121" cy="3265395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A525365A-EB7C-D0F6-459F-12A87E9055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1166" y="3736731"/>
            <a:ext cx="3518980" cy="3052697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43B1B7ED-A0B2-106D-E6D7-35941D1A42F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13876"/>
          <a:stretch>
            <a:fillRect/>
          </a:stretch>
        </p:blipFill>
        <p:spPr>
          <a:xfrm>
            <a:off x="838200" y="3606105"/>
            <a:ext cx="4523509" cy="3189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247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3898A-EC7B-1CD2-49DD-0B24FEB06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51B04E71-7C6F-1D80-83B1-DA924989C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52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D5691C91-29D2-0CFD-4326-0EBE0D7B2EEC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Matplotlib – saving figures </a:t>
            </a:r>
            <a:r>
              <a:rPr lang="en-US" sz="2800" b="1" i="0" u="none" strike="noStrike" kern="1200" cap="none" spc="0" baseline="0" dirty="0">
                <a:solidFill>
                  <a:schemeClr val="bg1"/>
                </a:solidFill>
                <a:uFillTx/>
                <a:latin typeface="Calibri Light"/>
                <a:ea typeface="Arrus BT Roman"/>
                <a:cs typeface="Arrus BT Roman"/>
              </a:rPr>
              <a:t> </a:t>
            </a:r>
          </a:p>
        </p:txBody>
      </p:sp>
      <p:sp>
        <p:nvSpPr>
          <p:cNvPr id="11" name="Marcador de Posição de Conteúdo 2">
            <a:extLst>
              <a:ext uri="{FF2B5EF4-FFF2-40B4-BE49-F238E27FC236}">
                <a16:creationId xmlns:a16="http://schemas.microsoft.com/office/drawing/2014/main" id="{AC8CE928-F02A-8CF7-2548-B6B6FE29F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68223"/>
            <a:ext cx="12192000" cy="1756315"/>
          </a:xfrm>
        </p:spPr>
        <p:txBody>
          <a:bodyPr>
            <a:normAutofit/>
          </a:bodyPr>
          <a:lstStyle/>
          <a:p>
            <a:r>
              <a:rPr lang="pt-PT" sz="2400" dirty="0"/>
              <a:t>Figures </a:t>
            </a:r>
            <a:r>
              <a:rPr lang="pt-PT" sz="2400" dirty="0" err="1"/>
              <a:t>and</a:t>
            </a:r>
            <a:r>
              <a:rPr lang="pt-PT" sz="2400" dirty="0"/>
              <a:t> </a:t>
            </a:r>
            <a:r>
              <a:rPr lang="pt-PT" sz="2400" dirty="0" err="1"/>
              <a:t>plots</a:t>
            </a:r>
            <a:r>
              <a:rPr lang="pt-PT" sz="2400" dirty="0"/>
              <a:t> can </a:t>
            </a:r>
            <a:r>
              <a:rPr lang="pt-PT" sz="2400" dirty="0" err="1"/>
              <a:t>be</a:t>
            </a:r>
            <a:r>
              <a:rPr lang="pt-PT" sz="2400" dirty="0"/>
              <a:t> </a:t>
            </a:r>
            <a:r>
              <a:rPr lang="pt-PT" sz="2400" dirty="0" err="1"/>
              <a:t>copied</a:t>
            </a:r>
            <a:r>
              <a:rPr lang="pt-PT" sz="2400" dirty="0"/>
              <a:t> </a:t>
            </a:r>
            <a:r>
              <a:rPr lang="pt-PT" sz="2400" dirty="0" err="1"/>
              <a:t>and</a:t>
            </a:r>
            <a:r>
              <a:rPr lang="pt-PT" sz="2400" dirty="0"/>
              <a:t> </a:t>
            </a:r>
            <a:r>
              <a:rPr lang="pt-PT" sz="2400" dirty="0" err="1"/>
              <a:t>saved</a:t>
            </a:r>
            <a:r>
              <a:rPr lang="pt-PT" sz="2400" dirty="0"/>
              <a:t> </a:t>
            </a:r>
            <a:r>
              <a:rPr lang="pt-PT" sz="2400" dirty="0" err="1"/>
              <a:t>directly</a:t>
            </a:r>
            <a:r>
              <a:rPr lang="pt-PT" sz="2400" dirty="0"/>
              <a:t> </a:t>
            </a:r>
            <a:r>
              <a:rPr lang="pt-PT" sz="2400" dirty="0" err="1"/>
              <a:t>using</a:t>
            </a:r>
            <a:r>
              <a:rPr lang="pt-PT" sz="2400" dirty="0"/>
              <a:t> </a:t>
            </a:r>
            <a:r>
              <a:rPr lang="pt-PT" sz="2400" dirty="0" err="1"/>
              <a:t>Jupyter</a:t>
            </a:r>
            <a:r>
              <a:rPr lang="pt-PT" sz="2400" dirty="0"/>
              <a:t> </a:t>
            </a:r>
            <a:r>
              <a:rPr lang="pt-PT" sz="2400" dirty="0" err="1"/>
              <a:t>notebook</a:t>
            </a:r>
            <a:r>
              <a:rPr lang="pt-PT" sz="2400" dirty="0"/>
              <a:t> </a:t>
            </a:r>
          </a:p>
          <a:p>
            <a:endParaRPr lang="pt-PT" sz="2400" dirty="0"/>
          </a:p>
          <a:p>
            <a:r>
              <a:rPr lang="pt-PT" sz="2400" dirty="0" err="1"/>
              <a:t>Or</a:t>
            </a:r>
            <a:r>
              <a:rPr lang="pt-PT" sz="2400" dirty="0"/>
              <a:t> </a:t>
            </a:r>
            <a:r>
              <a:rPr lang="pt-PT" sz="2400" dirty="0" err="1"/>
              <a:t>saved</a:t>
            </a:r>
            <a:r>
              <a:rPr lang="pt-PT" sz="2400" dirty="0"/>
              <a:t> </a:t>
            </a:r>
            <a:r>
              <a:rPr lang="pt-PT" sz="2400" dirty="0" err="1"/>
              <a:t>programatically</a:t>
            </a:r>
            <a:endParaRPr lang="pt-PT" sz="240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9AF99F9-1CFE-4DE8-BBDE-954697DA57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4369" y="2607584"/>
            <a:ext cx="9180534" cy="1496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9650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87CAB-2496-FF18-B812-350707585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CC2B64DD-65CD-1075-77C8-4F6AA9588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53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BCC77E49-A743-CFAD-54E3-5657A5EEFB62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i="0" u="none" strike="noStrike" kern="1200" cap="none" spc="0" baseline="0" dirty="0" err="1">
                <a:solidFill>
                  <a:schemeClr val="bg1"/>
                </a:solidFill>
                <a:uFillTx/>
                <a:latin typeface="Calibri Light"/>
                <a:ea typeface="Arrus BT Roman"/>
                <a:cs typeface="Arrus BT Roman"/>
              </a:rPr>
              <a:t>Learning</a:t>
            </a:r>
            <a:r>
              <a:rPr lang="pt-PT" sz="2800" b="1" i="0" u="none" strike="noStrike" kern="1200" cap="none" spc="0" baseline="0" dirty="0">
                <a:solidFill>
                  <a:schemeClr val="bg1"/>
                </a:solidFill>
                <a:uFillTx/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i="0" u="none" strike="noStrike" kern="1200" cap="none" spc="0" baseline="0" dirty="0" err="1">
                <a:solidFill>
                  <a:schemeClr val="bg1"/>
                </a:solidFill>
                <a:uFillTx/>
                <a:latin typeface="Calibri Light"/>
                <a:ea typeface="Arrus BT Roman"/>
                <a:cs typeface="Arrus BT Roman"/>
              </a:rPr>
              <a:t>resources</a:t>
            </a:r>
            <a:r>
              <a:rPr lang="pt-PT" sz="2800" b="1" i="0" u="none" strike="noStrike" kern="1200" cap="none" spc="0" baseline="0" dirty="0">
                <a:solidFill>
                  <a:schemeClr val="bg1"/>
                </a:solidFill>
                <a:uFillTx/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i="0" u="none" strike="noStrike" kern="1200" cap="none" spc="0" baseline="0" dirty="0" err="1">
                <a:solidFill>
                  <a:schemeClr val="bg1"/>
                </a:solidFill>
                <a:uFillTx/>
                <a:latin typeface="Calibri Light"/>
                <a:ea typeface="Arrus BT Roman"/>
                <a:cs typeface="Arrus BT Roman"/>
              </a:rPr>
              <a:t>and</a:t>
            </a:r>
            <a:r>
              <a:rPr lang="pt-PT" sz="2800" b="1" i="0" u="none" strike="noStrike" kern="1200" cap="none" spc="0" baseline="0" dirty="0">
                <a:solidFill>
                  <a:schemeClr val="bg1"/>
                </a:solidFill>
                <a:uFillTx/>
                <a:latin typeface="Calibri Light"/>
                <a:ea typeface="Arrus BT Roman"/>
                <a:cs typeface="Arrus BT Roman"/>
              </a:rPr>
              <a:t> extra material</a:t>
            </a:r>
            <a:endParaRPr lang="en-US" sz="2800" b="1" i="0" u="none" strike="noStrike" kern="1200" cap="none" spc="0" baseline="0" dirty="0">
              <a:solidFill>
                <a:schemeClr val="bg1"/>
              </a:solidFill>
              <a:uFillTx/>
              <a:latin typeface="Calibri Light"/>
              <a:ea typeface="Arrus BT Roman"/>
              <a:cs typeface="Arrus BT Roman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A6FA9B2-023B-0504-66C3-EBD753F89DA2}"/>
              </a:ext>
            </a:extLst>
          </p:cNvPr>
          <p:cNvSpPr txBox="1"/>
          <p:nvPr/>
        </p:nvSpPr>
        <p:spPr>
          <a:xfrm>
            <a:off x="0" y="551521"/>
            <a:ext cx="1219199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pt-PT" sz="2000" b="1" dirty="0" err="1">
                <a:solidFill>
                  <a:srgbClr val="FF0000"/>
                </a:solidFill>
              </a:rPr>
              <a:t>You</a:t>
            </a:r>
            <a:r>
              <a:rPr lang="pt-PT" sz="2000" b="1" dirty="0">
                <a:solidFill>
                  <a:srgbClr val="FF0000"/>
                </a:solidFill>
              </a:rPr>
              <a:t> </a:t>
            </a:r>
            <a:r>
              <a:rPr lang="pt-PT" sz="2000" b="1" dirty="0" err="1">
                <a:solidFill>
                  <a:srgbClr val="FF0000"/>
                </a:solidFill>
              </a:rPr>
              <a:t>get</a:t>
            </a:r>
            <a:r>
              <a:rPr lang="pt-PT" sz="2000" b="1" dirty="0">
                <a:solidFill>
                  <a:srgbClr val="FF0000"/>
                </a:solidFill>
              </a:rPr>
              <a:t> </a:t>
            </a:r>
            <a:r>
              <a:rPr lang="pt-PT" sz="2000" b="1" dirty="0" err="1">
                <a:solidFill>
                  <a:srgbClr val="FF0000"/>
                </a:solidFill>
              </a:rPr>
              <a:t>good</a:t>
            </a:r>
            <a:r>
              <a:rPr lang="pt-PT" sz="2000" b="1" dirty="0">
                <a:solidFill>
                  <a:srgbClr val="FF0000"/>
                </a:solidFill>
              </a:rPr>
              <a:t> </a:t>
            </a:r>
            <a:r>
              <a:rPr lang="pt-PT" sz="2000" b="1" dirty="0" err="1">
                <a:solidFill>
                  <a:srgbClr val="FF0000"/>
                </a:solidFill>
              </a:rPr>
              <a:t>at</a:t>
            </a:r>
            <a:r>
              <a:rPr lang="pt-PT" sz="2000" b="1" dirty="0">
                <a:solidFill>
                  <a:srgbClr val="FF0000"/>
                </a:solidFill>
              </a:rPr>
              <a:t> </a:t>
            </a:r>
            <a:r>
              <a:rPr lang="pt-PT" sz="2000" b="1" dirty="0" err="1">
                <a:solidFill>
                  <a:srgbClr val="FF0000"/>
                </a:solidFill>
              </a:rPr>
              <a:t>coding</a:t>
            </a:r>
            <a:r>
              <a:rPr lang="pt-PT" sz="2000" b="1" dirty="0">
                <a:solidFill>
                  <a:srgbClr val="FF0000"/>
                </a:solidFill>
              </a:rPr>
              <a:t> </a:t>
            </a:r>
            <a:r>
              <a:rPr lang="pt-PT" sz="2000" b="1" dirty="0" err="1">
                <a:solidFill>
                  <a:srgbClr val="FF0000"/>
                </a:solidFill>
              </a:rPr>
              <a:t>by</a:t>
            </a:r>
            <a:r>
              <a:rPr lang="pt-PT" sz="2000" b="1" dirty="0">
                <a:solidFill>
                  <a:srgbClr val="FF0000"/>
                </a:solidFill>
              </a:rPr>
              <a:t> </a:t>
            </a:r>
            <a:r>
              <a:rPr lang="pt-PT" sz="2000" b="1" dirty="0" err="1">
                <a:solidFill>
                  <a:srgbClr val="FF0000"/>
                </a:solidFill>
              </a:rPr>
              <a:t>coding</a:t>
            </a:r>
            <a:r>
              <a:rPr lang="pt-PT" sz="2000" b="1" dirty="0">
                <a:solidFill>
                  <a:srgbClr val="FF0000"/>
                </a:solidFill>
              </a:rPr>
              <a:t>, </a:t>
            </a:r>
            <a:r>
              <a:rPr lang="pt-PT" sz="2000" b="1" dirty="0" err="1">
                <a:solidFill>
                  <a:srgbClr val="FF0000"/>
                </a:solidFill>
              </a:rPr>
              <a:t>not</a:t>
            </a:r>
            <a:r>
              <a:rPr lang="pt-PT" sz="2000" b="1" dirty="0">
                <a:solidFill>
                  <a:srgbClr val="FF0000"/>
                </a:solidFill>
              </a:rPr>
              <a:t> </a:t>
            </a:r>
            <a:r>
              <a:rPr lang="pt-PT" sz="2000" b="1" dirty="0" err="1">
                <a:solidFill>
                  <a:srgbClr val="FF0000"/>
                </a:solidFill>
              </a:rPr>
              <a:t>reading</a:t>
            </a:r>
            <a:r>
              <a:rPr lang="pt-PT" sz="2000" b="1" dirty="0">
                <a:solidFill>
                  <a:srgbClr val="FF0000"/>
                </a:solidFill>
              </a:rPr>
              <a:t> </a:t>
            </a:r>
            <a:r>
              <a:rPr lang="pt-PT" sz="2000" b="1" dirty="0" err="1">
                <a:solidFill>
                  <a:srgbClr val="FF0000"/>
                </a:solidFill>
              </a:rPr>
              <a:t>about</a:t>
            </a:r>
            <a:r>
              <a:rPr lang="pt-PT" sz="2000" b="1" dirty="0">
                <a:solidFill>
                  <a:srgbClr val="FF0000"/>
                </a:solidFill>
              </a:rPr>
              <a:t> </a:t>
            </a:r>
            <a:r>
              <a:rPr lang="pt-PT" sz="2000" b="1" dirty="0" err="1">
                <a:solidFill>
                  <a:srgbClr val="FF0000"/>
                </a:solidFill>
              </a:rPr>
              <a:t>code</a:t>
            </a:r>
            <a:endParaRPr lang="pt-PT" sz="2000" b="1" dirty="0">
              <a:solidFill>
                <a:srgbClr val="FF0000"/>
              </a:solidFill>
            </a:endParaRPr>
          </a:p>
          <a:p>
            <a:pPr marL="285750" indent="-285750">
              <a:buFontTx/>
              <a:buChar char="-"/>
            </a:pPr>
            <a:endParaRPr lang="pt-PT" sz="2000" b="1" dirty="0"/>
          </a:p>
          <a:p>
            <a:pPr marL="285750" indent="-285750">
              <a:buFontTx/>
              <a:buChar char="-"/>
            </a:pPr>
            <a:r>
              <a:rPr lang="pt-PT" sz="2000" b="1" dirty="0" err="1"/>
              <a:t>Always</a:t>
            </a:r>
            <a:r>
              <a:rPr lang="pt-PT" sz="2000" b="1" dirty="0"/>
              <a:t> </a:t>
            </a:r>
            <a:r>
              <a:rPr lang="pt-PT" sz="2000" b="1" dirty="0" err="1"/>
              <a:t>check</a:t>
            </a:r>
            <a:r>
              <a:rPr lang="pt-PT" sz="2000" b="1" dirty="0"/>
              <a:t> </a:t>
            </a:r>
            <a:r>
              <a:rPr lang="pt-PT" sz="2000" b="1" dirty="0" err="1"/>
              <a:t>and</a:t>
            </a:r>
            <a:r>
              <a:rPr lang="pt-PT" sz="2000" b="1" dirty="0"/>
              <a:t> </a:t>
            </a:r>
            <a:r>
              <a:rPr lang="pt-PT" sz="2000" b="1" dirty="0" err="1"/>
              <a:t>confirm</a:t>
            </a:r>
            <a:r>
              <a:rPr lang="pt-PT" sz="2000" b="1" dirty="0"/>
              <a:t> </a:t>
            </a:r>
            <a:r>
              <a:rPr lang="pt-PT" sz="2000" b="1" dirty="0" err="1"/>
              <a:t>documentation</a:t>
            </a:r>
            <a:r>
              <a:rPr lang="pt-PT" sz="2000" b="1" dirty="0"/>
              <a:t> for </a:t>
            </a:r>
            <a:r>
              <a:rPr lang="pt-PT" sz="2000" b="1" dirty="0" err="1"/>
              <a:t>each</a:t>
            </a:r>
            <a:r>
              <a:rPr lang="pt-PT" sz="2000" b="1" dirty="0"/>
              <a:t> </a:t>
            </a:r>
            <a:r>
              <a:rPr lang="pt-PT" sz="2000" b="1" dirty="0" err="1"/>
              <a:t>library</a:t>
            </a:r>
            <a:endParaRPr lang="pt-PT" sz="2000" b="1" dirty="0"/>
          </a:p>
          <a:p>
            <a:pPr marL="742950" lvl="1" indent="-285750">
              <a:buFontTx/>
              <a:buChar char="-"/>
            </a:pPr>
            <a:r>
              <a:rPr lang="pt-PT" sz="2000" dirty="0" err="1"/>
              <a:t>Python</a:t>
            </a:r>
            <a:r>
              <a:rPr lang="pt-PT" sz="2000" dirty="0"/>
              <a:t> </a:t>
            </a:r>
            <a:r>
              <a:rPr lang="pt-PT" sz="2000" dirty="0">
                <a:hlinkClick r:id="rId2"/>
              </a:rPr>
              <a:t>https://docs.python.org/3/library/index.html</a:t>
            </a:r>
            <a:endParaRPr lang="pt-PT" sz="2000" dirty="0"/>
          </a:p>
          <a:p>
            <a:pPr marL="742950" lvl="1" indent="-285750">
              <a:buFontTx/>
              <a:buChar char="-"/>
            </a:pPr>
            <a:r>
              <a:rPr lang="pt-PT" sz="2000" dirty="0" err="1"/>
              <a:t>Numpy</a:t>
            </a:r>
            <a:r>
              <a:rPr lang="pt-PT" sz="2000" dirty="0"/>
              <a:t> </a:t>
            </a:r>
            <a:r>
              <a:rPr lang="pt-PT" sz="2000" dirty="0">
                <a:hlinkClick r:id="rId3"/>
              </a:rPr>
              <a:t>https://numpy.org/doc/stable/</a:t>
            </a:r>
            <a:endParaRPr lang="pt-PT" sz="2000" dirty="0"/>
          </a:p>
          <a:p>
            <a:pPr marL="742950" lvl="1" indent="-285750">
              <a:buFontTx/>
              <a:buChar char="-"/>
            </a:pPr>
            <a:r>
              <a:rPr lang="en-US" sz="2000" dirty="0"/>
              <a:t>Matplotlib </a:t>
            </a:r>
            <a:r>
              <a:rPr lang="en-US" sz="2000" dirty="0">
                <a:hlinkClick r:id="rId4"/>
              </a:rPr>
              <a:t>https://matplotlib.org/stable/api/index.html</a:t>
            </a:r>
            <a:endParaRPr lang="en-US" sz="2000" dirty="0"/>
          </a:p>
          <a:p>
            <a:endParaRPr lang="en-US" sz="2000" dirty="0"/>
          </a:p>
          <a:p>
            <a:pPr marL="285750" indent="-285750">
              <a:buFontTx/>
              <a:buChar char="-"/>
            </a:pPr>
            <a:r>
              <a:rPr lang="en-US" sz="2000" b="1" dirty="0"/>
              <a:t>Blogs:</a:t>
            </a:r>
          </a:p>
          <a:p>
            <a:pPr marL="742950" lvl="1" indent="-285750">
              <a:buFontTx/>
              <a:buChar char="-"/>
            </a:pPr>
            <a:r>
              <a:rPr lang="en-US" sz="2000" dirty="0"/>
              <a:t>Geeks for geeks </a:t>
            </a:r>
            <a:r>
              <a:rPr lang="en-US" sz="2000" dirty="0">
                <a:hlinkClick r:id="rId5"/>
              </a:rPr>
              <a:t>https://www.geeksforgeeks.org/python/python-programming-language-tutorial/</a:t>
            </a:r>
            <a:endParaRPr lang="en-US" sz="2000" dirty="0"/>
          </a:p>
          <a:p>
            <a:pPr marL="742950" lvl="1" indent="-285750">
              <a:buFontTx/>
              <a:buChar char="-"/>
            </a:pPr>
            <a:r>
              <a:rPr lang="en-US" sz="2000" dirty="0"/>
              <a:t>Stack overflow </a:t>
            </a:r>
            <a:r>
              <a:rPr lang="en-US" sz="2000" dirty="0">
                <a:hlinkClick r:id="rId6"/>
              </a:rPr>
              <a:t>https://stackoverflow.com/questions</a:t>
            </a:r>
            <a:endParaRPr lang="en-US" sz="2000" dirty="0"/>
          </a:p>
          <a:p>
            <a:pPr marL="742950" lvl="1" indent="-285750">
              <a:buFontTx/>
              <a:buChar char="-"/>
            </a:pPr>
            <a:endParaRPr lang="pt-PT" sz="2000" dirty="0"/>
          </a:p>
          <a:p>
            <a:pPr marL="285750" indent="-285750">
              <a:buFontTx/>
              <a:buChar char="-"/>
            </a:pPr>
            <a:r>
              <a:rPr lang="pt-PT" sz="2000" dirty="0" err="1"/>
              <a:t>Current</a:t>
            </a:r>
            <a:r>
              <a:rPr lang="pt-PT" sz="2000" dirty="0"/>
              <a:t> </a:t>
            </a:r>
            <a:r>
              <a:rPr lang="pt-PT" sz="2000" dirty="0" err="1"/>
              <a:t>generative</a:t>
            </a:r>
            <a:r>
              <a:rPr lang="pt-PT" sz="2000" dirty="0"/>
              <a:t> AI </a:t>
            </a:r>
            <a:r>
              <a:rPr lang="pt-PT" sz="2000" dirty="0" err="1"/>
              <a:t>models</a:t>
            </a:r>
            <a:r>
              <a:rPr lang="pt-PT" sz="2000" dirty="0"/>
              <a:t> </a:t>
            </a:r>
            <a:r>
              <a:rPr lang="pt-PT" sz="2000" b="1" dirty="0" err="1"/>
              <a:t>work</a:t>
            </a:r>
            <a:r>
              <a:rPr lang="pt-PT" sz="2000" b="1" dirty="0"/>
              <a:t> </a:t>
            </a:r>
            <a:r>
              <a:rPr lang="pt-PT" sz="2000" b="1" dirty="0" err="1"/>
              <a:t>really</a:t>
            </a:r>
            <a:r>
              <a:rPr lang="pt-PT" sz="2000" b="1" dirty="0"/>
              <a:t> </a:t>
            </a:r>
            <a:r>
              <a:rPr lang="pt-PT" sz="2000" b="1" dirty="0" err="1"/>
              <a:t>well</a:t>
            </a:r>
            <a:r>
              <a:rPr lang="pt-PT" sz="2000" b="1" dirty="0"/>
              <a:t> </a:t>
            </a:r>
            <a:r>
              <a:rPr lang="pt-PT" sz="2000" dirty="0"/>
              <a:t>for basic </a:t>
            </a:r>
            <a:r>
              <a:rPr lang="pt-PT" sz="2000" dirty="0" err="1"/>
              <a:t>code</a:t>
            </a:r>
            <a:r>
              <a:rPr lang="pt-PT" sz="2000" dirty="0"/>
              <a:t> </a:t>
            </a:r>
            <a:r>
              <a:rPr lang="pt-PT" sz="2000" dirty="0" err="1"/>
              <a:t>illustration</a:t>
            </a:r>
            <a:r>
              <a:rPr lang="pt-PT" sz="2000" dirty="0"/>
              <a:t> </a:t>
            </a:r>
            <a:r>
              <a:rPr lang="pt-PT" sz="2000" dirty="0" err="1"/>
              <a:t>and</a:t>
            </a:r>
            <a:r>
              <a:rPr lang="pt-PT" sz="2000" dirty="0"/>
              <a:t> </a:t>
            </a:r>
            <a:r>
              <a:rPr lang="pt-PT" sz="2000" dirty="0" err="1"/>
              <a:t>debugging</a:t>
            </a:r>
            <a:endParaRPr lang="pt-PT" sz="2000" dirty="0"/>
          </a:p>
        </p:txBody>
      </p:sp>
      <p:pic>
        <p:nvPicPr>
          <p:cNvPr id="1026" name="Picture 2" descr="ChatGPT: “I think, therefore I am? - Sul Informação">
            <a:extLst>
              <a:ext uri="{FF2B5EF4-FFF2-40B4-BE49-F238E27FC236}">
                <a16:creationId xmlns:a16="http://schemas.microsoft.com/office/drawing/2014/main" id="{9CA56AA3-D5A9-809F-9D13-4F0A17B2E6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76771"/>
            <a:ext cx="2985191" cy="1816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GitHub Copilot Business · GitHub">
            <a:extLst>
              <a:ext uri="{FF2B5EF4-FFF2-40B4-BE49-F238E27FC236}">
                <a16:creationId xmlns:a16="http://schemas.microsoft.com/office/drawing/2014/main" id="{BE4CD9AF-E640-584E-C9FD-67D00BE18C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0401" y="4501492"/>
            <a:ext cx="3366850" cy="1767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Revisão de Código do Claude: Como Ser um Programador 10x">
            <a:extLst>
              <a:ext uri="{FF2B5EF4-FFF2-40B4-BE49-F238E27FC236}">
                <a16:creationId xmlns:a16="http://schemas.microsoft.com/office/drawing/2014/main" id="{A03782EC-2FDB-B1BE-5266-F5FFEE110A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5141" y="4607595"/>
            <a:ext cx="2858914" cy="1554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WashU Expert: How DeepSeek changes the AI industry - The Source - WashU">
            <a:extLst>
              <a:ext uri="{FF2B5EF4-FFF2-40B4-BE49-F238E27FC236}">
                <a16:creationId xmlns:a16="http://schemas.microsoft.com/office/drawing/2014/main" id="{93EB237D-E256-13AC-DCAF-1E50D936AC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7251" y="4427330"/>
            <a:ext cx="2887890" cy="1929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52926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aixaDeTexto 11">
            <a:extLst>
              <a:ext uri="{FF2B5EF4-FFF2-40B4-BE49-F238E27FC236}">
                <a16:creationId xmlns:a16="http://schemas.microsoft.com/office/drawing/2014/main" id="{C963D542-4491-B0D8-77C0-550101C612AE}"/>
              </a:ext>
            </a:extLst>
          </p:cNvPr>
          <p:cNvSpPr txBox="1"/>
          <p:nvPr/>
        </p:nvSpPr>
        <p:spPr>
          <a:xfrm>
            <a:off x="1062754" y="420877"/>
            <a:ext cx="1006649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800" b="1" dirty="0" err="1"/>
              <a:t>CInTech</a:t>
            </a:r>
            <a:r>
              <a:rPr lang="pt-PT" sz="2800" b="1" dirty="0"/>
              <a:t>: Polo Tecnológico de Inovação, Translação e Industrialização de Medicamentos Injetáveis Complexos</a:t>
            </a:r>
          </a:p>
          <a:p>
            <a:pPr algn="ctr"/>
            <a:r>
              <a:rPr lang="pt-PT" sz="2000" dirty="0"/>
              <a:t>Projeto nº 30 – Referência 7131</a:t>
            </a:r>
          </a:p>
          <a:p>
            <a:pPr algn="ctr"/>
            <a:r>
              <a:rPr lang="pt-PT" sz="2000" dirty="0"/>
              <a:t>(Código do projeto: C644865576-00000005)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4787D1A3-13F5-E7E6-2152-9F4D81124F34}"/>
              </a:ext>
            </a:extLst>
          </p:cNvPr>
          <p:cNvGrpSpPr/>
          <p:nvPr/>
        </p:nvGrpSpPr>
        <p:grpSpPr>
          <a:xfrm>
            <a:off x="2416697" y="2438400"/>
            <a:ext cx="7757878" cy="1298663"/>
            <a:chOff x="2416697" y="2438400"/>
            <a:chExt cx="7757878" cy="1298663"/>
          </a:xfrm>
        </p:grpSpPr>
        <p:pic>
          <p:nvPicPr>
            <p:cNvPr id="5" name="Imagem 4" descr="Uma imagem com texto, captura de ecrã, Tipo de letra, Gráficos&#10;&#10;Descrição gerada automaticamente">
              <a:extLst>
                <a:ext uri="{FF2B5EF4-FFF2-40B4-BE49-F238E27FC236}">
                  <a16:creationId xmlns:a16="http://schemas.microsoft.com/office/drawing/2014/main" id="{5FADB310-CD41-AFCE-BCC9-3790B446EC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22117" y="2758276"/>
              <a:ext cx="6052458" cy="873677"/>
            </a:xfrm>
            <a:prstGeom prst="rect">
              <a:avLst/>
            </a:prstGeom>
          </p:spPr>
        </p:pic>
        <p:pic>
          <p:nvPicPr>
            <p:cNvPr id="14" name="Imagem 13" descr="Uma imagem com Gráficos, design gráfico, Tipo de letra, captura de ecrã&#10;&#10;Descrição gerada automaticamente">
              <a:extLst>
                <a:ext uri="{FF2B5EF4-FFF2-40B4-BE49-F238E27FC236}">
                  <a16:creationId xmlns:a16="http://schemas.microsoft.com/office/drawing/2014/main" id="{033CE8B3-B1B0-C7CC-EE64-03736F3713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16697" y="2438400"/>
              <a:ext cx="1453727" cy="1298663"/>
            </a:xfrm>
            <a:prstGeom prst="rect">
              <a:avLst/>
            </a:prstGeom>
          </p:spPr>
        </p:pic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589AAAFC-ADF4-E9A8-BB0D-3ADEBF8FE112}"/>
              </a:ext>
            </a:extLst>
          </p:cNvPr>
          <p:cNvSpPr txBox="1"/>
          <p:nvPr/>
        </p:nvSpPr>
        <p:spPr>
          <a:xfrm>
            <a:off x="829452" y="4345577"/>
            <a:ext cx="10239928" cy="83099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PT" sz="1600" dirty="0"/>
              <a:t>Projeto </a:t>
            </a:r>
            <a:r>
              <a:rPr lang="pt-PT" sz="1600" dirty="0" err="1"/>
              <a:t>Cintech</a:t>
            </a:r>
            <a:r>
              <a:rPr lang="pt-PT" sz="1600" dirty="0"/>
              <a:t> com a referência 7131 financiado pelo PRR - Plano de Recuperação e Resiliência e pelos Fundos Europeus </a:t>
            </a:r>
            <a:r>
              <a:rPr lang="pt-PT" sz="1600" dirty="0" err="1"/>
              <a:t>Next</a:t>
            </a:r>
            <a:r>
              <a:rPr lang="pt-PT" sz="1600" dirty="0"/>
              <a:t> </a:t>
            </a:r>
            <a:r>
              <a:rPr lang="pt-PT" sz="1600" dirty="0" err="1"/>
              <a:t>Generation</a:t>
            </a:r>
            <a:r>
              <a:rPr lang="pt-PT" sz="1600" dirty="0"/>
              <a:t> EU, na sequência do AVISO N.º 02/C05-i01/2022, Componente 5 – Capitalização e Inovação Empresarial - Agendas Mobilizadoras para a Inovação Empresarial</a:t>
            </a:r>
            <a:endParaRPr lang="en-GB" sz="1600" dirty="0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9FDB118B-C0BB-BE4A-3749-722BEA6E2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54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776633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705</TotalTime>
  <Words>1288</Words>
  <Application>Microsoft Office PowerPoint</Application>
  <PresentationFormat>Ecrã Panorâmico</PresentationFormat>
  <Paragraphs>294</Paragraphs>
  <Slides>54</Slides>
  <Notes>5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54</vt:i4>
      </vt:variant>
    </vt:vector>
  </HeadingPairs>
  <TitlesOfParts>
    <vt:vector size="60" baseType="lpstr">
      <vt:lpstr>Aptos</vt:lpstr>
      <vt:lpstr>Aptos Display</vt:lpstr>
      <vt:lpstr>Arial</vt:lpstr>
      <vt:lpstr>Arrus BT Roman</vt:lpstr>
      <vt:lpstr>Calibri Light</vt:lpstr>
      <vt:lpstr>Tema do Office</vt:lpstr>
      <vt:lpstr>AI &amp; ML for Process Analytical Technology using Python  Day 1:  Python fundamentals</vt:lpstr>
      <vt:lpstr>Apresentação do PowerPoint</vt:lpstr>
      <vt:lpstr>Apresentação do PowerPoint</vt:lpstr>
      <vt:lpstr>Part 1: Python intro and installation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Part 2: Python fundamentals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Part 3: Numpy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Part 4: Matplotlib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 Reis</dc:creator>
  <cp:lastModifiedBy>João Coutinho</cp:lastModifiedBy>
  <cp:revision>30</cp:revision>
  <dcterms:created xsi:type="dcterms:W3CDTF">2024-10-03T14:59:30Z</dcterms:created>
  <dcterms:modified xsi:type="dcterms:W3CDTF">2025-06-22T20:40:44Z</dcterms:modified>
</cp:coreProperties>
</file>